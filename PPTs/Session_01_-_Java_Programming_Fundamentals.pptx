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16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6288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8961120" y="-2011680"/>
            <a:ext cx="5943600" cy="5943600"/>
          </a:xfrm>
          <a:prstGeom prst="ellipse">
            <a:avLst/>
          </a:prstGeom>
          <a:solidFill>
            <a:srgbClr val="20242F"/>
          </a:solidFill>
          <a:ln w="12700">
            <a:solidFill>
              <a:srgbClr val="000000"/>
            </a:solidFill>
            <a:prstDash val="solid"/>
          </a:ln>
        </p:spPr>
      </p:sp>
      <p:sp>
        <p:nvSpPr>
          <p:cNvPr id="4" name="Shape 2"/>
          <p:cNvSpPr/>
          <p:nvPr/>
        </p:nvSpPr>
        <p:spPr>
          <a:xfrm>
            <a:off x="-2286000" y="4389120"/>
            <a:ext cx="5029200" cy="5029200"/>
          </a:xfrm>
          <a:prstGeom prst="ellipse">
            <a:avLst/>
          </a:prstGeom>
          <a:solidFill>
            <a:srgbClr val="20242F"/>
          </a:solidFill>
          <a:ln w="12700">
            <a:solidFill>
              <a:srgbClr val="000000"/>
            </a:solidFill>
            <a:prstDash val="solid"/>
          </a:ln>
        </p:spPr>
      </p:sp>
      <p:sp>
        <p:nvSpPr>
          <p:cNvPr id="5" name="Text 3"/>
          <p:cNvSpPr/>
          <p:nvPr/>
        </p:nvSpPr>
        <p:spPr>
          <a:xfrm>
            <a:off x="640080" y="2331720"/>
            <a:ext cx="5486400" cy="457200"/>
          </a:xfrm>
          <a:prstGeom prst="rect">
            <a:avLst/>
          </a:prstGeom>
          <a:noFill/>
          <a:ln/>
        </p:spPr>
        <p:txBody>
          <a:bodyPr wrap="square" lIns="0" tIns="0" rIns="0" bIns="0" rtlCol="0" anchor="ctr"/>
          <a:lstStyle/>
          <a:p>
            <a:pPr marL="0" indent="0">
              <a:buNone/>
            </a:pPr>
            <a:r>
              <a:rPr lang="en-US" sz="1600" b="1" kern="0" spc="300" dirty="0">
                <a:solidFill>
                  <a:srgbClr val="E8590C"/>
                </a:solidFill>
                <a:latin typeface="Times New Roman" pitchFamily="34" charset="0"/>
                <a:ea typeface="Times New Roman" pitchFamily="34" charset="-122"/>
                <a:cs typeface="Times New Roman" pitchFamily="34" charset="-120"/>
              </a:rPr>
              <a:t>JAVA</a:t>
            </a:r>
            <a:endParaRPr lang="en-US" sz="1600" dirty="0"/>
          </a:p>
        </p:txBody>
      </p:sp>
      <p:sp>
        <p:nvSpPr>
          <p:cNvPr id="6" name="Text 4"/>
          <p:cNvSpPr/>
          <p:nvPr/>
        </p:nvSpPr>
        <p:spPr>
          <a:xfrm>
            <a:off x="594360" y="2697480"/>
            <a:ext cx="10515600" cy="1737360"/>
          </a:xfrm>
          <a:prstGeom prst="rect">
            <a:avLst/>
          </a:prstGeom>
          <a:noFill/>
          <a:ln/>
        </p:spPr>
        <p:txBody>
          <a:bodyPr wrap="square" lIns="0" tIns="0" rIns="0" bIns="0" rtlCol="0" anchor="t"/>
          <a:lstStyle/>
          <a:p>
            <a:pPr marL="0" indent="0">
              <a:lnSpc>
                <a:spcPct val="105000"/>
              </a:lnSpc>
              <a:buNone/>
            </a:pPr>
            <a:r>
              <a:rPr lang="en-US" sz="4400" b="1" dirty="0">
                <a:solidFill>
                  <a:srgbClr val="FFFFFF"/>
                </a:solidFill>
                <a:latin typeface="Times New Roman" pitchFamily="34" charset="0"/>
                <a:ea typeface="Times New Roman" pitchFamily="34" charset="-122"/>
                <a:cs typeface="Times New Roman" pitchFamily="34" charset="-120"/>
              </a:rPr>
              <a:t>Java Programming</a:t>
            </a:r>
            <a:endParaRPr lang="en-US" sz="4400" dirty="0"/>
          </a:p>
          <a:p>
            <a:pPr marL="0" indent="0">
              <a:lnSpc>
                <a:spcPct val="105000"/>
              </a:lnSpc>
              <a:buNone/>
            </a:pPr>
            <a:r>
              <a:rPr lang="en-US" sz="4400" b="1" dirty="0">
                <a:solidFill>
                  <a:srgbClr val="FFFFFF"/>
                </a:solidFill>
                <a:latin typeface="Times New Roman" pitchFamily="34" charset="0"/>
                <a:ea typeface="Times New Roman" pitchFamily="34" charset="-122"/>
                <a:cs typeface="Times New Roman" pitchFamily="34" charset="-120"/>
              </a:rPr>
              <a:t>Fundamentals</a:t>
            </a:r>
            <a:endParaRPr lang="en-US" sz="4400" dirty="0"/>
          </a:p>
        </p:txBody>
      </p:sp>
      <p:sp>
        <p:nvSpPr>
          <p:cNvPr id="7" name="Shape 5"/>
          <p:cNvSpPr/>
          <p:nvPr/>
        </p:nvSpPr>
        <p:spPr>
          <a:xfrm>
            <a:off x="640080" y="4160520"/>
            <a:ext cx="1280160" cy="36576"/>
          </a:xfrm>
          <a:prstGeom prst="rect">
            <a:avLst/>
          </a:prstGeom>
          <a:solidFill>
            <a:srgbClr val="E8590C"/>
          </a:solidFill>
          <a:ln w="12700">
            <a:solidFill>
              <a:srgbClr val="000000"/>
            </a:solidFill>
            <a:prstDash val="solid"/>
          </a:ln>
        </p:spPr>
      </p:sp>
      <p:sp>
        <p:nvSpPr>
          <p:cNvPr id="8" name="Text 6"/>
          <p:cNvSpPr/>
          <p:nvPr/>
        </p:nvSpPr>
        <p:spPr>
          <a:xfrm>
            <a:off x="640080" y="4343400"/>
            <a:ext cx="9601200" cy="640080"/>
          </a:xfrm>
          <a:prstGeom prst="rect">
            <a:avLst/>
          </a:prstGeom>
          <a:noFill/>
          <a:ln/>
        </p:spPr>
        <p:txBody>
          <a:bodyPr wrap="square" lIns="0" tIns="0" rIns="0" bIns="0" rtlCol="0" anchor="t"/>
          <a:lstStyle/>
          <a:p>
            <a:pPr marL="0" indent="0">
              <a:buNone/>
            </a:pPr>
            <a:r>
              <a:rPr lang="en-US" sz="1800" dirty="0">
                <a:solidFill>
                  <a:srgbClr val="8C93A0"/>
                </a:solidFill>
                <a:latin typeface="Times New Roman" pitchFamily="34" charset="0"/>
                <a:ea typeface="Times New Roman" pitchFamily="34" charset="-122"/>
                <a:cs typeface="Times New Roman" pitchFamily="34" charset="-120"/>
              </a:rPr>
              <a:t>Java Features, JDK/JRE/JVM, Variables, Data Types, Operators, I/O, Control Flow, Arrays, Methods and Problem Solving</a:t>
            </a:r>
            <a:endParaRPr lang="en-US" sz="1800" dirty="0"/>
          </a:p>
        </p:txBody>
      </p:sp>
      <p:sp>
        <p:nvSpPr>
          <p:cNvPr id="9" name="Text 7"/>
          <p:cNvSpPr/>
          <p:nvPr/>
        </p:nvSpPr>
        <p:spPr>
          <a:xfrm>
            <a:off x="640080" y="5532120"/>
            <a:ext cx="9601200" cy="320040"/>
          </a:xfrm>
          <a:prstGeom prst="rect">
            <a:avLst/>
          </a:prstGeom>
          <a:noFill/>
          <a:ln/>
        </p:spPr>
        <p:txBody>
          <a:bodyPr wrap="square" lIns="0" tIns="0" rIns="0" bIns="0" rtlCol="0" anchor="ctr"/>
          <a:lstStyle/>
          <a:p>
            <a:pPr marL="0" indent="0">
              <a:buNone/>
            </a:pPr>
            <a:r>
              <a:rPr lang="en-US" sz="1200" dirty="0">
                <a:solidFill>
                  <a:srgbClr val="8C93A0"/>
                </a:solidFill>
                <a:latin typeface="Times New Roman" pitchFamily="34" charset="0"/>
                <a:ea typeface="Times New Roman" pitchFamily="34" charset="-122"/>
                <a:cs typeface="Times New Roman" pitchFamily="34" charset="-120"/>
              </a:rPr>
              <a:t>Java Programming Fundamentals  |  Session 1 of 12  |  Duration: 6 Hours</a:t>
            </a:r>
            <a:endParaRPr lang="en-US" sz="1200" dirty="0"/>
          </a:p>
        </p:txBody>
      </p:sp>
      <p:sp>
        <p:nvSpPr>
          <p:cNvPr id="10" name="Shape 8"/>
          <p:cNvSpPr/>
          <p:nvPr/>
        </p:nvSpPr>
        <p:spPr>
          <a:xfrm>
            <a:off x="0" y="0"/>
            <a:ext cx="12191695" cy="384048"/>
          </a:xfrm>
          <a:prstGeom prst="rect">
            <a:avLst/>
          </a:prstGeom>
          <a:solidFill>
            <a:srgbClr val="1B2A4A"/>
          </a:solidFill>
          <a:ln w="12700">
            <a:solidFill>
              <a:srgbClr val="1B2A4A"/>
            </a:solidFill>
            <a:prstDash val="solid"/>
          </a:ln>
        </p:spPr>
      </p:sp>
      <p:sp>
        <p:nvSpPr>
          <p:cNvPr id="11" name="Text 9"/>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2" name="Shape 10"/>
          <p:cNvSpPr/>
          <p:nvPr/>
        </p:nvSpPr>
        <p:spPr>
          <a:xfrm>
            <a:off x="219456" y="301752"/>
            <a:ext cx="960120" cy="0"/>
          </a:xfrm>
          <a:prstGeom prst="line">
            <a:avLst/>
          </a:prstGeom>
          <a:noFill/>
          <a:ln w="9525">
            <a:solidFill>
              <a:srgbClr val="4A5570"/>
            </a:solidFill>
            <a:prstDash val="solid"/>
          </a:ln>
        </p:spPr>
      </p:sp>
      <p:sp>
        <p:nvSpPr>
          <p:cNvPr id="13" name="Text 11"/>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4" name="Text 12"/>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5" name="Text 13"/>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6" name="Shape 14"/>
          <p:cNvSpPr/>
          <p:nvPr/>
        </p:nvSpPr>
        <p:spPr>
          <a:xfrm>
            <a:off x="0" y="6291072"/>
            <a:ext cx="12191695" cy="566928"/>
          </a:xfrm>
          <a:prstGeom prst="rect">
            <a:avLst/>
          </a:prstGeom>
          <a:solidFill>
            <a:srgbClr val="1B2A4A"/>
          </a:solidFill>
          <a:ln w="12700">
            <a:solidFill>
              <a:srgbClr val="1B2A4A"/>
            </a:solidFill>
            <a:prstDash val="solid"/>
          </a:ln>
        </p:spPr>
      </p:sp>
      <p:sp>
        <p:nvSpPr>
          <p:cNvPr id="17" name="Text 15"/>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8" name="Text 16"/>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73152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AGENDA</a:t>
            </a:r>
            <a:endParaRPr lang="en-US" sz="1300" dirty="0"/>
          </a:p>
        </p:txBody>
      </p:sp>
      <p:sp>
        <p:nvSpPr>
          <p:cNvPr id="3" name="Text 1"/>
          <p:cNvSpPr/>
          <p:nvPr/>
        </p:nvSpPr>
        <p:spPr>
          <a:xfrm>
            <a:off x="548640" y="786384"/>
            <a:ext cx="9144000" cy="640080"/>
          </a:xfrm>
          <a:prstGeom prst="rect">
            <a:avLst/>
          </a:prstGeom>
          <a:noFill/>
          <a:ln/>
        </p:spPr>
        <p:txBody>
          <a:bodyPr wrap="square" lIns="0" tIns="0" rIns="0" bIns="0" rtlCol="0" anchor="ctr"/>
          <a:lstStyle/>
          <a:p>
            <a:pPr marL="0" indent="0">
              <a:buNone/>
            </a:pPr>
            <a:r>
              <a:rPr lang="en-US" sz="2800" b="1" dirty="0">
                <a:solidFill>
                  <a:srgbClr val="1A202C"/>
                </a:solidFill>
                <a:latin typeface="Times New Roman" pitchFamily="34" charset="0"/>
                <a:ea typeface="Times New Roman" pitchFamily="34" charset="-122"/>
                <a:cs typeface="Times New Roman" pitchFamily="34" charset="-120"/>
              </a:rPr>
              <a:t>What We'll Cover</a:t>
            </a:r>
            <a:endParaRPr lang="en-US" sz="2800" dirty="0"/>
          </a:p>
        </p:txBody>
      </p:sp>
      <p:sp>
        <p:nvSpPr>
          <p:cNvPr id="4" name="Text 2"/>
          <p:cNvSpPr/>
          <p:nvPr/>
        </p:nvSpPr>
        <p:spPr>
          <a:xfrm>
            <a:off x="548640" y="171907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01</a:t>
            </a:r>
            <a:endParaRPr lang="en-US" sz="1500" dirty="0"/>
          </a:p>
        </p:txBody>
      </p:sp>
      <p:sp>
        <p:nvSpPr>
          <p:cNvPr id="5" name="Text 3"/>
          <p:cNvSpPr/>
          <p:nvPr/>
        </p:nvSpPr>
        <p:spPr>
          <a:xfrm>
            <a:off x="1051560" y="171907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Java Features</a:t>
            </a:r>
            <a:endParaRPr lang="en-US" sz="1500" dirty="0"/>
          </a:p>
        </p:txBody>
      </p:sp>
      <p:sp>
        <p:nvSpPr>
          <p:cNvPr id="6" name="Text 4"/>
          <p:cNvSpPr/>
          <p:nvPr/>
        </p:nvSpPr>
        <p:spPr>
          <a:xfrm>
            <a:off x="548640" y="226771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02</a:t>
            </a:r>
            <a:endParaRPr lang="en-US" sz="1500" dirty="0"/>
          </a:p>
        </p:txBody>
      </p:sp>
      <p:sp>
        <p:nvSpPr>
          <p:cNvPr id="7" name="Text 5"/>
          <p:cNvSpPr/>
          <p:nvPr/>
        </p:nvSpPr>
        <p:spPr>
          <a:xfrm>
            <a:off x="1051560" y="226771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JDK, JRE, JVM and Setup</a:t>
            </a:r>
            <a:endParaRPr lang="en-US" sz="1500" dirty="0"/>
          </a:p>
        </p:txBody>
      </p:sp>
      <p:sp>
        <p:nvSpPr>
          <p:cNvPr id="8" name="Text 6"/>
          <p:cNvSpPr/>
          <p:nvPr/>
        </p:nvSpPr>
        <p:spPr>
          <a:xfrm>
            <a:off x="548640" y="281635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03</a:t>
            </a:r>
            <a:endParaRPr lang="en-US" sz="1500" dirty="0"/>
          </a:p>
        </p:txBody>
      </p:sp>
      <p:sp>
        <p:nvSpPr>
          <p:cNvPr id="9" name="Text 7"/>
          <p:cNvSpPr/>
          <p:nvPr/>
        </p:nvSpPr>
        <p:spPr>
          <a:xfrm>
            <a:off x="1051560" y="281635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Variables and Data Types</a:t>
            </a:r>
            <a:endParaRPr lang="en-US" sz="1500" dirty="0"/>
          </a:p>
        </p:txBody>
      </p:sp>
      <p:sp>
        <p:nvSpPr>
          <p:cNvPr id="10" name="Text 8"/>
          <p:cNvSpPr/>
          <p:nvPr/>
        </p:nvSpPr>
        <p:spPr>
          <a:xfrm>
            <a:off x="548640" y="336499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04</a:t>
            </a:r>
            <a:endParaRPr lang="en-US" sz="1500" dirty="0"/>
          </a:p>
        </p:txBody>
      </p:sp>
      <p:sp>
        <p:nvSpPr>
          <p:cNvPr id="11" name="Text 9"/>
          <p:cNvSpPr/>
          <p:nvPr/>
        </p:nvSpPr>
        <p:spPr>
          <a:xfrm>
            <a:off x="1051560" y="336499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Operators and Type Casting</a:t>
            </a:r>
            <a:endParaRPr lang="en-US" sz="1500" dirty="0"/>
          </a:p>
        </p:txBody>
      </p:sp>
      <p:sp>
        <p:nvSpPr>
          <p:cNvPr id="12" name="Text 10"/>
          <p:cNvSpPr/>
          <p:nvPr/>
        </p:nvSpPr>
        <p:spPr>
          <a:xfrm>
            <a:off x="548640" y="391363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05</a:t>
            </a:r>
            <a:endParaRPr lang="en-US" sz="1500" dirty="0"/>
          </a:p>
        </p:txBody>
      </p:sp>
      <p:sp>
        <p:nvSpPr>
          <p:cNvPr id="13" name="Text 11"/>
          <p:cNvSpPr/>
          <p:nvPr/>
        </p:nvSpPr>
        <p:spPr>
          <a:xfrm>
            <a:off x="1051560" y="391363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Input and Output</a:t>
            </a:r>
            <a:endParaRPr lang="en-US" sz="1500" dirty="0"/>
          </a:p>
        </p:txBody>
      </p:sp>
      <p:sp>
        <p:nvSpPr>
          <p:cNvPr id="14" name="Text 12"/>
          <p:cNvSpPr/>
          <p:nvPr/>
        </p:nvSpPr>
        <p:spPr>
          <a:xfrm>
            <a:off x="6263640" y="171907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06</a:t>
            </a:r>
            <a:endParaRPr lang="en-US" sz="1500" dirty="0"/>
          </a:p>
        </p:txBody>
      </p:sp>
      <p:sp>
        <p:nvSpPr>
          <p:cNvPr id="15" name="Text 13"/>
          <p:cNvSpPr/>
          <p:nvPr/>
        </p:nvSpPr>
        <p:spPr>
          <a:xfrm>
            <a:off x="6766560" y="171907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Conditional Statements</a:t>
            </a:r>
            <a:endParaRPr lang="en-US" sz="1500" dirty="0"/>
          </a:p>
        </p:txBody>
      </p:sp>
      <p:sp>
        <p:nvSpPr>
          <p:cNvPr id="16" name="Text 14"/>
          <p:cNvSpPr/>
          <p:nvPr/>
        </p:nvSpPr>
        <p:spPr>
          <a:xfrm>
            <a:off x="6263640" y="226771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07</a:t>
            </a:r>
            <a:endParaRPr lang="en-US" sz="1500" dirty="0"/>
          </a:p>
        </p:txBody>
      </p:sp>
      <p:sp>
        <p:nvSpPr>
          <p:cNvPr id="17" name="Text 15"/>
          <p:cNvSpPr/>
          <p:nvPr/>
        </p:nvSpPr>
        <p:spPr>
          <a:xfrm>
            <a:off x="6766560" y="226771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Loops</a:t>
            </a:r>
            <a:endParaRPr lang="en-US" sz="1500" dirty="0"/>
          </a:p>
        </p:txBody>
      </p:sp>
      <p:sp>
        <p:nvSpPr>
          <p:cNvPr id="18" name="Text 16"/>
          <p:cNvSpPr/>
          <p:nvPr/>
        </p:nvSpPr>
        <p:spPr>
          <a:xfrm>
            <a:off x="6263640" y="281635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08</a:t>
            </a:r>
            <a:endParaRPr lang="en-US" sz="1500" dirty="0"/>
          </a:p>
        </p:txBody>
      </p:sp>
      <p:sp>
        <p:nvSpPr>
          <p:cNvPr id="19" name="Text 17"/>
          <p:cNvSpPr/>
          <p:nvPr/>
        </p:nvSpPr>
        <p:spPr>
          <a:xfrm>
            <a:off x="6766560" y="281635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Arrays</a:t>
            </a:r>
            <a:endParaRPr lang="en-US" sz="1500" dirty="0"/>
          </a:p>
        </p:txBody>
      </p:sp>
      <p:sp>
        <p:nvSpPr>
          <p:cNvPr id="20" name="Text 18"/>
          <p:cNvSpPr/>
          <p:nvPr/>
        </p:nvSpPr>
        <p:spPr>
          <a:xfrm>
            <a:off x="6263640" y="336499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09</a:t>
            </a:r>
            <a:endParaRPr lang="en-US" sz="1500" dirty="0"/>
          </a:p>
        </p:txBody>
      </p:sp>
      <p:sp>
        <p:nvSpPr>
          <p:cNvPr id="21" name="Text 19"/>
          <p:cNvSpPr/>
          <p:nvPr/>
        </p:nvSpPr>
        <p:spPr>
          <a:xfrm>
            <a:off x="6766560" y="336499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Methods</a:t>
            </a:r>
            <a:endParaRPr lang="en-US" sz="1500" dirty="0"/>
          </a:p>
        </p:txBody>
      </p:sp>
      <p:sp>
        <p:nvSpPr>
          <p:cNvPr id="22" name="Text 20"/>
          <p:cNvSpPr/>
          <p:nvPr/>
        </p:nvSpPr>
        <p:spPr>
          <a:xfrm>
            <a:off x="6263640" y="391363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10</a:t>
            </a:r>
            <a:endParaRPr lang="en-US" sz="1500" dirty="0"/>
          </a:p>
        </p:txBody>
      </p:sp>
      <p:sp>
        <p:nvSpPr>
          <p:cNvPr id="23" name="Text 21"/>
          <p:cNvSpPr/>
          <p:nvPr/>
        </p:nvSpPr>
        <p:spPr>
          <a:xfrm>
            <a:off x="6766560" y="391363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Basic Problem Solving</a:t>
            </a:r>
            <a:endParaRPr lang="en-US" sz="1500" dirty="0"/>
          </a:p>
        </p:txBody>
      </p:sp>
      <p:sp>
        <p:nvSpPr>
          <p:cNvPr id="24" name="Shape 22"/>
          <p:cNvSpPr/>
          <p:nvPr/>
        </p:nvSpPr>
        <p:spPr>
          <a:xfrm>
            <a:off x="0" y="0"/>
            <a:ext cx="12191695" cy="384048"/>
          </a:xfrm>
          <a:prstGeom prst="rect">
            <a:avLst/>
          </a:prstGeom>
          <a:solidFill>
            <a:srgbClr val="1B2A4A"/>
          </a:solidFill>
          <a:ln w="12700">
            <a:solidFill>
              <a:srgbClr val="1B2A4A"/>
            </a:solidFill>
            <a:prstDash val="solid"/>
          </a:ln>
        </p:spPr>
      </p:sp>
      <p:sp>
        <p:nvSpPr>
          <p:cNvPr id="25" name="Text 2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6" name="Shape 24"/>
          <p:cNvSpPr/>
          <p:nvPr/>
        </p:nvSpPr>
        <p:spPr>
          <a:xfrm>
            <a:off x="219456" y="301752"/>
            <a:ext cx="960120" cy="0"/>
          </a:xfrm>
          <a:prstGeom prst="line">
            <a:avLst/>
          </a:prstGeom>
          <a:noFill/>
          <a:ln w="9525">
            <a:solidFill>
              <a:srgbClr val="4A5570"/>
            </a:solidFill>
            <a:prstDash val="solid"/>
          </a:ln>
        </p:spPr>
      </p:sp>
      <p:sp>
        <p:nvSpPr>
          <p:cNvPr id="27" name="Text 2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8" name="Text 2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9" name="Text 2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0" name="Shape 28"/>
          <p:cNvSpPr/>
          <p:nvPr/>
        </p:nvSpPr>
        <p:spPr>
          <a:xfrm>
            <a:off x="0" y="6291072"/>
            <a:ext cx="12191695" cy="566928"/>
          </a:xfrm>
          <a:prstGeom prst="rect">
            <a:avLst/>
          </a:prstGeom>
          <a:solidFill>
            <a:srgbClr val="1B2A4A"/>
          </a:solidFill>
          <a:ln w="12700">
            <a:solidFill>
              <a:srgbClr val="1B2A4A"/>
            </a:solidFill>
            <a:prstDash val="solid"/>
          </a:ln>
        </p:spPr>
      </p:sp>
      <p:sp>
        <p:nvSpPr>
          <p:cNvPr id="31" name="Text 2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2" name="Text 3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PREREQUISITES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Before Day One</a:t>
            </a:r>
            <a:endParaRPr lang="en-US" sz="2700" dirty="0"/>
          </a:p>
        </p:txBody>
      </p:sp>
      <p:sp>
        <p:nvSpPr>
          <p:cNvPr id="4" name="Text 2"/>
          <p:cNvSpPr/>
          <p:nvPr/>
        </p:nvSpPr>
        <p:spPr>
          <a:xfrm>
            <a:off x="548640" y="1554480"/>
            <a:ext cx="10789920" cy="365760"/>
          </a:xfrm>
          <a:prstGeom prst="rect">
            <a:avLst/>
          </a:prstGeom>
          <a:noFill/>
          <a:ln/>
        </p:spPr>
        <p:txBody>
          <a:bodyPr wrap="square" lIns="0" tIns="0" rIns="0" bIns="0" rtlCol="0" anchor="ctr"/>
          <a:lstStyle/>
          <a:p>
            <a:pPr marL="0" indent="0">
              <a:buNone/>
            </a:pPr>
            <a:r>
              <a:rPr lang="en-US" sz="1300" i="1" dirty="0">
                <a:solidFill>
                  <a:srgbClr val="5A6472"/>
                </a:solidFill>
                <a:latin typeface="Times New Roman" pitchFamily="34" charset="0"/>
                <a:ea typeface="Times New Roman" pitchFamily="34" charset="-122"/>
                <a:cs typeface="Times New Roman" pitchFamily="34" charset="-120"/>
              </a:rPr>
              <a:t>This is Session 1, the very first session of the program. No prior programming experience is required.</a:t>
            </a:r>
            <a:endParaRPr lang="en-US" sz="1300" dirty="0"/>
          </a:p>
        </p:txBody>
      </p:sp>
      <p:sp>
        <p:nvSpPr>
          <p:cNvPr id="5" name="Shape 3"/>
          <p:cNvSpPr/>
          <p:nvPr/>
        </p:nvSpPr>
        <p:spPr>
          <a:xfrm>
            <a:off x="594360" y="2011680"/>
            <a:ext cx="10607040" cy="702259"/>
          </a:xfrm>
          <a:prstGeom prst="roundRect">
            <a:avLst>
              <a:gd name="adj" fmla="val 7813"/>
            </a:avLst>
          </a:prstGeom>
          <a:solidFill>
            <a:srgbClr val="F5F6FA"/>
          </a:solidFill>
          <a:ln w="9525">
            <a:solidFill>
              <a:srgbClr val="E4E7EE"/>
            </a:solidFill>
            <a:prstDash val="solid"/>
          </a:ln>
        </p:spPr>
      </p:sp>
      <p:sp>
        <p:nvSpPr>
          <p:cNvPr id="6" name="Text 4"/>
          <p:cNvSpPr/>
          <p:nvPr/>
        </p:nvSpPr>
        <p:spPr>
          <a:xfrm>
            <a:off x="777240" y="2011680"/>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7" name="Text 5"/>
          <p:cNvSpPr/>
          <p:nvPr/>
        </p:nvSpPr>
        <p:spPr>
          <a:xfrm>
            <a:off x="1234440" y="2011680"/>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Comfortable using a computer: creating folders, saving files, and installing software</a:t>
            </a:r>
            <a:endParaRPr lang="en-US" sz="1400" dirty="0"/>
          </a:p>
        </p:txBody>
      </p:sp>
      <p:sp>
        <p:nvSpPr>
          <p:cNvPr id="8" name="Shape 6"/>
          <p:cNvSpPr/>
          <p:nvPr/>
        </p:nvSpPr>
        <p:spPr>
          <a:xfrm>
            <a:off x="594360" y="2841955"/>
            <a:ext cx="10607040" cy="702259"/>
          </a:xfrm>
          <a:prstGeom prst="roundRect">
            <a:avLst>
              <a:gd name="adj" fmla="val 7813"/>
            </a:avLst>
          </a:prstGeom>
          <a:solidFill>
            <a:srgbClr val="F5F6FA"/>
          </a:solidFill>
          <a:ln w="9525">
            <a:solidFill>
              <a:srgbClr val="E4E7EE"/>
            </a:solidFill>
            <a:prstDash val="solid"/>
          </a:ln>
        </p:spPr>
      </p:sp>
      <p:sp>
        <p:nvSpPr>
          <p:cNvPr id="9" name="Text 7"/>
          <p:cNvSpPr/>
          <p:nvPr/>
        </p:nvSpPr>
        <p:spPr>
          <a:xfrm>
            <a:off x="777240" y="2841955"/>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10" name="Text 8"/>
          <p:cNvSpPr/>
          <p:nvPr/>
        </p:nvSpPr>
        <p:spPr>
          <a:xfrm>
            <a:off x="1234440" y="2841955"/>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 laptop with at least 8GB RAM and administrator rights to install software</a:t>
            </a:r>
            <a:endParaRPr lang="en-US" sz="1400" dirty="0"/>
          </a:p>
        </p:txBody>
      </p:sp>
      <p:sp>
        <p:nvSpPr>
          <p:cNvPr id="11" name="Shape 9"/>
          <p:cNvSpPr/>
          <p:nvPr/>
        </p:nvSpPr>
        <p:spPr>
          <a:xfrm>
            <a:off x="594360" y="3672230"/>
            <a:ext cx="10607040" cy="702259"/>
          </a:xfrm>
          <a:prstGeom prst="roundRect">
            <a:avLst>
              <a:gd name="adj" fmla="val 7813"/>
            </a:avLst>
          </a:prstGeom>
          <a:solidFill>
            <a:srgbClr val="F5F6FA"/>
          </a:solidFill>
          <a:ln w="9525">
            <a:solidFill>
              <a:srgbClr val="E4E7EE"/>
            </a:solidFill>
            <a:prstDash val="solid"/>
          </a:ln>
        </p:spPr>
      </p:sp>
      <p:sp>
        <p:nvSpPr>
          <p:cNvPr id="12" name="Text 10"/>
          <p:cNvSpPr/>
          <p:nvPr/>
        </p:nvSpPr>
        <p:spPr>
          <a:xfrm>
            <a:off x="777240" y="3672230"/>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3" name="Text 11"/>
          <p:cNvSpPr/>
          <p:nvPr/>
        </p:nvSpPr>
        <p:spPr>
          <a:xfrm>
            <a:off x="1234440" y="3672230"/>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Java Development Kit (JDK 17 or later) and an IDE (IntelliJ IDEA Community or Eclipse) installed and verified before class</a:t>
            </a:r>
            <a:endParaRPr lang="en-US" sz="1400" dirty="0"/>
          </a:p>
        </p:txBody>
      </p:sp>
      <p:sp>
        <p:nvSpPr>
          <p:cNvPr id="14" name="Shape 12"/>
          <p:cNvSpPr/>
          <p:nvPr/>
        </p:nvSpPr>
        <p:spPr>
          <a:xfrm>
            <a:off x="594360" y="4502506"/>
            <a:ext cx="10607040" cy="702259"/>
          </a:xfrm>
          <a:prstGeom prst="roundRect">
            <a:avLst>
              <a:gd name="adj" fmla="val 7813"/>
            </a:avLst>
          </a:prstGeom>
          <a:solidFill>
            <a:srgbClr val="F5F6FA"/>
          </a:solidFill>
          <a:ln w="9525">
            <a:solidFill>
              <a:srgbClr val="E4E7EE"/>
            </a:solidFill>
            <a:prstDash val="solid"/>
          </a:ln>
        </p:spPr>
      </p:sp>
      <p:sp>
        <p:nvSpPr>
          <p:cNvPr id="15" name="Text 13"/>
          <p:cNvSpPr/>
          <p:nvPr/>
        </p:nvSpPr>
        <p:spPr>
          <a:xfrm>
            <a:off x="777240" y="4502506"/>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6" name="Text 14"/>
          <p:cNvSpPr/>
          <p:nvPr/>
        </p:nvSpPr>
        <p:spPr>
          <a:xfrm>
            <a:off x="1234440" y="4502506"/>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 genuine willingness to type, run, and debug small programs throughout the session</a:t>
            </a:r>
            <a:endParaRPr lang="en-US" sz="1400" dirty="0"/>
          </a:p>
        </p:txBody>
      </p:sp>
      <p:sp>
        <p:nvSpPr>
          <p:cNvPr id="17" name="Shape 15"/>
          <p:cNvSpPr/>
          <p:nvPr/>
        </p:nvSpPr>
        <p:spPr>
          <a:xfrm>
            <a:off x="594360" y="5332781"/>
            <a:ext cx="10607040" cy="702259"/>
          </a:xfrm>
          <a:prstGeom prst="roundRect">
            <a:avLst>
              <a:gd name="adj" fmla="val 7813"/>
            </a:avLst>
          </a:prstGeom>
          <a:solidFill>
            <a:srgbClr val="F5F6FA"/>
          </a:solidFill>
          <a:ln w="9525">
            <a:solidFill>
              <a:srgbClr val="E4E7EE"/>
            </a:solidFill>
            <a:prstDash val="solid"/>
          </a:ln>
        </p:spPr>
      </p:sp>
      <p:sp>
        <p:nvSpPr>
          <p:cNvPr id="18" name="Text 16"/>
          <p:cNvSpPr/>
          <p:nvPr/>
        </p:nvSpPr>
        <p:spPr>
          <a:xfrm>
            <a:off x="777240" y="5332781"/>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9" name="Text 17"/>
          <p:cNvSpPr/>
          <p:nvPr/>
        </p:nvSpPr>
        <p:spPr>
          <a:xfrm>
            <a:off x="1234440" y="5332781"/>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No prior coding background is assumed; every concept is introduced from first principles</a:t>
            </a:r>
            <a:endParaRPr lang="en-US" sz="1400" dirty="0"/>
          </a:p>
        </p:txBody>
      </p:sp>
      <p:sp>
        <p:nvSpPr>
          <p:cNvPr id="20" name="Shape 18"/>
          <p:cNvSpPr/>
          <p:nvPr/>
        </p:nvSpPr>
        <p:spPr>
          <a:xfrm>
            <a:off x="0" y="0"/>
            <a:ext cx="12191695" cy="384048"/>
          </a:xfrm>
          <a:prstGeom prst="rect">
            <a:avLst/>
          </a:prstGeom>
          <a:solidFill>
            <a:srgbClr val="1B2A4A"/>
          </a:solidFill>
          <a:ln w="12700">
            <a:solidFill>
              <a:srgbClr val="1B2A4A"/>
            </a:solidFill>
            <a:prstDash val="solid"/>
          </a:ln>
        </p:spPr>
      </p:sp>
      <p:sp>
        <p:nvSpPr>
          <p:cNvPr id="21" name="Text 19"/>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2" name="Shape 20"/>
          <p:cNvSpPr/>
          <p:nvPr/>
        </p:nvSpPr>
        <p:spPr>
          <a:xfrm>
            <a:off x="219456" y="301752"/>
            <a:ext cx="960120" cy="0"/>
          </a:xfrm>
          <a:prstGeom prst="line">
            <a:avLst/>
          </a:prstGeom>
          <a:noFill/>
          <a:ln w="9525">
            <a:solidFill>
              <a:srgbClr val="4A5570"/>
            </a:solidFill>
            <a:prstDash val="solid"/>
          </a:ln>
        </p:spPr>
      </p:sp>
      <p:sp>
        <p:nvSpPr>
          <p:cNvPr id="23" name="Text 21"/>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4" name="Text 22"/>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5" name="Text 23"/>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6" name="Shape 24"/>
          <p:cNvSpPr/>
          <p:nvPr/>
        </p:nvSpPr>
        <p:spPr>
          <a:xfrm>
            <a:off x="0" y="6291072"/>
            <a:ext cx="12191695" cy="566928"/>
          </a:xfrm>
          <a:prstGeom prst="rect">
            <a:avLst/>
          </a:prstGeom>
          <a:solidFill>
            <a:srgbClr val="1B2A4A"/>
          </a:solidFill>
          <a:ln w="12700">
            <a:solidFill>
              <a:srgbClr val="1B2A4A"/>
            </a:solidFill>
            <a:prstDash val="solid"/>
          </a:ln>
        </p:spPr>
      </p:sp>
      <p:sp>
        <p:nvSpPr>
          <p:cNvPr id="27" name="Text 25"/>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8" name="Text 26"/>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MODULE OBJECTIVE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By the End of This Session</a:t>
            </a:r>
            <a:endParaRPr lang="en-US" sz="2700" dirty="0"/>
          </a:p>
        </p:txBody>
      </p:sp>
      <p:sp>
        <p:nvSpPr>
          <p:cNvPr id="4" name="Shape 2"/>
          <p:cNvSpPr/>
          <p:nvPr/>
        </p:nvSpPr>
        <p:spPr>
          <a:xfrm>
            <a:off x="594360" y="1554480"/>
            <a:ext cx="10607040" cy="448056"/>
          </a:xfrm>
          <a:prstGeom prst="roundRect">
            <a:avLst>
              <a:gd name="adj" fmla="val 12245"/>
            </a:avLst>
          </a:prstGeom>
          <a:solidFill>
            <a:srgbClr val="F5F6FA"/>
          </a:solidFill>
          <a:ln w="9525">
            <a:solidFill>
              <a:srgbClr val="E4E7EE"/>
            </a:solidFill>
            <a:prstDash val="solid"/>
          </a:ln>
        </p:spPr>
      </p:sp>
      <p:sp>
        <p:nvSpPr>
          <p:cNvPr id="5" name="Text 3"/>
          <p:cNvSpPr/>
          <p:nvPr/>
        </p:nvSpPr>
        <p:spPr>
          <a:xfrm>
            <a:off x="777240" y="155448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6" name="Text 4"/>
          <p:cNvSpPr/>
          <p:nvPr/>
        </p:nvSpPr>
        <p:spPr>
          <a:xfrm>
            <a:off x="1234440" y="155448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Explain what Java is, its core features, and how the JDK, JRE, and JVM work together</a:t>
            </a:r>
            <a:endParaRPr lang="en-US" sz="1400" dirty="0"/>
          </a:p>
        </p:txBody>
      </p:sp>
      <p:sp>
        <p:nvSpPr>
          <p:cNvPr id="7" name="Shape 5"/>
          <p:cNvSpPr/>
          <p:nvPr/>
        </p:nvSpPr>
        <p:spPr>
          <a:xfrm>
            <a:off x="594360" y="2130552"/>
            <a:ext cx="10607040" cy="448056"/>
          </a:xfrm>
          <a:prstGeom prst="roundRect">
            <a:avLst>
              <a:gd name="adj" fmla="val 12245"/>
            </a:avLst>
          </a:prstGeom>
          <a:solidFill>
            <a:srgbClr val="F5F6FA"/>
          </a:solidFill>
          <a:ln w="9525">
            <a:solidFill>
              <a:srgbClr val="E4E7EE"/>
            </a:solidFill>
            <a:prstDash val="solid"/>
          </a:ln>
        </p:spPr>
      </p:sp>
      <p:sp>
        <p:nvSpPr>
          <p:cNvPr id="8" name="Text 6"/>
          <p:cNvSpPr/>
          <p:nvPr/>
        </p:nvSpPr>
        <p:spPr>
          <a:xfrm>
            <a:off x="777240" y="213055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9" name="Text 7"/>
          <p:cNvSpPr/>
          <p:nvPr/>
        </p:nvSpPr>
        <p:spPr>
          <a:xfrm>
            <a:off x="1234440" y="213055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Install and verify a working Java development environment</a:t>
            </a:r>
            <a:endParaRPr lang="en-US" sz="1400" dirty="0"/>
          </a:p>
        </p:txBody>
      </p:sp>
      <p:sp>
        <p:nvSpPr>
          <p:cNvPr id="10" name="Shape 8"/>
          <p:cNvSpPr/>
          <p:nvPr/>
        </p:nvSpPr>
        <p:spPr>
          <a:xfrm>
            <a:off x="594360" y="2706624"/>
            <a:ext cx="10607040" cy="448056"/>
          </a:xfrm>
          <a:prstGeom prst="roundRect">
            <a:avLst>
              <a:gd name="adj" fmla="val 12245"/>
            </a:avLst>
          </a:prstGeom>
          <a:solidFill>
            <a:srgbClr val="F5F6FA"/>
          </a:solidFill>
          <a:ln w="9525">
            <a:solidFill>
              <a:srgbClr val="E4E7EE"/>
            </a:solidFill>
            <a:prstDash val="solid"/>
          </a:ln>
        </p:spPr>
      </p:sp>
      <p:sp>
        <p:nvSpPr>
          <p:cNvPr id="11" name="Text 9"/>
          <p:cNvSpPr/>
          <p:nvPr/>
        </p:nvSpPr>
        <p:spPr>
          <a:xfrm>
            <a:off x="777240" y="270662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2" name="Text 10"/>
          <p:cNvSpPr/>
          <p:nvPr/>
        </p:nvSpPr>
        <p:spPr>
          <a:xfrm>
            <a:off x="1234440" y="270662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Declare variables of different data types and apply operators and type casting correctly</a:t>
            </a:r>
            <a:endParaRPr lang="en-US" sz="1400" dirty="0"/>
          </a:p>
        </p:txBody>
      </p:sp>
      <p:sp>
        <p:nvSpPr>
          <p:cNvPr id="13" name="Shape 11"/>
          <p:cNvSpPr/>
          <p:nvPr/>
        </p:nvSpPr>
        <p:spPr>
          <a:xfrm>
            <a:off x="594360" y="3282696"/>
            <a:ext cx="10607040" cy="448056"/>
          </a:xfrm>
          <a:prstGeom prst="roundRect">
            <a:avLst>
              <a:gd name="adj" fmla="val 12245"/>
            </a:avLst>
          </a:prstGeom>
          <a:solidFill>
            <a:srgbClr val="F5F6FA"/>
          </a:solidFill>
          <a:ln w="9525">
            <a:solidFill>
              <a:srgbClr val="E4E7EE"/>
            </a:solidFill>
            <a:prstDash val="solid"/>
          </a:ln>
        </p:spPr>
      </p:sp>
      <p:sp>
        <p:nvSpPr>
          <p:cNvPr id="14" name="Text 12"/>
          <p:cNvSpPr/>
          <p:nvPr/>
        </p:nvSpPr>
        <p:spPr>
          <a:xfrm>
            <a:off x="777240" y="3282696"/>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5" name="Text 13"/>
          <p:cNvSpPr/>
          <p:nvPr/>
        </p:nvSpPr>
        <p:spPr>
          <a:xfrm>
            <a:off x="1234440" y="3282696"/>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Read input from the keyboard and produce formatted console output</a:t>
            </a:r>
            <a:endParaRPr lang="en-US" sz="1400" dirty="0"/>
          </a:p>
        </p:txBody>
      </p:sp>
      <p:sp>
        <p:nvSpPr>
          <p:cNvPr id="16" name="Shape 14"/>
          <p:cNvSpPr/>
          <p:nvPr/>
        </p:nvSpPr>
        <p:spPr>
          <a:xfrm>
            <a:off x="594360" y="3858768"/>
            <a:ext cx="10607040" cy="448056"/>
          </a:xfrm>
          <a:prstGeom prst="roundRect">
            <a:avLst>
              <a:gd name="adj" fmla="val 12245"/>
            </a:avLst>
          </a:prstGeom>
          <a:solidFill>
            <a:srgbClr val="F5F6FA"/>
          </a:solidFill>
          <a:ln w="9525">
            <a:solidFill>
              <a:srgbClr val="E4E7EE"/>
            </a:solidFill>
            <a:prstDash val="solid"/>
          </a:ln>
        </p:spPr>
      </p:sp>
      <p:sp>
        <p:nvSpPr>
          <p:cNvPr id="17" name="Text 15"/>
          <p:cNvSpPr/>
          <p:nvPr/>
        </p:nvSpPr>
        <p:spPr>
          <a:xfrm>
            <a:off x="777240" y="3858768"/>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8" name="Text 16"/>
          <p:cNvSpPr/>
          <p:nvPr/>
        </p:nvSpPr>
        <p:spPr>
          <a:xfrm>
            <a:off x="1234440" y="3858768"/>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Control program flow using conditional statements and loops</a:t>
            </a:r>
            <a:endParaRPr lang="en-US" sz="1400" dirty="0"/>
          </a:p>
        </p:txBody>
      </p:sp>
      <p:sp>
        <p:nvSpPr>
          <p:cNvPr id="19" name="Shape 17"/>
          <p:cNvSpPr/>
          <p:nvPr/>
        </p:nvSpPr>
        <p:spPr>
          <a:xfrm>
            <a:off x="594360" y="4434840"/>
            <a:ext cx="10607040" cy="448056"/>
          </a:xfrm>
          <a:prstGeom prst="roundRect">
            <a:avLst>
              <a:gd name="adj" fmla="val 12245"/>
            </a:avLst>
          </a:prstGeom>
          <a:solidFill>
            <a:srgbClr val="F5F6FA"/>
          </a:solidFill>
          <a:ln w="9525">
            <a:solidFill>
              <a:srgbClr val="E4E7EE"/>
            </a:solidFill>
            <a:prstDash val="solid"/>
          </a:ln>
        </p:spPr>
      </p:sp>
      <p:sp>
        <p:nvSpPr>
          <p:cNvPr id="20" name="Text 18"/>
          <p:cNvSpPr/>
          <p:nvPr/>
        </p:nvSpPr>
        <p:spPr>
          <a:xfrm>
            <a:off x="777240" y="443484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6.</a:t>
            </a:r>
            <a:endParaRPr lang="en-US" sz="1500" dirty="0"/>
          </a:p>
        </p:txBody>
      </p:sp>
      <p:sp>
        <p:nvSpPr>
          <p:cNvPr id="21" name="Text 19"/>
          <p:cNvSpPr/>
          <p:nvPr/>
        </p:nvSpPr>
        <p:spPr>
          <a:xfrm>
            <a:off x="1234440" y="443484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Store and process collections of data using arrays</a:t>
            </a:r>
            <a:endParaRPr lang="en-US" sz="1400" dirty="0"/>
          </a:p>
        </p:txBody>
      </p:sp>
      <p:sp>
        <p:nvSpPr>
          <p:cNvPr id="22" name="Shape 20"/>
          <p:cNvSpPr/>
          <p:nvPr/>
        </p:nvSpPr>
        <p:spPr>
          <a:xfrm>
            <a:off x="594360" y="5010912"/>
            <a:ext cx="10607040" cy="448056"/>
          </a:xfrm>
          <a:prstGeom prst="roundRect">
            <a:avLst>
              <a:gd name="adj" fmla="val 12245"/>
            </a:avLst>
          </a:prstGeom>
          <a:solidFill>
            <a:srgbClr val="F5F6FA"/>
          </a:solidFill>
          <a:ln w="9525">
            <a:solidFill>
              <a:srgbClr val="E4E7EE"/>
            </a:solidFill>
            <a:prstDash val="solid"/>
          </a:ln>
        </p:spPr>
      </p:sp>
      <p:sp>
        <p:nvSpPr>
          <p:cNvPr id="23" name="Text 21"/>
          <p:cNvSpPr/>
          <p:nvPr/>
        </p:nvSpPr>
        <p:spPr>
          <a:xfrm>
            <a:off x="777240" y="501091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7.</a:t>
            </a:r>
            <a:endParaRPr lang="en-US" sz="1500" dirty="0"/>
          </a:p>
        </p:txBody>
      </p:sp>
      <p:sp>
        <p:nvSpPr>
          <p:cNvPr id="24" name="Text 22"/>
          <p:cNvSpPr/>
          <p:nvPr/>
        </p:nvSpPr>
        <p:spPr>
          <a:xfrm>
            <a:off x="1234440" y="501091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Write and call methods to organize and reuse code</a:t>
            </a:r>
            <a:endParaRPr lang="en-US" sz="1400" dirty="0"/>
          </a:p>
        </p:txBody>
      </p:sp>
      <p:sp>
        <p:nvSpPr>
          <p:cNvPr id="25" name="Shape 23"/>
          <p:cNvSpPr/>
          <p:nvPr/>
        </p:nvSpPr>
        <p:spPr>
          <a:xfrm>
            <a:off x="594360" y="5586984"/>
            <a:ext cx="10607040" cy="448056"/>
          </a:xfrm>
          <a:prstGeom prst="roundRect">
            <a:avLst>
              <a:gd name="adj" fmla="val 12245"/>
            </a:avLst>
          </a:prstGeom>
          <a:solidFill>
            <a:srgbClr val="F5F6FA"/>
          </a:solidFill>
          <a:ln w="9525">
            <a:solidFill>
              <a:srgbClr val="E4E7EE"/>
            </a:solidFill>
            <a:prstDash val="solid"/>
          </a:ln>
        </p:spPr>
      </p:sp>
      <p:sp>
        <p:nvSpPr>
          <p:cNvPr id="26" name="Text 24"/>
          <p:cNvSpPr/>
          <p:nvPr/>
        </p:nvSpPr>
        <p:spPr>
          <a:xfrm>
            <a:off x="777240" y="558698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8.</a:t>
            </a:r>
            <a:endParaRPr lang="en-US" sz="1500" dirty="0"/>
          </a:p>
        </p:txBody>
      </p:sp>
      <p:sp>
        <p:nvSpPr>
          <p:cNvPr id="27" name="Text 25"/>
          <p:cNvSpPr/>
          <p:nvPr/>
        </p:nvSpPr>
        <p:spPr>
          <a:xfrm>
            <a:off x="1234440" y="558698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Apply everything learned to solve small, complete programming problems</a:t>
            </a:r>
            <a:endParaRPr lang="en-US" sz="1400" dirty="0"/>
          </a:p>
        </p:txBody>
      </p:sp>
      <p:sp>
        <p:nvSpPr>
          <p:cNvPr id="28" name="Shape 26"/>
          <p:cNvSpPr/>
          <p:nvPr/>
        </p:nvSpPr>
        <p:spPr>
          <a:xfrm>
            <a:off x="0" y="0"/>
            <a:ext cx="12191695" cy="384048"/>
          </a:xfrm>
          <a:prstGeom prst="rect">
            <a:avLst/>
          </a:prstGeom>
          <a:solidFill>
            <a:srgbClr val="1B2A4A"/>
          </a:solidFill>
          <a:ln w="12700">
            <a:solidFill>
              <a:srgbClr val="1B2A4A"/>
            </a:solidFill>
            <a:prstDash val="solid"/>
          </a:ln>
        </p:spPr>
      </p:sp>
      <p:sp>
        <p:nvSpPr>
          <p:cNvPr id="29" name="Text 27"/>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30" name="Shape 28"/>
          <p:cNvSpPr/>
          <p:nvPr/>
        </p:nvSpPr>
        <p:spPr>
          <a:xfrm>
            <a:off x="219456" y="301752"/>
            <a:ext cx="960120" cy="0"/>
          </a:xfrm>
          <a:prstGeom prst="line">
            <a:avLst/>
          </a:prstGeom>
          <a:noFill/>
          <a:ln w="9525">
            <a:solidFill>
              <a:srgbClr val="4A5570"/>
            </a:solidFill>
            <a:prstDash val="solid"/>
          </a:ln>
        </p:spPr>
      </p:sp>
      <p:sp>
        <p:nvSpPr>
          <p:cNvPr id="31" name="Text 29"/>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32" name="Text 30"/>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33" name="Text 31"/>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4" name="Shape 32"/>
          <p:cNvSpPr/>
          <p:nvPr/>
        </p:nvSpPr>
        <p:spPr>
          <a:xfrm>
            <a:off x="0" y="6291072"/>
            <a:ext cx="12191695" cy="566928"/>
          </a:xfrm>
          <a:prstGeom prst="rect">
            <a:avLst/>
          </a:prstGeom>
          <a:solidFill>
            <a:srgbClr val="1B2A4A"/>
          </a:solidFill>
          <a:ln w="12700">
            <a:solidFill>
              <a:srgbClr val="1B2A4A"/>
            </a:solidFill>
            <a:prstDash val="solid"/>
          </a:ln>
        </p:spPr>
      </p:sp>
      <p:sp>
        <p:nvSpPr>
          <p:cNvPr id="35" name="Text 33"/>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6" name="Text 34"/>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1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Java Features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What Java is, and why it has remained so widely used</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Java?</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general-purpose, object-oriented programming language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was designed so that programs written once could run on many different kinds of computers without changes.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Created by Sun Microsystems in 1995</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is now owned and developed by Oracle, with a new feature release every six months.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Used across an enormous range of applications</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Web servers, Android apps, enterprise systems, and embedded devices all rely on Java.</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MOTIVATION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Why Java Is Popular</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Simple and readable syntax</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Java's syntax is clear and structured, which makes it a common first language for new programmers.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Runs on almost any device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same compiled Java program can run on Windows, macOS, Linux, and more without modification.</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huge ecosystem and job market</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Decades of adoption mean Java has a vast library ecosystem and strong, consistent industry demand.</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FEATURE 01</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Platform Independent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Write Once, Run Anywhere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source code compiles into bytecode, a format understood by the Java Virtual Machine rather than any one processor.</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The JVM makes this possible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Any device with a compatible JVM can run the exact same compiled Java program, covered in detail in the next section.</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FEATURE 02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Object-Oriented</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Organized around objects and classes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models real-world entities using classes, encouraging modular and reusable code.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Supports the four pillars of OOP</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Encapsulation, inheritance, polymorphism, and abstraction are all built into the language directly.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FEATURE 03</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Simple, Secure, and Robust</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Simple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No manual memory management or explicit pointers; Java handles memory automatically through garbage collection.</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Secure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code runs inside a managed environment that verifies bytecode before executing it.</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Robust</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Strong compile-time checking and structured exception handling reduce common sources of program crashes.</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FEATURE 04</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Multithreaded and High Performance</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Multithreaded</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has built-in support for running multiple tasks at the same time within one program.</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High performance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Just-In-Time compiler translates frequently used bytecode into fast native machine instructions at run time.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FEATURE 05</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Portable and Distributed</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Portable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size of every primitive data type is fixed by the language specification, so numeric behavior stays consistent everywhere.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Distributed</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includes libraries that make it straightforward to build applications that communicate across a network.</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RECAP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Java Features at a Glance</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530352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4826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Feature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What It Means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Simple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Clean syntax and automatic memory management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Object-Oriented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Organized around classes and objects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Platform Independent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Bytecode runs on any device with a JVM</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Secure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Runs inside a verified, managed environment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Robust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Strong type checking and exception handling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Multithreaded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Native support for concurrent tasks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6"/>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High Performance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JIT compilation speeds up execution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Distributed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Built-in support for networked applications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8"/>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REAL WORLD</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Where Java Is Used Today</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Enterprise back-end systems</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Banks, insurance companies, and large corporations run much of their core software on Java.</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Android application development</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has historically been one of the primary languages for building native Android apps.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Web servers and large-scale platforms</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Frameworks such as Spring power some of the world's largest web applications, covered later in this program.</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2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JDK, JRE, JVM and Setup</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The platform that compiles and runs every Java program, installed and verified</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BIG PICTURE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Understanding JDK, JRE, and JVM</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JVM: Java Virtual Machine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engine that actually executes bytecode; it is what makes Java platform independent.</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JRE: Java Runtime Environment</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JVM plus the core class libraries needed to run, but not build, Java applications.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JDK: Java Development Kit</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JRE plus development tools such as the compiler; everything needed to write and run Java code.</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EXECUTION ENGINE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JVM: Java Virtual Machine</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Loads, verifies, and executes bytecode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JVM never touches your original source code directly, only the compiled .class files.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Implementation is platform specific</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Each operating system has its own JVM build, which is exactly why the same bytecode runs everywhere.</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Manages memory automatically</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JVM's garbage collector reclaims memory from objects that are no longer being used.</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RUNTIME LAYER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JRE: Java Runtime Environment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JVM plus the core class libraries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Bundles java.lang, java.util, java.io, and other core packages that compiled programs depend on.</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Enough to run a program, not to build one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machine with only the JRE installed can execute .class files but cannot compile .java source files.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DEVELOPMENT LAYER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JDK: Java Development Kit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JRE plus the tools needed to develop software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Includes javac, the compiler, along with debugging and documentation tools.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What every Java developer installs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Since this program involves writing and compiling code, the full JDK is required, not just the JRE.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JDK vs. JRE vs. JVM</a:t>
            </a:r>
            <a:endParaRPr lang="en-US" sz="2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86868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JVM</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JRE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JDK</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Contains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Execution engine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JVM + libraries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JRE + dev tools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Compiles code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 (javac)</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Runs code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Who needs it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Runtime only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End users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Developers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TOOLCHAIN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How Java Code Runs: Compile and Execute</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Step one: write source code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source code is saved in a plain text file with a .java extension.</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Step two: compile with javac</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compiler translates human-readable source code into architecture-neutral bytecode, stored in a .class file.</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Step three: run with java</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java launcher starts the JVM, which loads and executes the compiled bytecode.</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 STEP 1</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Downloading and Installing the JDK</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Download the JDK for your operating system</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Oracle JDK or an OpenJDK distribution such as Eclipse Temurin are both fully compatible for this course.</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Run the installer and note the install path</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installation directory is needed shortly to configure environment variables.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Choose a recent long-term support version</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JDK 17 or later is recommended, since it is stable and widely supported.</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 STEP 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Setting PATH and JAVA_HOME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JAVA_HOME points build tools and IDEs to the JDK installation folder.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PATH must include the JDK's bin directory so javac and java can be run from any location.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terminal</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Windows (Command Prompt)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setx JAVA_HOME </a:t>
            </a:r>
            <a:r>
              <a:rPr lang="en-US" sz="1500" dirty="0">
                <a:solidFill>
                  <a:srgbClr val="CE9178"/>
                </a:solidFill>
                <a:latin typeface="Courier New" pitchFamily="34" charset="0"/>
                <a:ea typeface="Courier New" pitchFamily="34" charset="-122"/>
                <a:cs typeface="Courier New" pitchFamily="34" charset="-120"/>
              </a:rPr>
              <a:t>"C:\Program Files\Java\jdk-17"</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setx PATH </a:t>
            </a:r>
            <a:r>
              <a:rPr lang="en-US" sz="1500" dirty="0">
                <a:solidFill>
                  <a:srgbClr val="CE9178"/>
                </a:solidFill>
                <a:latin typeface="Courier New" pitchFamily="34" charset="0"/>
                <a:ea typeface="Courier New" pitchFamily="34" charset="-122"/>
                <a:cs typeface="Courier New" pitchFamily="34" charset="-120"/>
              </a:rPr>
              <a:t>"%PATH%;%JAVA_HOME%\bin"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macOS / Linux (shell profile)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export JAVA_HOME=/usr/lib/jvm/jdk-</a:t>
            </a:r>
            <a:r>
              <a:rPr lang="en-US" sz="1500" dirty="0">
                <a:solidFill>
                  <a:srgbClr val="B5CEA8"/>
                </a:solidFill>
                <a:latin typeface="Courier New" pitchFamily="34" charset="0"/>
                <a:ea typeface="Courier New" pitchFamily="34" charset="-122"/>
                <a:cs typeface="Courier New" pitchFamily="34" charset="-120"/>
              </a:rPr>
              <a:t>17</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export PATH=$JAVA_HOME/bin:$PATH</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 STEP 3</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Verifying Your Installation</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Both commands should print a version number if the JDK is installed and configured correctly.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If either command is not recognized, double check PATH and JAVA_HOME from the previous slide.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terminal</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Check the compiler version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javac -version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Check the runtime version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java -version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Example output: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javac </a:t>
            </a:r>
            <a:r>
              <a:rPr lang="en-US" sz="1500" dirty="0">
                <a:solidFill>
                  <a:srgbClr val="B5CEA8"/>
                </a:solidFill>
                <a:latin typeface="Courier New" pitchFamily="34" charset="0"/>
                <a:ea typeface="Courier New" pitchFamily="34" charset="-122"/>
                <a:cs typeface="Courier New" pitchFamily="34" charset="-120"/>
              </a:rPr>
              <a:t>17.0</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9</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java </a:t>
            </a:r>
            <a:r>
              <a:rPr lang="en-US" sz="1500" dirty="0">
                <a:solidFill>
                  <a:srgbClr val="B5CEA8"/>
                </a:solidFill>
                <a:latin typeface="Courier New" pitchFamily="34" charset="0"/>
                <a:ea typeface="Courier New" pitchFamily="34" charset="-122"/>
                <a:cs typeface="Courier New" pitchFamily="34" charset="-120"/>
              </a:rPr>
              <a:t>17.0</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9</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 STEP 4</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Choosing and Setting Up an IDE</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IntelliJ IDEA Community Edition</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free, widely used IDE with excellent code completion, refactoring, and error detection for Java.</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Eclipse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long-standing, free, and highly extensible IDE with a large plugin ecosystem.</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Either choice works well for this course</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Pick one, install it before class, and create a new Java project to confirm it can compile and run code.</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FIRST PROGRAM</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Writing and Running Your First Program</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Every Java application needs at least one class, and execution always begins in the main method.</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HelloWorld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Prints text to the console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"Hello, World!"</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i="1" dirty="0">
                <a:solidFill>
                  <a:srgbClr val="6A9955"/>
                </a:solidFill>
                <a:latin typeface="Courier New" pitchFamily="34" charset="0"/>
                <a:ea typeface="Courier New" pitchFamily="34" charset="-122"/>
                <a:cs typeface="Courier New" pitchFamily="34" charset="-120"/>
              </a:rPr>
              <a:t>// Compile: javac HelloWorld.java</a:t>
            </a:r>
            <a:endParaRPr lang="en-US" sz="1500" dirty="0"/>
          </a:p>
          <a:p>
            <a:pPr marL="0" indent="0" algn="l">
              <a:lnSpc>
                <a:spcPct val="118000"/>
              </a:lnSpc>
              <a:buNone/>
            </a:pPr>
            <a:r>
              <a:rPr lang="en-US" sz="1500" i="1" dirty="0">
                <a:solidFill>
                  <a:srgbClr val="6A9955"/>
                </a:solidFill>
                <a:latin typeface="Courier New" pitchFamily="34" charset="0"/>
                <a:ea typeface="Courier New" pitchFamily="34" charset="-122"/>
                <a:cs typeface="Courier New" pitchFamily="34" charset="-120"/>
              </a:rPr>
              <a:t>// Run:     java HelloWorld</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Hello, World!</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3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Variables and Data Types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Naming, declaring, and storing data inside a Java program</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Variable?</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named location in memory</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variable holds a value of a particular type that the program can read or change while it runs.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Must be declared before use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 is statically typed, so every variable's type is fixed at declaration and checked at compile time.</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Three ingredients</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variable declaration always combines a type, a name, and, optionally, an initial value.</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SYNTAX</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Declaring and Initializing Variables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general form is: type name; or type name = value;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declaration without a value still reserves memory for that type, but must be assigned before it is read.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VariableDemo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age;              </a:t>
            </a:r>
            <a:r>
              <a:rPr lang="en-US" sz="1200" i="1" dirty="0">
                <a:solidFill>
                  <a:srgbClr val="6A9955"/>
                </a:solidFill>
                <a:latin typeface="Courier New" pitchFamily="34" charset="0"/>
                <a:ea typeface="Courier New" pitchFamily="34" charset="-122"/>
                <a:cs typeface="Courier New" pitchFamily="34" charset="-120"/>
              </a:rPr>
              <a:t>// declaration only</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age = </a:t>
            </a:r>
            <a:r>
              <a:rPr lang="en-US" sz="1200" dirty="0">
                <a:solidFill>
                  <a:srgbClr val="B5CEA8"/>
                </a:solidFill>
                <a:latin typeface="Courier New" pitchFamily="34" charset="0"/>
                <a:ea typeface="Courier New" pitchFamily="34" charset="-122"/>
                <a:cs typeface="Courier New" pitchFamily="34" charset="-120"/>
              </a:rPr>
              <a:t>21</a:t>
            </a:r>
            <a:r>
              <a:rPr lang="en-US" sz="1200" dirty="0">
                <a:solidFill>
                  <a:srgbClr val="D4D4D4"/>
                </a:solidFill>
                <a:latin typeface="Courier New" pitchFamily="34" charset="0"/>
                <a:ea typeface="Courier New" pitchFamily="34" charset="-122"/>
                <a:cs typeface="Courier New" pitchFamily="34" charset="-120"/>
              </a:rPr>
              <a:t>;              </a:t>
            </a:r>
            <a:r>
              <a:rPr lang="en-US" sz="1200" i="1" dirty="0">
                <a:solidFill>
                  <a:srgbClr val="6A9955"/>
                </a:solidFill>
                <a:latin typeface="Courier New" pitchFamily="34" charset="0"/>
                <a:ea typeface="Courier New" pitchFamily="34" charset="-122"/>
                <a:cs typeface="Courier New" pitchFamily="34" charset="-120"/>
              </a:rPr>
              <a:t>// assignment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score = </a:t>
            </a:r>
            <a:r>
              <a:rPr lang="en-US" sz="1200" dirty="0">
                <a:solidFill>
                  <a:srgbClr val="B5CEA8"/>
                </a:solidFill>
                <a:latin typeface="Courier New" pitchFamily="34" charset="0"/>
                <a:ea typeface="Courier New" pitchFamily="34" charset="-122"/>
                <a:cs typeface="Courier New" pitchFamily="34" charset="-120"/>
              </a:rPr>
              <a:t>95</a:t>
            </a:r>
            <a:r>
              <a:rPr lang="en-US" sz="1200" dirty="0">
                <a:solidFill>
                  <a:srgbClr val="D4D4D4"/>
                </a:solidFill>
                <a:latin typeface="Courier New" pitchFamily="34" charset="0"/>
                <a:ea typeface="Courier New" pitchFamily="34" charset="-122"/>
                <a:cs typeface="Courier New" pitchFamily="34" charset="-120"/>
              </a:rPr>
              <a:t>;                 </a:t>
            </a:r>
            <a:r>
              <a:rPr lang="en-US" sz="1200" i="1" dirty="0">
                <a:solidFill>
                  <a:srgbClr val="6A9955"/>
                </a:solidFill>
                <a:latin typeface="Courier New" pitchFamily="34" charset="0"/>
                <a:ea typeface="Courier New" pitchFamily="34" charset="-122"/>
                <a:cs typeface="Courier New" pitchFamily="34" charset="-120"/>
              </a:rPr>
              <a:t>// declared and initialized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price = </a:t>
            </a:r>
            <a:r>
              <a:rPr lang="en-US" sz="1200" dirty="0">
                <a:solidFill>
                  <a:srgbClr val="B5CEA8"/>
                </a:solidFill>
                <a:latin typeface="Courier New" pitchFamily="34" charset="0"/>
                <a:ea typeface="Courier New" pitchFamily="34" charset="-122"/>
                <a:cs typeface="Courier New" pitchFamily="34" charset="-120"/>
              </a:rPr>
              <a:t>19.99</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char</a:t>
            </a:r>
            <a:r>
              <a:rPr lang="en-US" sz="1200" dirty="0">
                <a:solidFill>
                  <a:srgbClr val="D4D4D4"/>
                </a:solidFill>
                <a:latin typeface="Courier New" pitchFamily="34" charset="0"/>
                <a:ea typeface="Courier New" pitchFamily="34" charset="-122"/>
                <a:cs typeface="Courier New" pitchFamily="34" charset="-120"/>
              </a:rPr>
              <a:t> grade = 'A';</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boolean</a:t>
            </a:r>
            <a:r>
              <a:rPr lang="en-US" sz="1200" dirty="0">
                <a:solidFill>
                  <a:srgbClr val="D4D4D4"/>
                </a:solidFill>
                <a:latin typeface="Courier New" pitchFamily="34" charset="0"/>
                <a:ea typeface="Courier New" pitchFamily="34" charset="-122"/>
                <a:cs typeface="Courier New" pitchFamily="34" charset="-120"/>
              </a:rPr>
              <a:t> isPassed = </a:t>
            </a:r>
            <a:r>
              <a:rPr lang="en-US" sz="1200" b="1" dirty="0">
                <a:solidFill>
                  <a:srgbClr val="569CD6"/>
                </a:solidFill>
                <a:latin typeface="Courier New" pitchFamily="34" charset="0"/>
                <a:ea typeface="Courier New" pitchFamily="34" charset="-122"/>
                <a:cs typeface="Courier New" pitchFamily="34" charset="-120"/>
              </a:rPr>
              <a:t>true</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(age + </a:t>
            </a:r>
            <a:r>
              <a:rPr lang="en-US" sz="1200" dirty="0">
                <a:solidFill>
                  <a:srgbClr val="CE9178"/>
                </a:solidFill>
                <a:latin typeface="Courier New" pitchFamily="34" charset="0"/>
                <a:ea typeface="Courier New" pitchFamily="34" charset="-122"/>
                <a:cs typeface="Courier New" pitchFamily="34" charset="-120"/>
              </a:rPr>
              <a:t>" "</a:t>
            </a:r>
            <a:r>
              <a:rPr lang="en-US" sz="1200" dirty="0">
                <a:solidFill>
                  <a:srgbClr val="D4D4D4"/>
                </a:solidFill>
                <a:latin typeface="Courier New" pitchFamily="34" charset="0"/>
                <a:ea typeface="Courier New" pitchFamily="34" charset="-122"/>
                <a:cs typeface="Courier New" pitchFamily="34" charset="-120"/>
              </a:rPr>
              <a:t> + score);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RULES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Variable Naming Rules</a:t>
            </a:r>
            <a:endParaRPr lang="en-US" sz="2700" dirty="0"/>
          </a:p>
        </p:txBody>
      </p:sp>
      <p:sp>
        <p:nvSpPr>
          <p:cNvPr id="4" name="Shape 2"/>
          <p:cNvSpPr/>
          <p:nvPr/>
        </p:nvSpPr>
        <p:spPr>
          <a:xfrm>
            <a:off x="594360" y="1600200"/>
            <a:ext cx="10607040" cy="1243584"/>
          </a:xfrm>
          <a:prstGeom prst="roundRect">
            <a:avLst>
              <a:gd name="adj" fmla="val 441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Names may contain letters, digits, underscore, and dollar sign, but cannot start with a digit.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Java is case sensitive, and reserved keywords such as class or int cannot be used as names.</a:t>
            </a:r>
            <a:endParaRPr lang="en-US" sz="1250" dirty="0"/>
          </a:p>
        </p:txBody>
      </p:sp>
      <p:sp>
        <p:nvSpPr>
          <p:cNvPr id="9" name="Shape 7"/>
          <p:cNvSpPr/>
          <p:nvPr/>
        </p:nvSpPr>
        <p:spPr>
          <a:xfrm>
            <a:off x="804672" y="2450592"/>
            <a:ext cx="100584" cy="100584"/>
          </a:xfrm>
          <a:prstGeom prst="ellipse">
            <a:avLst/>
          </a:prstGeom>
          <a:solidFill>
            <a:srgbClr val="E8590C"/>
          </a:solidFill>
          <a:ln w="12700">
            <a:solidFill>
              <a:srgbClr val="000000"/>
            </a:solidFill>
            <a:prstDash val="solid"/>
          </a:ln>
        </p:spPr>
      </p:sp>
      <p:sp>
        <p:nvSpPr>
          <p:cNvPr id="10" name="Text 8"/>
          <p:cNvSpPr/>
          <p:nvPr/>
        </p:nvSpPr>
        <p:spPr>
          <a:xfrm>
            <a:off x="1051560" y="2350008"/>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By convention, variables and methods use camelCase, starting with a lowercase letter.</a:t>
            </a:r>
            <a:endParaRPr lang="en-US" sz="1250" dirty="0"/>
          </a:p>
        </p:txBody>
      </p:sp>
      <p:sp>
        <p:nvSpPr>
          <p:cNvPr id="11" name="Shape 9"/>
          <p:cNvSpPr/>
          <p:nvPr/>
        </p:nvSpPr>
        <p:spPr>
          <a:xfrm>
            <a:off x="594360" y="2990088"/>
            <a:ext cx="10607040" cy="3044952"/>
          </a:xfrm>
          <a:prstGeom prst="roundRect">
            <a:avLst>
              <a:gd name="adj" fmla="val 2402"/>
            </a:avLst>
          </a:prstGeom>
          <a:solidFill>
            <a:srgbClr val="1E1E2E"/>
          </a:solidFill>
          <a:ln w="12700">
            <a:solidFill>
              <a:srgbClr val="000000"/>
            </a:solidFill>
            <a:prstDash val="solid"/>
          </a:ln>
        </p:spPr>
      </p:sp>
      <p:sp>
        <p:nvSpPr>
          <p:cNvPr id="12" name="Shape 10"/>
          <p:cNvSpPr/>
          <p:nvPr/>
        </p:nvSpPr>
        <p:spPr>
          <a:xfrm>
            <a:off x="594360" y="2990088"/>
            <a:ext cx="10607040" cy="274320"/>
          </a:xfrm>
          <a:prstGeom prst="roundRect">
            <a:avLst>
              <a:gd name="adj" fmla="val 26667"/>
            </a:avLst>
          </a:prstGeom>
          <a:solidFill>
            <a:srgbClr val="17172A"/>
          </a:solidFill>
          <a:ln w="12700">
            <a:solidFill>
              <a:srgbClr val="000000"/>
            </a:solidFill>
            <a:prstDash val="solid"/>
          </a:ln>
        </p:spPr>
      </p:sp>
      <p:sp>
        <p:nvSpPr>
          <p:cNvPr id="13" name="Shape 11"/>
          <p:cNvSpPr/>
          <p:nvPr/>
        </p:nvSpPr>
        <p:spPr>
          <a:xfrm>
            <a:off x="594360" y="3191256"/>
            <a:ext cx="10607040" cy="73152"/>
          </a:xfrm>
          <a:prstGeom prst="rect">
            <a:avLst/>
          </a:prstGeom>
          <a:solidFill>
            <a:srgbClr val="17172A"/>
          </a:solidFill>
          <a:ln w="12700">
            <a:solidFill>
              <a:srgbClr val="000000"/>
            </a:solidFill>
            <a:prstDash val="solid"/>
          </a:ln>
        </p:spPr>
      </p:sp>
      <p:sp>
        <p:nvSpPr>
          <p:cNvPr id="14" name="Shape 12"/>
          <p:cNvSpPr/>
          <p:nvPr/>
        </p:nvSpPr>
        <p:spPr>
          <a:xfrm>
            <a:off x="722376" y="3088843"/>
            <a:ext cx="76810" cy="76810"/>
          </a:xfrm>
          <a:prstGeom prst="ellipse">
            <a:avLst/>
          </a:prstGeom>
          <a:solidFill>
            <a:srgbClr val="FF5F56"/>
          </a:solidFill>
          <a:ln w="12700">
            <a:solidFill>
              <a:srgbClr val="000000"/>
            </a:solidFill>
            <a:prstDash val="solid"/>
          </a:ln>
        </p:spPr>
      </p:sp>
      <p:sp>
        <p:nvSpPr>
          <p:cNvPr id="15" name="Shape 13"/>
          <p:cNvSpPr/>
          <p:nvPr/>
        </p:nvSpPr>
        <p:spPr>
          <a:xfrm>
            <a:off x="886968" y="3088843"/>
            <a:ext cx="76810" cy="76810"/>
          </a:xfrm>
          <a:prstGeom prst="ellipse">
            <a:avLst/>
          </a:prstGeom>
          <a:solidFill>
            <a:srgbClr val="FFBD2E"/>
          </a:solidFill>
          <a:ln w="12700">
            <a:solidFill>
              <a:srgbClr val="000000"/>
            </a:solidFill>
            <a:prstDash val="solid"/>
          </a:ln>
        </p:spPr>
      </p:sp>
      <p:sp>
        <p:nvSpPr>
          <p:cNvPr id="16" name="Shape 14"/>
          <p:cNvSpPr/>
          <p:nvPr/>
        </p:nvSpPr>
        <p:spPr>
          <a:xfrm>
            <a:off x="1051560" y="3088843"/>
            <a:ext cx="76810" cy="76810"/>
          </a:xfrm>
          <a:prstGeom prst="ellipse">
            <a:avLst/>
          </a:prstGeom>
          <a:solidFill>
            <a:srgbClr val="27C93F"/>
          </a:solidFill>
          <a:ln w="12700">
            <a:solidFill>
              <a:srgbClr val="000000"/>
            </a:solidFill>
            <a:prstDash val="solid"/>
          </a:ln>
        </p:spPr>
      </p:sp>
      <p:sp>
        <p:nvSpPr>
          <p:cNvPr id="17" name="Text 15"/>
          <p:cNvSpPr/>
          <p:nvPr/>
        </p:nvSpPr>
        <p:spPr>
          <a:xfrm>
            <a:off x="1371600" y="2990088"/>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8" name="Text 16"/>
          <p:cNvSpPr/>
          <p:nvPr/>
        </p:nvSpPr>
        <p:spPr>
          <a:xfrm>
            <a:off x="777240" y="3337560"/>
            <a:ext cx="10241280" cy="2624328"/>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NamingDemo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totalMarks = </a:t>
            </a:r>
            <a:r>
              <a:rPr lang="en-US" sz="1400" dirty="0">
                <a:solidFill>
                  <a:srgbClr val="B5CEA8"/>
                </a:solidFill>
                <a:latin typeface="Courier New" pitchFamily="34" charset="0"/>
                <a:ea typeface="Courier New" pitchFamily="34" charset="-122"/>
                <a:cs typeface="Courier New" pitchFamily="34" charset="-120"/>
              </a:rPr>
              <a:t>90</a:t>
            </a:r>
            <a:r>
              <a:rPr lang="en-US" sz="1400" dirty="0">
                <a:solidFill>
                  <a:srgbClr val="D4D4D4"/>
                </a:solidFill>
                <a:latin typeface="Courier New" pitchFamily="34" charset="0"/>
                <a:ea typeface="Courier New" pitchFamily="34" charset="-122"/>
                <a:cs typeface="Courier New" pitchFamily="34" charset="-120"/>
              </a:rPr>
              <a:t>;      </a:t>
            </a:r>
            <a:r>
              <a:rPr lang="en-US" sz="1400" i="1" dirty="0">
                <a:solidFill>
                  <a:srgbClr val="6A9955"/>
                </a:solidFill>
                <a:latin typeface="Courier New" pitchFamily="34" charset="0"/>
                <a:ea typeface="Courier New" pitchFamily="34" charset="-122"/>
                <a:cs typeface="Courier New" pitchFamily="34" charset="-120"/>
              </a:rPr>
              <a:t>// valid, camelCase</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total_marks = </a:t>
            </a:r>
            <a:r>
              <a:rPr lang="en-US" sz="1400" dirty="0">
                <a:solidFill>
                  <a:srgbClr val="B5CEA8"/>
                </a:solidFill>
                <a:latin typeface="Courier New" pitchFamily="34" charset="0"/>
                <a:ea typeface="Courier New" pitchFamily="34" charset="-122"/>
                <a:cs typeface="Courier New" pitchFamily="34" charset="-120"/>
              </a:rPr>
              <a:t>90</a:t>
            </a:r>
            <a:r>
              <a:rPr lang="en-US" sz="1400" dirty="0">
                <a:solidFill>
                  <a:srgbClr val="D4D4D4"/>
                </a:solidFill>
                <a:latin typeface="Courier New" pitchFamily="34" charset="0"/>
                <a:ea typeface="Courier New" pitchFamily="34" charset="-122"/>
                <a:cs typeface="Courier New" pitchFamily="34" charset="-120"/>
              </a:rPr>
              <a:t>;      </a:t>
            </a:r>
            <a:r>
              <a:rPr lang="en-US" sz="1400" i="1" dirty="0">
                <a:solidFill>
                  <a:srgbClr val="6A9955"/>
                </a:solidFill>
                <a:latin typeface="Courier New" pitchFamily="34" charset="0"/>
                <a:ea typeface="Courier New" pitchFamily="34" charset="-122"/>
                <a:cs typeface="Courier New" pitchFamily="34" charset="-120"/>
              </a:rPr>
              <a:t>// valid, but not conventional</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i="1" dirty="0">
                <a:solidFill>
                  <a:srgbClr val="6A9955"/>
                </a:solidFill>
                <a:latin typeface="Courier New" pitchFamily="34" charset="0"/>
                <a:ea typeface="Courier New" pitchFamily="34" charset="-122"/>
                <a:cs typeface="Courier New" pitchFamily="34" charset="-120"/>
              </a:rPr>
              <a:t>// int 2ndPlace = 2;       invalid, starts with a digit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i="1" dirty="0">
                <a:solidFill>
                  <a:srgbClr val="6A9955"/>
                </a:solidFill>
                <a:latin typeface="Courier New" pitchFamily="34" charset="0"/>
                <a:ea typeface="Courier New" pitchFamily="34" charset="-122"/>
                <a:cs typeface="Courier New" pitchFamily="34" charset="-120"/>
              </a:rPr>
              <a:t>// int class = 1;          invalid, reserved keyword</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(totalMarks);</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9" name="Shape 17"/>
          <p:cNvSpPr/>
          <p:nvPr/>
        </p:nvSpPr>
        <p:spPr>
          <a:xfrm>
            <a:off x="0" y="0"/>
            <a:ext cx="12191695" cy="384048"/>
          </a:xfrm>
          <a:prstGeom prst="rect">
            <a:avLst/>
          </a:prstGeom>
          <a:solidFill>
            <a:srgbClr val="1B2A4A"/>
          </a:solidFill>
          <a:ln w="12700">
            <a:solidFill>
              <a:srgbClr val="1B2A4A"/>
            </a:solidFill>
            <a:prstDash val="solid"/>
          </a:ln>
        </p:spPr>
      </p:sp>
      <p:sp>
        <p:nvSpPr>
          <p:cNvPr id="20" name="Text 18"/>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1" name="Shape 19"/>
          <p:cNvSpPr/>
          <p:nvPr/>
        </p:nvSpPr>
        <p:spPr>
          <a:xfrm>
            <a:off x="219456" y="301752"/>
            <a:ext cx="960120" cy="0"/>
          </a:xfrm>
          <a:prstGeom prst="line">
            <a:avLst/>
          </a:prstGeom>
          <a:noFill/>
          <a:ln w="9525">
            <a:solidFill>
              <a:srgbClr val="4A5570"/>
            </a:solidFill>
            <a:prstDash val="solid"/>
          </a:ln>
        </p:spPr>
      </p:sp>
      <p:sp>
        <p:nvSpPr>
          <p:cNvPr id="22" name="Text 20"/>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3" name="Text 21"/>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4" name="Text 22"/>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5" name="Shape 23"/>
          <p:cNvSpPr/>
          <p:nvPr/>
        </p:nvSpPr>
        <p:spPr>
          <a:xfrm>
            <a:off x="0" y="6291072"/>
            <a:ext cx="12191695" cy="566928"/>
          </a:xfrm>
          <a:prstGeom prst="rect">
            <a:avLst/>
          </a:prstGeom>
          <a:solidFill>
            <a:srgbClr val="1B2A4A"/>
          </a:solidFill>
          <a:ln w="12700">
            <a:solidFill>
              <a:srgbClr val="1B2A4A"/>
            </a:solidFill>
            <a:prstDash val="solid"/>
          </a:ln>
        </p:spPr>
      </p:sp>
      <p:sp>
        <p:nvSpPr>
          <p:cNvPr id="26" name="Text 24"/>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7" name="Text 25"/>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CATEGORIES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Types of Variables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Local variables</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Declared inside a method, and only exist while that method is running.</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Instance variables</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Declared inside a class but outside any method; each object gets its own copy.</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Static variables</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Declared with the static keyword, and shared by every object of that class.</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Data Type?</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Describes what kind of value a variable holds</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data type determines the range of valid values and which operations are allowed.</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Two broad categories in Java</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Primitive types store simple values directly, while non-primitive types store a reference to an object.</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Checked at compile time</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catches many mistakes, such as assigning text to a number, before the program ever runs.</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OVERVIEW</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Primitive Data Types</a:t>
            </a:r>
            <a:endParaRPr lang="en-US" sz="27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4826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Type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Size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Example Value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byte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8 bits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100</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short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16 bits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30000</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int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32 bits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2000000</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long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64 bits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9000000000L</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float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32 bits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3.14f</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double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64 bits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3.14159</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6"/>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char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16 bits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boolean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1 bit (JVM dependent)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true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8"/>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WHOLE NUMBERS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Integer Types: byte, short, int, long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int is the default and most commonly used type for whole numbers.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long is used for very large values and requires an L suffix on its literal.</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IntegerTypes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byte</a:t>
            </a:r>
            <a:r>
              <a:rPr lang="en-US" sz="1500" dirty="0">
                <a:solidFill>
                  <a:srgbClr val="D4D4D4"/>
                </a:solidFill>
                <a:latin typeface="Courier New" pitchFamily="34" charset="0"/>
                <a:ea typeface="Courier New" pitchFamily="34" charset="-122"/>
                <a:cs typeface="Courier New" pitchFamily="34" charset="-120"/>
              </a:rPr>
              <a:t> smallNumber = </a:t>
            </a:r>
            <a:r>
              <a:rPr lang="en-US" sz="1500" dirty="0">
                <a:solidFill>
                  <a:srgbClr val="B5CEA8"/>
                </a:solidFill>
                <a:latin typeface="Courier New" pitchFamily="34" charset="0"/>
                <a:ea typeface="Courier New" pitchFamily="34" charset="-122"/>
                <a:cs typeface="Courier New" pitchFamily="34" charset="-120"/>
              </a:rPr>
              <a:t>120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short</a:t>
            </a:r>
            <a:r>
              <a:rPr lang="en-US" sz="1500" dirty="0">
                <a:solidFill>
                  <a:srgbClr val="D4D4D4"/>
                </a:solidFill>
                <a:latin typeface="Courier New" pitchFamily="34" charset="0"/>
                <a:ea typeface="Courier New" pitchFamily="34" charset="-122"/>
                <a:cs typeface="Courier New" pitchFamily="34" charset="-120"/>
              </a:rPr>
              <a:t> mediumNumber = </a:t>
            </a:r>
            <a:r>
              <a:rPr lang="en-US" sz="1500" dirty="0">
                <a:solidFill>
                  <a:srgbClr val="B5CEA8"/>
                </a:solidFill>
                <a:latin typeface="Courier New" pitchFamily="34" charset="0"/>
                <a:ea typeface="Courier New" pitchFamily="34" charset="-122"/>
                <a:cs typeface="Courier New" pitchFamily="34" charset="-120"/>
              </a:rPr>
              <a:t>32000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regularNumber = </a:t>
            </a:r>
            <a:r>
              <a:rPr lang="en-US" sz="1500" dirty="0">
                <a:solidFill>
                  <a:srgbClr val="B5CEA8"/>
                </a:solidFill>
                <a:latin typeface="Courier New" pitchFamily="34" charset="0"/>
                <a:ea typeface="Courier New" pitchFamily="34" charset="-122"/>
                <a:cs typeface="Courier New" pitchFamily="34" charset="-120"/>
              </a:rPr>
              <a:t>100000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long</a:t>
            </a:r>
            <a:r>
              <a:rPr lang="en-US" sz="1500" dirty="0">
                <a:solidFill>
                  <a:srgbClr val="D4D4D4"/>
                </a:solidFill>
                <a:latin typeface="Courier New" pitchFamily="34" charset="0"/>
                <a:ea typeface="Courier New" pitchFamily="34" charset="-122"/>
                <a:cs typeface="Courier New" pitchFamily="34" charset="-120"/>
              </a:rPr>
              <a:t> bigNumber = </a:t>
            </a:r>
            <a:r>
              <a:rPr lang="en-US" sz="1500" dirty="0">
                <a:solidFill>
                  <a:srgbClr val="B5CEA8"/>
                </a:solidFill>
                <a:latin typeface="Courier New" pitchFamily="34" charset="0"/>
                <a:ea typeface="Courier New" pitchFamily="34" charset="-122"/>
                <a:cs typeface="Courier New" pitchFamily="34" charset="-120"/>
              </a:rPr>
              <a:t>9000000000</a:t>
            </a:r>
            <a:r>
              <a:rPr lang="en-US" sz="1500" dirty="0">
                <a:solidFill>
                  <a:srgbClr val="D4D4D4"/>
                </a:solidFill>
                <a:latin typeface="Courier New" pitchFamily="34" charset="0"/>
                <a:ea typeface="Courier New" pitchFamily="34" charset="-122"/>
                <a:cs typeface="Courier New" pitchFamily="34" charset="-120"/>
              </a:rPr>
              <a:t>L;</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(regularNumber + </a:t>
            </a:r>
            <a:r>
              <a:rPr lang="en-US" sz="1500" dirty="0">
                <a:solidFill>
                  <a:srgbClr val="CE9178"/>
                </a:solidFill>
                <a:latin typeface="Courier New" pitchFamily="34" charset="0"/>
                <a:ea typeface="Courier New" pitchFamily="34" charset="-122"/>
                <a:cs typeface="Courier New" pitchFamily="34" charset="-120"/>
              </a:rPr>
              <a:t>" "</a:t>
            </a:r>
            <a:r>
              <a:rPr lang="en-US" sz="1500" dirty="0">
                <a:solidFill>
                  <a:srgbClr val="D4D4D4"/>
                </a:solidFill>
                <a:latin typeface="Courier New" pitchFamily="34" charset="0"/>
                <a:ea typeface="Courier New" pitchFamily="34" charset="-122"/>
                <a:cs typeface="Courier New" pitchFamily="34" charset="-120"/>
              </a:rPr>
              <a:t> + bigNumber);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DECIMAL NUMBERS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Floating-Point Types: float and double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double is the default type for decimal literals in Java, and is used far more often than float.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float literal must end with an f, or it is treated as a double by the compiler.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DecimalTypes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float</a:t>
            </a:r>
            <a:r>
              <a:rPr lang="en-US" sz="1500" dirty="0">
                <a:solidFill>
                  <a:srgbClr val="D4D4D4"/>
                </a:solidFill>
                <a:latin typeface="Courier New" pitchFamily="34" charset="0"/>
                <a:ea typeface="Courier New" pitchFamily="34" charset="-122"/>
                <a:cs typeface="Courier New" pitchFamily="34" charset="-120"/>
              </a:rPr>
              <a:t> price = </a:t>
            </a:r>
            <a:r>
              <a:rPr lang="en-US" sz="1500" dirty="0">
                <a:solidFill>
                  <a:srgbClr val="B5CEA8"/>
                </a:solidFill>
                <a:latin typeface="Courier New" pitchFamily="34" charset="0"/>
                <a:ea typeface="Courier New" pitchFamily="34" charset="-122"/>
                <a:cs typeface="Courier New" pitchFamily="34" charset="-120"/>
              </a:rPr>
              <a:t>49.99</a:t>
            </a:r>
            <a:r>
              <a:rPr lang="en-US" sz="1500" dirty="0">
                <a:solidFill>
                  <a:srgbClr val="D4D4D4"/>
                </a:solidFill>
                <a:latin typeface="Courier New" pitchFamily="34" charset="0"/>
                <a:ea typeface="Courier New" pitchFamily="34" charset="-122"/>
                <a:cs typeface="Courier New" pitchFamily="34" charset="-120"/>
              </a:rPr>
              <a:t>f;</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preciseValue = </a:t>
            </a:r>
            <a:r>
              <a:rPr lang="en-US" sz="1500" dirty="0">
                <a:solidFill>
                  <a:srgbClr val="B5CEA8"/>
                </a:solidFill>
                <a:latin typeface="Courier New" pitchFamily="34" charset="0"/>
                <a:ea typeface="Courier New" pitchFamily="34" charset="-122"/>
                <a:cs typeface="Courier New" pitchFamily="34" charset="-120"/>
              </a:rPr>
              <a:t>3.141592653589793</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area = preciseValue *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(area);</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SINGLE CHARACTER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char Data Type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char stores exactly one character, written in single quotes, not double quotes.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Since a char is stored as a number internally, arithmetic on characters is possible.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CharDemo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char</a:t>
            </a:r>
            <a:r>
              <a:rPr lang="en-US" sz="1500" dirty="0">
                <a:solidFill>
                  <a:srgbClr val="D4D4D4"/>
                </a:solidFill>
                <a:latin typeface="Courier New" pitchFamily="34" charset="0"/>
                <a:ea typeface="Courier New" pitchFamily="34" charset="-122"/>
                <a:cs typeface="Courier New" pitchFamily="34" charset="-120"/>
              </a:rPr>
              <a:t> grade = 'A';</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char</a:t>
            </a:r>
            <a:r>
              <a:rPr lang="en-US" sz="1500" dirty="0">
                <a:solidFill>
                  <a:srgbClr val="D4D4D4"/>
                </a:solidFill>
                <a:latin typeface="Courier New" pitchFamily="34" charset="0"/>
                <a:ea typeface="Courier New" pitchFamily="34" charset="-122"/>
                <a:cs typeface="Courier New" pitchFamily="34" charset="-120"/>
              </a:rPr>
              <a:t> nextGrade = (</a:t>
            </a:r>
            <a:r>
              <a:rPr lang="en-US" sz="1500" b="1" dirty="0">
                <a:solidFill>
                  <a:srgbClr val="569CD6"/>
                </a:solidFill>
                <a:latin typeface="Courier New" pitchFamily="34" charset="0"/>
                <a:ea typeface="Courier New" pitchFamily="34" charset="-122"/>
                <a:cs typeface="Courier New" pitchFamily="34" charset="-120"/>
              </a:rPr>
              <a:t>char</a:t>
            </a:r>
            <a:r>
              <a:rPr lang="en-US" sz="1500" dirty="0">
                <a:solidFill>
                  <a:srgbClr val="D4D4D4"/>
                </a:solidFill>
                <a:latin typeface="Courier New" pitchFamily="34" charset="0"/>
                <a:ea typeface="Courier New" pitchFamily="34" charset="-122"/>
                <a:cs typeface="Courier New" pitchFamily="34" charset="-120"/>
              </a:rPr>
              <a:t>) (grade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(grade);       </a:t>
            </a:r>
            <a:r>
              <a:rPr lang="en-US" sz="1500" i="1" dirty="0">
                <a:solidFill>
                  <a:srgbClr val="6A9955"/>
                </a:solidFill>
                <a:latin typeface="Courier New" pitchFamily="34" charset="0"/>
                <a:ea typeface="Courier New" pitchFamily="34" charset="-122"/>
                <a:cs typeface="Courier New" pitchFamily="34" charset="-120"/>
              </a:rPr>
              <a:t>// A</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(nextGrade);   </a:t>
            </a:r>
            <a:r>
              <a:rPr lang="en-US" sz="1500" i="1" dirty="0">
                <a:solidFill>
                  <a:srgbClr val="6A9955"/>
                </a:solidFill>
                <a:latin typeface="Courier New" pitchFamily="34" charset="0"/>
                <a:ea typeface="Courier New" pitchFamily="34" charset="-122"/>
                <a:cs typeface="Courier New" pitchFamily="34" charset="-120"/>
              </a:rPr>
              <a:t>// B</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TRUE OR FALSE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boolean Data Type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boolean can only ever hold one of two values: true or false.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Booleans are produced naturally by comparisons and control the flow of a program.</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BooleanDemo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boolean</a:t>
            </a:r>
            <a:r>
              <a:rPr lang="en-US" sz="1500" dirty="0">
                <a:solidFill>
                  <a:srgbClr val="D4D4D4"/>
                </a:solidFill>
                <a:latin typeface="Courier New" pitchFamily="34" charset="0"/>
                <a:ea typeface="Courier New" pitchFamily="34" charset="-122"/>
                <a:cs typeface="Courier New" pitchFamily="34" charset="-120"/>
              </a:rPr>
              <a:t> isJavaFun = </a:t>
            </a:r>
            <a:r>
              <a:rPr lang="en-US" sz="1500" b="1" dirty="0">
                <a:solidFill>
                  <a:srgbClr val="569CD6"/>
                </a:solidFill>
                <a:latin typeface="Courier New" pitchFamily="34" charset="0"/>
                <a:ea typeface="Courier New" pitchFamily="34" charset="-122"/>
                <a:cs typeface="Courier New" pitchFamily="34" charset="-120"/>
              </a:rPr>
              <a:t>true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score = </a:t>
            </a:r>
            <a:r>
              <a:rPr lang="en-US" sz="1500" dirty="0">
                <a:solidFill>
                  <a:srgbClr val="B5CEA8"/>
                </a:solidFill>
                <a:latin typeface="Courier New" pitchFamily="34" charset="0"/>
                <a:ea typeface="Courier New" pitchFamily="34" charset="-122"/>
                <a:cs typeface="Courier New" pitchFamily="34" charset="-120"/>
              </a:rPr>
              <a:t>85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boolean</a:t>
            </a:r>
            <a:r>
              <a:rPr lang="en-US" sz="1500" dirty="0">
                <a:solidFill>
                  <a:srgbClr val="D4D4D4"/>
                </a:solidFill>
                <a:latin typeface="Courier New" pitchFamily="34" charset="0"/>
                <a:ea typeface="Courier New" pitchFamily="34" charset="-122"/>
                <a:cs typeface="Courier New" pitchFamily="34" charset="-120"/>
              </a:rPr>
              <a:t> hasPassed = score &gt;= </a:t>
            </a:r>
            <a:r>
              <a:rPr lang="en-US" sz="1500" dirty="0">
                <a:solidFill>
                  <a:srgbClr val="B5CEA8"/>
                </a:solidFill>
                <a:latin typeface="Courier New" pitchFamily="34" charset="0"/>
                <a:ea typeface="Courier New" pitchFamily="34" charset="-122"/>
                <a:cs typeface="Courier New" pitchFamily="34" charset="-120"/>
              </a:rPr>
              <a:t>40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(isJavaFun);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(hasPassed);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TEXT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Non-Primitive Types: String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String represents a sequence of characters, and is a full class rather than a primitive type.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Strings are written in double quotes and can be joined together using the plus operator.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StringDemo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firstName = </a:t>
            </a:r>
            <a:r>
              <a:rPr lang="en-US" sz="1500" dirty="0">
                <a:solidFill>
                  <a:srgbClr val="CE9178"/>
                </a:solidFill>
                <a:latin typeface="Courier New" pitchFamily="34" charset="0"/>
                <a:ea typeface="Courier New" pitchFamily="34" charset="-122"/>
                <a:cs typeface="Courier New" pitchFamily="34" charset="-120"/>
              </a:rPr>
              <a:t>"Ada"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lastName = </a:t>
            </a:r>
            <a:r>
              <a:rPr lang="en-US" sz="1500" dirty="0">
                <a:solidFill>
                  <a:srgbClr val="CE9178"/>
                </a:solidFill>
                <a:latin typeface="Courier New" pitchFamily="34" charset="0"/>
                <a:ea typeface="Courier New" pitchFamily="34" charset="-122"/>
                <a:cs typeface="Courier New" pitchFamily="34" charset="-120"/>
              </a:rPr>
              <a:t>"Lovelace"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fullName = firstName + </a:t>
            </a:r>
            <a:r>
              <a:rPr lang="en-US" sz="1500" dirty="0">
                <a:solidFill>
                  <a:srgbClr val="CE9178"/>
                </a:solidFill>
                <a:latin typeface="Courier New" pitchFamily="34" charset="0"/>
                <a:ea typeface="Courier New" pitchFamily="34" charset="-122"/>
                <a:cs typeface="Courier New" pitchFamily="34" charset="-120"/>
              </a:rPr>
              <a:t>" "</a:t>
            </a:r>
            <a:r>
              <a:rPr lang="en-US" sz="1500" dirty="0">
                <a:solidFill>
                  <a:srgbClr val="D4D4D4"/>
                </a:solidFill>
                <a:latin typeface="Courier New" pitchFamily="34" charset="0"/>
                <a:ea typeface="Courier New" pitchFamily="34" charset="-122"/>
                <a:cs typeface="Courier New" pitchFamily="34" charset="-120"/>
              </a:rPr>
              <a:t> + lastName;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(fullName);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(fullName.</a:t>
            </a:r>
            <a:r>
              <a:rPr lang="en-US" sz="1500" dirty="0">
                <a:solidFill>
                  <a:srgbClr val="DCDCAA"/>
                </a:solidFill>
                <a:latin typeface="Courier New" pitchFamily="34" charset="0"/>
                <a:ea typeface="Courier New" pitchFamily="34" charset="-122"/>
                <a:cs typeface="Courier New" pitchFamily="34" charset="-120"/>
              </a:rPr>
              <a:t>length</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REFERENCE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Default Values of Variables</a:t>
            </a:r>
            <a:endParaRPr lang="en-US" sz="2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530352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7239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Type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Default Value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7239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int, short, byte, long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0</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39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float, double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0.0</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7239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char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'\u0000'</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39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boolean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false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r h="7239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String or any object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null</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IMMUTABILITY</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Constants with final</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final prevents a variable's value from being changed once it has been assigned.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By convention, constant names are written in uppercase with underscores.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ConstantsDemo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final</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TAX_RATE = </a:t>
            </a:r>
            <a:r>
              <a:rPr lang="en-US" sz="1500" dirty="0">
                <a:solidFill>
                  <a:srgbClr val="B5CEA8"/>
                </a:solidFill>
                <a:latin typeface="Courier New" pitchFamily="34" charset="0"/>
                <a:ea typeface="Courier New" pitchFamily="34" charset="-122"/>
                <a:cs typeface="Courier New" pitchFamily="34" charset="-120"/>
              </a:rPr>
              <a:t>0.18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(TAX_RATE);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TAX_RATE = 0.20;   // compile-time error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MODERN JAVA</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Type Inference with var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var lets the compiler infer a variable's type from the value on the right-hand side.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variable is still statically typed; only the keyword used to declare it is shorter.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VarDemo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var</a:t>
            </a:r>
            <a:r>
              <a:rPr lang="en-US" sz="1500" dirty="0">
                <a:solidFill>
                  <a:srgbClr val="D4D4D4"/>
                </a:solidFill>
                <a:latin typeface="Courier New" pitchFamily="34" charset="0"/>
                <a:ea typeface="Courier New" pitchFamily="34" charset="-122"/>
                <a:cs typeface="Courier New" pitchFamily="34" charset="-120"/>
              </a:rPr>
              <a:t> count =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inferred as int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var</a:t>
            </a:r>
            <a:r>
              <a:rPr lang="en-US" sz="1500" dirty="0">
                <a:solidFill>
                  <a:srgbClr val="D4D4D4"/>
                </a:solidFill>
                <a:latin typeface="Courier New" pitchFamily="34" charset="0"/>
                <a:ea typeface="Courier New" pitchFamily="34" charset="-122"/>
                <a:cs typeface="Courier New" pitchFamily="34" charset="-120"/>
              </a:rPr>
              <a:t> price = </a:t>
            </a:r>
            <a:r>
              <a:rPr lang="en-US" sz="1500" dirty="0">
                <a:solidFill>
                  <a:srgbClr val="B5CEA8"/>
                </a:solidFill>
                <a:latin typeface="Courier New" pitchFamily="34" charset="0"/>
                <a:ea typeface="Courier New" pitchFamily="34" charset="-122"/>
                <a:cs typeface="Courier New" pitchFamily="34" charset="-120"/>
              </a:rPr>
              <a:t>49.99</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inferred as double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var</a:t>
            </a:r>
            <a:r>
              <a:rPr lang="en-US" sz="1500" dirty="0">
                <a:solidFill>
                  <a:srgbClr val="D4D4D4"/>
                </a:solidFill>
                <a:latin typeface="Courier New" pitchFamily="34" charset="0"/>
                <a:ea typeface="Courier New" pitchFamily="34" charset="-122"/>
                <a:cs typeface="Courier New" pitchFamily="34" charset="-120"/>
              </a:rPr>
              <a:t> name = </a:t>
            </a:r>
            <a:r>
              <a:rPr lang="en-US" sz="1500" dirty="0">
                <a:solidFill>
                  <a:srgbClr val="CE9178"/>
                </a:solidFill>
                <a:latin typeface="Courier New" pitchFamily="34" charset="0"/>
                <a:ea typeface="Courier New" pitchFamily="34" charset="-122"/>
                <a:cs typeface="Courier New" pitchFamily="34" charset="-120"/>
              </a:rPr>
              <a:t>"Java"</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inferred as String</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(count + </a:t>
            </a:r>
            <a:r>
              <a:rPr lang="en-US" sz="1500" dirty="0">
                <a:solidFill>
                  <a:srgbClr val="CE9178"/>
                </a:solidFill>
                <a:latin typeface="Courier New" pitchFamily="34" charset="0"/>
                <a:ea typeface="Courier New" pitchFamily="34" charset="-122"/>
                <a:cs typeface="Courier New" pitchFamily="34" charset="-120"/>
              </a:rPr>
              <a:t>" "</a:t>
            </a:r>
            <a:r>
              <a:rPr lang="en-US" sz="1500" dirty="0">
                <a:solidFill>
                  <a:srgbClr val="D4D4D4"/>
                </a:solidFill>
                <a:latin typeface="Courier New" pitchFamily="34" charset="0"/>
                <a:ea typeface="Courier New" pitchFamily="34" charset="-122"/>
                <a:cs typeface="Courier New" pitchFamily="34" charset="-120"/>
              </a:rPr>
              <a:t> + price + </a:t>
            </a:r>
            <a:r>
              <a:rPr lang="en-US" sz="1500" dirty="0">
                <a:solidFill>
                  <a:srgbClr val="CE9178"/>
                </a:solidFill>
                <a:latin typeface="Courier New" pitchFamily="34" charset="0"/>
                <a:ea typeface="Courier New" pitchFamily="34" charset="-122"/>
                <a:cs typeface="Courier New" pitchFamily="34" charset="-120"/>
              </a:rPr>
              <a:t>" "</a:t>
            </a:r>
            <a:r>
              <a:rPr lang="en-US" sz="1500" dirty="0">
                <a:solidFill>
                  <a:srgbClr val="D4D4D4"/>
                </a:solidFill>
                <a:latin typeface="Courier New" pitchFamily="34" charset="0"/>
                <a:ea typeface="Courier New" pitchFamily="34" charset="-122"/>
                <a:cs typeface="Courier New" pitchFamily="34" charset="-120"/>
              </a:rPr>
              <a:t> + 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Declaring Variables of Different Types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Combining several data types into one small, complete program.</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StudentProfile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 = </a:t>
            </a:r>
            <a:r>
              <a:rPr lang="en-US" sz="1500" dirty="0">
                <a:solidFill>
                  <a:srgbClr val="CE9178"/>
                </a:solidFill>
                <a:latin typeface="Courier New" pitchFamily="34" charset="0"/>
                <a:ea typeface="Courier New" pitchFamily="34" charset="-122"/>
                <a:cs typeface="Courier New" pitchFamily="34" charset="-120"/>
              </a:rPr>
              <a:t>"Priya"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age = </a:t>
            </a:r>
            <a:r>
              <a:rPr lang="en-US" sz="1500" dirty="0">
                <a:solidFill>
                  <a:srgbClr val="B5CEA8"/>
                </a:solidFill>
                <a:latin typeface="Courier New" pitchFamily="34" charset="0"/>
                <a:ea typeface="Courier New" pitchFamily="34" charset="-122"/>
                <a:cs typeface="Courier New" pitchFamily="34" charset="-120"/>
              </a:rPr>
              <a:t>20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gpa = </a:t>
            </a:r>
            <a:r>
              <a:rPr lang="en-US" sz="1500" dirty="0">
                <a:solidFill>
                  <a:srgbClr val="B5CEA8"/>
                </a:solidFill>
                <a:latin typeface="Courier New" pitchFamily="34" charset="0"/>
                <a:ea typeface="Courier New" pitchFamily="34" charset="-122"/>
                <a:cs typeface="Courier New" pitchFamily="34" charset="-120"/>
              </a:rPr>
              <a:t>8.7</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boolean</a:t>
            </a:r>
            <a:r>
              <a:rPr lang="en-US" sz="1500" dirty="0">
                <a:solidFill>
                  <a:srgbClr val="D4D4D4"/>
                </a:solidFill>
                <a:latin typeface="Courier New" pitchFamily="34" charset="0"/>
                <a:ea typeface="Courier New" pitchFamily="34" charset="-122"/>
                <a:cs typeface="Courier New" pitchFamily="34" charset="-120"/>
              </a:rPr>
              <a:t> isEnrolled = </a:t>
            </a:r>
            <a:r>
              <a:rPr lang="en-US" sz="1500" b="1" dirty="0">
                <a:solidFill>
                  <a:srgbClr val="569CD6"/>
                </a:solidFill>
                <a:latin typeface="Courier New" pitchFamily="34" charset="0"/>
                <a:ea typeface="Courier New" pitchFamily="34" charset="-122"/>
                <a:cs typeface="Courier New" pitchFamily="34" charset="-120"/>
              </a:rPr>
              <a:t>true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(name + </a:t>
            </a:r>
            <a:r>
              <a:rPr lang="en-US" sz="1500" dirty="0">
                <a:solidFill>
                  <a:srgbClr val="CE9178"/>
                </a:solidFill>
                <a:latin typeface="Courier New" pitchFamily="34" charset="0"/>
                <a:ea typeface="Courier New" pitchFamily="34" charset="-122"/>
                <a:cs typeface="Courier New" pitchFamily="34" charset="-120"/>
              </a:rPr>
              <a:t>" is "</a:t>
            </a:r>
            <a:r>
              <a:rPr lang="en-US" sz="1500" dirty="0">
                <a:solidFill>
                  <a:srgbClr val="D4D4D4"/>
                </a:solidFill>
                <a:latin typeface="Courier New" pitchFamily="34" charset="0"/>
                <a:ea typeface="Courier New" pitchFamily="34" charset="-122"/>
                <a:cs typeface="Courier New" pitchFamily="34" charset="-120"/>
              </a:rPr>
              <a:t> + age + </a:t>
            </a:r>
            <a:r>
              <a:rPr lang="en-US" sz="1500" dirty="0">
                <a:solidFill>
                  <a:srgbClr val="CE9178"/>
                </a:solidFill>
                <a:latin typeface="Courier New" pitchFamily="34" charset="0"/>
                <a:ea typeface="Courier New" pitchFamily="34" charset="-122"/>
                <a:cs typeface="Courier New" pitchFamily="34" charset="-120"/>
              </a:rPr>
              <a:t>" years old."</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"GPA: "</a:t>
            </a:r>
            <a:r>
              <a:rPr lang="en-US" sz="1500" dirty="0">
                <a:solidFill>
                  <a:srgbClr val="D4D4D4"/>
                </a:solidFill>
                <a:latin typeface="Courier New" pitchFamily="34" charset="0"/>
                <a:ea typeface="Courier New" pitchFamily="34" charset="-122"/>
                <a:cs typeface="Courier New" pitchFamily="34" charset="-120"/>
              </a:rPr>
              <a:t> + gpa + </a:t>
            </a:r>
            <a:r>
              <a:rPr lang="en-US" sz="1500" dirty="0">
                <a:solidFill>
                  <a:srgbClr val="CE9178"/>
                </a:solidFill>
                <a:latin typeface="Courier New" pitchFamily="34" charset="0"/>
                <a:ea typeface="Courier New" pitchFamily="34" charset="-122"/>
                <a:cs typeface="Courier New" pitchFamily="34" charset="-120"/>
              </a:rPr>
              <a:t>", Enrolled: "</a:t>
            </a:r>
            <a:r>
              <a:rPr lang="en-US" sz="1500" dirty="0">
                <a:solidFill>
                  <a:srgbClr val="D4D4D4"/>
                </a:solidFill>
                <a:latin typeface="Courier New" pitchFamily="34" charset="0"/>
                <a:ea typeface="Courier New" pitchFamily="34" charset="-122"/>
                <a:cs typeface="Courier New" pitchFamily="34" charset="-120"/>
              </a:rPr>
              <a:t> + isEnrolled);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Priya is 20 years old.</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GPA: 8.7, Enrolled: true</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4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Operators and Type Casting</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Performing calculations, comparisons, and safe type conversions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an Operator?</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symbol that performs an action on one or more values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These values, called operands, can be variables, literals, or entire expressions.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Java groups operators by purpose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Arithmetic, relational, logical, assignment, and the ternary operator are covered in this section.</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MATH</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Arithmetic Operators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  -  *  /  % perform addition, subtraction, multiplication, division, and modulus.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Integer division truncates any decimal portion of the result.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ArithmeticDemo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 = </a:t>
            </a:r>
            <a:r>
              <a:rPr lang="en-US" sz="1500" dirty="0">
                <a:solidFill>
                  <a:srgbClr val="B5CEA8"/>
                </a:solidFill>
                <a:latin typeface="Courier New" pitchFamily="34" charset="0"/>
                <a:ea typeface="Courier New" pitchFamily="34" charset="-122"/>
                <a:cs typeface="Courier New" pitchFamily="34" charset="-120"/>
              </a:rPr>
              <a:t>17</a:t>
            </a:r>
            <a:r>
              <a:rPr lang="en-US" sz="1500" dirty="0">
                <a:solidFill>
                  <a:srgbClr val="D4D4D4"/>
                </a:solidFill>
                <a:latin typeface="Courier New" pitchFamily="34" charset="0"/>
                <a:ea typeface="Courier New" pitchFamily="34" charset="-122"/>
                <a:cs typeface="Courier New" pitchFamily="34" charset="-120"/>
              </a:rPr>
              <a:t>, b =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 b);   </a:t>
            </a:r>
            <a:r>
              <a:rPr lang="en-US" sz="1500" i="1" dirty="0">
                <a:solidFill>
                  <a:srgbClr val="6A9955"/>
                </a:solidFill>
                <a:latin typeface="Courier New" pitchFamily="34" charset="0"/>
                <a:ea typeface="Courier New" pitchFamily="34" charset="-122"/>
                <a:cs typeface="Courier New" pitchFamily="34" charset="-120"/>
              </a:rPr>
              <a:t>// 22</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 b);   </a:t>
            </a:r>
            <a:r>
              <a:rPr lang="en-US" sz="1500" i="1" dirty="0">
                <a:solidFill>
                  <a:srgbClr val="6A9955"/>
                </a:solidFill>
                <a:latin typeface="Courier New" pitchFamily="34" charset="0"/>
                <a:ea typeface="Courier New" pitchFamily="34" charset="-122"/>
                <a:cs typeface="Courier New" pitchFamily="34" charset="-120"/>
              </a:rPr>
              <a:t>// 12</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 b);   </a:t>
            </a:r>
            <a:r>
              <a:rPr lang="en-US" sz="1500" i="1" dirty="0">
                <a:solidFill>
                  <a:srgbClr val="6A9955"/>
                </a:solidFill>
                <a:latin typeface="Courier New" pitchFamily="34" charset="0"/>
                <a:ea typeface="Courier New" pitchFamily="34" charset="-122"/>
                <a:cs typeface="Courier New" pitchFamily="34" charset="-120"/>
              </a:rPr>
              <a:t>// 85</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 b);   </a:t>
            </a:r>
            <a:r>
              <a:rPr lang="en-US" sz="1500" i="1" dirty="0">
                <a:solidFill>
                  <a:srgbClr val="6A9955"/>
                </a:solidFill>
                <a:latin typeface="Courier New" pitchFamily="34" charset="0"/>
                <a:ea typeface="Courier New" pitchFamily="34" charset="-122"/>
                <a:cs typeface="Courier New" pitchFamily="34" charset="-120"/>
              </a:rPr>
              <a:t>// 3, integer division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 b);   </a:t>
            </a:r>
            <a:r>
              <a:rPr lang="en-US" sz="1500" i="1" dirty="0">
                <a:solidFill>
                  <a:srgbClr val="6A9955"/>
                </a:solidFill>
                <a:latin typeface="Courier New" pitchFamily="34" charset="0"/>
                <a:ea typeface="Courier New" pitchFamily="34" charset="-122"/>
                <a:cs typeface="Courier New" pitchFamily="34" charset="-120"/>
              </a:rPr>
              <a:t>// 2, remainder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Relational Operators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  !=  &gt;  &lt;  &gt;=  &lt;= compare two values and always produce a boolean result.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These are used constantly inside conditional statements and loops, covered later in this session.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RelationalDemo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 =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 b = </a:t>
            </a:r>
            <a:r>
              <a:rPr lang="en-US" sz="1500" dirty="0">
                <a:solidFill>
                  <a:srgbClr val="B5CEA8"/>
                </a:solidFill>
                <a:latin typeface="Courier New" pitchFamily="34" charset="0"/>
                <a:ea typeface="Courier New" pitchFamily="34" charset="-122"/>
                <a:cs typeface="Courier New" pitchFamily="34" charset="-120"/>
              </a:rPr>
              <a:t>20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 b);   </a:t>
            </a:r>
            <a:r>
              <a:rPr lang="en-US" sz="1500" i="1" dirty="0">
                <a:solidFill>
                  <a:srgbClr val="6A9955"/>
                </a:solidFill>
                <a:latin typeface="Courier New" pitchFamily="34" charset="0"/>
                <a:ea typeface="Courier New" pitchFamily="34" charset="-122"/>
                <a:cs typeface="Courier New" pitchFamily="34" charset="-120"/>
              </a:rPr>
              <a:t>// false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 b);   </a:t>
            </a:r>
            <a:r>
              <a:rPr lang="en-US" sz="1500" i="1" dirty="0">
                <a:solidFill>
                  <a:srgbClr val="6A9955"/>
                </a:solidFill>
                <a:latin typeface="Courier New" pitchFamily="34" charset="0"/>
                <a:ea typeface="Courier New" pitchFamily="34" charset="-122"/>
                <a:cs typeface="Courier New" pitchFamily="34" charset="-120"/>
              </a:rPr>
              <a:t>// true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&lt; b);    </a:t>
            </a:r>
            <a:r>
              <a:rPr lang="en-US" sz="1500" i="1" dirty="0">
                <a:solidFill>
                  <a:srgbClr val="6A9955"/>
                </a:solidFill>
                <a:latin typeface="Courier New" pitchFamily="34" charset="0"/>
                <a:ea typeface="Courier New" pitchFamily="34" charset="-122"/>
                <a:cs typeface="Courier New" pitchFamily="34" charset="-120"/>
              </a:rPr>
              <a:t>// true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&gt;=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true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COMBINING CONDITIONS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Logical Operators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&amp;&amp; (AND), || (OR), and ! (NOT) combine or invert boolean expressions.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&amp;&amp; and || short circuit, meaning the second operand is skipped once the result is already known.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LogicalDemo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age = </a:t>
            </a:r>
            <a:r>
              <a:rPr lang="en-US" sz="1400" dirty="0">
                <a:solidFill>
                  <a:srgbClr val="B5CEA8"/>
                </a:solidFill>
                <a:latin typeface="Courier New" pitchFamily="34" charset="0"/>
                <a:ea typeface="Courier New" pitchFamily="34" charset="-122"/>
                <a:cs typeface="Courier New" pitchFamily="34" charset="-120"/>
              </a:rPr>
              <a:t>25</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boolean</a:t>
            </a:r>
            <a:r>
              <a:rPr lang="en-US" sz="1400" dirty="0">
                <a:solidFill>
                  <a:srgbClr val="D4D4D4"/>
                </a:solidFill>
                <a:latin typeface="Courier New" pitchFamily="34" charset="0"/>
                <a:ea typeface="Courier New" pitchFamily="34" charset="-122"/>
                <a:cs typeface="Courier New" pitchFamily="34" charset="-120"/>
              </a:rPr>
              <a:t> hasId = </a:t>
            </a:r>
            <a:r>
              <a:rPr lang="en-US" sz="1400" b="1" dirty="0">
                <a:solidFill>
                  <a:srgbClr val="569CD6"/>
                </a:solidFill>
                <a:latin typeface="Courier New" pitchFamily="34" charset="0"/>
                <a:ea typeface="Courier New" pitchFamily="34" charset="-122"/>
                <a:cs typeface="Courier New" pitchFamily="34" charset="-120"/>
              </a:rPr>
              <a:t>true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boolean</a:t>
            </a:r>
            <a:r>
              <a:rPr lang="en-US" sz="1400" dirty="0">
                <a:solidFill>
                  <a:srgbClr val="D4D4D4"/>
                </a:solidFill>
                <a:latin typeface="Courier New" pitchFamily="34" charset="0"/>
                <a:ea typeface="Courier New" pitchFamily="34" charset="-122"/>
                <a:cs typeface="Courier New" pitchFamily="34" charset="-120"/>
              </a:rPr>
              <a:t> canEnter = (age &gt;= </a:t>
            </a:r>
            <a:r>
              <a:rPr lang="en-US" sz="1400" dirty="0">
                <a:solidFill>
                  <a:srgbClr val="B5CEA8"/>
                </a:solidFill>
                <a:latin typeface="Courier New" pitchFamily="34" charset="0"/>
                <a:ea typeface="Courier New" pitchFamily="34" charset="-122"/>
                <a:cs typeface="Courier New" pitchFamily="34" charset="-120"/>
              </a:rPr>
              <a:t>18</a:t>
            </a:r>
            <a:r>
              <a:rPr lang="en-US" sz="1400" dirty="0">
                <a:solidFill>
                  <a:srgbClr val="D4D4D4"/>
                </a:solidFill>
                <a:latin typeface="Courier New" pitchFamily="34" charset="0"/>
                <a:ea typeface="Courier New" pitchFamily="34" charset="-122"/>
                <a:cs typeface="Courier New" pitchFamily="34" charset="-120"/>
              </a:rPr>
              <a:t>) &amp;&amp; hasId;</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boolean</a:t>
            </a:r>
            <a:r>
              <a:rPr lang="en-US" sz="1400" dirty="0">
                <a:solidFill>
                  <a:srgbClr val="D4D4D4"/>
                </a:solidFill>
                <a:latin typeface="Courier New" pitchFamily="34" charset="0"/>
                <a:ea typeface="Courier New" pitchFamily="34" charset="-122"/>
                <a:cs typeface="Courier New" pitchFamily="34" charset="-120"/>
              </a:rPr>
              <a:t> needsReview = (age &lt; </a:t>
            </a:r>
            <a:r>
              <a:rPr lang="en-US" sz="1400" dirty="0">
                <a:solidFill>
                  <a:srgbClr val="B5CEA8"/>
                </a:solidFill>
                <a:latin typeface="Courier New" pitchFamily="34" charset="0"/>
                <a:ea typeface="Courier New" pitchFamily="34" charset="-122"/>
                <a:cs typeface="Courier New" pitchFamily="34" charset="-120"/>
              </a:rPr>
              <a:t>18</a:t>
            </a:r>
            <a:r>
              <a:rPr lang="en-US" sz="1400" dirty="0">
                <a:solidFill>
                  <a:srgbClr val="D4D4D4"/>
                </a:solidFill>
                <a:latin typeface="Courier New" pitchFamily="34" charset="0"/>
                <a:ea typeface="Courier New" pitchFamily="34" charset="-122"/>
                <a:cs typeface="Courier New" pitchFamily="34" charset="-120"/>
              </a:rPr>
              <a:t>) || !hasId;</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(canEnter);</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(needsReview);</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STORING VALUES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Assignment Operators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 assigns a value, and compound forms combine an operation with assignment in one step.</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total += 5 is exactly equivalent to writing total = total + 5.</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AssignmentDemo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15</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12</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24</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6</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(total);</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QUICK CHANGES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Increment and Decrement Operators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 and -- increase or decrease a value by exactly one.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Prefix (++a) updates the value before it is used; postfix (a++) uses the value first, then updates it.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IncrementDemo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 =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a:t>
            </a:r>
            <a:r>
              <a:rPr lang="en-US" sz="1500" i="1" dirty="0">
                <a:solidFill>
                  <a:srgbClr val="6A9955"/>
                </a:solidFill>
                <a:latin typeface="Courier New" pitchFamily="34" charset="0"/>
                <a:ea typeface="Courier New" pitchFamily="34" charset="-122"/>
                <a:cs typeface="Courier New" pitchFamily="34" charset="-120"/>
              </a:rPr>
              <a:t>// prints 5, then a becomes 6</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a:t>
            </a:r>
            <a:r>
              <a:rPr lang="en-US" sz="1500" i="1" dirty="0">
                <a:solidFill>
                  <a:srgbClr val="6A9955"/>
                </a:solidFill>
                <a:latin typeface="Courier New" pitchFamily="34" charset="0"/>
                <a:ea typeface="Courier New" pitchFamily="34" charset="-122"/>
                <a:cs typeface="Courier New" pitchFamily="34" charset="-120"/>
              </a:rPr>
              <a:t>// a becomes 7, then prints 7</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     </a:t>
            </a:r>
            <a:r>
              <a:rPr lang="en-US" sz="1500" i="1" dirty="0">
                <a:solidFill>
                  <a:srgbClr val="6A9955"/>
                </a:solidFill>
                <a:latin typeface="Courier New" pitchFamily="34" charset="0"/>
                <a:ea typeface="Courier New" pitchFamily="34" charset="-122"/>
                <a:cs typeface="Courier New" pitchFamily="34" charset="-120"/>
              </a:rPr>
              <a:t>// 7</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SHORTHAND</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Ternary Operator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condition ? valueIfTrue : valueIfFalse is a compact alternative to a simple if-else statement.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works best for short, readable expressions rather than deeply nested logic.</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TernaryDemo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marks = </a:t>
            </a:r>
            <a:r>
              <a:rPr lang="en-US" sz="1500" dirty="0">
                <a:solidFill>
                  <a:srgbClr val="B5CEA8"/>
                </a:solidFill>
                <a:latin typeface="Courier New" pitchFamily="34" charset="0"/>
                <a:ea typeface="Courier New" pitchFamily="34" charset="-122"/>
                <a:cs typeface="Courier New" pitchFamily="34" charset="-120"/>
              </a:rPr>
              <a:t>72</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result = (marks &gt;= </a:t>
            </a:r>
            <a:r>
              <a:rPr lang="en-US" sz="1500" dirty="0">
                <a:solidFill>
                  <a:srgbClr val="B5CEA8"/>
                </a:solidFill>
                <a:latin typeface="Courier New" pitchFamily="34" charset="0"/>
                <a:ea typeface="Courier New" pitchFamily="34" charset="-122"/>
                <a:cs typeface="Courier New" pitchFamily="34" charset="-120"/>
              </a:rPr>
              <a:t>40</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CE9178"/>
                </a:solidFill>
                <a:latin typeface="Courier New" pitchFamily="34" charset="0"/>
                <a:ea typeface="Courier New" pitchFamily="34" charset="-122"/>
                <a:cs typeface="Courier New" pitchFamily="34" charset="-120"/>
              </a:rPr>
              <a:t>"Pass"</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CE9178"/>
                </a:solidFill>
                <a:latin typeface="Courier New" pitchFamily="34" charset="0"/>
                <a:ea typeface="Courier New" pitchFamily="34" charset="-122"/>
                <a:cs typeface="Courier New" pitchFamily="34" charset="-120"/>
              </a:rPr>
              <a:t>"Fail"</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(result);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ORDER OF EVALUATION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Operator Precedence (High to Low)</a:t>
            </a:r>
            <a:endParaRPr lang="en-US" sz="27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48260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Precedence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Operators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Category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1 (highest)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  --  !</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Unary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2</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  /  %</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Multiplicative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3</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  -</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Additive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4</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&lt;  &lt;=  &gt;  &gt;=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Relational</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5</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  !=</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Equality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6</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&amp;&amp;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Logical AND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6"/>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7</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Logical OR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8260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8 (lowest)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  +=  -=  etc.</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Assignment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8"/>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Type Casting?</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Converting a value from one data type to another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is often needed when mixing different numeric types in the same expression.</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Two kinds of casting in Java</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Implicit casting happens automatically; explicit casting must be written out by the programmer.</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AUTOMATIC</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Implicit (Widening) Casting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smaller type is automatically converted to a larger one, such as int to double.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always safe, since the larger type can represent every value the smaller type could hold.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WideningDemo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wholeNumber = </a:t>
            </a:r>
            <a:r>
              <a:rPr lang="en-US" sz="1500" dirty="0">
                <a:solidFill>
                  <a:srgbClr val="B5CEA8"/>
                </a:solidFill>
                <a:latin typeface="Courier New" pitchFamily="34" charset="0"/>
                <a:ea typeface="Courier New" pitchFamily="34" charset="-122"/>
                <a:cs typeface="Courier New" pitchFamily="34" charset="-120"/>
              </a:rPr>
              <a:t>100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int automatically widens to double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decimalNumber = wholeNumber;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(decimalNumber);   </a:t>
            </a:r>
            <a:r>
              <a:rPr lang="en-US" sz="1500" i="1" dirty="0">
                <a:solidFill>
                  <a:srgbClr val="6A9955"/>
                </a:solidFill>
                <a:latin typeface="Courier New" pitchFamily="34" charset="0"/>
                <a:ea typeface="Courier New" pitchFamily="34" charset="-122"/>
                <a:cs typeface="Courier New" pitchFamily="34" charset="-120"/>
              </a:rPr>
              <a:t>// 100.0</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MANUAL</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Explicit (Narrowing) Casting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larger type is manually converted to a smaller one, using a cast written in parentheses.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can lose information, such as the decimal portion of a number, so Java requires it to be explicit.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NarrowingDemo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price = </a:t>
            </a:r>
            <a:r>
              <a:rPr lang="en-US" sz="1500" dirty="0">
                <a:solidFill>
                  <a:srgbClr val="B5CEA8"/>
                </a:solidFill>
                <a:latin typeface="Courier New" pitchFamily="34" charset="0"/>
                <a:ea typeface="Courier New" pitchFamily="34" charset="-122"/>
                <a:cs typeface="Courier New" pitchFamily="34" charset="-120"/>
              </a:rPr>
              <a:t>99.99</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explicit cast required, decimal part is truncated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roundedDown =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price;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(roundedDown);   </a:t>
            </a:r>
            <a:r>
              <a:rPr lang="en-US" sz="1500" i="1" dirty="0">
                <a:solidFill>
                  <a:srgbClr val="6A9955"/>
                </a:solidFill>
                <a:latin typeface="Courier New" pitchFamily="34" charset="0"/>
                <a:ea typeface="Courier New" pitchFamily="34" charset="-122"/>
                <a:cs typeface="Courier New" pitchFamily="34" charset="-120"/>
              </a:rPr>
              <a:t>// 99</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5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Input and Output</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Reading from the keyboard and writing clean output to the console</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SENDING OUTPUT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Output with System.out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System.out is connected to the standard console, and print statements are the simplest way to see a program's results.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Every Java program used in this session so far has already used this exact technique.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OutputDemo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"Loading"</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"Done!"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COMPARING METHODS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print vs. println vs. printf</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Each method controls line breaks and formatting differently.</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PrintMethods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"No newline. "</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"Adds a newline."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"Formatted: %d items%n"</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No newline. Adds a newline.</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Formatted: 5 items</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PRECISE FORMATTING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Formatted Output with printf</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%d formats an integer, %s formats a String, and %f formats a decimal number.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%.2f rounds a decimal to exactly two places, which is useful for displaying currency.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PrintfDemo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 = </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B5CEA8"/>
                </a:solidFill>
                <a:latin typeface="Courier New" pitchFamily="34" charset="0"/>
                <a:ea typeface="Courier New" pitchFamily="34" charset="-122"/>
                <a:cs typeface="Courier New" pitchFamily="34" charset="-120"/>
              </a:rPr>
              <a:t>249.5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"Customer: %s%n"</a:t>
            </a:r>
            <a:r>
              <a:rPr lang="en-US" sz="1500" dirty="0">
                <a:solidFill>
                  <a:srgbClr val="D4D4D4"/>
                </a:solidFill>
                <a:latin typeface="Courier New" pitchFamily="34" charset="0"/>
                <a:ea typeface="Courier New" pitchFamily="34" charset="-122"/>
                <a:cs typeface="Courier New" pitchFamily="34" charset="-120"/>
              </a:rPr>
              <a:t>, 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printf</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"Total: $%.2f%n"</a:t>
            </a:r>
            <a:r>
              <a:rPr lang="en-US" sz="1500" dirty="0">
                <a:solidFill>
                  <a:srgbClr val="D4D4D4"/>
                </a:solidFill>
                <a:latin typeface="Courier New" pitchFamily="34" charset="0"/>
                <a:ea typeface="Courier New" pitchFamily="34" charset="-122"/>
                <a:cs typeface="Courier New" pitchFamily="34" charset="-120"/>
              </a:rPr>
              <a:t>, total);</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KEYBOARD INPUT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Reading Input with Scanner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Scanner reads from System.in, the standard input stream, and must be imported from java.util.</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nextLine() reads an entire line of text typed by the user.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import</a:t>
            </a:r>
            <a:r>
              <a:rPr lang="en-US" sz="1400" dirty="0">
                <a:solidFill>
                  <a:srgbClr val="D4D4D4"/>
                </a:solidFill>
                <a:latin typeface="Courier New" pitchFamily="34" charset="0"/>
                <a:ea typeface="Courier New" pitchFamily="34" charset="-122"/>
                <a:cs typeface="Courier New" pitchFamily="34" charset="-120"/>
              </a:rPr>
              <a:t> java.util.</a:t>
            </a:r>
            <a:r>
              <a:rPr lang="en-US" sz="1400" dirty="0">
                <a:solidFill>
                  <a:srgbClr val="4EC9B0"/>
                </a:solidFill>
                <a:latin typeface="Courier New" pitchFamily="34" charset="0"/>
                <a:ea typeface="Courier New" pitchFamily="34" charset="-122"/>
                <a:cs typeface="Courier New" pitchFamily="34" charset="-120"/>
              </a:rPr>
              <a:t>Scanner</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ScannerDemo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Scanner</a:t>
            </a:r>
            <a:r>
              <a:rPr lang="en-US" sz="1400" dirty="0">
                <a:solidFill>
                  <a:srgbClr val="D4D4D4"/>
                </a:solidFill>
                <a:latin typeface="Courier New" pitchFamily="34" charset="0"/>
                <a:ea typeface="Courier New" pitchFamily="34" charset="-122"/>
                <a:cs typeface="Courier New" pitchFamily="34" charset="-120"/>
              </a:rPr>
              <a:t> sc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Scanner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.in);</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"Enter your name: "</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name = sc.</a:t>
            </a:r>
            <a:r>
              <a:rPr lang="en-US" sz="1400" dirty="0">
                <a:solidFill>
                  <a:srgbClr val="DCDCAA"/>
                </a:solidFill>
                <a:latin typeface="Courier New" pitchFamily="34" charset="0"/>
                <a:ea typeface="Courier New" pitchFamily="34" charset="-122"/>
                <a:cs typeface="Courier New" pitchFamily="34" charset="-120"/>
              </a:rPr>
              <a:t>nextLine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"Hello, "</a:t>
            </a:r>
            <a:r>
              <a:rPr lang="en-US" sz="1400" dirty="0">
                <a:solidFill>
                  <a:srgbClr val="D4D4D4"/>
                </a:solidFill>
                <a:latin typeface="Courier New" pitchFamily="34" charset="0"/>
                <a:ea typeface="Courier New" pitchFamily="34" charset="-122"/>
                <a:cs typeface="Courier New" pitchFamily="34" charset="-120"/>
              </a:rPr>
              <a:t> + name + </a:t>
            </a:r>
            <a:r>
              <a:rPr lang="en-US" sz="1400" dirty="0">
                <a:solidFill>
                  <a:srgbClr val="CE9178"/>
                </a:solidFill>
                <a:latin typeface="Courier New" pitchFamily="34" charset="0"/>
                <a:ea typeface="Courier New" pitchFamily="34" charset="-122"/>
                <a:cs typeface="Courier New" pitchFamily="34" charset="-120"/>
              </a:rPr>
              <a: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sc.</a:t>
            </a:r>
            <a:r>
              <a:rPr lang="en-US" sz="1400" dirty="0">
                <a:solidFill>
                  <a:srgbClr val="DCDCAA"/>
                </a:solidFill>
                <a:latin typeface="Courier New" pitchFamily="34" charset="0"/>
                <a:ea typeface="Courier New" pitchFamily="34" charset="-122"/>
                <a:cs typeface="Courier New" pitchFamily="34" charset="-120"/>
              </a:rPr>
              <a:t>close</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TYPED INPUT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Reading Different Data Types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nextInt(), nextDouble(), and nextBoolean() parse the corresponding type directly from the input.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Mixing nextInt() with nextLine() requires an extra nextLine() call to consume a leftover newline character.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import</a:t>
            </a:r>
            <a:r>
              <a:rPr lang="en-US" sz="1100" dirty="0">
                <a:solidFill>
                  <a:srgbClr val="D4D4D4"/>
                </a:solidFill>
                <a:latin typeface="Courier New" pitchFamily="34" charset="0"/>
                <a:ea typeface="Courier New" pitchFamily="34" charset="-122"/>
                <a:cs typeface="Courier New" pitchFamily="34" charset="-120"/>
              </a:rPr>
              <a:t> java.util.</a:t>
            </a:r>
            <a:r>
              <a:rPr lang="en-US" sz="1100" dirty="0">
                <a:solidFill>
                  <a:srgbClr val="4EC9B0"/>
                </a:solidFill>
                <a:latin typeface="Courier New" pitchFamily="34" charset="0"/>
                <a:ea typeface="Courier New" pitchFamily="34" charset="-122"/>
                <a:cs typeface="Courier New" pitchFamily="34" charset="-120"/>
              </a:rPr>
              <a:t>Scanner</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class</a:t>
            </a:r>
            <a:r>
              <a:rPr lang="en-US" sz="1100" dirty="0">
                <a:solidFill>
                  <a:srgbClr val="D4D4D4"/>
                </a:solidFill>
                <a:latin typeface="Courier New" pitchFamily="34" charset="0"/>
                <a:ea typeface="Courier New" pitchFamily="34" charset="-122"/>
                <a:cs typeface="Courier New" pitchFamily="34" charset="-120"/>
              </a:rPr>
              <a:t> TypedInputDemo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static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void</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DCDCAA"/>
                </a:solidFill>
                <a:latin typeface="Courier New" pitchFamily="34" charset="0"/>
                <a:ea typeface="Courier New" pitchFamily="34" charset="-122"/>
                <a:cs typeface="Courier New" pitchFamily="34" charset="-120"/>
              </a:rPr>
              <a:t>main</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4EC9B0"/>
                </a:solidFill>
                <a:latin typeface="Courier New" pitchFamily="34" charset="0"/>
                <a:ea typeface="Courier New" pitchFamily="34" charset="-122"/>
                <a:cs typeface="Courier New" pitchFamily="34" charset="-120"/>
              </a:rPr>
              <a:t>String</a:t>
            </a:r>
            <a:r>
              <a:rPr lang="en-US" sz="1100" dirty="0">
                <a:solidFill>
                  <a:srgbClr val="D4D4D4"/>
                </a:solidFill>
                <a:latin typeface="Courier New" pitchFamily="34" charset="0"/>
                <a:ea typeface="Courier New" pitchFamily="34" charset="-122"/>
                <a:cs typeface="Courier New" pitchFamily="34" charset="-120"/>
              </a:rPr>
              <a:t>[] args)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Scanner</a:t>
            </a:r>
            <a:r>
              <a:rPr lang="en-US" sz="1100" dirty="0">
                <a:solidFill>
                  <a:srgbClr val="D4D4D4"/>
                </a:solidFill>
                <a:latin typeface="Courier New" pitchFamily="34" charset="0"/>
                <a:ea typeface="Courier New" pitchFamily="34" charset="-122"/>
                <a:cs typeface="Courier New" pitchFamily="34" charset="-120"/>
              </a:rPr>
              <a:t> sc = </a:t>
            </a:r>
            <a:r>
              <a:rPr lang="en-US" sz="1100" b="1" dirty="0">
                <a:solidFill>
                  <a:srgbClr val="569CD6"/>
                </a:solidFill>
                <a:latin typeface="Courier New" pitchFamily="34" charset="0"/>
                <a:ea typeface="Courier New" pitchFamily="34" charset="-122"/>
                <a:cs typeface="Courier New" pitchFamily="34" charset="-120"/>
              </a:rPr>
              <a:t>new</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Scanner</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4EC9B0"/>
                </a:solidFill>
                <a:latin typeface="Courier New" pitchFamily="34" charset="0"/>
                <a:ea typeface="Courier New" pitchFamily="34" charset="-122"/>
                <a:cs typeface="Courier New" pitchFamily="34" charset="-120"/>
              </a:rPr>
              <a:t>System</a:t>
            </a:r>
            <a:r>
              <a:rPr lang="en-US" sz="1100" dirty="0">
                <a:solidFill>
                  <a:srgbClr val="D4D4D4"/>
                </a:solidFill>
                <a:latin typeface="Courier New" pitchFamily="34" charset="0"/>
                <a:ea typeface="Courier New" pitchFamily="34" charset="-122"/>
                <a:cs typeface="Courier New" pitchFamily="34" charset="-120"/>
              </a:rPr>
              <a:t>.in);</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System</a:t>
            </a:r>
            <a:r>
              <a:rPr lang="en-US" sz="1100" dirty="0">
                <a:solidFill>
                  <a:srgbClr val="D4D4D4"/>
                </a:solidFill>
                <a:latin typeface="Courier New" pitchFamily="34" charset="0"/>
                <a:ea typeface="Courier New" pitchFamily="34" charset="-122"/>
                <a:cs typeface="Courier New" pitchFamily="34" charset="-120"/>
              </a:rPr>
              <a:t>.out.</a:t>
            </a:r>
            <a:r>
              <a:rPr lang="en-US" sz="1100" dirty="0">
                <a:solidFill>
                  <a:srgbClr val="DCDCAA"/>
                </a:solidFill>
                <a:latin typeface="Courier New" pitchFamily="34" charset="0"/>
                <a:ea typeface="Courier New" pitchFamily="34" charset="-122"/>
                <a:cs typeface="Courier New" pitchFamily="34" charset="-120"/>
              </a:rPr>
              <a:t>print</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CE9178"/>
                </a:solidFill>
                <a:latin typeface="Courier New" pitchFamily="34" charset="0"/>
                <a:ea typeface="Courier New" pitchFamily="34" charset="-122"/>
                <a:cs typeface="Courier New" pitchFamily="34" charset="-120"/>
              </a:rPr>
              <a:t>"Enter your age: "</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int</a:t>
            </a:r>
            <a:r>
              <a:rPr lang="en-US" sz="1100" dirty="0">
                <a:solidFill>
                  <a:srgbClr val="D4D4D4"/>
                </a:solidFill>
                <a:latin typeface="Courier New" pitchFamily="34" charset="0"/>
                <a:ea typeface="Courier New" pitchFamily="34" charset="-122"/>
                <a:cs typeface="Courier New" pitchFamily="34" charset="-120"/>
              </a:rPr>
              <a:t> age = sc.</a:t>
            </a:r>
            <a:r>
              <a:rPr lang="en-US" sz="1100" dirty="0">
                <a:solidFill>
                  <a:srgbClr val="DCDCAA"/>
                </a:solidFill>
                <a:latin typeface="Courier New" pitchFamily="34" charset="0"/>
                <a:ea typeface="Courier New" pitchFamily="34" charset="-122"/>
                <a:cs typeface="Courier New" pitchFamily="34" charset="-120"/>
              </a:rPr>
              <a:t>nextInt</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System</a:t>
            </a:r>
            <a:r>
              <a:rPr lang="en-US" sz="1100" dirty="0">
                <a:solidFill>
                  <a:srgbClr val="D4D4D4"/>
                </a:solidFill>
                <a:latin typeface="Courier New" pitchFamily="34" charset="0"/>
                <a:ea typeface="Courier New" pitchFamily="34" charset="-122"/>
                <a:cs typeface="Courier New" pitchFamily="34" charset="-120"/>
              </a:rPr>
              <a:t>.out.</a:t>
            </a:r>
            <a:r>
              <a:rPr lang="en-US" sz="1100" dirty="0">
                <a:solidFill>
                  <a:srgbClr val="DCDCAA"/>
                </a:solidFill>
                <a:latin typeface="Courier New" pitchFamily="34" charset="0"/>
                <a:ea typeface="Courier New" pitchFamily="34" charset="-122"/>
                <a:cs typeface="Courier New" pitchFamily="34" charset="-120"/>
              </a:rPr>
              <a:t>print</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CE9178"/>
                </a:solidFill>
                <a:latin typeface="Courier New" pitchFamily="34" charset="0"/>
                <a:ea typeface="Courier New" pitchFamily="34" charset="-122"/>
                <a:cs typeface="Courier New" pitchFamily="34" charset="-120"/>
              </a:rPr>
              <a:t>"Enter your GPA: "</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double</a:t>
            </a:r>
            <a:r>
              <a:rPr lang="en-US" sz="1100" dirty="0">
                <a:solidFill>
                  <a:srgbClr val="D4D4D4"/>
                </a:solidFill>
                <a:latin typeface="Courier New" pitchFamily="34" charset="0"/>
                <a:ea typeface="Courier New" pitchFamily="34" charset="-122"/>
                <a:cs typeface="Courier New" pitchFamily="34" charset="-120"/>
              </a:rPr>
              <a:t> gpa = sc.</a:t>
            </a:r>
            <a:r>
              <a:rPr lang="en-US" sz="1100" dirty="0">
                <a:solidFill>
                  <a:srgbClr val="DCDCAA"/>
                </a:solidFill>
                <a:latin typeface="Courier New" pitchFamily="34" charset="0"/>
                <a:ea typeface="Courier New" pitchFamily="34" charset="-122"/>
                <a:cs typeface="Courier New" pitchFamily="34" charset="-120"/>
              </a:rPr>
              <a:t>nextDouble</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System</a:t>
            </a:r>
            <a:r>
              <a:rPr lang="en-US" sz="1100" dirty="0">
                <a:solidFill>
                  <a:srgbClr val="D4D4D4"/>
                </a:solidFill>
                <a:latin typeface="Courier New" pitchFamily="34" charset="0"/>
                <a:ea typeface="Courier New" pitchFamily="34" charset="-122"/>
                <a:cs typeface="Courier New" pitchFamily="34" charset="-120"/>
              </a:rPr>
              <a:t>.out.</a:t>
            </a:r>
            <a:r>
              <a:rPr lang="en-US" sz="1100" dirty="0">
                <a:solidFill>
                  <a:srgbClr val="DCDCAA"/>
                </a:solidFill>
                <a:latin typeface="Courier New" pitchFamily="34" charset="0"/>
                <a:ea typeface="Courier New" pitchFamily="34" charset="-122"/>
                <a:cs typeface="Courier New" pitchFamily="34" charset="-120"/>
              </a:rPr>
              <a:t>println</a:t>
            </a:r>
            <a:r>
              <a:rPr lang="en-US" sz="1100" dirty="0">
                <a:solidFill>
                  <a:srgbClr val="D4D4D4"/>
                </a:solidFill>
                <a:latin typeface="Courier New" pitchFamily="34" charset="0"/>
                <a:ea typeface="Courier New" pitchFamily="34" charset="-122"/>
                <a:cs typeface="Courier New" pitchFamily="34" charset="-120"/>
              </a:rPr>
              <a:t>(age + </a:t>
            </a:r>
            <a:r>
              <a:rPr lang="en-US" sz="1100" dirty="0">
                <a:solidFill>
                  <a:srgbClr val="CE9178"/>
                </a:solidFill>
                <a:latin typeface="Courier New" pitchFamily="34" charset="0"/>
                <a:ea typeface="Courier New" pitchFamily="34" charset="-122"/>
                <a:cs typeface="Courier New" pitchFamily="34" charset="-120"/>
              </a:rPr>
              <a:t>" years, GPA "</a:t>
            </a:r>
            <a:r>
              <a:rPr lang="en-US" sz="1100" dirty="0">
                <a:solidFill>
                  <a:srgbClr val="D4D4D4"/>
                </a:solidFill>
                <a:latin typeface="Courier New" pitchFamily="34" charset="0"/>
                <a:ea typeface="Courier New" pitchFamily="34" charset="-122"/>
                <a:cs typeface="Courier New" pitchFamily="34" charset="-120"/>
              </a:rPr>
              <a:t> + gpa);</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a:t>
            </a:r>
            <a:endParaRPr lang="en-US" sz="11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GOOD HABITS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Common Input Mistakes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to import Scanner</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Scanner belongs to java.util, and the import statement must appear before the class declaration.</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Mixing nextInt and nextLine carelessly</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is one of the most common beginner bugs, since nextInt leaves a newline character behind.</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Not validating what the user typed</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Entering text where a number is expected causes a runtime error unless the input is checked first.</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A Simple Input and Output Program</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Combining Scanner input with formatted output in one complete program.</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300" b="1" dirty="0">
                <a:solidFill>
                  <a:srgbClr val="569CD6"/>
                </a:solidFill>
                <a:latin typeface="Courier New" pitchFamily="34" charset="0"/>
                <a:ea typeface="Courier New" pitchFamily="34" charset="-122"/>
                <a:cs typeface="Courier New" pitchFamily="34" charset="-120"/>
              </a:rPr>
              <a:t>import</a:t>
            </a:r>
            <a:r>
              <a:rPr lang="en-US" sz="1300" dirty="0">
                <a:solidFill>
                  <a:srgbClr val="D4D4D4"/>
                </a:solidFill>
                <a:latin typeface="Courier New" pitchFamily="34" charset="0"/>
                <a:ea typeface="Courier New" pitchFamily="34" charset="-122"/>
                <a:cs typeface="Courier New" pitchFamily="34" charset="-120"/>
              </a:rPr>
              <a:t> java.util.</a:t>
            </a:r>
            <a:r>
              <a:rPr lang="en-US" sz="1300" dirty="0">
                <a:solidFill>
                  <a:srgbClr val="4EC9B0"/>
                </a:solidFill>
                <a:latin typeface="Courier New" pitchFamily="34" charset="0"/>
                <a:ea typeface="Courier New" pitchFamily="34" charset="-122"/>
                <a:cs typeface="Courier New" pitchFamily="34" charset="-120"/>
              </a:rPr>
              <a:t>Scanner</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class</a:t>
            </a:r>
            <a:r>
              <a:rPr lang="en-US" sz="1300" dirty="0">
                <a:solidFill>
                  <a:srgbClr val="D4D4D4"/>
                </a:solidFill>
                <a:latin typeface="Courier New" pitchFamily="34" charset="0"/>
                <a:ea typeface="Courier New" pitchFamily="34" charset="-122"/>
                <a:cs typeface="Courier New" pitchFamily="34" charset="-120"/>
              </a:rPr>
              <a:t> SimpleIO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static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void</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main</a:t>
            </a:r>
            <a:r>
              <a:rPr lang="en-US" sz="1300" dirty="0">
                <a:solidFill>
                  <a:srgbClr val="D4D4D4"/>
                </a:solidFill>
                <a:latin typeface="Courier New" pitchFamily="34" charset="0"/>
                <a:ea typeface="Courier New" pitchFamily="34" charset="-122"/>
                <a:cs typeface="Courier New" pitchFamily="34" charset="-120"/>
              </a:rPr>
              <a:t>(</a:t>
            </a:r>
            <a:r>
              <a:rPr lang="en-US" sz="1300" dirty="0">
                <a:solidFill>
                  <a:srgbClr val="4EC9B0"/>
                </a:solidFill>
                <a:latin typeface="Courier New" pitchFamily="34" charset="0"/>
                <a:ea typeface="Courier New" pitchFamily="34" charset="-122"/>
                <a:cs typeface="Courier New" pitchFamily="34" charset="-120"/>
              </a:rPr>
              <a:t>String</a:t>
            </a:r>
            <a:r>
              <a:rPr lang="en-US" sz="1300" dirty="0">
                <a:solidFill>
                  <a:srgbClr val="D4D4D4"/>
                </a:solidFill>
                <a:latin typeface="Courier New" pitchFamily="34" charset="0"/>
                <a:ea typeface="Courier New" pitchFamily="34" charset="-122"/>
                <a:cs typeface="Courier New" pitchFamily="34" charset="-120"/>
              </a:rPr>
              <a:t>[] args)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4EC9B0"/>
                </a:solidFill>
                <a:latin typeface="Courier New" pitchFamily="34" charset="0"/>
                <a:ea typeface="Courier New" pitchFamily="34" charset="-122"/>
                <a:cs typeface="Courier New" pitchFamily="34" charset="-120"/>
              </a:rPr>
              <a:t>Scanner</a:t>
            </a:r>
            <a:r>
              <a:rPr lang="en-US" sz="1300" dirty="0">
                <a:solidFill>
                  <a:srgbClr val="D4D4D4"/>
                </a:solidFill>
                <a:latin typeface="Courier New" pitchFamily="34" charset="0"/>
                <a:ea typeface="Courier New" pitchFamily="34" charset="-122"/>
                <a:cs typeface="Courier New" pitchFamily="34" charset="-120"/>
              </a:rPr>
              <a:t> sc = </a:t>
            </a:r>
            <a:r>
              <a:rPr lang="en-US" sz="1300" b="1" dirty="0">
                <a:solidFill>
                  <a:srgbClr val="569CD6"/>
                </a:solidFill>
                <a:latin typeface="Courier New" pitchFamily="34" charset="0"/>
                <a:ea typeface="Courier New" pitchFamily="34" charset="-122"/>
                <a:cs typeface="Courier New" pitchFamily="34" charset="-120"/>
              </a:rPr>
              <a:t>new</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4EC9B0"/>
                </a:solidFill>
                <a:latin typeface="Courier New" pitchFamily="34" charset="0"/>
                <a:ea typeface="Courier New" pitchFamily="34" charset="-122"/>
                <a:cs typeface="Courier New" pitchFamily="34" charset="-120"/>
              </a:rPr>
              <a:t>Scanner</a:t>
            </a:r>
            <a:r>
              <a:rPr lang="en-US" sz="1300" dirty="0">
                <a:solidFill>
                  <a:srgbClr val="D4D4D4"/>
                </a:solidFill>
                <a:latin typeface="Courier New" pitchFamily="34" charset="0"/>
                <a:ea typeface="Courier New" pitchFamily="34" charset="-122"/>
                <a:cs typeface="Courier New" pitchFamily="34" charset="-120"/>
              </a:rPr>
              <a:t>(</a:t>
            </a:r>
            <a:r>
              <a:rPr lang="en-US" sz="1300" dirty="0">
                <a:solidFill>
                  <a:srgbClr val="4EC9B0"/>
                </a:solidFill>
                <a:latin typeface="Courier New" pitchFamily="34" charset="0"/>
                <a:ea typeface="Courier New" pitchFamily="34" charset="-122"/>
                <a:cs typeface="Courier New" pitchFamily="34" charset="-120"/>
              </a:rPr>
              <a:t>System</a:t>
            </a:r>
            <a:r>
              <a:rPr lang="en-US" sz="1300" dirty="0">
                <a:solidFill>
                  <a:srgbClr val="D4D4D4"/>
                </a:solidFill>
                <a:latin typeface="Courier New" pitchFamily="34" charset="0"/>
                <a:ea typeface="Courier New" pitchFamily="34" charset="-122"/>
                <a:cs typeface="Courier New" pitchFamily="34" charset="-120"/>
              </a:rPr>
              <a:t>.in);</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4EC9B0"/>
                </a:solidFill>
                <a:latin typeface="Courier New" pitchFamily="34" charset="0"/>
                <a:ea typeface="Courier New" pitchFamily="34" charset="-122"/>
                <a:cs typeface="Courier New" pitchFamily="34" charset="-120"/>
              </a:rPr>
              <a:t>System</a:t>
            </a:r>
            <a:r>
              <a:rPr lang="en-US" sz="1300" dirty="0">
                <a:solidFill>
                  <a:srgbClr val="D4D4D4"/>
                </a:solidFill>
                <a:latin typeface="Courier New" pitchFamily="34" charset="0"/>
                <a:ea typeface="Courier New" pitchFamily="34" charset="-122"/>
                <a:cs typeface="Courier New" pitchFamily="34" charset="-120"/>
              </a:rPr>
              <a:t>.out.</a:t>
            </a:r>
            <a:r>
              <a:rPr lang="en-US" sz="1300" dirty="0">
                <a:solidFill>
                  <a:srgbClr val="DCDCAA"/>
                </a:solidFill>
                <a:latin typeface="Courier New" pitchFamily="34" charset="0"/>
                <a:ea typeface="Courier New" pitchFamily="34" charset="-122"/>
                <a:cs typeface="Courier New" pitchFamily="34" charset="-120"/>
              </a:rPr>
              <a:t>print</a:t>
            </a:r>
            <a:r>
              <a:rPr lang="en-US" sz="1300" dirty="0">
                <a:solidFill>
                  <a:srgbClr val="D4D4D4"/>
                </a:solidFill>
                <a:latin typeface="Courier New" pitchFamily="34" charset="0"/>
                <a:ea typeface="Courier New" pitchFamily="34" charset="-122"/>
                <a:cs typeface="Courier New" pitchFamily="34" charset="-120"/>
              </a:rPr>
              <a:t>(</a:t>
            </a:r>
            <a:r>
              <a:rPr lang="en-US" sz="1300" dirty="0">
                <a:solidFill>
                  <a:srgbClr val="CE9178"/>
                </a:solidFill>
                <a:latin typeface="Courier New" pitchFamily="34" charset="0"/>
                <a:ea typeface="Courier New" pitchFamily="34" charset="-122"/>
                <a:cs typeface="Courier New" pitchFamily="34" charset="-120"/>
              </a:rPr>
              <a:t>"Enter price: "</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double</a:t>
            </a:r>
            <a:r>
              <a:rPr lang="en-US" sz="1300" dirty="0">
                <a:solidFill>
                  <a:srgbClr val="D4D4D4"/>
                </a:solidFill>
                <a:latin typeface="Courier New" pitchFamily="34" charset="0"/>
                <a:ea typeface="Courier New" pitchFamily="34" charset="-122"/>
                <a:cs typeface="Courier New" pitchFamily="34" charset="-120"/>
              </a:rPr>
              <a:t> price = sc.</a:t>
            </a:r>
            <a:r>
              <a:rPr lang="en-US" sz="1300" dirty="0">
                <a:solidFill>
                  <a:srgbClr val="DCDCAA"/>
                </a:solidFill>
                <a:latin typeface="Courier New" pitchFamily="34" charset="0"/>
                <a:ea typeface="Courier New" pitchFamily="34" charset="-122"/>
                <a:cs typeface="Courier New" pitchFamily="34" charset="-120"/>
              </a:rPr>
              <a:t>nextDouble</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double</a:t>
            </a:r>
            <a:r>
              <a:rPr lang="en-US" sz="1300" dirty="0">
                <a:solidFill>
                  <a:srgbClr val="D4D4D4"/>
                </a:solidFill>
                <a:latin typeface="Courier New" pitchFamily="34" charset="0"/>
                <a:ea typeface="Courier New" pitchFamily="34" charset="-122"/>
                <a:cs typeface="Courier New" pitchFamily="34" charset="-120"/>
              </a:rPr>
              <a:t> withTax = price * </a:t>
            </a:r>
            <a:r>
              <a:rPr lang="en-US" sz="1300" dirty="0">
                <a:solidFill>
                  <a:srgbClr val="B5CEA8"/>
                </a:solidFill>
                <a:latin typeface="Courier New" pitchFamily="34" charset="0"/>
                <a:ea typeface="Courier New" pitchFamily="34" charset="-122"/>
                <a:cs typeface="Courier New" pitchFamily="34" charset="-120"/>
              </a:rPr>
              <a:t>1.18</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4EC9B0"/>
                </a:solidFill>
                <a:latin typeface="Courier New" pitchFamily="34" charset="0"/>
                <a:ea typeface="Courier New" pitchFamily="34" charset="-122"/>
                <a:cs typeface="Courier New" pitchFamily="34" charset="-120"/>
              </a:rPr>
              <a:t>System</a:t>
            </a:r>
            <a:r>
              <a:rPr lang="en-US" sz="1300" dirty="0">
                <a:solidFill>
                  <a:srgbClr val="D4D4D4"/>
                </a:solidFill>
                <a:latin typeface="Courier New" pitchFamily="34" charset="0"/>
                <a:ea typeface="Courier New" pitchFamily="34" charset="-122"/>
                <a:cs typeface="Courier New" pitchFamily="34" charset="-120"/>
              </a:rPr>
              <a:t>.out.</a:t>
            </a:r>
            <a:r>
              <a:rPr lang="en-US" sz="1300" dirty="0">
                <a:solidFill>
                  <a:srgbClr val="DCDCAA"/>
                </a:solidFill>
                <a:latin typeface="Courier New" pitchFamily="34" charset="0"/>
                <a:ea typeface="Courier New" pitchFamily="34" charset="-122"/>
                <a:cs typeface="Courier New" pitchFamily="34" charset="-120"/>
              </a:rPr>
              <a:t>printf</a:t>
            </a:r>
            <a:r>
              <a:rPr lang="en-US" sz="1300" dirty="0">
                <a:solidFill>
                  <a:srgbClr val="D4D4D4"/>
                </a:solidFill>
                <a:latin typeface="Courier New" pitchFamily="34" charset="0"/>
                <a:ea typeface="Courier New" pitchFamily="34" charset="-122"/>
                <a:cs typeface="Courier New" pitchFamily="34" charset="-120"/>
              </a:rPr>
              <a:t>(</a:t>
            </a:r>
            <a:r>
              <a:rPr lang="en-US" sz="1300" dirty="0">
                <a:solidFill>
                  <a:srgbClr val="CE9178"/>
                </a:solidFill>
                <a:latin typeface="Courier New" pitchFamily="34" charset="0"/>
                <a:ea typeface="Courier New" pitchFamily="34" charset="-122"/>
                <a:cs typeface="Courier New" pitchFamily="34" charset="-120"/>
              </a:rPr>
              <a:t>"Total with tax: $%.2f%n"</a:t>
            </a:r>
            <a:r>
              <a:rPr lang="en-US" sz="1300" dirty="0">
                <a:solidFill>
                  <a:srgbClr val="D4D4D4"/>
                </a:solidFill>
                <a:latin typeface="Courier New" pitchFamily="34" charset="0"/>
                <a:ea typeface="Courier New" pitchFamily="34" charset="-122"/>
                <a:cs typeface="Courier New" pitchFamily="34" charset="-120"/>
              </a:rPr>
              <a:t>, withTax);</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sc.</a:t>
            </a:r>
            <a:r>
              <a:rPr lang="en-US" sz="1300" dirty="0">
                <a:solidFill>
                  <a:srgbClr val="DCDCAA"/>
                </a:solidFill>
                <a:latin typeface="Courier New" pitchFamily="34" charset="0"/>
                <a:ea typeface="Courier New" pitchFamily="34" charset="-122"/>
                <a:cs typeface="Courier New" pitchFamily="34" charset="-120"/>
              </a:rPr>
              <a:t>close</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i="1" dirty="0">
                <a:solidFill>
                  <a:srgbClr val="6A9955"/>
                </a:solidFill>
                <a:latin typeface="Courier New" pitchFamily="34" charset="0"/>
                <a:ea typeface="Courier New" pitchFamily="34" charset="-122"/>
                <a:cs typeface="Courier New" pitchFamily="34" charset="-120"/>
              </a:rPr>
              <a:t>// Sample input: 100</a:t>
            </a:r>
            <a:endParaRPr lang="en-US" sz="13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Enter price: 100</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Total with tax: $118.00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GUIDANCE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Best Practices for Input and Output</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Use one Scanner instance per program</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Opening multiple scanners on System.in can cause unpredictable input consumption.</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Prompt the user clearly before reading input</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clear message such as "Enter your age:" avoids confusion about what the program expects.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Close the Scanner when it is no longer needed</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Calling close() releases the underlying resource once input reading is complete.</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6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Conditional Statements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Making decisions inside a program based on a condition</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Conditional Statement?</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Chooses which block of code runs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conditional statement evaluates a boolean expression and executes different code depending on the result.</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Built directly on relational and logical operators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conditions used here are exactly the expressions covered earlier in this session.</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DECISION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if Statement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Executes a block only when its boolean condition evaluates to true.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condition must be a boolean expression, never a plain number as in some other languages.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IfDemo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temperature = </a:t>
            </a:r>
            <a:r>
              <a:rPr lang="en-US" sz="1500" dirty="0">
                <a:solidFill>
                  <a:srgbClr val="B5CEA8"/>
                </a:solidFill>
                <a:latin typeface="Courier New" pitchFamily="34" charset="0"/>
                <a:ea typeface="Courier New" pitchFamily="34" charset="-122"/>
                <a:cs typeface="Courier New" pitchFamily="34" charset="-120"/>
              </a:rPr>
              <a:t>38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(temperature &gt; </a:t>
            </a:r>
            <a:r>
              <a:rPr lang="en-US" sz="1500" dirty="0">
                <a:solidFill>
                  <a:srgbClr val="B5CEA8"/>
                </a:solidFill>
                <a:latin typeface="Courier New" pitchFamily="34" charset="0"/>
                <a:ea typeface="Courier New" pitchFamily="34" charset="-122"/>
                <a:cs typeface="Courier New" pitchFamily="34" charset="-120"/>
              </a:rPr>
              <a:t>35</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"It's a hot day."</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DECISION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if-else Statement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else provides an alternative block of code that runs only when the condition is false.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Exactly one of the two blocks runs on any given execution.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IfElseDemo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marks = </a:t>
            </a:r>
            <a:r>
              <a:rPr lang="en-US" sz="1500" dirty="0">
                <a:solidFill>
                  <a:srgbClr val="B5CEA8"/>
                </a:solidFill>
                <a:latin typeface="Courier New" pitchFamily="34" charset="0"/>
                <a:ea typeface="Courier New" pitchFamily="34" charset="-122"/>
                <a:cs typeface="Courier New" pitchFamily="34" charset="-120"/>
              </a:rPr>
              <a:t>35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(marks &gt;= </a:t>
            </a:r>
            <a:r>
              <a:rPr lang="en-US" sz="1500" dirty="0">
                <a:solidFill>
                  <a:srgbClr val="B5CEA8"/>
                </a:solidFill>
                <a:latin typeface="Courier New" pitchFamily="34" charset="0"/>
                <a:ea typeface="Courier New" pitchFamily="34" charset="-122"/>
                <a:cs typeface="Courier New" pitchFamily="34" charset="-120"/>
              </a:rPr>
              <a:t>40</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"Pass"</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else</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"Fail"</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DECISION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else-if Ladder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Chaining else if tests additional conditions in sequence, from top to bottom.</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first matching condition runs its block, and every condition after it is skipped.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ElseIfDemo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marks = </a:t>
            </a:r>
            <a:r>
              <a:rPr lang="en-US" sz="1200" dirty="0">
                <a:solidFill>
                  <a:srgbClr val="B5CEA8"/>
                </a:solidFill>
                <a:latin typeface="Courier New" pitchFamily="34" charset="0"/>
                <a:ea typeface="Courier New" pitchFamily="34" charset="-122"/>
                <a:cs typeface="Courier New" pitchFamily="34" charset="-120"/>
              </a:rPr>
              <a:t>72</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grade;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if</a:t>
            </a:r>
            <a:r>
              <a:rPr lang="en-US" sz="1200" dirty="0">
                <a:solidFill>
                  <a:srgbClr val="D4D4D4"/>
                </a:solidFill>
                <a:latin typeface="Courier New" pitchFamily="34" charset="0"/>
                <a:ea typeface="Courier New" pitchFamily="34" charset="-122"/>
                <a:cs typeface="Courier New" pitchFamily="34" charset="-120"/>
              </a:rPr>
              <a:t> (marks &gt;= </a:t>
            </a:r>
            <a:r>
              <a:rPr lang="en-US" sz="1200" dirty="0">
                <a:solidFill>
                  <a:srgbClr val="B5CEA8"/>
                </a:solidFill>
                <a:latin typeface="Courier New" pitchFamily="34" charset="0"/>
                <a:ea typeface="Courier New" pitchFamily="34" charset="-122"/>
                <a:cs typeface="Courier New" pitchFamily="34" charset="-120"/>
              </a:rPr>
              <a:t>90</a:t>
            </a:r>
            <a:r>
              <a:rPr lang="en-US" sz="1200" dirty="0">
                <a:solidFill>
                  <a:srgbClr val="D4D4D4"/>
                </a:solidFill>
                <a:latin typeface="Courier New" pitchFamily="34" charset="0"/>
                <a:ea typeface="Courier New" pitchFamily="34" charset="-122"/>
                <a:cs typeface="Courier New" pitchFamily="34" charset="-120"/>
              </a:rPr>
              <a:t>) grade = </a:t>
            </a:r>
            <a:r>
              <a:rPr lang="en-US" sz="1200" dirty="0">
                <a:solidFill>
                  <a:srgbClr val="CE9178"/>
                </a:solidFill>
                <a:latin typeface="Courier New" pitchFamily="34" charset="0"/>
                <a:ea typeface="Courier New" pitchFamily="34" charset="-122"/>
                <a:cs typeface="Courier New" pitchFamily="34" charset="-120"/>
              </a:rPr>
              <a:t>"A"</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else</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if</a:t>
            </a:r>
            <a:r>
              <a:rPr lang="en-US" sz="1200" dirty="0">
                <a:solidFill>
                  <a:srgbClr val="D4D4D4"/>
                </a:solidFill>
                <a:latin typeface="Courier New" pitchFamily="34" charset="0"/>
                <a:ea typeface="Courier New" pitchFamily="34" charset="-122"/>
                <a:cs typeface="Courier New" pitchFamily="34" charset="-120"/>
              </a:rPr>
              <a:t> (marks &gt;= </a:t>
            </a:r>
            <a:r>
              <a:rPr lang="en-US" sz="1200" dirty="0">
                <a:solidFill>
                  <a:srgbClr val="B5CEA8"/>
                </a:solidFill>
                <a:latin typeface="Courier New" pitchFamily="34" charset="0"/>
                <a:ea typeface="Courier New" pitchFamily="34" charset="-122"/>
                <a:cs typeface="Courier New" pitchFamily="34" charset="-120"/>
              </a:rPr>
              <a:t>75</a:t>
            </a:r>
            <a:r>
              <a:rPr lang="en-US" sz="1200" dirty="0">
                <a:solidFill>
                  <a:srgbClr val="D4D4D4"/>
                </a:solidFill>
                <a:latin typeface="Courier New" pitchFamily="34" charset="0"/>
                <a:ea typeface="Courier New" pitchFamily="34" charset="-122"/>
                <a:cs typeface="Courier New" pitchFamily="34" charset="-120"/>
              </a:rPr>
              <a:t>) grade = </a:t>
            </a:r>
            <a:r>
              <a:rPr lang="en-US" sz="1200" dirty="0">
                <a:solidFill>
                  <a:srgbClr val="CE9178"/>
                </a:solidFill>
                <a:latin typeface="Courier New" pitchFamily="34" charset="0"/>
                <a:ea typeface="Courier New" pitchFamily="34" charset="-122"/>
                <a:cs typeface="Courier New" pitchFamily="34" charset="-120"/>
              </a:rPr>
              <a:t>"B"</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else</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if</a:t>
            </a:r>
            <a:r>
              <a:rPr lang="en-US" sz="1200" dirty="0">
                <a:solidFill>
                  <a:srgbClr val="D4D4D4"/>
                </a:solidFill>
                <a:latin typeface="Courier New" pitchFamily="34" charset="0"/>
                <a:ea typeface="Courier New" pitchFamily="34" charset="-122"/>
                <a:cs typeface="Courier New" pitchFamily="34" charset="-120"/>
              </a:rPr>
              <a:t> (marks &gt;= </a:t>
            </a:r>
            <a:r>
              <a:rPr lang="en-US" sz="1200" dirty="0">
                <a:solidFill>
                  <a:srgbClr val="B5CEA8"/>
                </a:solidFill>
                <a:latin typeface="Courier New" pitchFamily="34" charset="0"/>
                <a:ea typeface="Courier New" pitchFamily="34" charset="-122"/>
                <a:cs typeface="Courier New" pitchFamily="34" charset="-120"/>
              </a:rPr>
              <a:t>60</a:t>
            </a:r>
            <a:r>
              <a:rPr lang="en-US" sz="1200" dirty="0">
                <a:solidFill>
                  <a:srgbClr val="D4D4D4"/>
                </a:solidFill>
                <a:latin typeface="Courier New" pitchFamily="34" charset="0"/>
                <a:ea typeface="Courier New" pitchFamily="34" charset="-122"/>
                <a:cs typeface="Courier New" pitchFamily="34" charset="-120"/>
              </a:rPr>
              <a:t>) grade = </a:t>
            </a:r>
            <a:r>
              <a:rPr lang="en-US" sz="1200" dirty="0">
                <a:solidFill>
                  <a:srgbClr val="CE9178"/>
                </a:solidFill>
                <a:latin typeface="Courier New" pitchFamily="34" charset="0"/>
                <a:ea typeface="Courier New" pitchFamily="34" charset="-122"/>
                <a:cs typeface="Courier New" pitchFamily="34" charset="-120"/>
              </a:rPr>
              <a:t>"C"</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else</a:t>
            </a:r>
            <a:r>
              <a:rPr lang="en-US" sz="1200" dirty="0">
                <a:solidFill>
                  <a:srgbClr val="D4D4D4"/>
                </a:solidFill>
                <a:latin typeface="Courier New" pitchFamily="34" charset="0"/>
                <a:ea typeface="Courier New" pitchFamily="34" charset="-122"/>
                <a:cs typeface="Courier New" pitchFamily="34" charset="-120"/>
              </a:rPr>
              <a:t> grade = </a:t>
            </a:r>
            <a:r>
              <a:rPr lang="en-US" sz="1200" dirty="0">
                <a:solidFill>
                  <a:srgbClr val="CE9178"/>
                </a:solidFill>
                <a:latin typeface="Courier New" pitchFamily="34" charset="0"/>
                <a:ea typeface="Courier New" pitchFamily="34" charset="-122"/>
                <a:cs typeface="Courier New" pitchFamily="34" charset="-120"/>
              </a:rPr>
              <a:t>"F"</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"Grade: "</a:t>
            </a:r>
            <a:r>
              <a:rPr lang="en-US" sz="1200" dirty="0">
                <a:solidFill>
                  <a:srgbClr val="D4D4D4"/>
                </a:solidFill>
                <a:latin typeface="Courier New" pitchFamily="34" charset="0"/>
                <a:ea typeface="Courier New" pitchFamily="34" charset="-122"/>
                <a:cs typeface="Courier New" pitchFamily="34" charset="-120"/>
              </a:rPr>
              <a:t> + grade);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DECISION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Nested if Statements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An if statement can contain another if statement inside its block.</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useful when a second condition only makes sense after the first one has already been satisfied.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NestedIfDemo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age = </a:t>
            </a:r>
            <a:r>
              <a:rPr lang="en-US" sz="1200" dirty="0">
                <a:solidFill>
                  <a:srgbClr val="B5CEA8"/>
                </a:solidFill>
                <a:latin typeface="Courier New" pitchFamily="34" charset="0"/>
                <a:ea typeface="Courier New" pitchFamily="34" charset="-122"/>
                <a:cs typeface="Courier New" pitchFamily="34" charset="-120"/>
              </a:rPr>
              <a:t>20</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boolean</a:t>
            </a:r>
            <a:r>
              <a:rPr lang="en-US" sz="1200" dirty="0">
                <a:solidFill>
                  <a:srgbClr val="D4D4D4"/>
                </a:solidFill>
                <a:latin typeface="Courier New" pitchFamily="34" charset="0"/>
                <a:ea typeface="Courier New" pitchFamily="34" charset="-122"/>
                <a:cs typeface="Courier New" pitchFamily="34" charset="-120"/>
              </a:rPr>
              <a:t> hasId = </a:t>
            </a:r>
            <a:r>
              <a:rPr lang="en-US" sz="1200" b="1" dirty="0">
                <a:solidFill>
                  <a:srgbClr val="569CD6"/>
                </a:solidFill>
                <a:latin typeface="Courier New" pitchFamily="34" charset="0"/>
                <a:ea typeface="Courier New" pitchFamily="34" charset="-122"/>
                <a:cs typeface="Courier New" pitchFamily="34" charset="-120"/>
              </a:rPr>
              <a:t>true</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if</a:t>
            </a:r>
            <a:r>
              <a:rPr lang="en-US" sz="1200" dirty="0">
                <a:solidFill>
                  <a:srgbClr val="D4D4D4"/>
                </a:solidFill>
                <a:latin typeface="Courier New" pitchFamily="34" charset="0"/>
                <a:ea typeface="Courier New" pitchFamily="34" charset="-122"/>
                <a:cs typeface="Courier New" pitchFamily="34" charset="-120"/>
              </a:rPr>
              <a:t> (age &gt;= </a:t>
            </a:r>
            <a:r>
              <a:rPr lang="en-US" sz="1200" dirty="0">
                <a:solidFill>
                  <a:srgbClr val="B5CEA8"/>
                </a:solidFill>
                <a:latin typeface="Courier New" pitchFamily="34" charset="0"/>
                <a:ea typeface="Courier New" pitchFamily="34" charset="-122"/>
                <a:cs typeface="Courier New" pitchFamily="34" charset="-120"/>
              </a:rPr>
              <a:t>18</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if</a:t>
            </a:r>
            <a:r>
              <a:rPr lang="en-US" sz="1200" dirty="0">
                <a:solidFill>
                  <a:srgbClr val="D4D4D4"/>
                </a:solidFill>
                <a:latin typeface="Courier New" pitchFamily="34" charset="0"/>
                <a:ea typeface="Courier New" pitchFamily="34" charset="-122"/>
                <a:cs typeface="Courier New" pitchFamily="34" charset="-120"/>
              </a:rPr>
              <a:t> (hasId)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"Entry allowed"</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 </a:t>
            </a:r>
            <a:r>
              <a:rPr lang="en-US" sz="1200" b="1" dirty="0">
                <a:solidFill>
                  <a:srgbClr val="569CD6"/>
                </a:solidFill>
                <a:latin typeface="Courier New" pitchFamily="34" charset="0"/>
                <a:ea typeface="Courier New" pitchFamily="34" charset="-122"/>
                <a:cs typeface="Courier New" pitchFamily="34" charset="-120"/>
              </a:rPr>
              <a:t>else</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"ID required"</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MULTI-WAY BRANCH</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switch Statement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Compares one value against several possible cases in a single, readable structure.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break stops execution from falling through into the next case; default handles unmatched values.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SwitchDemo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day = </a:t>
            </a:r>
            <a:r>
              <a:rPr lang="en-US" sz="1200" dirty="0">
                <a:solidFill>
                  <a:srgbClr val="B5CEA8"/>
                </a:solidFill>
                <a:latin typeface="Courier New" pitchFamily="34" charset="0"/>
                <a:ea typeface="Courier New" pitchFamily="34" charset="-122"/>
                <a:cs typeface="Courier New" pitchFamily="34" charset="-120"/>
              </a:rPr>
              <a:t>3</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switch</a:t>
            </a:r>
            <a:r>
              <a:rPr lang="en-US" sz="1200" dirty="0">
                <a:solidFill>
                  <a:srgbClr val="D4D4D4"/>
                </a:solidFill>
                <a:latin typeface="Courier New" pitchFamily="34" charset="0"/>
                <a:ea typeface="Courier New" pitchFamily="34" charset="-122"/>
                <a:cs typeface="Courier New" pitchFamily="34" charset="-120"/>
              </a:rPr>
              <a:t> (day)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case</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1</a:t>
            </a:r>
            <a:r>
              <a:rPr lang="en-US" sz="1200" dirty="0">
                <a:solidFill>
                  <a:srgbClr val="D4D4D4"/>
                </a:solidFill>
                <a:latin typeface="Courier New" pitchFamily="34" charset="0"/>
                <a:ea typeface="Courier New" pitchFamily="34" charset="-122"/>
                <a:cs typeface="Courier New" pitchFamily="34" charset="-120"/>
              </a:rPr>
              <a:t>: name = </a:t>
            </a:r>
            <a:r>
              <a:rPr lang="en-US" sz="1200" dirty="0">
                <a:solidFill>
                  <a:srgbClr val="CE9178"/>
                </a:solidFill>
                <a:latin typeface="Courier New" pitchFamily="34" charset="0"/>
                <a:ea typeface="Courier New" pitchFamily="34" charset="-122"/>
                <a:cs typeface="Courier New" pitchFamily="34" charset="-120"/>
              </a:rPr>
              <a:t>"Monday"</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break</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case</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2</a:t>
            </a:r>
            <a:r>
              <a:rPr lang="en-US" sz="1200" dirty="0">
                <a:solidFill>
                  <a:srgbClr val="D4D4D4"/>
                </a:solidFill>
                <a:latin typeface="Courier New" pitchFamily="34" charset="0"/>
                <a:ea typeface="Courier New" pitchFamily="34" charset="-122"/>
                <a:cs typeface="Courier New" pitchFamily="34" charset="-120"/>
              </a:rPr>
              <a:t>: name = </a:t>
            </a:r>
            <a:r>
              <a:rPr lang="en-US" sz="1200" dirty="0">
                <a:solidFill>
                  <a:srgbClr val="CE9178"/>
                </a:solidFill>
                <a:latin typeface="Courier New" pitchFamily="34" charset="0"/>
                <a:ea typeface="Courier New" pitchFamily="34" charset="-122"/>
                <a:cs typeface="Courier New" pitchFamily="34" charset="-120"/>
              </a:rPr>
              <a:t>"Tuesday"</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break</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case</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3</a:t>
            </a:r>
            <a:r>
              <a:rPr lang="en-US" sz="1200" dirty="0">
                <a:solidFill>
                  <a:srgbClr val="D4D4D4"/>
                </a:solidFill>
                <a:latin typeface="Courier New" pitchFamily="34" charset="0"/>
                <a:ea typeface="Courier New" pitchFamily="34" charset="-122"/>
                <a:cs typeface="Courier New" pitchFamily="34" charset="-120"/>
              </a:rPr>
              <a:t>: name = </a:t>
            </a:r>
            <a:r>
              <a:rPr lang="en-US" sz="1200" dirty="0">
                <a:solidFill>
                  <a:srgbClr val="CE9178"/>
                </a:solidFill>
                <a:latin typeface="Courier New" pitchFamily="34" charset="0"/>
                <a:ea typeface="Courier New" pitchFamily="34" charset="-122"/>
                <a:cs typeface="Courier New" pitchFamily="34" charset="-120"/>
              </a:rPr>
              <a:t>"Wednesday"</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break</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default</a:t>
            </a:r>
            <a:r>
              <a:rPr lang="en-US" sz="1200" dirty="0">
                <a:solidFill>
                  <a:srgbClr val="D4D4D4"/>
                </a:solidFill>
                <a:latin typeface="Courier New" pitchFamily="34" charset="0"/>
                <a:ea typeface="Courier New" pitchFamily="34" charset="-122"/>
                <a:cs typeface="Courier New" pitchFamily="34" charset="-120"/>
              </a:rPr>
              <a:t>: name = </a:t>
            </a:r>
            <a:r>
              <a:rPr lang="en-US" sz="1200" dirty="0">
                <a:solidFill>
                  <a:srgbClr val="CE9178"/>
                </a:solidFill>
                <a:latin typeface="Courier New" pitchFamily="34" charset="0"/>
                <a:ea typeface="Courier New" pitchFamily="34" charset="-122"/>
                <a:cs typeface="Courier New" pitchFamily="34" charset="-120"/>
              </a:rPr>
              <a:t>"Unknown"</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MULTI-WAY BRANCH</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switch with Strings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Since Java 7, a switch statement can also compare String values directly.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often reads more naturally than a long chain of equals() comparisons.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SwitchStringDemo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role = </a:t>
            </a:r>
            <a:r>
              <a:rPr lang="en-US" sz="1500" dirty="0">
                <a:solidFill>
                  <a:srgbClr val="CE9178"/>
                </a:solidFill>
                <a:latin typeface="Courier New" pitchFamily="34" charset="0"/>
                <a:ea typeface="Courier New" pitchFamily="34" charset="-122"/>
                <a:cs typeface="Courier New" pitchFamily="34" charset="-120"/>
              </a:rPr>
              <a:t>"admin"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switch</a:t>
            </a:r>
            <a:r>
              <a:rPr lang="en-US" sz="1500" dirty="0">
                <a:solidFill>
                  <a:srgbClr val="D4D4D4"/>
                </a:solidFill>
                <a:latin typeface="Courier New" pitchFamily="34" charset="0"/>
                <a:ea typeface="Courier New" pitchFamily="34" charset="-122"/>
                <a:cs typeface="Courier New" pitchFamily="34" charset="-120"/>
              </a:rPr>
              <a:t> (role)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case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"admin"</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"Full access"</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break</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case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CE9178"/>
                </a:solidFill>
                <a:latin typeface="Courier New" pitchFamily="34" charset="0"/>
                <a:ea typeface="Courier New" pitchFamily="34" charset="-122"/>
                <a:cs typeface="Courier New" pitchFamily="34" charset="-120"/>
              </a:rPr>
              <a:t>"editor"</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"Edit access"</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break</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default</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"Read only"</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Conditionals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 instead of == for comparison</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single equals sign assigns a value, while a double equals sign compares two values.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break inside a switch case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Without it, execution falls through and continues into the next case unintentionally.</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Writing overly deep nested if statements</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Very deep nesting is hard to read; an else-if ladder is often clearer for many conditions.</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Grading Program</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Combining an else-if ladder into one complete, runnable program.</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GradingProgram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marks = </a:t>
            </a:r>
            <a:r>
              <a:rPr lang="en-US" sz="1500" dirty="0">
                <a:solidFill>
                  <a:srgbClr val="B5CEA8"/>
                </a:solidFill>
                <a:latin typeface="Courier New" pitchFamily="34" charset="0"/>
                <a:ea typeface="Courier New" pitchFamily="34" charset="-122"/>
                <a:cs typeface="Courier New" pitchFamily="34" charset="-120"/>
              </a:rPr>
              <a:t>84</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grade;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(marks &gt;= </a:t>
            </a:r>
            <a:r>
              <a:rPr lang="en-US" sz="1500" dirty="0">
                <a:solidFill>
                  <a:srgbClr val="B5CEA8"/>
                </a:solidFill>
                <a:latin typeface="Courier New" pitchFamily="34" charset="0"/>
                <a:ea typeface="Courier New" pitchFamily="34" charset="-122"/>
                <a:cs typeface="Courier New" pitchFamily="34" charset="-120"/>
              </a:rPr>
              <a:t>90</a:t>
            </a:r>
            <a:r>
              <a:rPr lang="en-US" sz="1500" dirty="0">
                <a:solidFill>
                  <a:srgbClr val="D4D4D4"/>
                </a:solidFill>
                <a:latin typeface="Courier New" pitchFamily="34" charset="0"/>
                <a:ea typeface="Courier New" pitchFamily="34" charset="-122"/>
                <a:cs typeface="Courier New" pitchFamily="34" charset="-120"/>
              </a:rPr>
              <a:t>) grade = </a:t>
            </a:r>
            <a:r>
              <a:rPr lang="en-US" sz="1500" dirty="0">
                <a:solidFill>
                  <a:srgbClr val="CE9178"/>
                </a:solidFill>
                <a:latin typeface="Courier New" pitchFamily="34" charset="0"/>
                <a:ea typeface="Courier New" pitchFamily="34" charset="-122"/>
                <a:cs typeface="Courier New" pitchFamily="34" charset="-120"/>
              </a:rPr>
              <a:t>"A"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else</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(marks &gt;= </a:t>
            </a:r>
            <a:r>
              <a:rPr lang="en-US" sz="1500" dirty="0">
                <a:solidFill>
                  <a:srgbClr val="B5CEA8"/>
                </a:solidFill>
                <a:latin typeface="Courier New" pitchFamily="34" charset="0"/>
                <a:ea typeface="Courier New" pitchFamily="34" charset="-122"/>
                <a:cs typeface="Courier New" pitchFamily="34" charset="-120"/>
              </a:rPr>
              <a:t>75</a:t>
            </a:r>
            <a:r>
              <a:rPr lang="en-US" sz="1500" dirty="0">
                <a:solidFill>
                  <a:srgbClr val="D4D4D4"/>
                </a:solidFill>
                <a:latin typeface="Courier New" pitchFamily="34" charset="0"/>
                <a:ea typeface="Courier New" pitchFamily="34" charset="-122"/>
                <a:cs typeface="Courier New" pitchFamily="34" charset="-120"/>
              </a:rPr>
              <a:t>) grade = </a:t>
            </a:r>
            <a:r>
              <a:rPr lang="en-US" sz="1500" dirty="0">
                <a:solidFill>
                  <a:srgbClr val="CE9178"/>
                </a:solidFill>
                <a:latin typeface="Courier New" pitchFamily="34" charset="0"/>
                <a:ea typeface="Courier New" pitchFamily="34" charset="-122"/>
                <a:cs typeface="Courier New" pitchFamily="34" charset="-120"/>
              </a:rPr>
              <a:t>"B"</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else</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(marks &gt;= </a:t>
            </a:r>
            <a:r>
              <a:rPr lang="en-US" sz="1500" dirty="0">
                <a:solidFill>
                  <a:srgbClr val="B5CEA8"/>
                </a:solidFill>
                <a:latin typeface="Courier New" pitchFamily="34" charset="0"/>
                <a:ea typeface="Courier New" pitchFamily="34" charset="-122"/>
                <a:cs typeface="Courier New" pitchFamily="34" charset="-120"/>
              </a:rPr>
              <a:t>60</a:t>
            </a:r>
            <a:r>
              <a:rPr lang="en-US" sz="1500" dirty="0">
                <a:solidFill>
                  <a:srgbClr val="D4D4D4"/>
                </a:solidFill>
                <a:latin typeface="Courier New" pitchFamily="34" charset="0"/>
                <a:ea typeface="Courier New" pitchFamily="34" charset="-122"/>
                <a:cs typeface="Courier New" pitchFamily="34" charset="-120"/>
              </a:rPr>
              <a:t>) grade = </a:t>
            </a:r>
            <a:r>
              <a:rPr lang="en-US" sz="1500" dirty="0">
                <a:solidFill>
                  <a:srgbClr val="CE9178"/>
                </a:solidFill>
                <a:latin typeface="Courier New" pitchFamily="34" charset="0"/>
                <a:ea typeface="Courier New" pitchFamily="34" charset="-122"/>
                <a:cs typeface="Courier New" pitchFamily="34" charset="-120"/>
              </a:rPr>
              <a:t>"C"</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else</a:t>
            </a:r>
            <a:r>
              <a:rPr lang="en-US" sz="1500" dirty="0">
                <a:solidFill>
                  <a:srgbClr val="D4D4D4"/>
                </a:solidFill>
                <a:latin typeface="Courier New" pitchFamily="34" charset="0"/>
                <a:ea typeface="Courier New" pitchFamily="34" charset="-122"/>
                <a:cs typeface="Courier New" pitchFamily="34" charset="-120"/>
              </a:rPr>
              <a:t> grade = </a:t>
            </a:r>
            <a:r>
              <a:rPr lang="en-US" sz="1500" dirty="0">
                <a:solidFill>
                  <a:srgbClr val="CE9178"/>
                </a:solidFill>
                <a:latin typeface="Courier New" pitchFamily="34" charset="0"/>
                <a:ea typeface="Courier New" pitchFamily="34" charset="-122"/>
                <a:cs typeface="Courier New" pitchFamily="34" charset="-120"/>
              </a:rPr>
              <a:t>"F"</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"Marks: "</a:t>
            </a:r>
            <a:r>
              <a:rPr lang="en-US" sz="1500" dirty="0">
                <a:solidFill>
                  <a:srgbClr val="D4D4D4"/>
                </a:solidFill>
                <a:latin typeface="Courier New" pitchFamily="34" charset="0"/>
                <a:ea typeface="Courier New" pitchFamily="34" charset="-122"/>
                <a:cs typeface="Courier New" pitchFamily="34" charset="-120"/>
              </a:rPr>
              <a:t> + marks + </a:t>
            </a:r>
            <a:r>
              <a:rPr lang="en-US" sz="1500" dirty="0">
                <a:solidFill>
                  <a:srgbClr val="CE9178"/>
                </a:solidFill>
                <a:latin typeface="Courier New" pitchFamily="34" charset="0"/>
                <a:ea typeface="Courier New" pitchFamily="34" charset="-122"/>
                <a:cs typeface="Courier New" pitchFamily="34" charset="-120"/>
              </a:rPr>
              <a:t>", Grade: "</a:t>
            </a:r>
            <a:r>
              <a:rPr lang="en-US" sz="1500" dirty="0">
                <a:solidFill>
                  <a:srgbClr val="D4D4D4"/>
                </a:solidFill>
                <a:latin typeface="Courier New" pitchFamily="34" charset="0"/>
                <a:ea typeface="Courier New" pitchFamily="34" charset="-122"/>
                <a:cs typeface="Courier New" pitchFamily="34" charset="-120"/>
              </a:rPr>
              <a:t> + grade);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Marks: 84, Grade: B</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7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Loops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Repeating a block of code efficiently, without copying it by hand</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Loop?</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Repeats a block of code while a condition holds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Loops avoid writing the same statements over and over by hand.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Java offers three main loop structures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for, while, and do-while, each suited to slightly different situations, covered next.</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REPETITION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for Loop</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Combines initialization, condition, and update in a single header, ideal when the number of iterations is known in advance.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update expression runs automatically after every pass through the loop body.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ForLoopDemo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i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i &lt;=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 i++)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"Count: "</a:t>
            </a:r>
            <a:r>
              <a:rPr lang="en-US" sz="1500" dirty="0">
                <a:solidFill>
                  <a:srgbClr val="D4D4D4"/>
                </a:solidFill>
                <a:latin typeface="Courier New" pitchFamily="34" charset="0"/>
                <a:ea typeface="Courier New" pitchFamily="34" charset="-122"/>
                <a:cs typeface="Courier New" pitchFamily="34" charset="-120"/>
              </a:rPr>
              <a:t> + i);</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REPETITION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while Loop</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Checks its condition before each iteration, so the body may run zero times if the condition starts false.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Best suited to situations where the number of iterations is not known ahead of time.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WhileLoopDemo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count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while</a:t>
            </a:r>
            <a:r>
              <a:rPr lang="en-US" sz="1500" dirty="0">
                <a:solidFill>
                  <a:srgbClr val="D4D4D4"/>
                </a:solidFill>
                <a:latin typeface="Courier New" pitchFamily="34" charset="0"/>
                <a:ea typeface="Courier New" pitchFamily="34" charset="-122"/>
                <a:cs typeface="Courier New" pitchFamily="34" charset="-120"/>
              </a:rPr>
              <a:t> (count &lt;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"Count: "</a:t>
            </a:r>
            <a:r>
              <a:rPr lang="en-US" sz="1500" dirty="0">
                <a:solidFill>
                  <a:srgbClr val="D4D4D4"/>
                </a:solidFill>
                <a:latin typeface="Courier New" pitchFamily="34" charset="0"/>
                <a:ea typeface="Courier New" pitchFamily="34" charset="-122"/>
                <a:cs typeface="Courier New" pitchFamily="34" charset="-120"/>
              </a:rPr>
              <a:t> + count);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count++;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REPETITION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do-while Loop</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Checks its condition after the body runs, guaranteeing the loop executes at least once.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Commonly used for menus and input validation, where the first attempt must always happen.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DoWhileDemo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attempts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"Attempt: "</a:t>
            </a:r>
            <a:r>
              <a:rPr lang="en-US" sz="1500" dirty="0">
                <a:solidFill>
                  <a:srgbClr val="D4D4D4"/>
                </a:solidFill>
                <a:latin typeface="Courier New" pitchFamily="34" charset="0"/>
                <a:ea typeface="Courier New" pitchFamily="34" charset="-122"/>
                <a:cs typeface="Courier New" pitchFamily="34" charset="-120"/>
              </a:rPr>
              <a:t> + attempts);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attempts++;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while</a:t>
            </a:r>
            <a:r>
              <a:rPr lang="en-US" sz="1500" dirty="0">
                <a:solidFill>
                  <a:srgbClr val="D4D4D4"/>
                </a:solidFill>
                <a:latin typeface="Courier New" pitchFamily="34" charset="0"/>
                <a:ea typeface="Courier New" pitchFamily="34" charset="-122"/>
                <a:cs typeface="Courier New" pitchFamily="34" charset="-120"/>
              </a:rPr>
              <a:t> (attempts &lt;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COMPOUND LOOPS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Nested Loops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loop placed inside another loop, often used for grids and patterns.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NestedLoops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row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row &lt;=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row++)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col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col &lt;= row; col++)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 "</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 *</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 * *</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JUMP STATEMENT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break Statement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Immediately exits the nearest enclosing loop, skipping every remaining iteration.</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Commonly used to stop a search once a target value has already been found.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BreakDemo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i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i &lt;=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 i++)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(i ==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break</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(i);</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JUMP STATEMENT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continue Statement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Skips the rest of the current iteration and moves straight to the next one.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Unlike break, the loop itself keeps running afterward.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ContinueDemo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i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i &lt;= </a:t>
            </a:r>
            <a:r>
              <a:rPr lang="en-US" sz="1500" dirty="0">
                <a:solidFill>
                  <a:srgbClr val="B5CEA8"/>
                </a:solidFill>
                <a:latin typeface="Courier New" pitchFamily="34" charset="0"/>
                <a:ea typeface="Courier New" pitchFamily="34" charset="-122"/>
                <a:cs typeface="Courier New" pitchFamily="34" charset="-120"/>
              </a:rPr>
              <a:t>6</a:t>
            </a:r>
            <a:r>
              <a:rPr lang="en-US" sz="1500" dirty="0">
                <a:solidFill>
                  <a:srgbClr val="D4D4D4"/>
                </a:solidFill>
                <a:latin typeface="Courier New" pitchFamily="34" charset="0"/>
                <a:ea typeface="Courier New" pitchFamily="34" charset="-122"/>
                <a:cs typeface="Courier New" pitchFamily="34" charset="-120"/>
              </a:rPr>
              <a:t>; i++)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(i %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continue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(i);</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DECISION GUIDE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Choosing the Right Loop</a:t>
            </a:r>
            <a:endParaRPr lang="en-US" sz="27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530352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86868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Situation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Recommended Loop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The number of iterations is known in advance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for loop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The number of iterations depends on a changing condition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while loop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The loop body must run at least once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do-while loop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Iterating over every element of an array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for or enhanced for-each loop</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Loops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to update the loop variable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is the most common cause of an infinite loop that never terminates.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 instead of == inside a loop condition</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Just like with if statements, this assigns a value instead of comparing one.</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Off-by-one errors</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Using &lt;= instead of &lt;, or vice versa, can cause a loop to run one time too many or too few.</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Multiplication Table</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Using a for loop to generate a complete multiplication table for one number.</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MultiplicationTable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number =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i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i &lt;=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 i++)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(number + </a:t>
            </a:r>
            <a:r>
              <a:rPr lang="en-US" sz="1500" dirty="0">
                <a:solidFill>
                  <a:srgbClr val="CE9178"/>
                </a:solidFill>
                <a:latin typeface="Courier New" pitchFamily="34" charset="0"/>
                <a:ea typeface="Courier New" pitchFamily="34" charset="-122"/>
                <a:cs typeface="Courier New" pitchFamily="34" charset="-120"/>
              </a:rPr>
              <a:t>" x "</a:t>
            </a:r>
            <a:r>
              <a:rPr lang="en-US" sz="1500" dirty="0">
                <a:solidFill>
                  <a:srgbClr val="D4D4D4"/>
                </a:solidFill>
                <a:latin typeface="Courier New" pitchFamily="34" charset="0"/>
                <a:ea typeface="Courier New" pitchFamily="34" charset="-122"/>
                <a:cs typeface="Courier New" pitchFamily="34" charset="-120"/>
              </a:rPr>
              <a:t> + i + </a:t>
            </a:r>
            <a:r>
              <a:rPr lang="en-US" sz="1500" dirty="0">
                <a:solidFill>
                  <a:srgbClr val="CE9178"/>
                </a:solidFill>
                <a:latin typeface="Courier New" pitchFamily="34" charset="0"/>
                <a:ea typeface="Courier New" pitchFamily="34" charset="-122"/>
                <a:cs typeface="Courier New" pitchFamily="34" charset="-120"/>
              </a:rPr>
              <a:t>" = "</a:t>
            </a:r>
            <a:r>
              <a:rPr lang="en-US" sz="1500" dirty="0">
                <a:solidFill>
                  <a:srgbClr val="D4D4D4"/>
                </a:solidFill>
                <a:latin typeface="Courier New" pitchFamily="34" charset="0"/>
                <a:ea typeface="Courier New" pitchFamily="34" charset="-122"/>
                <a:cs typeface="Courier New" pitchFamily="34" charset="-120"/>
              </a:rPr>
              <a:t> + (number * i));</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5 x 1 = 5</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5 x 2 = 10</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5 x 3 = 15</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5 x 4 = 20</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5 x 5 = 25</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8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Arrays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Storing and working with a fixed-size collection of values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an Array?</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fixed-size collection of values of the same type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An array stores many values under a single variable name, each identified by a numeric index.</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Indexes start at zero</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first element sits at index 0, and the last element sits at index length minus 1.</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Declaring and Creating Arrays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Square brackets after the type mark a variable as an array.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new keyword allocates memory for a specific number of elements, each starting at its default value.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ArrayCreation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scores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5 slots, all 0</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3 slots, all null</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FILLING VALUES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Initializing Arrays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An array literal fills every element in one statement, without calling new explicitly.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Elements can also be assigned individually after the array has already been created.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ArrayInit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scores = {</a:t>
            </a:r>
            <a:r>
              <a:rPr lang="en-US" sz="1500" dirty="0">
                <a:solidFill>
                  <a:srgbClr val="B5CEA8"/>
                </a:solidFill>
                <a:latin typeface="Courier New" pitchFamily="34" charset="0"/>
                <a:ea typeface="Courier New" pitchFamily="34" charset="-122"/>
                <a:cs typeface="Courier New" pitchFamily="34" charset="-120"/>
              </a:rPr>
              <a:t>90</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85</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78</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92</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88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marks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marks[</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70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marks[</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75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marks[</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80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READING AND WRITING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Accessing Array Elements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Square brackets with an index read or update one specific element.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Using an index outside the valid range throws an ArrayIndexOutOfBoundsException at run time.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ArrayAccess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scores = {</a:t>
            </a:r>
            <a:r>
              <a:rPr lang="en-US" sz="1500" dirty="0">
                <a:solidFill>
                  <a:srgbClr val="B5CEA8"/>
                </a:solidFill>
                <a:latin typeface="Courier New" pitchFamily="34" charset="0"/>
                <a:ea typeface="Courier New" pitchFamily="34" charset="-122"/>
                <a:cs typeface="Courier New" pitchFamily="34" charset="-120"/>
              </a:rPr>
              <a:t>90</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85</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78</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92</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88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(scores[</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90, first element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scores[</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100</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update an element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(scores[</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TRAVERSAL</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Iterating with for and for-each</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counted for loop visits every index, which is useful when the index itself is needed.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enhanced for-each loop reads every element in order, without managing an index manually.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ArrayIteration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scores = {</a:t>
            </a:r>
            <a:r>
              <a:rPr lang="en-US" sz="1200" dirty="0">
                <a:solidFill>
                  <a:srgbClr val="B5CEA8"/>
                </a:solidFill>
                <a:latin typeface="Courier New" pitchFamily="34" charset="0"/>
                <a:ea typeface="Courier New" pitchFamily="34" charset="-122"/>
                <a:cs typeface="Courier New" pitchFamily="34" charset="-120"/>
              </a:rPr>
              <a:t>90</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85</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78</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for</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i = </a:t>
            </a:r>
            <a:r>
              <a:rPr lang="en-US" sz="1200" dirty="0">
                <a:solidFill>
                  <a:srgbClr val="B5CEA8"/>
                </a:solidFill>
                <a:latin typeface="Courier New" pitchFamily="34" charset="0"/>
                <a:ea typeface="Courier New" pitchFamily="34" charset="-122"/>
                <a:cs typeface="Courier New" pitchFamily="34" charset="-120"/>
              </a:rPr>
              <a:t>0</a:t>
            </a:r>
            <a:r>
              <a:rPr lang="en-US" sz="1200" dirty="0">
                <a:solidFill>
                  <a:srgbClr val="D4D4D4"/>
                </a:solidFill>
                <a:latin typeface="Courier New" pitchFamily="34" charset="0"/>
                <a:ea typeface="Courier New" pitchFamily="34" charset="-122"/>
                <a:cs typeface="Courier New" pitchFamily="34" charset="-120"/>
              </a:rPr>
              <a:t>; i &lt; scores.length; i++)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"Index "</a:t>
            </a:r>
            <a:r>
              <a:rPr lang="en-US" sz="1200" dirty="0">
                <a:solidFill>
                  <a:srgbClr val="D4D4D4"/>
                </a:solidFill>
                <a:latin typeface="Courier New" pitchFamily="34" charset="0"/>
                <a:ea typeface="Courier New" pitchFamily="34" charset="-122"/>
                <a:cs typeface="Courier New" pitchFamily="34" charset="-120"/>
              </a:rPr>
              <a:t> + i + </a:t>
            </a:r>
            <a:r>
              <a:rPr lang="en-US" sz="1200" dirty="0">
                <a:solidFill>
                  <a:srgbClr val="CE9178"/>
                </a:solidFill>
                <a:latin typeface="Courier New" pitchFamily="34" charset="0"/>
                <a:ea typeface="Courier New" pitchFamily="34" charset="-122"/>
                <a:cs typeface="Courier New" pitchFamily="34" charset="-120"/>
              </a:rPr>
              <a:t>": "</a:t>
            </a:r>
            <a:r>
              <a:rPr lang="en-US" sz="1200" dirty="0">
                <a:solidFill>
                  <a:srgbClr val="D4D4D4"/>
                </a:solidFill>
                <a:latin typeface="Courier New" pitchFamily="34" charset="0"/>
                <a:ea typeface="Courier New" pitchFamily="34" charset="-122"/>
                <a:cs typeface="Courier New" pitchFamily="34" charset="-120"/>
              </a:rPr>
              <a:t> + scores[i]);</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for</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score : scores)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(score);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SIZE AND DEFAULTS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Array Length and Default Values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length gives the number of elements the array holds, and is a property, not a method.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newly created array's elements start at a default value depending on the element type.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ArrayLength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scores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(scores.length);       </a:t>
            </a:r>
            <a:r>
              <a:rPr lang="en-US" sz="1500" i="1" dirty="0">
                <a:solidFill>
                  <a:srgbClr val="6A9955"/>
                </a:solidFill>
                <a:latin typeface="Courier New" pitchFamily="34" charset="0"/>
                <a:ea typeface="Courier New" pitchFamily="34" charset="-122"/>
                <a:cs typeface="Courier New" pitchFamily="34" charset="-120"/>
              </a:rPr>
              <a:t>// 4</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(scores[</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0, the default for int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GRIDS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Two-Dimensional Arrays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2D array is effectively an array of arrays, arranged in rows and columns.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Each element is accessed using two indexes: one for the row, one for the column.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TwoDArrayDemo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grid =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3</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4</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6</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(grid[</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6, row 1 column 2</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Arrays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Accessing an index that is out of bounds</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is one of the most common runtime errors for beginners, and always crashes the program if not handled.</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Assuming an array can grow</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Once created, an array's size is fixed; a new, larger array must be created to hold more elements.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arrays are zero-indexed</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last valid index is always length minus 1, not length itself.</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Finding the Maximum in an Array</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single pass through the array, tracking the largest value seen so far.</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FindMaximum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numbers = {</a:t>
            </a:r>
            <a:r>
              <a:rPr lang="en-US" sz="1500" dirty="0">
                <a:solidFill>
                  <a:srgbClr val="B5CEA8"/>
                </a:solidFill>
                <a:latin typeface="Courier New" pitchFamily="34" charset="0"/>
                <a:ea typeface="Courier New" pitchFamily="34" charset="-122"/>
                <a:cs typeface="Courier New" pitchFamily="34" charset="-120"/>
              </a:rPr>
              <a:t>45</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89</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23</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67</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12</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max = numbers[</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 : numbers)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(n &gt; max)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max = 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"Maximum: "</a:t>
            </a:r>
            <a:r>
              <a:rPr lang="en-US" sz="1500" dirty="0">
                <a:solidFill>
                  <a:srgbClr val="D4D4D4"/>
                </a:solidFill>
                <a:latin typeface="Courier New" pitchFamily="34" charset="0"/>
                <a:ea typeface="Courier New" pitchFamily="34" charset="-122"/>
                <a:cs typeface="Courier New" pitchFamily="34" charset="-120"/>
              </a:rPr>
              <a:t> + max);</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Maximum: 89</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Sum and Average of Array Elements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common pattern: loop once, accumulate a total, then compute a result.</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SumAndAverage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marks = {</a:t>
            </a:r>
            <a:r>
              <a:rPr lang="en-US" sz="1400" dirty="0">
                <a:solidFill>
                  <a:srgbClr val="B5CEA8"/>
                </a:solidFill>
                <a:latin typeface="Courier New" pitchFamily="34" charset="0"/>
                <a:ea typeface="Courier New" pitchFamily="34" charset="-122"/>
                <a:cs typeface="Courier New" pitchFamily="34" charset="-120"/>
              </a:rPr>
              <a:t>80</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92</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74</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88</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95</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total = </a:t>
            </a:r>
            <a:r>
              <a:rPr lang="en-US" sz="1400" dirty="0">
                <a:solidFill>
                  <a:srgbClr val="B5CEA8"/>
                </a:solidFill>
                <a:latin typeface="Courier New" pitchFamily="34" charset="0"/>
                <a:ea typeface="Courier New" pitchFamily="34" charset="-122"/>
                <a:cs typeface="Courier New" pitchFamily="34" charset="-120"/>
              </a:rPr>
              <a:t>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for</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m : marks)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total += m;</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double</a:t>
            </a:r>
            <a:r>
              <a:rPr lang="en-US" sz="1400" dirty="0">
                <a:solidFill>
                  <a:srgbClr val="D4D4D4"/>
                </a:solidFill>
                <a:latin typeface="Courier New" pitchFamily="34" charset="0"/>
                <a:ea typeface="Courier New" pitchFamily="34" charset="-122"/>
                <a:cs typeface="Courier New" pitchFamily="34" charset="-120"/>
              </a:rPr>
              <a:t> average = (</a:t>
            </a:r>
            <a:r>
              <a:rPr lang="en-US" sz="1400" b="1" dirty="0">
                <a:solidFill>
                  <a:srgbClr val="569CD6"/>
                </a:solidFill>
                <a:latin typeface="Courier New" pitchFamily="34" charset="0"/>
                <a:ea typeface="Courier New" pitchFamily="34" charset="-122"/>
                <a:cs typeface="Courier New" pitchFamily="34" charset="-120"/>
              </a:rPr>
              <a:t>double</a:t>
            </a:r>
            <a:r>
              <a:rPr lang="en-US" sz="1400" dirty="0">
                <a:solidFill>
                  <a:srgbClr val="D4D4D4"/>
                </a:solidFill>
                <a:latin typeface="Courier New" pitchFamily="34" charset="0"/>
                <a:ea typeface="Courier New" pitchFamily="34" charset="-122"/>
                <a:cs typeface="Courier New" pitchFamily="34" charset="-120"/>
              </a:rPr>
              <a:t>) total / marks.length;</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"Total: "</a:t>
            </a:r>
            <a:r>
              <a:rPr lang="en-US" sz="1400" dirty="0">
                <a:solidFill>
                  <a:srgbClr val="D4D4D4"/>
                </a:solidFill>
                <a:latin typeface="Courier New" pitchFamily="34" charset="0"/>
                <a:ea typeface="Courier New" pitchFamily="34" charset="-122"/>
                <a:cs typeface="Courier New" pitchFamily="34" charset="-120"/>
              </a:rPr>
              <a:t> + total);</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"Average: "</a:t>
            </a:r>
            <a:r>
              <a:rPr lang="en-US" sz="1400" dirty="0">
                <a:solidFill>
                  <a:srgbClr val="D4D4D4"/>
                </a:solidFill>
                <a:latin typeface="Courier New" pitchFamily="34" charset="0"/>
                <a:ea typeface="Courier New" pitchFamily="34" charset="-122"/>
                <a:cs typeface="Courier New" pitchFamily="34" charset="-120"/>
              </a:rPr>
              <a:t> + average);</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Total: 429</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Average: 85.8</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9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Methods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Organizing code into reusable, named blocks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Method?</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named, reusable block of code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method groups a set of statements under one name so they can be executed whenever needed.</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Avoids repeating the same code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Instead of copying logic in several places, a program calls the method each time it is needed.</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Every program in this session already uses one</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main method that starts every Java program is itself a method, with a fixed, required signature.</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SYNTAX</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Method Declaration Syntax</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declaration combines an access modifier, a return type, a name, and a parameter list.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method body is enclosed in curly braces, exactly like the class body around it.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Greeter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sayHello</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"Hello there!"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INVOCATION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Calling a Method</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method is executed, or called, by writing its name followed by parentheses.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static method is called using the class name, or directly by name from within the same class.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Greeter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sayHello</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"Hello there!"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sayHello</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sayHello</a:t>
            </a: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can be called as many times as needed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PASSING DATA IN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Method Parameters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Parameters are placeholders declared in a method's signature, describing what data it expects.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same method can process different data each time it is called, without being rewritten.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ParameterDemo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greet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"Hello, "</a:t>
            </a:r>
            <a:r>
              <a:rPr lang="en-US" sz="1500" dirty="0">
                <a:solidFill>
                  <a:srgbClr val="D4D4D4"/>
                </a:solidFill>
                <a:latin typeface="Courier New" pitchFamily="34" charset="0"/>
                <a:ea typeface="Courier New" pitchFamily="34" charset="-122"/>
                <a:cs typeface="Courier New" pitchFamily="34" charset="-120"/>
              </a:rPr>
              <a:t> + name + </a:t>
            </a:r>
            <a:r>
              <a:rPr lang="en-US" sz="1500" dirty="0">
                <a:solidFill>
                  <a:srgbClr val="CE9178"/>
                </a:solidFill>
                <a:latin typeface="Courier New" pitchFamily="34" charset="0"/>
                <a:ea typeface="Courier New" pitchFamily="34" charset="-122"/>
                <a:cs typeface="Courier New" pitchFamily="34" charset="-120"/>
              </a:rPr>
              <a: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greet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"Asha"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greet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"Rahul"</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SENDING DATA BACK</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Return Types and the return Statement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non-void method must use return to send a value back to whatever code called it.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type after return must match the method's declared return type exactly.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ReturnDemo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square</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n * 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result = </a:t>
            </a:r>
            <a:r>
              <a:rPr lang="en-US" sz="1500" dirty="0">
                <a:solidFill>
                  <a:srgbClr val="DCDCAA"/>
                </a:solidFill>
                <a:latin typeface="Courier New" pitchFamily="34" charset="0"/>
                <a:ea typeface="Courier New" pitchFamily="34" charset="-122"/>
                <a:cs typeface="Courier New" pitchFamily="34" charset="-120"/>
              </a:rPr>
              <a:t>square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6</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(result);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SAME NAME, DIFFERENT SIGNATURE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Method Overloading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Overloading lets several methods share one name, as long as their parameter lists differ.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Java automatically chooses the correct version based on the number and types of arguments supplied.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OverloadDemo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a,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b)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return</a:t>
            </a:r>
            <a:r>
              <a:rPr lang="en-US" sz="1200" dirty="0">
                <a:solidFill>
                  <a:srgbClr val="D4D4D4"/>
                </a:solidFill>
                <a:latin typeface="Courier New" pitchFamily="34" charset="0"/>
                <a:ea typeface="Courier New" pitchFamily="34" charset="-122"/>
                <a:cs typeface="Courier New" pitchFamily="34" charset="-120"/>
              </a:rPr>
              <a:t> a + b;</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a, </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b)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return</a:t>
            </a:r>
            <a:r>
              <a:rPr lang="en-US" sz="1200" dirty="0">
                <a:solidFill>
                  <a:srgbClr val="D4D4D4"/>
                </a:solidFill>
                <a:latin typeface="Courier New" pitchFamily="34" charset="0"/>
                <a:ea typeface="Courier New" pitchFamily="34" charset="-122"/>
                <a:cs typeface="Courier New" pitchFamily="34" charset="-120"/>
              </a:rPr>
              <a:t> a + b;</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B5CEA8"/>
                </a:solidFill>
                <a:latin typeface="Courier New" pitchFamily="34" charset="0"/>
                <a:ea typeface="Courier New" pitchFamily="34" charset="-122"/>
                <a:cs typeface="Courier New" pitchFamily="34" charset="-120"/>
              </a:rPr>
              <a:t>2</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3</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B5CEA8"/>
                </a:solidFill>
                <a:latin typeface="Courier New" pitchFamily="34" charset="0"/>
                <a:ea typeface="Courier New" pitchFamily="34" charset="-122"/>
                <a:cs typeface="Courier New" pitchFamily="34" charset="-120"/>
              </a:rPr>
              <a:t>2.5</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3.5</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BELONGING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Static vs. Instance Methods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static method belongs to the class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It is called without needing to create an object, exactly like every method used in this session so far.</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An instance method belongs to an object</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It requires an object to be created first, and can access that object's own data, a topic explored further in later sessions.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MEMORY</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Variable Scope in Methods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Each call gets its own copy of local variables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Variables declared inside a method exist only for that call, and disappear once the method finishes.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method cannot see another method's local variables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Data must be passed in as a parameter, or returned as a result, to move between methods.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Methods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to return a value from a non-void method</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causes a compile-time error, since Java requires every code path to return the declared type.</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Mismatching parameter types when calling a method</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Passing a String where an int is expected does not compile.</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Making a method do too many unrelated things</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method that does one clear task is easier to test, reuse, and understand.</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A Simple Calculator Method</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Combining a parameter, a calculation, and a return value in one small program.</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Calculator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addTax</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price)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tax = price * </a:t>
            </a:r>
            <a:r>
              <a:rPr lang="en-US" sz="1500" dirty="0">
                <a:solidFill>
                  <a:srgbClr val="B5CEA8"/>
                </a:solidFill>
                <a:latin typeface="Courier New" pitchFamily="34" charset="0"/>
                <a:ea typeface="Courier New" pitchFamily="34" charset="-122"/>
                <a:cs typeface="Courier New" pitchFamily="34" charset="-120"/>
              </a:rPr>
              <a:t>0.1</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price + tax;</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total = </a:t>
            </a:r>
            <a:r>
              <a:rPr lang="en-US" sz="1500" dirty="0">
                <a:solidFill>
                  <a:srgbClr val="DCDCAA"/>
                </a:solidFill>
                <a:latin typeface="Courier New" pitchFamily="34" charset="0"/>
                <a:ea typeface="Courier New" pitchFamily="34" charset="-122"/>
                <a:cs typeface="Courier New" pitchFamily="34" charset="-120"/>
              </a:rPr>
              <a:t>addTax</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200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"Total: "</a:t>
            </a:r>
            <a:r>
              <a:rPr lang="en-US" sz="1500" dirty="0">
                <a:solidFill>
                  <a:srgbClr val="D4D4D4"/>
                </a:solidFill>
                <a:latin typeface="Courier New" pitchFamily="34" charset="0"/>
                <a:ea typeface="Courier New" pitchFamily="34" charset="-122"/>
                <a:cs typeface="Courier New" pitchFamily="34" charset="-120"/>
              </a:rPr>
              <a:t> + total);</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Total: 220.0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10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Basic Problem Solving</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Applying everything learned so far to small, complete programs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APPROACH</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Approaching a Programming Problem</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Understand the problem before writing any code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Restate what the input and expected output are, using a couple of concrete examples.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Plan the logic in plain language first</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short list of steps in English is often easier to get right than jumping straight into Java syntax.</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Code, then test with more than one example</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Confirm the program works correctly on typical cases as well as edge cases such as zero or negative numbers.</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PROBLEM 1</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Check If a Number Is Prime</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number is prime if it has no divisors other than 1 and itself.</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class</a:t>
            </a:r>
            <a:r>
              <a:rPr lang="en-US" sz="1300" dirty="0">
                <a:solidFill>
                  <a:srgbClr val="D4D4D4"/>
                </a:solidFill>
                <a:latin typeface="Courier New" pitchFamily="34" charset="0"/>
                <a:ea typeface="Courier New" pitchFamily="34" charset="-122"/>
                <a:cs typeface="Courier New" pitchFamily="34" charset="-120"/>
              </a:rPr>
              <a:t> PrimeCheck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static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void</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main</a:t>
            </a:r>
            <a:r>
              <a:rPr lang="en-US" sz="1300" dirty="0">
                <a:solidFill>
                  <a:srgbClr val="D4D4D4"/>
                </a:solidFill>
                <a:latin typeface="Courier New" pitchFamily="34" charset="0"/>
                <a:ea typeface="Courier New" pitchFamily="34" charset="-122"/>
                <a:cs typeface="Courier New" pitchFamily="34" charset="-120"/>
              </a:rPr>
              <a:t>(</a:t>
            </a:r>
            <a:r>
              <a:rPr lang="en-US" sz="1300" dirty="0">
                <a:solidFill>
                  <a:srgbClr val="4EC9B0"/>
                </a:solidFill>
                <a:latin typeface="Courier New" pitchFamily="34" charset="0"/>
                <a:ea typeface="Courier New" pitchFamily="34" charset="-122"/>
                <a:cs typeface="Courier New" pitchFamily="34" charset="-120"/>
              </a:rPr>
              <a:t>String</a:t>
            </a:r>
            <a:r>
              <a:rPr lang="en-US" sz="1300" dirty="0">
                <a:solidFill>
                  <a:srgbClr val="D4D4D4"/>
                </a:solidFill>
                <a:latin typeface="Courier New" pitchFamily="34" charset="0"/>
                <a:ea typeface="Courier New" pitchFamily="34" charset="-122"/>
                <a:cs typeface="Courier New" pitchFamily="34" charset="-120"/>
              </a:rPr>
              <a:t>[] args)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int</a:t>
            </a:r>
            <a:r>
              <a:rPr lang="en-US" sz="1300" dirty="0">
                <a:solidFill>
                  <a:srgbClr val="D4D4D4"/>
                </a:solidFill>
                <a:latin typeface="Courier New" pitchFamily="34" charset="0"/>
                <a:ea typeface="Courier New" pitchFamily="34" charset="-122"/>
                <a:cs typeface="Courier New" pitchFamily="34" charset="-120"/>
              </a:rPr>
              <a:t> number = </a:t>
            </a:r>
            <a:r>
              <a:rPr lang="en-US" sz="1300" dirty="0">
                <a:solidFill>
                  <a:srgbClr val="B5CEA8"/>
                </a:solidFill>
                <a:latin typeface="Courier New" pitchFamily="34" charset="0"/>
                <a:ea typeface="Courier New" pitchFamily="34" charset="-122"/>
                <a:cs typeface="Courier New" pitchFamily="34" charset="-120"/>
              </a:rPr>
              <a:t>29</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boolean</a:t>
            </a:r>
            <a:r>
              <a:rPr lang="en-US" sz="1300" dirty="0">
                <a:solidFill>
                  <a:srgbClr val="D4D4D4"/>
                </a:solidFill>
                <a:latin typeface="Courier New" pitchFamily="34" charset="0"/>
                <a:ea typeface="Courier New" pitchFamily="34" charset="-122"/>
                <a:cs typeface="Courier New" pitchFamily="34" charset="-120"/>
              </a:rPr>
              <a:t> isPrime = </a:t>
            </a:r>
            <a:r>
              <a:rPr lang="en-US" sz="1300" b="1" dirty="0">
                <a:solidFill>
                  <a:srgbClr val="569CD6"/>
                </a:solidFill>
                <a:latin typeface="Courier New" pitchFamily="34" charset="0"/>
                <a:ea typeface="Courier New" pitchFamily="34" charset="-122"/>
                <a:cs typeface="Courier New" pitchFamily="34" charset="-120"/>
              </a:rPr>
              <a:t>true</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if</a:t>
            </a:r>
            <a:r>
              <a:rPr lang="en-US" sz="1300" dirty="0">
                <a:solidFill>
                  <a:srgbClr val="D4D4D4"/>
                </a:solidFill>
                <a:latin typeface="Courier New" pitchFamily="34" charset="0"/>
                <a:ea typeface="Courier New" pitchFamily="34" charset="-122"/>
                <a:cs typeface="Courier New" pitchFamily="34" charset="-120"/>
              </a:rPr>
              <a:t> (number &lt; </a:t>
            </a:r>
            <a:r>
              <a:rPr lang="en-US" sz="1300" dirty="0">
                <a:solidFill>
                  <a:srgbClr val="B5CEA8"/>
                </a:solidFill>
                <a:latin typeface="Courier New" pitchFamily="34" charset="0"/>
                <a:ea typeface="Courier New" pitchFamily="34" charset="-122"/>
                <a:cs typeface="Courier New" pitchFamily="34" charset="-120"/>
              </a:rPr>
              <a:t>2</a:t>
            </a:r>
            <a:r>
              <a:rPr lang="en-US" sz="1300" dirty="0">
                <a:solidFill>
                  <a:srgbClr val="D4D4D4"/>
                </a:solidFill>
                <a:latin typeface="Courier New" pitchFamily="34" charset="0"/>
                <a:ea typeface="Courier New" pitchFamily="34" charset="-122"/>
                <a:cs typeface="Courier New" pitchFamily="34" charset="-120"/>
              </a:rPr>
              <a:t>) isPrime = </a:t>
            </a:r>
            <a:r>
              <a:rPr lang="en-US" sz="1300" b="1" dirty="0">
                <a:solidFill>
                  <a:srgbClr val="569CD6"/>
                </a:solidFill>
                <a:latin typeface="Courier New" pitchFamily="34" charset="0"/>
                <a:ea typeface="Courier New" pitchFamily="34" charset="-122"/>
                <a:cs typeface="Courier New" pitchFamily="34" charset="-120"/>
              </a:rPr>
              <a:t>false</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for</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int</a:t>
            </a:r>
            <a:r>
              <a:rPr lang="en-US" sz="1300" dirty="0">
                <a:solidFill>
                  <a:srgbClr val="D4D4D4"/>
                </a:solidFill>
                <a:latin typeface="Courier New" pitchFamily="34" charset="0"/>
                <a:ea typeface="Courier New" pitchFamily="34" charset="-122"/>
                <a:cs typeface="Courier New" pitchFamily="34" charset="-120"/>
              </a:rPr>
              <a:t> i = </a:t>
            </a:r>
            <a:r>
              <a:rPr lang="en-US" sz="1300" dirty="0">
                <a:solidFill>
                  <a:srgbClr val="B5CEA8"/>
                </a:solidFill>
                <a:latin typeface="Courier New" pitchFamily="34" charset="0"/>
                <a:ea typeface="Courier New" pitchFamily="34" charset="-122"/>
                <a:cs typeface="Courier New" pitchFamily="34" charset="-120"/>
              </a:rPr>
              <a:t>2</a:t>
            </a:r>
            <a:r>
              <a:rPr lang="en-US" sz="1300" dirty="0">
                <a:solidFill>
                  <a:srgbClr val="D4D4D4"/>
                </a:solidFill>
                <a:latin typeface="Courier New" pitchFamily="34" charset="0"/>
                <a:ea typeface="Courier New" pitchFamily="34" charset="-122"/>
                <a:cs typeface="Courier New" pitchFamily="34" charset="-120"/>
              </a:rPr>
              <a:t>; i * i &lt;= number; i++)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if</a:t>
            </a:r>
            <a:r>
              <a:rPr lang="en-US" sz="1300" dirty="0">
                <a:solidFill>
                  <a:srgbClr val="D4D4D4"/>
                </a:solidFill>
                <a:latin typeface="Courier New" pitchFamily="34" charset="0"/>
                <a:ea typeface="Courier New" pitchFamily="34" charset="-122"/>
                <a:cs typeface="Courier New" pitchFamily="34" charset="-120"/>
              </a:rPr>
              <a:t> (number % i == </a:t>
            </a:r>
            <a:r>
              <a:rPr lang="en-US" sz="1300" dirty="0">
                <a:solidFill>
                  <a:srgbClr val="B5CEA8"/>
                </a:solidFill>
                <a:latin typeface="Courier New" pitchFamily="34" charset="0"/>
                <a:ea typeface="Courier New" pitchFamily="34" charset="-122"/>
                <a:cs typeface="Courier New" pitchFamily="34" charset="-120"/>
              </a:rPr>
              <a:t>0</a:t>
            </a: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isPrime = </a:t>
            </a:r>
            <a:r>
              <a:rPr lang="en-US" sz="1300" b="1" dirty="0">
                <a:solidFill>
                  <a:srgbClr val="569CD6"/>
                </a:solidFill>
                <a:latin typeface="Courier New" pitchFamily="34" charset="0"/>
                <a:ea typeface="Courier New" pitchFamily="34" charset="-122"/>
                <a:cs typeface="Courier New" pitchFamily="34" charset="-120"/>
              </a:rPr>
              <a:t>false</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break</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4EC9B0"/>
                </a:solidFill>
                <a:latin typeface="Courier New" pitchFamily="34" charset="0"/>
                <a:ea typeface="Courier New" pitchFamily="34" charset="-122"/>
                <a:cs typeface="Courier New" pitchFamily="34" charset="-120"/>
              </a:rPr>
              <a:t>System</a:t>
            </a:r>
            <a:r>
              <a:rPr lang="en-US" sz="1300" dirty="0">
                <a:solidFill>
                  <a:srgbClr val="D4D4D4"/>
                </a:solidFill>
                <a:latin typeface="Courier New" pitchFamily="34" charset="0"/>
                <a:ea typeface="Courier New" pitchFamily="34" charset="-122"/>
                <a:cs typeface="Courier New" pitchFamily="34" charset="-120"/>
              </a:rPr>
              <a:t>.out.</a:t>
            </a:r>
            <a:r>
              <a:rPr lang="en-US" sz="1300" dirty="0">
                <a:solidFill>
                  <a:srgbClr val="DCDCAA"/>
                </a:solidFill>
                <a:latin typeface="Courier New" pitchFamily="34" charset="0"/>
                <a:ea typeface="Courier New" pitchFamily="34" charset="-122"/>
                <a:cs typeface="Courier New" pitchFamily="34" charset="-120"/>
              </a:rPr>
              <a:t>println</a:t>
            </a:r>
            <a:r>
              <a:rPr lang="en-US" sz="1300" dirty="0">
                <a:solidFill>
                  <a:srgbClr val="D4D4D4"/>
                </a:solidFill>
                <a:latin typeface="Courier New" pitchFamily="34" charset="0"/>
                <a:ea typeface="Courier New" pitchFamily="34" charset="-122"/>
                <a:cs typeface="Courier New" pitchFamily="34" charset="-120"/>
              </a:rPr>
              <a:t>(number + </a:t>
            </a:r>
            <a:r>
              <a:rPr lang="en-US" sz="1300" dirty="0">
                <a:solidFill>
                  <a:srgbClr val="CE9178"/>
                </a:solidFill>
                <a:latin typeface="Courier New" pitchFamily="34" charset="0"/>
                <a:ea typeface="Courier New" pitchFamily="34" charset="-122"/>
                <a:cs typeface="Courier New" pitchFamily="34" charset="-120"/>
              </a:rPr>
              <a:t>" is prime: "</a:t>
            </a:r>
            <a:r>
              <a:rPr lang="en-US" sz="1300" dirty="0">
                <a:solidFill>
                  <a:srgbClr val="D4D4D4"/>
                </a:solidFill>
                <a:latin typeface="Courier New" pitchFamily="34" charset="0"/>
                <a:ea typeface="Courier New" pitchFamily="34" charset="-122"/>
                <a:cs typeface="Courier New" pitchFamily="34" charset="-120"/>
              </a:rPr>
              <a:t> + isPrime);</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29 is prime: true</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PROBLEM 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Reverse a Number</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Repeatedly peeling off the last digit and building the reversed number.</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ReverseNumber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number = </a:t>
            </a:r>
            <a:r>
              <a:rPr lang="en-US" sz="1500" dirty="0">
                <a:solidFill>
                  <a:srgbClr val="B5CEA8"/>
                </a:solidFill>
                <a:latin typeface="Courier New" pitchFamily="34" charset="0"/>
                <a:ea typeface="Courier New" pitchFamily="34" charset="-122"/>
                <a:cs typeface="Courier New" pitchFamily="34" charset="-120"/>
              </a:rPr>
              <a:t>1234</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reversed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while</a:t>
            </a:r>
            <a:r>
              <a:rPr lang="en-US" sz="1500" dirty="0">
                <a:solidFill>
                  <a:srgbClr val="D4D4D4"/>
                </a:solidFill>
                <a:latin typeface="Courier New" pitchFamily="34" charset="0"/>
                <a:ea typeface="Courier New" pitchFamily="34" charset="-122"/>
                <a:cs typeface="Courier New" pitchFamily="34" charset="-120"/>
              </a:rPr>
              <a:t> (number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digit = number %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reversed = reversed *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 + digit;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number = number /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"Reversed: "</a:t>
            </a:r>
            <a:r>
              <a:rPr lang="en-US" sz="1500" dirty="0">
                <a:solidFill>
                  <a:srgbClr val="D4D4D4"/>
                </a:solidFill>
                <a:latin typeface="Courier New" pitchFamily="34" charset="0"/>
                <a:ea typeface="Courier New" pitchFamily="34" charset="-122"/>
                <a:cs typeface="Courier New" pitchFamily="34" charset="-120"/>
              </a:rPr>
              <a:t> + reversed);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Reversed: 4321</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PROBLEM 3</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Check for a Palindrome</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word is a palindrome if it reads the same forward and backward.</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PalindromeCheck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word = </a:t>
            </a:r>
            <a:r>
              <a:rPr lang="en-US" sz="1500" dirty="0">
                <a:solidFill>
                  <a:srgbClr val="CE9178"/>
                </a:solidFill>
                <a:latin typeface="Courier New" pitchFamily="34" charset="0"/>
                <a:ea typeface="Courier New" pitchFamily="34" charset="-122"/>
                <a:cs typeface="Courier New" pitchFamily="34" charset="-120"/>
              </a:rPr>
              <a:t>"level"</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reversed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StringBuilder</a:t>
            </a:r>
            <a:r>
              <a:rPr lang="en-US" sz="1500" dirty="0">
                <a:solidFill>
                  <a:srgbClr val="D4D4D4"/>
                </a:solidFill>
                <a:latin typeface="Courier New" pitchFamily="34" charset="0"/>
                <a:ea typeface="Courier New" pitchFamily="34" charset="-122"/>
                <a:cs typeface="Courier New" pitchFamily="34" charset="-120"/>
              </a:rPr>
              <a:t>(word).</a:t>
            </a:r>
            <a:r>
              <a:rPr lang="en-US" sz="1500" dirty="0">
                <a:solidFill>
                  <a:srgbClr val="DCDCAA"/>
                </a:solidFill>
                <a:latin typeface="Courier New" pitchFamily="34" charset="0"/>
                <a:ea typeface="Courier New" pitchFamily="34" charset="-122"/>
                <a:cs typeface="Courier New" pitchFamily="34" charset="-120"/>
              </a:rPr>
              <a:t>reverse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DCDCAA"/>
                </a:solidFill>
                <a:latin typeface="Courier New" pitchFamily="34" charset="0"/>
                <a:ea typeface="Courier New" pitchFamily="34" charset="-122"/>
                <a:cs typeface="Courier New" pitchFamily="34" charset="-120"/>
              </a:rPr>
              <a:t>toString</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boolean</a:t>
            </a:r>
            <a:r>
              <a:rPr lang="en-US" sz="1500" dirty="0">
                <a:solidFill>
                  <a:srgbClr val="D4D4D4"/>
                </a:solidFill>
                <a:latin typeface="Courier New" pitchFamily="34" charset="0"/>
                <a:ea typeface="Courier New" pitchFamily="34" charset="-122"/>
                <a:cs typeface="Courier New" pitchFamily="34" charset="-120"/>
              </a:rPr>
              <a:t> isPalindrome = word.</a:t>
            </a:r>
            <a:r>
              <a:rPr lang="en-US" sz="1500" dirty="0">
                <a:solidFill>
                  <a:srgbClr val="DCDCAA"/>
                </a:solidFill>
                <a:latin typeface="Courier New" pitchFamily="34" charset="0"/>
                <a:ea typeface="Courier New" pitchFamily="34" charset="-122"/>
                <a:cs typeface="Courier New" pitchFamily="34" charset="-120"/>
              </a:rPr>
              <a:t>equals</a:t>
            </a:r>
            <a:r>
              <a:rPr lang="en-US" sz="1500" dirty="0">
                <a:solidFill>
                  <a:srgbClr val="D4D4D4"/>
                </a:solidFill>
                <a:latin typeface="Courier New" pitchFamily="34" charset="0"/>
                <a:ea typeface="Courier New" pitchFamily="34" charset="-122"/>
                <a:cs typeface="Courier New" pitchFamily="34" charset="-120"/>
              </a:rPr>
              <a:t>(reversed);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(word + </a:t>
            </a:r>
            <a:r>
              <a:rPr lang="en-US" sz="1500" dirty="0">
                <a:solidFill>
                  <a:srgbClr val="CE9178"/>
                </a:solidFill>
                <a:latin typeface="Courier New" pitchFamily="34" charset="0"/>
                <a:ea typeface="Courier New" pitchFamily="34" charset="-122"/>
                <a:cs typeface="Courier New" pitchFamily="34" charset="-120"/>
              </a:rPr>
              <a:t>" is a palindrome: "</a:t>
            </a:r>
            <a:r>
              <a:rPr lang="en-US" sz="1500" dirty="0">
                <a:solidFill>
                  <a:srgbClr val="D4D4D4"/>
                </a:solidFill>
                <a:latin typeface="Courier New" pitchFamily="34" charset="0"/>
                <a:ea typeface="Courier New" pitchFamily="34" charset="-122"/>
                <a:cs typeface="Courier New" pitchFamily="34" charset="-120"/>
              </a:rPr>
              <a:t> + isPalindrome);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level is a palindrome: true</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PROBLEM 4</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Find the Factorial of a Number</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Multiplying every whole number from 1 up to the given number.</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FactorialDemo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number = </a:t>
            </a:r>
            <a:r>
              <a:rPr lang="en-US" sz="1500" dirty="0">
                <a:solidFill>
                  <a:srgbClr val="B5CEA8"/>
                </a:solidFill>
                <a:latin typeface="Courier New" pitchFamily="34" charset="0"/>
                <a:ea typeface="Courier New" pitchFamily="34" charset="-122"/>
                <a:cs typeface="Courier New" pitchFamily="34" charset="-120"/>
              </a:rPr>
              <a:t>5</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long</a:t>
            </a:r>
            <a:r>
              <a:rPr lang="en-US" sz="1500" dirty="0">
                <a:solidFill>
                  <a:srgbClr val="D4D4D4"/>
                </a:solidFill>
                <a:latin typeface="Courier New" pitchFamily="34" charset="0"/>
                <a:ea typeface="Courier New" pitchFamily="34" charset="-122"/>
                <a:cs typeface="Courier New" pitchFamily="34" charset="-120"/>
              </a:rPr>
              <a:t> factorial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i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i &lt;= number; i++)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factorial *= i;</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(number + </a:t>
            </a:r>
            <a:r>
              <a:rPr lang="en-US" sz="1500" dirty="0">
                <a:solidFill>
                  <a:srgbClr val="CE9178"/>
                </a:solidFill>
                <a:latin typeface="Courier New" pitchFamily="34" charset="0"/>
                <a:ea typeface="Courier New" pitchFamily="34" charset="-122"/>
                <a:cs typeface="Courier New" pitchFamily="34" charset="-120"/>
              </a:rPr>
              <a:t>"! = "</a:t>
            </a:r>
            <a:r>
              <a:rPr lang="en-US" sz="1500" dirty="0">
                <a:solidFill>
                  <a:srgbClr val="D4D4D4"/>
                </a:solidFill>
                <a:latin typeface="Courier New" pitchFamily="34" charset="0"/>
                <a:ea typeface="Courier New" pitchFamily="34" charset="-122"/>
                <a:cs typeface="Courier New" pitchFamily="34" charset="-120"/>
              </a:rPr>
              <a:t> + factorial);</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5! = 120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PROBLEM 5</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Count Vowels in a String</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Checking every character against a fixed set of vowels.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CountVowels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text = </a:t>
            </a:r>
            <a:r>
              <a:rPr lang="en-US" sz="1400" dirty="0">
                <a:solidFill>
                  <a:srgbClr val="CE9178"/>
                </a:solidFill>
                <a:latin typeface="Courier New" pitchFamily="34" charset="0"/>
                <a:ea typeface="Courier New" pitchFamily="34" charset="-122"/>
                <a:cs typeface="Courier New" pitchFamily="34" charset="-120"/>
              </a:rPr>
              <a:t>"Java Programming"</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vowels = </a:t>
            </a:r>
            <a:r>
              <a:rPr lang="en-US" sz="1400" dirty="0">
                <a:solidFill>
                  <a:srgbClr val="CE9178"/>
                </a:solidFill>
                <a:latin typeface="Courier New" pitchFamily="34" charset="0"/>
                <a:ea typeface="Courier New" pitchFamily="34" charset="-122"/>
                <a:cs typeface="Courier New" pitchFamily="34" charset="-120"/>
              </a:rPr>
              <a:t>"aeiouAEIOU"</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count = </a:t>
            </a:r>
            <a:r>
              <a:rPr lang="en-US" sz="1400" dirty="0">
                <a:solidFill>
                  <a:srgbClr val="B5CEA8"/>
                </a:solidFill>
                <a:latin typeface="Courier New" pitchFamily="34" charset="0"/>
                <a:ea typeface="Courier New" pitchFamily="34" charset="-122"/>
                <a:cs typeface="Courier New" pitchFamily="34" charset="-120"/>
              </a:rPr>
              <a:t>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for</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char</a:t>
            </a:r>
            <a:r>
              <a:rPr lang="en-US" sz="1400" dirty="0">
                <a:solidFill>
                  <a:srgbClr val="D4D4D4"/>
                </a:solidFill>
                <a:latin typeface="Courier New" pitchFamily="34" charset="0"/>
                <a:ea typeface="Courier New" pitchFamily="34" charset="-122"/>
                <a:cs typeface="Courier New" pitchFamily="34" charset="-120"/>
              </a:rPr>
              <a:t> c : text.</a:t>
            </a:r>
            <a:r>
              <a:rPr lang="en-US" sz="1400" dirty="0">
                <a:solidFill>
                  <a:srgbClr val="DCDCAA"/>
                </a:solidFill>
                <a:latin typeface="Courier New" pitchFamily="34" charset="0"/>
                <a:ea typeface="Courier New" pitchFamily="34" charset="-122"/>
                <a:cs typeface="Courier New" pitchFamily="34" charset="-120"/>
              </a:rPr>
              <a:t>toCharArray</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if</a:t>
            </a:r>
            <a:r>
              <a:rPr lang="en-US" sz="1400" dirty="0">
                <a:solidFill>
                  <a:srgbClr val="D4D4D4"/>
                </a:solidFill>
                <a:latin typeface="Courier New" pitchFamily="34" charset="0"/>
                <a:ea typeface="Courier New" pitchFamily="34" charset="-122"/>
                <a:cs typeface="Courier New" pitchFamily="34" charset="-120"/>
              </a:rPr>
              <a:t> (vowels.</a:t>
            </a:r>
            <a:r>
              <a:rPr lang="en-US" sz="1400" dirty="0">
                <a:solidFill>
                  <a:srgbClr val="DCDCAA"/>
                </a:solidFill>
                <a:latin typeface="Courier New" pitchFamily="34" charset="0"/>
                <a:ea typeface="Courier New" pitchFamily="34" charset="-122"/>
                <a:cs typeface="Courier New" pitchFamily="34" charset="-120"/>
              </a:rPr>
              <a:t>indexOf</a:t>
            </a:r>
            <a:r>
              <a:rPr lang="en-US" sz="1400" dirty="0">
                <a:solidFill>
                  <a:srgbClr val="D4D4D4"/>
                </a:solidFill>
                <a:latin typeface="Courier New" pitchFamily="34" charset="0"/>
                <a:ea typeface="Courier New" pitchFamily="34" charset="-122"/>
                <a:cs typeface="Courier New" pitchFamily="34" charset="-120"/>
              </a:rPr>
              <a:t>(c) != -</a:t>
            </a:r>
            <a:r>
              <a:rPr lang="en-US" sz="1400" dirty="0">
                <a:solidFill>
                  <a:srgbClr val="B5CEA8"/>
                </a:solidFill>
                <a:latin typeface="Courier New" pitchFamily="34" charset="0"/>
                <a:ea typeface="Courier New" pitchFamily="34" charset="-122"/>
                <a:cs typeface="Courier New" pitchFamily="34" charset="-120"/>
              </a:rPr>
              <a:t>1</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count++;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"Vowels: "</a:t>
            </a:r>
            <a:r>
              <a:rPr lang="en-US" sz="1400" dirty="0">
                <a:solidFill>
                  <a:srgbClr val="D4D4D4"/>
                </a:solidFill>
                <a:latin typeface="Courier New" pitchFamily="34" charset="0"/>
                <a:ea typeface="Courier New" pitchFamily="34" charset="-122"/>
                <a:cs typeface="Courier New" pitchFamily="34" charset="-120"/>
              </a:rPr>
              <a:t> + count);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Vowels: 5</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PROBLEM 6</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Fibonacci Series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Each number is the sum of the two numbers before it.</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FibonacciSeries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 = </a:t>
            </a:r>
            <a:r>
              <a:rPr lang="en-US" sz="1500" dirty="0">
                <a:solidFill>
                  <a:srgbClr val="B5CEA8"/>
                </a:solidFill>
                <a:latin typeface="Courier New" pitchFamily="34" charset="0"/>
                <a:ea typeface="Courier New" pitchFamily="34" charset="-122"/>
                <a:cs typeface="Courier New" pitchFamily="34" charset="-120"/>
              </a:rPr>
              <a:t>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first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second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i = </a:t>
            </a:r>
            <a:r>
              <a:rPr lang="en-US" sz="1500" dirty="0">
                <a:solidFill>
                  <a:srgbClr val="B5CEA8"/>
                </a:solidFill>
                <a:latin typeface="Courier New" pitchFamily="34" charset="0"/>
                <a:ea typeface="Courier New" pitchFamily="34" charset="-122"/>
                <a:cs typeface="Courier New" pitchFamily="34" charset="-120"/>
              </a:rPr>
              <a:t>1</a:t>
            </a:r>
            <a:r>
              <a:rPr lang="en-US" sz="1500" dirty="0">
                <a:solidFill>
                  <a:srgbClr val="D4D4D4"/>
                </a:solidFill>
                <a:latin typeface="Courier New" pitchFamily="34" charset="0"/>
                <a:ea typeface="Courier New" pitchFamily="34" charset="-122"/>
                <a:cs typeface="Courier New" pitchFamily="34" charset="-120"/>
              </a:rPr>
              <a:t>; i &lt;= n; i++)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a:t>
            </a:r>
            <a:r>
              <a:rPr lang="en-US" sz="1500" dirty="0">
                <a:solidFill>
                  <a:srgbClr val="D4D4D4"/>
                </a:solidFill>
                <a:latin typeface="Courier New" pitchFamily="34" charset="0"/>
                <a:ea typeface="Courier New" pitchFamily="34" charset="-122"/>
                <a:cs typeface="Courier New" pitchFamily="34" charset="-120"/>
              </a:rPr>
              <a:t>(first + </a:t>
            </a:r>
            <a:r>
              <a:rPr lang="en-US" sz="1500" dirty="0">
                <a:solidFill>
                  <a:srgbClr val="CE9178"/>
                </a:solidFill>
                <a:latin typeface="Courier New" pitchFamily="34" charset="0"/>
                <a:ea typeface="Courier New" pitchFamily="34" charset="-122"/>
                <a:cs typeface="Courier New" pitchFamily="34" charset="-120"/>
              </a:rPr>
              <a:t>" "</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next = first + second;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first = second;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second = next;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0 1 1 2 3 5 8 13</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 CORE SKILL</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Tips for Debugging Your Code</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Read the error message carefully</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Java's compiler and runtime errors usually point to the exact line and describe what went wrong.</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Print values as the program runs</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Adding a temporary System.out.println is often the fastest way to see what a variable actually contains.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Change one thing at a time</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Making several changes at once makes it much harder to tell which change fixed, or broke, the program.</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LOOKING AHEAD</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Where to Go From Here</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Practice consistently, even in short sessions</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Writing a few small programs regularly builds fluency faster than occasional long sessions.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Revisit the problems in this section</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Try modifying them, such as counting consonants instead of vowels, to test real understanding.</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The next session builds directly on this one</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Object-oriented programming, covered soon in this program, relies on everything learned in this session.</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MODULE OUTCOME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You Will Be Able To Do</a:t>
            </a:r>
            <a:endParaRPr lang="en-US" sz="2700" dirty="0"/>
          </a:p>
        </p:txBody>
      </p:sp>
      <p:sp>
        <p:nvSpPr>
          <p:cNvPr id="4" name="Shape 2"/>
          <p:cNvSpPr/>
          <p:nvPr/>
        </p:nvSpPr>
        <p:spPr>
          <a:xfrm>
            <a:off x="594360" y="1554480"/>
            <a:ext cx="10607040" cy="448056"/>
          </a:xfrm>
          <a:prstGeom prst="roundRect">
            <a:avLst>
              <a:gd name="adj" fmla="val 12245"/>
            </a:avLst>
          </a:prstGeom>
          <a:solidFill>
            <a:srgbClr val="F5F6FA"/>
          </a:solidFill>
          <a:ln w="9525">
            <a:solidFill>
              <a:srgbClr val="E4E7EE"/>
            </a:solidFill>
            <a:prstDash val="solid"/>
          </a:ln>
        </p:spPr>
      </p:sp>
      <p:sp>
        <p:nvSpPr>
          <p:cNvPr id="5" name="Text 3"/>
          <p:cNvSpPr/>
          <p:nvPr/>
        </p:nvSpPr>
        <p:spPr>
          <a:xfrm>
            <a:off x="777240" y="155448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6" name="Text 4"/>
          <p:cNvSpPr/>
          <p:nvPr/>
        </p:nvSpPr>
        <p:spPr>
          <a:xfrm>
            <a:off x="1234440" y="155448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Explained Java's core features and how the JDK, JRE, and JVM work together</a:t>
            </a:r>
            <a:endParaRPr lang="en-US" sz="1400" dirty="0"/>
          </a:p>
        </p:txBody>
      </p:sp>
      <p:sp>
        <p:nvSpPr>
          <p:cNvPr id="7" name="Shape 5"/>
          <p:cNvSpPr/>
          <p:nvPr/>
        </p:nvSpPr>
        <p:spPr>
          <a:xfrm>
            <a:off x="594360" y="2130552"/>
            <a:ext cx="10607040" cy="448056"/>
          </a:xfrm>
          <a:prstGeom prst="roundRect">
            <a:avLst>
              <a:gd name="adj" fmla="val 12245"/>
            </a:avLst>
          </a:prstGeom>
          <a:solidFill>
            <a:srgbClr val="F5F6FA"/>
          </a:solidFill>
          <a:ln w="9525">
            <a:solidFill>
              <a:srgbClr val="E4E7EE"/>
            </a:solidFill>
            <a:prstDash val="solid"/>
          </a:ln>
        </p:spPr>
      </p:sp>
      <p:sp>
        <p:nvSpPr>
          <p:cNvPr id="8" name="Text 6"/>
          <p:cNvSpPr/>
          <p:nvPr/>
        </p:nvSpPr>
        <p:spPr>
          <a:xfrm>
            <a:off x="777240" y="213055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9" name="Text 7"/>
          <p:cNvSpPr/>
          <p:nvPr/>
        </p:nvSpPr>
        <p:spPr>
          <a:xfrm>
            <a:off x="1234440" y="213055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Installed and verified a working Java development environment</a:t>
            </a:r>
            <a:endParaRPr lang="en-US" sz="1400" dirty="0"/>
          </a:p>
        </p:txBody>
      </p:sp>
      <p:sp>
        <p:nvSpPr>
          <p:cNvPr id="10" name="Shape 8"/>
          <p:cNvSpPr/>
          <p:nvPr/>
        </p:nvSpPr>
        <p:spPr>
          <a:xfrm>
            <a:off x="594360" y="2706624"/>
            <a:ext cx="10607040" cy="448056"/>
          </a:xfrm>
          <a:prstGeom prst="roundRect">
            <a:avLst>
              <a:gd name="adj" fmla="val 12245"/>
            </a:avLst>
          </a:prstGeom>
          <a:solidFill>
            <a:srgbClr val="F5F6FA"/>
          </a:solidFill>
          <a:ln w="9525">
            <a:solidFill>
              <a:srgbClr val="E4E7EE"/>
            </a:solidFill>
            <a:prstDash val="solid"/>
          </a:ln>
        </p:spPr>
      </p:sp>
      <p:sp>
        <p:nvSpPr>
          <p:cNvPr id="11" name="Text 9"/>
          <p:cNvSpPr/>
          <p:nvPr/>
        </p:nvSpPr>
        <p:spPr>
          <a:xfrm>
            <a:off x="777240" y="270662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2" name="Text 10"/>
          <p:cNvSpPr/>
          <p:nvPr/>
        </p:nvSpPr>
        <p:spPr>
          <a:xfrm>
            <a:off x="1234440" y="270662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Declared variables of different data types and applied operators and type casting correctly</a:t>
            </a:r>
            <a:endParaRPr lang="en-US" sz="1400" dirty="0"/>
          </a:p>
        </p:txBody>
      </p:sp>
      <p:sp>
        <p:nvSpPr>
          <p:cNvPr id="13" name="Shape 11"/>
          <p:cNvSpPr/>
          <p:nvPr/>
        </p:nvSpPr>
        <p:spPr>
          <a:xfrm>
            <a:off x="594360" y="3282696"/>
            <a:ext cx="10607040" cy="448056"/>
          </a:xfrm>
          <a:prstGeom prst="roundRect">
            <a:avLst>
              <a:gd name="adj" fmla="val 12245"/>
            </a:avLst>
          </a:prstGeom>
          <a:solidFill>
            <a:srgbClr val="F5F6FA"/>
          </a:solidFill>
          <a:ln w="9525">
            <a:solidFill>
              <a:srgbClr val="E4E7EE"/>
            </a:solidFill>
            <a:prstDash val="solid"/>
          </a:ln>
        </p:spPr>
      </p:sp>
      <p:sp>
        <p:nvSpPr>
          <p:cNvPr id="14" name="Text 12"/>
          <p:cNvSpPr/>
          <p:nvPr/>
        </p:nvSpPr>
        <p:spPr>
          <a:xfrm>
            <a:off x="777240" y="3282696"/>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5" name="Text 13"/>
          <p:cNvSpPr/>
          <p:nvPr/>
        </p:nvSpPr>
        <p:spPr>
          <a:xfrm>
            <a:off x="1234440" y="3282696"/>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Read input from the keyboard and produced formatted console output</a:t>
            </a:r>
            <a:endParaRPr lang="en-US" sz="1400" dirty="0"/>
          </a:p>
        </p:txBody>
      </p:sp>
      <p:sp>
        <p:nvSpPr>
          <p:cNvPr id="16" name="Shape 14"/>
          <p:cNvSpPr/>
          <p:nvPr/>
        </p:nvSpPr>
        <p:spPr>
          <a:xfrm>
            <a:off x="594360" y="3858768"/>
            <a:ext cx="10607040" cy="448056"/>
          </a:xfrm>
          <a:prstGeom prst="roundRect">
            <a:avLst>
              <a:gd name="adj" fmla="val 12245"/>
            </a:avLst>
          </a:prstGeom>
          <a:solidFill>
            <a:srgbClr val="F5F6FA"/>
          </a:solidFill>
          <a:ln w="9525">
            <a:solidFill>
              <a:srgbClr val="E4E7EE"/>
            </a:solidFill>
            <a:prstDash val="solid"/>
          </a:ln>
        </p:spPr>
      </p:sp>
      <p:sp>
        <p:nvSpPr>
          <p:cNvPr id="17" name="Text 15"/>
          <p:cNvSpPr/>
          <p:nvPr/>
        </p:nvSpPr>
        <p:spPr>
          <a:xfrm>
            <a:off x="777240" y="3858768"/>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8" name="Text 16"/>
          <p:cNvSpPr/>
          <p:nvPr/>
        </p:nvSpPr>
        <p:spPr>
          <a:xfrm>
            <a:off x="1234440" y="3858768"/>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Controlled program flow using conditional statements and loops</a:t>
            </a:r>
            <a:endParaRPr lang="en-US" sz="1400" dirty="0"/>
          </a:p>
        </p:txBody>
      </p:sp>
      <p:sp>
        <p:nvSpPr>
          <p:cNvPr id="19" name="Shape 17"/>
          <p:cNvSpPr/>
          <p:nvPr/>
        </p:nvSpPr>
        <p:spPr>
          <a:xfrm>
            <a:off x="594360" y="4434840"/>
            <a:ext cx="10607040" cy="448056"/>
          </a:xfrm>
          <a:prstGeom prst="roundRect">
            <a:avLst>
              <a:gd name="adj" fmla="val 12245"/>
            </a:avLst>
          </a:prstGeom>
          <a:solidFill>
            <a:srgbClr val="F5F6FA"/>
          </a:solidFill>
          <a:ln w="9525">
            <a:solidFill>
              <a:srgbClr val="E4E7EE"/>
            </a:solidFill>
            <a:prstDash val="solid"/>
          </a:ln>
        </p:spPr>
      </p:sp>
      <p:sp>
        <p:nvSpPr>
          <p:cNvPr id="20" name="Text 18"/>
          <p:cNvSpPr/>
          <p:nvPr/>
        </p:nvSpPr>
        <p:spPr>
          <a:xfrm>
            <a:off x="777240" y="443484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6.</a:t>
            </a:r>
            <a:endParaRPr lang="en-US" sz="1500" dirty="0"/>
          </a:p>
        </p:txBody>
      </p:sp>
      <p:sp>
        <p:nvSpPr>
          <p:cNvPr id="21" name="Text 19"/>
          <p:cNvSpPr/>
          <p:nvPr/>
        </p:nvSpPr>
        <p:spPr>
          <a:xfrm>
            <a:off x="1234440" y="443484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Stored and processed collections of data using one and two-dimensional arrays</a:t>
            </a:r>
            <a:endParaRPr lang="en-US" sz="1400" dirty="0"/>
          </a:p>
        </p:txBody>
      </p:sp>
      <p:sp>
        <p:nvSpPr>
          <p:cNvPr id="22" name="Shape 20"/>
          <p:cNvSpPr/>
          <p:nvPr/>
        </p:nvSpPr>
        <p:spPr>
          <a:xfrm>
            <a:off x="594360" y="5010912"/>
            <a:ext cx="10607040" cy="448056"/>
          </a:xfrm>
          <a:prstGeom prst="roundRect">
            <a:avLst>
              <a:gd name="adj" fmla="val 12245"/>
            </a:avLst>
          </a:prstGeom>
          <a:solidFill>
            <a:srgbClr val="F5F6FA"/>
          </a:solidFill>
          <a:ln w="9525">
            <a:solidFill>
              <a:srgbClr val="E4E7EE"/>
            </a:solidFill>
            <a:prstDash val="solid"/>
          </a:ln>
        </p:spPr>
      </p:sp>
      <p:sp>
        <p:nvSpPr>
          <p:cNvPr id="23" name="Text 21"/>
          <p:cNvSpPr/>
          <p:nvPr/>
        </p:nvSpPr>
        <p:spPr>
          <a:xfrm>
            <a:off x="777240" y="501091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7.</a:t>
            </a:r>
            <a:endParaRPr lang="en-US" sz="1500" dirty="0"/>
          </a:p>
        </p:txBody>
      </p:sp>
      <p:sp>
        <p:nvSpPr>
          <p:cNvPr id="24" name="Text 22"/>
          <p:cNvSpPr/>
          <p:nvPr/>
        </p:nvSpPr>
        <p:spPr>
          <a:xfrm>
            <a:off x="1234440" y="501091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Written and called methods, including overloaded methods, to organize code</a:t>
            </a:r>
            <a:endParaRPr lang="en-US" sz="1400" dirty="0"/>
          </a:p>
        </p:txBody>
      </p:sp>
      <p:sp>
        <p:nvSpPr>
          <p:cNvPr id="25" name="Shape 23"/>
          <p:cNvSpPr/>
          <p:nvPr/>
        </p:nvSpPr>
        <p:spPr>
          <a:xfrm>
            <a:off x="594360" y="5586984"/>
            <a:ext cx="10607040" cy="448056"/>
          </a:xfrm>
          <a:prstGeom prst="roundRect">
            <a:avLst>
              <a:gd name="adj" fmla="val 12245"/>
            </a:avLst>
          </a:prstGeom>
          <a:solidFill>
            <a:srgbClr val="F5F6FA"/>
          </a:solidFill>
          <a:ln w="9525">
            <a:solidFill>
              <a:srgbClr val="E4E7EE"/>
            </a:solidFill>
            <a:prstDash val="solid"/>
          </a:ln>
        </p:spPr>
      </p:sp>
      <p:sp>
        <p:nvSpPr>
          <p:cNvPr id="26" name="Text 24"/>
          <p:cNvSpPr/>
          <p:nvPr/>
        </p:nvSpPr>
        <p:spPr>
          <a:xfrm>
            <a:off x="777240" y="558698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8.</a:t>
            </a:r>
            <a:endParaRPr lang="en-US" sz="1500" dirty="0"/>
          </a:p>
        </p:txBody>
      </p:sp>
      <p:sp>
        <p:nvSpPr>
          <p:cNvPr id="27" name="Text 25"/>
          <p:cNvSpPr/>
          <p:nvPr/>
        </p:nvSpPr>
        <p:spPr>
          <a:xfrm>
            <a:off x="1234440" y="558698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Solved small, complete programming problems from start to finish</a:t>
            </a:r>
            <a:endParaRPr lang="en-US" sz="1400" dirty="0"/>
          </a:p>
        </p:txBody>
      </p:sp>
      <p:sp>
        <p:nvSpPr>
          <p:cNvPr id="28" name="Shape 26"/>
          <p:cNvSpPr/>
          <p:nvPr/>
        </p:nvSpPr>
        <p:spPr>
          <a:xfrm>
            <a:off x="0" y="0"/>
            <a:ext cx="12191695" cy="384048"/>
          </a:xfrm>
          <a:prstGeom prst="rect">
            <a:avLst/>
          </a:prstGeom>
          <a:solidFill>
            <a:srgbClr val="1B2A4A"/>
          </a:solidFill>
          <a:ln w="12700">
            <a:solidFill>
              <a:srgbClr val="1B2A4A"/>
            </a:solidFill>
            <a:prstDash val="solid"/>
          </a:ln>
        </p:spPr>
      </p:sp>
      <p:sp>
        <p:nvSpPr>
          <p:cNvPr id="29" name="Text 27"/>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30" name="Shape 28"/>
          <p:cNvSpPr/>
          <p:nvPr/>
        </p:nvSpPr>
        <p:spPr>
          <a:xfrm>
            <a:off x="219456" y="301752"/>
            <a:ext cx="960120" cy="0"/>
          </a:xfrm>
          <a:prstGeom prst="line">
            <a:avLst/>
          </a:prstGeom>
          <a:noFill/>
          <a:ln w="9525">
            <a:solidFill>
              <a:srgbClr val="4A5570"/>
            </a:solidFill>
            <a:prstDash val="solid"/>
          </a:ln>
        </p:spPr>
      </p:sp>
      <p:sp>
        <p:nvSpPr>
          <p:cNvPr id="31" name="Text 29"/>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32" name="Text 30"/>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33" name="Text 31"/>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4" name="Shape 32"/>
          <p:cNvSpPr/>
          <p:nvPr/>
        </p:nvSpPr>
        <p:spPr>
          <a:xfrm>
            <a:off x="0" y="6291072"/>
            <a:ext cx="12191695" cy="566928"/>
          </a:xfrm>
          <a:prstGeom prst="rect">
            <a:avLst/>
          </a:prstGeom>
          <a:solidFill>
            <a:srgbClr val="1B2A4A"/>
          </a:solidFill>
          <a:ln w="12700">
            <a:solidFill>
              <a:srgbClr val="1B2A4A"/>
            </a:solidFill>
            <a:prstDash val="solid"/>
          </a:ln>
        </p:spPr>
      </p:sp>
      <p:sp>
        <p:nvSpPr>
          <p:cNvPr id="35" name="Text 33"/>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6" name="Text 34"/>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8961120" y="-2011680"/>
            <a:ext cx="5943600" cy="5943600"/>
          </a:xfrm>
          <a:prstGeom prst="ellipse">
            <a:avLst/>
          </a:prstGeom>
          <a:solidFill>
            <a:srgbClr val="20242F"/>
          </a:solidFill>
          <a:ln w="12700">
            <a:solidFill>
              <a:srgbClr val="000000"/>
            </a:solidFill>
            <a:prstDash val="solid"/>
          </a:ln>
        </p:spPr>
      </p:sp>
      <p:sp>
        <p:nvSpPr>
          <p:cNvPr id="4" name="Text 2"/>
          <p:cNvSpPr/>
          <p:nvPr/>
        </p:nvSpPr>
        <p:spPr>
          <a:xfrm>
            <a:off x="640080" y="2834640"/>
            <a:ext cx="7315200" cy="822960"/>
          </a:xfrm>
          <a:prstGeom prst="rect">
            <a:avLst/>
          </a:prstGeom>
          <a:noFill/>
          <a:ln/>
        </p:spPr>
        <p:txBody>
          <a:bodyPr wrap="square" lIns="0" tIns="0" rIns="0" bIns="0" rtlCol="0" anchor="ctr"/>
          <a:lstStyle/>
          <a:p>
            <a:pPr marL="0" indent="0">
              <a:buNone/>
            </a:pPr>
            <a:r>
              <a:rPr lang="en-US" sz="4000" b="1" dirty="0">
                <a:solidFill>
                  <a:srgbClr val="FFFFFF"/>
                </a:solidFill>
                <a:latin typeface="Times New Roman" pitchFamily="34" charset="0"/>
                <a:ea typeface="Times New Roman" pitchFamily="34" charset="-122"/>
                <a:cs typeface="Times New Roman" pitchFamily="34" charset="-120"/>
              </a:rPr>
              <a:t>Thank You</a:t>
            </a:r>
            <a:endParaRPr lang="en-US" sz="4000" dirty="0"/>
          </a:p>
        </p:txBody>
      </p:sp>
      <p:sp>
        <p:nvSpPr>
          <p:cNvPr id="5" name="Text 3"/>
          <p:cNvSpPr/>
          <p:nvPr/>
        </p:nvSpPr>
        <p:spPr>
          <a:xfrm>
            <a:off x="640080" y="3611880"/>
            <a:ext cx="9144000" cy="365760"/>
          </a:xfrm>
          <a:prstGeom prst="rect">
            <a:avLst/>
          </a:prstGeom>
          <a:noFill/>
          <a:ln/>
        </p:spPr>
        <p:txBody>
          <a:bodyPr wrap="square" lIns="0" tIns="0" rIns="0" bIns="0" rtlCol="0" anchor="ctr"/>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Questions &amp; Discussion  |  Java Programming Fundamentals</a:t>
            </a:r>
            <a:endParaRPr lang="en-US" sz="1500" dirty="0"/>
          </a:p>
        </p:txBody>
      </p:sp>
      <p:sp>
        <p:nvSpPr>
          <p:cNvPr id="6" name="Shape 4"/>
          <p:cNvSpPr/>
          <p:nvPr/>
        </p:nvSpPr>
        <p:spPr>
          <a:xfrm>
            <a:off x="0" y="0"/>
            <a:ext cx="12191695" cy="384048"/>
          </a:xfrm>
          <a:prstGeom prst="rect">
            <a:avLst/>
          </a:prstGeom>
          <a:solidFill>
            <a:srgbClr val="1B2A4A"/>
          </a:solidFill>
          <a:ln w="12700">
            <a:solidFill>
              <a:srgbClr val="1B2A4A"/>
            </a:solidFill>
            <a:prstDash val="solid"/>
          </a:ln>
        </p:spPr>
      </p:sp>
      <p:sp>
        <p:nvSpPr>
          <p:cNvPr id="7" name="Text 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8" name="Shape 6"/>
          <p:cNvSpPr/>
          <p:nvPr/>
        </p:nvSpPr>
        <p:spPr>
          <a:xfrm>
            <a:off x="219456" y="301752"/>
            <a:ext cx="960120" cy="0"/>
          </a:xfrm>
          <a:prstGeom prst="line">
            <a:avLst/>
          </a:prstGeom>
          <a:noFill/>
          <a:ln w="9525">
            <a:solidFill>
              <a:srgbClr val="4A5570"/>
            </a:solidFill>
            <a:prstDash val="solid"/>
          </a:ln>
        </p:spPr>
      </p:sp>
      <p:sp>
        <p:nvSpPr>
          <p:cNvPr id="9" name="Text 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0" name="Text 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1" name="Text 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2" name="Shape 10"/>
          <p:cNvSpPr/>
          <p:nvPr/>
        </p:nvSpPr>
        <p:spPr>
          <a:xfrm>
            <a:off x="0" y="6291072"/>
            <a:ext cx="12191695" cy="566928"/>
          </a:xfrm>
          <a:prstGeom prst="rect">
            <a:avLst/>
          </a:prstGeom>
          <a:solidFill>
            <a:srgbClr val="1B2A4A"/>
          </a:solidFill>
          <a:ln w="12700">
            <a:solidFill>
              <a:srgbClr val="1B2A4A"/>
            </a:solidFill>
            <a:prstDash val="solid"/>
          </a:ln>
        </p:spPr>
      </p:sp>
      <p:sp>
        <p:nvSpPr>
          <p:cNvPr id="13" name="Text 1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4" name="Text 1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KNOWLEDGE CHECK · QUESTION 1 OF 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Quick Quiz</a:t>
            </a:r>
            <a:endParaRPr lang="en-US" sz="2700" dirty="0"/>
          </a:p>
        </p:txBody>
      </p:sp>
      <p:sp>
        <p:nvSpPr>
          <p:cNvPr id="4" name="Shape 2"/>
          <p:cNvSpPr/>
          <p:nvPr/>
        </p:nvSpPr>
        <p:spPr>
          <a:xfrm>
            <a:off x="594360" y="1600200"/>
            <a:ext cx="10607040" cy="1463040"/>
          </a:xfrm>
          <a:prstGeom prst="roundRect">
            <a:avLst>
              <a:gd name="adj" fmla="val 4375"/>
            </a:avLst>
          </a:prstGeom>
          <a:solidFill>
            <a:srgbClr val="F5F6FA"/>
          </a:solidFill>
          <a:ln w="9525">
            <a:solidFill>
              <a:srgbClr val="E4E7EE"/>
            </a:solidFill>
            <a:prstDash val="solid"/>
          </a:ln>
        </p:spPr>
      </p:sp>
      <p:sp>
        <p:nvSpPr>
          <p:cNvPr id="5" name="Text 3"/>
          <p:cNvSpPr/>
          <p:nvPr/>
        </p:nvSpPr>
        <p:spPr>
          <a:xfrm>
            <a:off x="822960" y="1709928"/>
            <a:ext cx="10149840" cy="292608"/>
          </a:xfrm>
          <a:prstGeom prst="rect">
            <a:avLst/>
          </a:prstGeom>
          <a:noFill/>
          <a:ln/>
        </p:spPr>
        <p:txBody>
          <a:bodyPr wrap="square" lIns="0" tIns="0" rIns="0" bIns="0" rtlCol="0" anchor="ctr"/>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What does the following code print?</a:t>
            </a:r>
            <a:endParaRPr lang="en-US" sz="1500" dirty="0"/>
          </a:p>
        </p:txBody>
      </p:sp>
      <p:sp>
        <p:nvSpPr>
          <p:cNvPr id="6" name="Text 4"/>
          <p:cNvSpPr/>
          <p:nvPr/>
        </p:nvSpPr>
        <p:spPr>
          <a:xfrm>
            <a:off x="822960" y="2039112"/>
            <a:ext cx="10149840" cy="932688"/>
          </a:xfrm>
          <a:prstGeom prst="rect">
            <a:avLst/>
          </a:prstGeom>
          <a:noFill/>
          <a:ln/>
        </p:spPr>
        <p:txBody>
          <a:bodyPr wrap="square" lIns="0" tIns="0" rIns="0" bIns="0" rtlCol="0" anchor="t"/>
          <a:lstStyle/>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int x = 7;</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int y = 2;</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System.out.println(x / y + " " + x % y);</a:t>
            </a:r>
            <a:endParaRPr lang="en-US" sz="1200" dirty="0"/>
          </a:p>
        </p:txBody>
      </p:sp>
      <p:sp>
        <p:nvSpPr>
          <p:cNvPr id="7" name="Shape 5"/>
          <p:cNvSpPr/>
          <p:nvPr/>
        </p:nvSpPr>
        <p:spPr>
          <a:xfrm>
            <a:off x="594360" y="3337560"/>
            <a:ext cx="5166360" cy="1211580"/>
          </a:xfrm>
          <a:prstGeom prst="roundRect">
            <a:avLst>
              <a:gd name="adj" fmla="val 6038"/>
            </a:avLst>
          </a:prstGeom>
          <a:solidFill>
            <a:srgbClr val="1B2A4A"/>
          </a:solidFill>
          <a:ln w="15875">
            <a:solidFill>
              <a:srgbClr val="1B2A4A"/>
            </a:solidFill>
            <a:prstDash val="solid"/>
          </a:ln>
        </p:spPr>
      </p:sp>
      <p:sp>
        <p:nvSpPr>
          <p:cNvPr id="8" name="Shape 6"/>
          <p:cNvSpPr/>
          <p:nvPr/>
        </p:nvSpPr>
        <p:spPr>
          <a:xfrm>
            <a:off x="777240" y="3742182"/>
            <a:ext cx="402336" cy="402336"/>
          </a:xfrm>
          <a:prstGeom prst="ellipse">
            <a:avLst/>
          </a:prstGeom>
          <a:solidFill>
            <a:srgbClr val="E8590C"/>
          </a:solidFill>
          <a:ln w="12700">
            <a:solidFill>
              <a:srgbClr val="000000"/>
            </a:solidFill>
            <a:prstDash val="solid"/>
          </a:ln>
        </p:spPr>
      </p:sp>
      <p:sp>
        <p:nvSpPr>
          <p:cNvPr id="9" name="Text 7"/>
          <p:cNvSpPr/>
          <p:nvPr/>
        </p:nvSpPr>
        <p:spPr>
          <a:xfrm>
            <a:off x="777240" y="374218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A</a:t>
            </a:r>
            <a:endParaRPr lang="en-US" sz="1600" dirty="0"/>
          </a:p>
        </p:txBody>
      </p:sp>
      <p:sp>
        <p:nvSpPr>
          <p:cNvPr id="10" name="Text 8"/>
          <p:cNvSpPr/>
          <p:nvPr/>
        </p:nvSpPr>
        <p:spPr>
          <a:xfrm>
            <a:off x="1307592" y="3337560"/>
            <a:ext cx="4251960" cy="1211580"/>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3 1</a:t>
            </a:r>
            <a:endParaRPr lang="en-US" sz="1400" dirty="0"/>
          </a:p>
        </p:txBody>
      </p:sp>
      <p:sp>
        <p:nvSpPr>
          <p:cNvPr id="11" name="Text 9"/>
          <p:cNvSpPr/>
          <p:nvPr/>
        </p:nvSpPr>
        <p:spPr>
          <a:xfrm>
            <a:off x="1307592" y="4256532"/>
            <a:ext cx="4251960" cy="237744"/>
          </a:xfrm>
          <a:prstGeom prst="rect">
            <a:avLst/>
          </a:prstGeom>
          <a:noFill/>
          <a:ln/>
        </p:spPr>
        <p:txBody>
          <a:bodyPr wrap="square" lIns="0" tIns="0" rIns="0" bIns="0" rtlCol="0" anchor="ctr"/>
          <a:lstStyle/>
          <a:p>
            <a:pPr marL="0" indent="0">
              <a:buNone/>
            </a:pPr>
            <a:r>
              <a:rPr lang="en-US" sz="900" b="1" kern="0" spc="100" dirty="0">
                <a:solidFill>
                  <a:srgbClr val="F3B67D"/>
                </a:solidFill>
                <a:latin typeface="Times New Roman" pitchFamily="34" charset="0"/>
                <a:ea typeface="Times New Roman" pitchFamily="34" charset="-122"/>
                <a:cs typeface="Times New Roman" pitchFamily="34" charset="-120"/>
              </a:rPr>
              <a:t>CORRECT ANSWER</a:t>
            </a:r>
            <a:endParaRPr lang="en-US" sz="900" dirty="0"/>
          </a:p>
        </p:txBody>
      </p:sp>
      <p:sp>
        <p:nvSpPr>
          <p:cNvPr id="12" name="Shape 10"/>
          <p:cNvSpPr/>
          <p:nvPr/>
        </p:nvSpPr>
        <p:spPr>
          <a:xfrm>
            <a:off x="6035040" y="3337560"/>
            <a:ext cx="5166360" cy="1211580"/>
          </a:xfrm>
          <a:prstGeom prst="roundRect">
            <a:avLst>
              <a:gd name="adj" fmla="val 6038"/>
            </a:avLst>
          </a:prstGeom>
          <a:solidFill>
            <a:srgbClr val="FFFFFF"/>
          </a:solidFill>
          <a:ln w="15875">
            <a:solidFill>
              <a:srgbClr val="E4E7EE"/>
            </a:solidFill>
            <a:prstDash val="solid"/>
          </a:ln>
        </p:spPr>
      </p:sp>
      <p:sp>
        <p:nvSpPr>
          <p:cNvPr id="13" name="Shape 11"/>
          <p:cNvSpPr/>
          <p:nvPr/>
        </p:nvSpPr>
        <p:spPr>
          <a:xfrm>
            <a:off x="6217920" y="3742182"/>
            <a:ext cx="402336" cy="402336"/>
          </a:xfrm>
          <a:prstGeom prst="ellipse">
            <a:avLst/>
          </a:prstGeom>
          <a:solidFill>
            <a:srgbClr val="F5F6FA"/>
          </a:solidFill>
          <a:ln w="12700">
            <a:solidFill>
              <a:srgbClr val="000000"/>
            </a:solidFill>
            <a:prstDash val="solid"/>
          </a:ln>
        </p:spPr>
      </p:sp>
      <p:sp>
        <p:nvSpPr>
          <p:cNvPr id="14" name="Text 12"/>
          <p:cNvSpPr/>
          <p:nvPr/>
        </p:nvSpPr>
        <p:spPr>
          <a:xfrm>
            <a:off x="6217920" y="374218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B</a:t>
            </a:r>
            <a:endParaRPr lang="en-US" sz="1600" dirty="0"/>
          </a:p>
        </p:txBody>
      </p:sp>
      <p:sp>
        <p:nvSpPr>
          <p:cNvPr id="15" name="Text 13"/>
          <p:cNvSpPr/>
          <p:nvPr/>
        </p:nvSpPr>
        <p:spPr>
          <a:xfrm>
            <a:off x="6748272" y="3337560"/>
            <a:ext cx="4251960" cy="121158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3.5 1</a:t>
            </a:r>
            <a:endParaRPr lang="en-US" sz="1400" dirty="0"/>
          </a:p>
        </p:txBody>
      </p:sp>
      <p:sp>
        <p:nvSpPr>
          <p:cNvPr id="16" name="Shape 14"/>
          <p:cNvSpPr/>
          <p:nvPr/>
        </p:nvSpPr>
        <p:spPr>
          <a:xfrm>
            <a:off x="594360" y="4823460"/>
            <a:ext cx="5166360" cy="1211580"/>
          </a:xfrm>
          <a:prstGeom prst="roundRect">
            <a:avLst>
              <a:gd name="adj" fmla="val 6038"/>
            </a:avLst>
          </a:prstGeom>
          <a:solidFill>
            <a:srgbClr val="FFFFFF"/>
          </a:solidFill>
          <a:ln w="15875">
            <a:solidFill>
              <a:srgbClr val="E4E7EE"/>
            </a:solidFill>
            <a:prstDash val="solid"/>
          </a:ln>
        </p:spPr>
      </p:sp>
      <p:sp>
        <p:nvSpPr>
          <p:cNvPr id="17" name="Shape 15"/>
          <p:cNvSpPr/>
          <p:nvPr/>
        </p:nvSpPr>
        <p:spPr>
          <a:xfrm>
            <a:off x="777240" y="5228082"/>
            <a:ext cx="402336" cy="402336"/>
          </a:xfrm>
          <a:prstGeom prst="ellipse">
            <a:avLst/>
          </a:prstGeom>
          <a:solidFill>
            <a:srgbClr val="F5F6FA"/>
          </a:solidFill>
          <a:ln w="12700">
            <a:solidFill>
              <a:srgbClr val="000000"/>
            </a:solidFill>
            <a:prstDash val="solid"/>
          </a:ln>
        </p:spPr>
      </p:sp>
      <p:sp>
        <p:nvSpPr>
          <p:cNvPr id="18" name="Text 16"/>
          <p:cNvSpPr/>
          <p:nvPr/>
        </p:nvSpPr>
        <p:spPr>
          <a:xfrm>
            <a:off x="777240" y="522808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C</a:t>
            </a:r>
            <a:endParaRPr lang="en-US" sz="1600" dirty="0"/>
          </a:p>
        </p:txBody>
      </p:sp>
      <p:sp>
        <p:nvSpPr>
          <p:cNvPr id="19" name="Text 17"/>
          <p:cNvSpPr/>
          <p:nvPr/>
        </p:nvSpPr>
        <p:spPr>
          <a:xfrm>
            <a:off x="1307592" y="4823460"/>
            <a:ext cx="4251960" cy="121158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3 0</a:t>
            </a:r>
            <a:endParaRPr lang="en-US" sz="1400" dirty="0"/>
          </a:p>
        </p:txBody>
      </p:sp>
      <p:sp>
        <p:nvSpPr>
          <p:cNvPr id="20" name="Shape 18"/>
          <p:cNvSpPr/>
          <p:nvPr/>
        </p:nvSpPr>
        <p:spPr>
          <a:xfrm>
            <a:off x="6035040" y="4823460"/>
            <a:ext cx="5166360" cy="1211580"/>
          </a:xfrm>
          <a:prstGeom prst="roundRect">
            <a:avLst>
              <a:gd name="adj" fmla="val 6038"/>
            </a:avLst>
          </a:prstGeom>
          <a:solidFill>
            <a:srgbClr val="FFFFFF"/>
          </a:solidFill>
          <a:ln w="15875">
            <a:solidFill>
              <a:srgbClr val="E4E7EE"/>
            </a:solidFill>
            <a:prstDash val="solid"/>
          </a:ln>
        </p:spPr>
      </p:sp>
      <p:sp>
        <p:nvSpPr>
          <p:cNvPr id="21" name="Shape 19"/>
          <p:cNvSpPr/>
          <p:nvPr/>
        </p:nvSpPr>
        <p:spPr>
          <a:xfrm>
            <a:off x="6217920" y="5228082"/>
            <a:ext cx="402336" cy="402336"/>
          </a:xfrm>
          <a:prstGeom prst="ellipse">
            <a:avLst/>
          </a:prstGeom>
          <a:solidFill>
            <a:srgbClr val="F5F6FA"/>
          </a:solidFill>
          <a:ln w="12700">
            <a:solidFill>
              <a:srgbClr val="000000"/>
            </a:solidFill>
            <a:prstDash val="solid"/>
          </a:ln>
        </p:spPr>
      </p:sp>
      <p:sp>
        <p:nvSpPr>
          <p:cNvPr id="22" name="Text 20"/>
          <p:cNvSpPr/>
          <p:nvPr/>
        </p:nvSpPr>
        <p:spPr>
          <a:xfrm>
            <a:off x="6217920" y="522808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D</a:t>
            </a:r>
            <a:endParaRPr lang="en-US" sz="1600" dirty="0"/>
          </a:p>
        </p:txBody>
      </p:sp>
      <p:sp>
        <p:nvSpPr>
          <p:cNvPr id="23" name="Text 21"/>
          <p:cNvSpPr/>
          <p:nvPr/>
        </p:nvSpPr>
        <p:spPr>
          <a:xfrm>
            <a:off x="6748272" y="4823460"/>
            <a:ext cx="4251960" cy="121158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Compile error</a:t>
            </a:r>
            <a:endParaRPr lang="en-US" sz="1400" dirty="0"/>
          </a:p>
        </p:txBody>
      </p:sp>
      <p:sp>
        <p:nvSpPr>
          <p:cNvPr id="24" name="Shape 22"/>
          <p:cNvSpPr/>
          <p:nvPr/>
        </p:nvSpPr>
        <p:spPr>
          <a:xfrm>
            <a:off x="0" y="0"/>
            <a:ext cx="12191695" cy="384048"/>
          </a:xfrm>
          <a:prstGeom prst="rect">
            <a:avLst/>
          </a:prstGeom>
          <a:solidFill>
            <a:srgbClr val="1B2A4A"/>
          </a:solidFill>
          <a:ln w="12700">
            <a:solidFill>
              <a:srgbClr val="1B2A4A"/>
            </a:solidFill>
            <a:prstDash val="solid"/>
          </a:ln>
        </p:spPr>
      </p:sp>
      <p:sp>
        <p:nvSpPr>
          <p:cNvPr id="25" name="Text 2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6" name="Shape 24"/>
          <p:cNvSpPr/>
          <p:nvPr/>
        </p:nvSpPr>
        <p:spPr>
          <a:xfrm>
            <a:off x="219456" y="301752"/>
            <a:ext cx="960120" cy="0"/>
          </a:xfrm>
          <a:prstGeom prst="line">
            <a:avLst/>
          </a:prstGeom>
          <a:noFill/>
          <a:ln w="9525">
            <a:solidFill>
              <a:srgbClr val="4A5570"/>
            </a:solidFill>
            <a:prstDash val="solid"/>
          </a:ln>
        </p:spPr>
      </p:sp>
      <p:sp>
        <p:nvSpPr>
          <p:cNvPr id="27" name="Text 2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8" name="Text 2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9" name="Text 2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0" name="Shape 28"/>
          <p:cNvSpPr/>
          <p:nvPr/>
        </p:nvSpPr>
        <p:spPr>
          <a:xfrm>
            <a:off x="0" y="6291072"/>
            <a:ext cx="12191695" cy="566928"/>
          </a:xfrm>
          <a:prstGeom prst="rect">
            <a:avLst/>
          </a:prstGeom>
          <a:solidFill>
            <a:srgbClr val="1B2A4A"/>
          </a:solidFill>
          <a:ln w="12700">
            <a:solidFill>
              <a:srgbClr val="1B2A4A"/>
            </a:solidFill>
            <a:prstDash val="solid"/>
          </a:ln>
        </p:spPr>
      </p:sp>
      <p:sp>
        <p:nvSpPr>
          <p:cNvPr id="31" name="Text 2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2" name="Text 3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KNOWLEDGE CHECK · QUESTION 2 OF 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Quick Quiz</a:t>
            </a:r>
            <a:endParaRPr lang="en-US" sz="2700" dirty="0"/>
          </a:p>
        </p:txBody>
      </p:sp>
      <p:sp>
        <p:nvSpPr>
          <p:cNvPr id="4" name="Shape 2"/>
          <p:cNvSpPr/>
          <p:nvPr/>
        </p:nvSpPr>
        <p:spPr>
          <a:xfrm>
            <a:off x="594360" y="1600200"/>
            <a:ext cx="10607040" cy="822960"/>
          </a:xfrm>
          <a:prstGeom prst="roundRect">
            <a:avLst>
              <a:gd name="adj" fmla="val 7778"/>
            </a:avLst>
          </a:prstGeom>
          <a:solidFill>
            <a:srgbClr val="F5F6FA"/>
          </a:solidFill>
          <a:ln w="9525">
            <a:solidFill>
              <a:srgbClr val="E4E7EE"/>
            </a:solidFill>
            <a:prstDash val="solid"/>
          </a:ln>
        </p:spPr>
      </p:sp>
      <p:sp>
        <p:nvSpPr>
          <p:cNvPr id="5" name="Text 3"/>
          <p:cNvSpPr/>
          <p:nvPr/>
        </p:nvSpPr>
        <p:spPr>
          <a:xfrm>
            <a:off x="822960" y="1600200"/>
            <a:ext cx="10149840" cy="822960"/>
          </a:xfrm>
          <a:prstGeom prst="rect">
            <a:avLst/>
          </a:prstGeom>
          <a:noFill/>
          <a:ln/>
        </p:spPr>
        <p:txBody>
          <a:bodyPr wrap="square" lIns="0" tIns="0" rIns="0" bIns="0" rtlCol="0" anchor="ctr"/>
          <a:lstStyle/>
          <a:p>
            <a:pPr marL="0" indent="0">
              <a:buNone/>
            </a:pPr>
            <a:r>
              <a:rPr lang="en-US" sz="1900" b="1" dirty="0">
                <a:solidFill>
                  <a:srgbClr val="1A202C"/>
                </a:solidFill>
                <a:latin typeface="Times New Roman" pitchFamily="34" charset="0"/>
                <a:ea typeface="Times New Roman" pitchFamily="34" charset="-122"/>
                <a:cs typeface="Times New Roman" pitchFamily="34" charset="-120"/>
              </a:rPr>
              <a:t>Which keyword is used to prevent a variable's value from being changed after it is assigned?</a:t>
            </a:r>
            <a:endParaRPr lang="en-US" sz="1900" dirty="0"/>
          </a:p>
        </p:txBody>
      </p:sp>
      <p:sp>
        <p:nvSpPr>
          <p:cNvPr id="6" name="Shape 4"/>
          <p:cNvSpPr/>
          <p:nvPr/>
        </p:nvSpPr>
        <p:spPr>
          <a:xfrm>
            <a:off x="594360" y="2697480"/>
            <a:ext cx="5166360" cy="1280160"/>
          </a:xfrm>
          <a:prstGeom prst="roundRect">
            <a:avLst>
              <a:gd name="adj" fmla="val 5714"/>
            </a:avLst>
          </a:prstGeom>
          <a:solidFill>
            <a:srgbClr val="FFFFFF"/>
          </a:solidFill>
          <a:ln w="15875">
            <a:solidFill>
              <a:srgbClr val="E4E7EE"/>
            </a:solidFill>
            <a:prstDash val="solid"/>
          </a:ln>
        </p:spPr>
      </p:sp>
      <p:sp>
        <p:nvSpPr>
          <p:cNvPr id="7" name="Shape 5"/>
          <p:cNvSpPr/>
          <p:nvPr/>
        </p:nvSpPr>
        <p:spPr>
          <a:xfrm>
            <a:off x="777240" y="3136392"/>
            <a:ext cx="402336" cy="402336"/>
          </a:xfrm>
          <a:prstGeom prst="ellipse">
            <a:avLst/>
          </a:prstGeom>
          <a:solidFill>
            <a:srgbClr val="F5F6FA"/>
          </a:solidFill>
          <a:ln w="12700">
            <a:solidFill>
              <a:srgbClr val="000000"/>
            </a:solidFill>
            <a:prstDash val="solid"/>
          </a:ln>
        </p:spPr>
      </p:sp>
      <p:sp>
        <p:nvSpPr>
          <p:cNvPr id="8" name="Text 6"/>
          <p:cNvSpPr/>
          <p:nvPr/>
        </p:nvSpPr>
        <p:spPr>
          <a:xfrm>
            <a:off x="777240" y="313639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A</a:t>
            </a:r>
            <a:endParaRPr lang="en-US" sz="1600" dirty="0"/>
          </a:p>
        </p:txBody>
      </p:sp>
      <p:sp>
        <p:nvSpPr>
          <p:cNvPr id="9" name="Text 7"/>
          <p:cNvSpPr/>
          <p:nvPr/>
        </p:nvSpPr>
        <p:spPr>
          <a:xfrm>
            <a:off x="1307592" y="269748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static</a:t>
            </a:r>
            <a:endParaRPr lang="en-US" sz="1400" dirty="0"/>
          </a:p>
        </p:txBody>
      </p:sp>
      <p:sp>
        <p:nvSpPr>
          <p:cNvPr id="10" name="Shape 8"/>
          <p:cNvSpPr/>
          <p:nvPr/>
        </p:nvSpPr>
        <p:spPr>
          <a:xfrm>
            <a:off x="6035040" y="2697480"/>
            <a:ext cx="5166360" cy="1280160"/>
          </a:xfrm>
          <a:prstGeom prst="roundRect">
            <a:avLst>
              <a:gd name="adj" fmla="val 5714"/>
            </a:avLst>
          </a:prstGeom>
          <a:solidFill>
            <a:srgbClr val="FFFFFF"/>
          </a:solidFill>
          <a:ln w="15875">
            <a:solidFill>
              <a:srgbClr val="E4E7EE"/>
            </a:solidFill>
            <a:prstDash val="solid"/>
          </a:ln>
        </p:spPr>
      </p:sp>
      <p:sp>
        <p:nvSpPr>
          <p:cNvPr id="11" name="Shape 9"/>
          <p:cNvSpPr/>
          <p:nvPr/>
        </p:nvSpPr>
        <p:spPr>
          <a:xfrm>
            <a:off x="6217920" y="3136392"/>
            <a:ext cx="402336" cy="402336"/>
          </a:xfrm>
          <a:prstGeom prst="ellipse">
            <a:avLst/>
          </a:prstGeom>
          <a:solidFill>
            <a:srgbClr val="F5F6FA"/>
          </a:solidFill>
          <a:ln w="12700">
            <a:solidFill>
              <a:srgbClr val="000000"/>
            </a:solidFill>
            <a:prstDash val="solid"/>
          </a:ln>
        </p:spPr>
      </p:sp>
      <p:sp>
        <p:nvSpPr>
          <p:cNvPr id="12" name="Text 10"/>
          <p:cNvSpPr/>
          <p:nvPr/>
        </p:nvSpPr>
        <p:spPr>
          <a:xfrm>
            <a:off x="6217920" y="313639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B</a:t>
            </a:r>
            <a:endParaRPr lang="en-US" sz="1600" dirty="0"/>
          </a:p>
        </p:txBody>
      </p:sp>
      <p:sp>
        <p:nvSpPr>
          <p:cNvPr id="13" name="Text 11"/>
          <p:cNvSpPr/>
          <p:nvPr/>
        </p:nvSpPr>
        <p:spPr>
          <a:xfrm>
            <a:off x="6748272" y="269748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var</a:t>
            </a:r>
            <a:endParaRPr lang="en-US" sz="1400" dirty="0"/>
          </a:p>
        </p:txBody>
      </p:sp>
      <p:sp>
        <p:nvSpPr>
          <p:cNvPr id="14" name="Shape 12"/>
          <p:cNvSpPr/>
          <p:nvPr/>
        </p:nvSpPr>
        <p:spPr>
          <a:xfrm>
            <a:off x="594360" y="4251960"/>
            <a:ext cx="5166360" cy="1280160"/>
          </a:xfrm>
          <a:prstGeom prst="roundRect">
            <a:avLst>
              <a:gd name="adj" fmla="val 5714"/>
            </a:avLst>
          </a:prstGeom>
          <a:solidFill>
            <a:srgbClr val="1B2A4A"/>
          </a:solidFill>
          <a:ln w="15875">
            <a:solidFill>
              <a:srgbClr val="1B2A4A"/>
            </a:solidFill>
            <a:prstDash val="solid"/>
          </a:ln>
        </p:spPr>
      </p:sp>
      <p:sp>
        <p:nvSpPr>
          <p:cNvPr id="15" name="Shape 13"/>
          <p:cNvSpPr/>
          <p:nvPr/>
        </p:nvSpPr>
        <p:spPr>
          <a:xfrm>
            <a:off x="777240" y="4690872"/>
            <a:ext cx="402336" cy="402336"/>
          </a:xfrm>
          <a:prstGeom prst="ellipse">
            <a:avLst/>
          </a:prstGeom>
          <a:solidFill>
            <a:srgbClr val="E8590C"/>
          </a:solidFill>
          <a:ln w="12700">
            <a:solidFill>
              <a:srgbClr val="000000"/>
            </a:solidFill>
            <a:prstDash val="solid"/>
          </a:ln>
        </p:spPr>
      </p:sp>
      <p:sp>
        <p:nvSpPr>
          <p:cNvPr id="16" name="Text 14"/>
          <p:cNvSpPr/>
          <p:nvPr/>
        </p:nvSpPr>
        <p:spPr>
          <a:xfrm>
            <a:off x="777240" y="469087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C</a:t>
            </a:r>
            <a:endParaRPr lang="en-US" sz="1600" dirty="0"/>
          </a:p>
        </p:txBody>
      </p:sp>
      <p:sp>
        <p:nvSpPr>
          <p:cNvPr id="17" name="Text 15"/>
          <p:cNvSpPr/>
          <p:nvPr/>
        </p:nvSpPr>
        <p:spPr>
          <a:xfrm>
            <a:off x="1307592" y="4251960"/>
            <a:ext cx="4251960" cy="1280160"/>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final</a:t>
            </a:r>
            <a:endParaRPr lang="en-US" sz="1400" dirty="0"/>
          </a:p>
        </p:txBody>
      </p:sp>
      <p:sp>
        <p:nvSpPr>
          <p:cNvPr id="18" name="Text 16"/>
          <p:cNvSpPr/>
          <p:nvPr/>
        </p:nvSpPr>
        <p:spPr>
          <a:xfrm>
            <a:off x="1307592" y="5239512"/>
            <a:ext cx="4251960" cy="237744"/>
          </a:xfrm>
          <a:prstGeom prst="rect">
            <a:avLst/>
          </a:prstGeom>
          <a:noFill/>
          <a:ln/>
        </p:spPr>
        <p:txBody>
          <a:bodyPr wrap="square" lIns="0" tIns="0" rIns="0" bIns="0" rtlCol="0" anchor="ctr"/>
          <a:lstStyle/>
          <a:p>
            <a:pPr marL="0" indent="0">
              <a:buNone/>
            </a:pPr>
            <a:r>
              <a:rPr lang="en-US" sz="900" b="1" kern="0" spc="100" dirty="0">
                <a:solidFill>
                  <a:srgbClr val="F3B67D"/>
                </a:solidFill>
                <a:latin typeface="Times New Roman" pitchFamily="34" charset="0"/>
                <a:ea typeface="Times New Roman" pitchFamily="34" charset="-122"/>
                <a:cs typeface="Times New Roman" pitchFamily="34" charset="-120"/>
              </a:rPr>
              <a:t>CORRECT ANSWER</a:t>
            </a:r>
            <a:endParaRPr lang="en-US" sz="900" dirty="0"/>
          </a:p>
        </p:txBody>
      </p:sp>
      <p:sp>
        <p:nvSpPr>
          <p:cNvPr id="19" name="Shape 17"/>
          <p:cNvSpPr/>
          <p:nvPr/>
        </p:nvSpPr>
        <p:spPr>
          <a:xfrm>
            <a:off x="6035040" y="4251960"/>
            <a:ext cx="5166360" cy="1280160"/>
          </a:xfrm>
          <a:prstGeom prst="roundRect">
            <a:avLst>
              <a:gd name="adj" fmla="val 5714"/>
            </a:avLst>
          </a:prstGeom>
          <a:solidFill>
            <a:srgbClr val="FFFFFF"/>
          </a:solidFill>
          <a:ln w="15875">
            <a:solidFill>
              <a:srgbClr val="E4E7EE"/>
            </a:solidFill>
            <a:prstDash val="solid"/>
          </a:ln>
        </p:spPr>
      </p:sp>
      <p:sp>
        <p:nvSpPr>
          <p:cNvPr id="20" name="Shape 18"/>
          <p:cNvSpPr/>
          <p:nvPr/>
        </p:nvSpPr>
        <p:spPr>
          <a:xfrm>
            <a:off x="6217920" y="4690872"/>
            <a:ext cx="402336" cy="402336"/>
          </a:xfrm>
          <a:prstGeom prst="ellipse">
            <a:avLst/>
          </a:prstGeom>
          <a:solidFill>
            <a:srgbClr val="F5F6FA"/>
          </a:solidFill>
          <a:ln w="12700">
            <a:solidFill>
              <a:srgbClr val="000000"/>
            </a:solidFill>
            <a:prstDash val="solid"/>
          </a:ln>
        </p:spPr>
      </p:sp>
      <p:sp>
        <p:nvSpPr>
          <p:cNvPr id="21" name="Text 19"/>
          <p:cNvSpPr/>
          <p:nvPr/>
        </p:nvSpPr>
        <p:spPr>
          <a:xfrm>
            <a:off x="6217920" y="469087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D</a:t>
            </a:r>
            <a:endParaRPr lang="en-US" sz="1600" dirty="0"/>
          </a:p>
        </p:txBody>
      </p:sp>
      <p:sp>
        <p:nvSpPr>
          <p:cNvPr id="22" name="Text 20"/>
          <p:cNvSpPr/>
          <p:nvPr/>
        </p:nvSpPr>
        <p:spPr>
          <a:xfrm>
            <a:off x="6748272" y="425196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const</a:t>
            </a:r>
            <a:endParaRPr lang="en-US" sz="1400" dirty="0"/>
          </a:p>
        </p:txBody>
      </p:sp>
      <p:sp>
        <p:nvSpPr>
          <p:cNvPr id="23" name="Shape 21"/>
          <p:cNvSpPr/>
          <p:nvPr/>
        </p:nvSpPr>
        <p:spPr>
          <a:xfrm>
            <a:off x="0" y="0"/>
            <a:ext cx="12191695" cy="384048"/>
          </a:xfrm>
          <a:prstGeom prst="rect">
            <a:avLst/>
          </a:prstGeom>
          <a:solidFill>
            <a:srgbClr val="1B2A4A"/>
          </a:solidFill>
          <a:ln w="12700">
            <a:solidFill>
              <a:srgbClr val="1B2A4A"/>
            </a:solidFill>
            <a:prstDash val="solid"/>
          </a:ln>
        </p:spPr>
      </p:sp>
      <p:sp>
        <p:nvSpPr>
          <p:cNvPr id="24" name="Text 22"/>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5" name="Shape 23"/>
          <p:cNvSpPr/>
          <p:nvPr/>
        </p:nvSpPr>
        <p:spPr>
          <a:xfrm>
            <a:off x="219456" y="301752"/>
            <a:ext cx="960120" cy="0"/>
          </a:xfrm>
          <a:prstGeom prst="line">
            <a:avLst/>
          </a:prstGeom>
          <a:noFill/>
          <a:ln w="9525">
            <a:solidFill>
              <a:srgbClr val="4A5570"/>
            </a:solidFill>
            <a:prstDash val="solid"/>
          </a:ln>
        </p:spPr>
      </p:sp>
      <p:sp>
        <p:nvSpPr>
          <p:cNvPr id="26" name="Text 24"/>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7" name="Text 25"/>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8" name="Text 26"/>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9" name="Shape 27"/>
          <p:cNvSpPr/>
          <p:nvPr/>
        </p:nvSpPr>
        <p:spPr>
          <a:xfrm>
            <a:off x="0" y="6291072"/>
            <a:ext cx="12191695" cy="566928"/>
          </a:xfrm>
          <a:prstGeom prst="rect">
            <a:avLst/>
          </a:prstGeom>
          <a:solidFill>
            <a:srgbClr val="1B2A4A"/>
          </a:solidFill>
          <a:ln w="12700">
            <a:solidFill>
              <a:srgbClr val="1B2A4A"/>
            </a:solidFill>
            <a:prstDash val="solid"/>
          </a:ln>
        </p:spPr>
      </p:sp>
      <p:sp>
        <p:nvSpPr>
          <p:cNvPr id="30" name="Text 28"/>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1" name="Text 29"/>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22492</Words>
  <Application>Microsoft Office PowerPoint</Application>
  <PresentationFormat>Widescreen</PresentationFormat>
  <Paragraphs>2322</Paragraphs>
  <Slides>120</Slides>
  <Notes>120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120</vt:i4>
      </vt:variant>
    </vt:vector>
  </HeadingPairs>
  <TitlesOfParts>
    <vt:vector size="124" baseType="lpstr">
      <vt:lpstr>Arial</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Programming Fundamentals</dc:title>
  <dc:subject>PptxGenJS Presentation</dc:subject>
  <dc:creator>EduBridge</dc:creator>
  <cp:lastModifiedBy>Rakesh Kr</cp:lastModifiedBy>
  <cp:revision>1</cp:revision>
  <dcterms:created xsi:type="dcterms:W3CDTF">2026-08-19T03:03:13Z</dcterms:created>
  <dcterms:modified xsi:type="dcterms:W3CDTF">2026-08-26T16:09:09Z</dcterms:modified>
</cp:coreProperties>
</file>