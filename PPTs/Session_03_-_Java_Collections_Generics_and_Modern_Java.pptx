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4" d="100"/>
          <a:sy n="94" d="100"/>
        </p:scale>
        <p:origin x="16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1752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5" name="Text 3"/>
          <p:cNvSpPr/>
          <p:nvPr/>
        </p:nvSpPr>
        <p:spPr>
          <a:xfrm>
            <a:off x="640080" y="2331720"/>
            <a:ext cx="5486400" cy="457200"/>
          </a:xfrm>
          <a:prstGeom prst="rect">
            <a:avLst/>
          </a:prstGeom>
          <a:noFill/>
          <a:ln/>
        </p:spPr>
        <p:txBody>
          <a:bodyPr wrap="square" lIns="0" tIns="0" rIns="0" bIns="0" rtlCol="0" anchor="ctr"/>
          <a:lstStyle/>
          <a:p>
            <a:pPr marL="0" indent="0">
              <a:buNone/>
            </a:pPr>
            <a:r>
              <a:rPr lang="en-US" sz="1600" b="1" kern="0" spc="300" dirty="0">
                <a:solidFill>
                  <a:srgbClr val="E8590C"/>
                </a:solidFill>
                <a:latin typeface="Times New Roman" pitchFamily="34" charset="0"/>
                <a:ea typeface="Times New Roman" pitchFamily="34" charset="-122"/>
                <a:cs typeface="Times New Roman" pitchFamily="34" charset="-120"/>
              </a:rPr>
              <a:t>JAVA</a:t>
            </a:r>
            <a:endParaRPr lang="en-US" sz="1600" dirty="0"/>
          </a:p>
        </p:txBody>
      </p:sp>
      <p:sp>
        <p:nvSpPr>
          <p:cNvPr id="6" name="Text 4"/>
          <p:cNvSpPr/>
          <p:nvPr/>
        </p:nvSpPr>
        <p:spPr>
          <a:xfrm>
            <a:off x="594360" y="2697480"/>
            <a:ext cx="10515600" cy="1737360"/>
          </a:xfrm>
          <a:prstGeom prst="rect">
            <a:avLst/>
          </a:prstGeom>
          <a:noFill/>
          <a:ln/>
        </p:spPr>
        <p:txBody>
          <a:bodyPr wrap="square" lIns="0" tIns="0" rIns="0" bIns="0" rtlCol="0" anchor="t"/>
          <a:lstStyle/>
          <a:p>
            <a:pPr marL="0" indent="0">
              <a:lnSpc>
                <a:spcPct val="105000"/>
              </a:lnSpc>
              <a:buNone/>
            </a:pPr>
            <a:r>
              <a:rPr lang="en-US" sz="4400" b="1" dirty="0">
                <a:solidFill>
                  <a:srgbClr val="FFFFFF"/>
                </a:solidFill>
                <a:latin typeface="Times New Roman" pitchFamily="34" charset="0"/>
                <a:ea typeface="Times New Roman" pitchFamily="34" charset="-122"/>
                <a:cs typeface="Times New Roman" pitchFamily="34" charset="-120"/>
              </a:rPr>
              <a:t>Java Collections,</a:t>
            </a:r>
            <a:endParaRPr lang="en-US" sz="4400" dirty="0"/>
          </a:p>
          <a:p>
            <a:pPr marL="0" indent="0">
              <a:lnSpc>
                <a:spcPct val="105000"/>
              </a:lnSpc>
              <a:buNone/>
            </a:pPr>
            <a:r>
              <a:rPr lang="en-US" sz="4400" b="1" dirty="0">
                <a:solidFill>
                  <a:srgbClr val="FFFFFF"/>
                </a:solidFill>
                <a:latin typeface="Times New Roman" pitchFamily="34" charset="0"/>
                <a:ea typeface="Times New Roman" pitchFamily="34" charset="-122"/>
                <a:cs typeface="Times New Roman" pitchFamily="34" charset="-120"/>
              </a:rPr>
              <a:t>Generics &amp; Modern Java</a:t>
            </a:r>
            <a:endParaRPr lang="en-US" sz="4400" dirty="0"/>
          </a:p>
        </p:txBody>
      </p:sp>
      <p:sp>
        <p:nvSpPr>
          <p:cNvPr id="7" name="Shape 5"/>
          <p:cNvSpPr/>
          <p:nvPr/>
        </p:nvSpPr>
        <p:spPr>
          <a:xfrm>
            <a:off x="640080" y="4160520"/>
            <a:ext cx="1280160" cy="36576"/>
          </a:xfrm>
          <a:prstGeom prst="rect">
            <a:avLst/>
          </a:prstGeom>
          <a:solidFill>
            <a:srgbClr val="E8590C"/>
          </a:solidFill>
          <a:ln w="12700">
            <a:solidFill>
              <a:srgbClr val="000000"/>
            </a:solidFill>
            <a:prstDash val="solid"/>
          </a:ln>
        </p:spPr>
      </p:sp>
      <p:sp>
        <p:nvSpPr>
          <p:cNvPr id="8" name="Text 6"/>
          <p:cNvSpPr/>
          <p:nvPr/>
        </p:nvSpPr>
        <p:spPr>
          <a:xfrm>
            <a:off x="640080" y="4343400"/>
            <a:ext cx="9601200" cy="640080"/>
          </a:xfrm>
          <a:prstGeom prst="rect">
            <a:avLst/>
          </a:prstGeom>
          <a:noFill/>
          <a:ln/>
        </p:spPr>
        <p:txBody>
          <a:bodyPr wrap="square" lIns="0" tIns="0" rIns="0" bIns="0" rtlCol="0" anchor="t"/>
          <a:lstStyle/>
          <a:p>
            <a:pPr marL="0" indent="0">
              <a:buNone/>
            </a:pPr>
            <a:r>
              <a:rPr lang="en-US" sz="1800" dirty="0">
                <a:solidFill>
                  <a:srgbClr val="8C93A0"/>
                </a:solidFill>
                <a:latin typeface="Times New Roman" pitchFamily="34" charset="0"/>
                <a:ea typeface="Times New Roman" pitchFamily="34" charset="-122"/>
                <a:cs typeface="Times New Roman" pitchFamily="34" charset="-120"/>
              </a:rPr>
              <a:t>Lists, Sets, Maps, Queues, Stacks, Iterators, Comparable and Comparator, Generics, Lambda Expressions, the Stream API and Optional</a:t>
            </a:r>
            <a:endParaRPr lang="en-US" sz="1800" dirty="0"/>
          </a:p>
        </p:txBody>
      </p:sp>
      <p:sp>
        <p:nvSpPr>
          <p:cNvPr id="9" name="Text 7"/>
          <p:cNvSpPr/>
          <p:nvPr/>
        </p:nvSpPr>
        <p:spPr>
          <a:xfrm>
            <a:off x="640080" y="5532120"/>
            <a:ext cx="9601200" cy="320040"/>
          </a:xfrm>
          <a:prstGeom prst="rect">
            <a:avLst/>
          </a:prstGeom>
          <a:noFill/>
          <a:ln/>
        </p:spPr>
        <p:txBody>
          <a:bodyPr wrap="square" lIns="0" tIns="0" rIns="0" bIns="0" rtlCol="0" anchor="ctr"/>
          <a:lstStyle/>
          <a:p>
            <a:pPr marL="0" indent="0">
              <a:buNone/>
            </a:pPr>
            <a:r>
              <a:rPr lang="en-US" sz="1200" dirty="0">
                <a:solidFill>
                  <a:srgbClr val="8C93A0"/>
                </a:solidFill>
                <a:latin typeface="Times New Roman" pitchFamily="34" charset="0"/>
                <a:ea typeface="Times New Roman" pitchFamily="34" charset="-122"/>
                <a:cs typeface="Times New Roman" pitchFamily="34" charset="-120"/>
              </a:rPr>
              <a:t>Java Collections, Generics and Modern Java  |  Session 3 of 12  |  Duration: 6 Hours</a:t>
            </a:r>
            <a:endParaRPr lang="en-US" sz="1200" dirty="0"/>
          </a:p>
        </p:txBody>
      </p:sp>
      <p:sp>
        <p:nvSpPr>
          <p:cNvPr id="10" name="Shape 8"/>
          <p:cNvSpPr/>
          <p:nvPr/>
        </p:nvSpPr>
        <p:spPr>
          <a:xfrm>
            <a:off x="0" y="0"/>
            <a:ext cx="12191695" cy="384048"/>
          </a:xfrm>
          <a:prstGeom prst="rect">
            <a:avLst/>
          </a:prstGeom>
          <a:solidFill>
            <a:srgbClr val="1B2A4A"/>
          </a:solidFill>
          <a:ln w="12700">
            <a:solidFill>
              <a:srgbClr val="1B2A4A"/>
            </a:solidFill>
            <a:prstDash val="solid"/>
          </a:ln>
        </p:spPr>
      </p:sp>
      <p:sp>
        <p:nvSpPr>
          <p:cNvPr id="11" name="Text 9"/>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2" name="Shape 10"/>
          <p:cNvSpPr/>
          <p:nvPr/>
        </p:nvSpPr>
        <p:spPr>
          <a:xfrm>
            <a:off x="219456" y="301752"/>
            <a:ext cx="960120" cy="0"/>
          </a:xfrm>
          <a:prstGeom prst="line">
            <a:avLst/>
          </a:prstGeom>
          <a:noFill/>
          <a:ln w="9525">
            <a:solidFill>
              <a:srgbClr val="4A5570"/>
            </a:solidFill>
            <a:prstDash val="solid"/>
          </a:ln>
        </p:spPr>
      </p:sp>
      <p:sp>
        <p:nvSpPr>
          <p:cNvPr id="13" name="Text 11"/>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4" name="Text 12"/>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5" name="Text 13"/>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6" name="Shape 14"/>
          <p:cNvSpPr/>
          <p:nvPr/>
        </p:nvSpPr>
        <p:spPr>
          <a:xfrm>
            <a:off x="0" y="6291072"/>
            <a:ext cx="12191695" cy="566928"/>
          </a:xfrm>
          <a:prstGeom prst="rect">
            <a:avLst/>
          </a:prstGeom>
          <a:solidFill>
            <a:srgbClr val="1B2A4A"/>
          </a:solidFill>
          <a:ln w="12700">
            <a:solidFill>
              <a:srgbClr val="1B2A4A"/>
            </a:solidFill>
            <a:prstDash val="solid"/>
          </a:ln>
        </p:spPr>
      </p:sp>
      <p:sp>
        <p:nvSpPr>
          <p:cNvPr id="17" name="Text 15"/>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8" name="Text 16"/>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73152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AGENDA</a:t>
            </a:r>
            <a:endParaRPr lang="en-US" sz="1300" dirty="0"/>
          </a:p>
        </p:txBody>
      </p:sp>
      <p:sp>
        <p:nvSpPr>
          <p:cNvPr id="3" name="Text 1"/>
          <p:cNvSpPr/>
          <p:nvPr/>
        </p:nvSpPr>
        <p:spPr>
          <a:xfrm>
            <a:off x="548640" y="786384"/>
            <a:ext cx="9144000" cy="640080"/>
          </a:xfrm>
          <a:prstGeom prst="rect">
            <a:avLst/>
          </a:prstGeom>
          <a:noFill/>
          <a:ln/>
        </p:spPr>
        <p:txBody>
          <a:bodyPr wrap="square" lIns="0" tIns="0" rIns="0" bIns="0" rtlCol="0" anchor="ctr"/>
          <a:lstStyle/>
          <a:p>
            <a:pPr marL="0" indent="0">
              <a:buNone/>
            </a:pPr>
            <a:r>
              <a:rPr lang="en-US" sz="2800" b="1" dirty="0">
                <a:solidFill>
                  <a:srgbClr val="1A202C"/>
                </a:solidFill>
                <a:latin typeface="Times New Roman" pitchFamily="34" charset="0"/>
                <a:ea typeface="Times New Roman" pitchFamily="34" charset="-122"/>
                <a:cs typeface="Times New Roman" pitchFamily="34" charset="-120"/>
              </a:rPr>
              <a:t>What We'll Cover</a:t>
            </a:r>
            <a:endParaRPr lang="en-US" sz="2800" dirty="0"/>
          </a:p>
        </p:txBody>
      </p:sp>
      <p:sp>
        <p:nvSpPr>
          <p:cNvPr id="4" name="Text 2"/>
          <p:cNvSpPr/>
          <p:nvPr/>
        </p:nvSpPr>
        <p:spPr>
          <a:xfrm>
            <a:off x="548640" y="171907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01</a:t>
            </a:r>
            <a:endParaRPr lang="en-US" sz="1500" dirty="0"/>
          </a:p>
        </p:txBody>
      </p:sp>
      <p:sp>
        <p:nvSpPr>
          <p:cNvPr id="5" name="Text 3"/>
          <p:cNvSpPr/>
          <p:nvPr/>
        </p:nvSpPr>
        <p:spPr>
          <a:xfrm>
            <a:off x="1051560" y="171907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ArrayList and LinkedList</a:t>
            </a:r>
            <a:endParaRPr lang="en-US" sz="1500" dirty="0"/>
          </a:p>
        </p:txBody>
      </p:sp>
      <p:sp>
        <p:nvSpPr>
          <p:cNvPr id="6" name="Text 4"/>
          <p:cNvSpPr/>
          <p:nvPr/>
        </p:nvSpPr>
        <p:spPr>
          <a:xfrm>
            <a:off x="548640" y="226771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02</a:t>
            </a:r>
            <a:endParaRPr lang="en-US" sz="1500" dirty="0"/>
          </a:p>
        </p:txBody>
      </p:sp>
      <p:sp>
        <p:nvSpPr>
          <p:cNvPr id="7" name="Text 5"/>
          <p:cNvSpPr/>
          <p:nvPr/>
        </p:nvSpPr>
        <p:spPr>
          <a:xfrm>
            <a:off x="1051560" y="226771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HashSet and TreeSet</a:t>
            </a:r>
            <a:endParaRPr lang="en-US" sz="1500" dirty="0"/>
          </a:p>
        </p:txBody>
      </p:sp>
      <p:sp>
        <p:nvSpPr>
          <p:cNvPr id="8" name="Text 6"/>
          <p:cNvSpPr/>
          <p:nvPr/>
        </p:nvSpPr>
        <p:spPr>
          <a:xfrm>
            <a:off x="548640" y="281635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03</a:t>
            </a:r>
            <a:endParaRPr lang="en-US" sz="1500" dirty="0"/>
          </a:p>
        </p:txBody>
      </p:sp>
      <p:sp>
        <p:nvSpPr>
          <p:cNvPr id="9" name="Text 7"/>
          <p:cNvSpPr/>
          <p:nvPr/>
        </p:nvSpPr>
        <p:spPr>
          <a:xfrm>
            <a:off x="1051560" y="281635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HashMap and TreeMap</a:t>
            </a:r>
            <a:endParaRPr lang="en-US" sz="1500" dirty="0"/>
          </a:p>
        </p:txBody>
      </p:sp>
      <p:sp>
        <p:nvSpPr>
          <p:cNvPr id="10" name="Text 8"/>
          <p:cNvSpPr/>
          <p:nvPr/>
        </p:nvSpPr>
        <p:spPr>
          <a:xfrm>
            <a:off x="548640" y="336499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04</a:t>
            </a:r>
            <a:endParaRPr lang="en-US" sz="1500" dirty="0"/>
          </a:p>
        </p:txBody>
      </p:sp>
      <p:sp>
        <p:nvSpPr>
          <p:cNvPr id="11" name="Text 9"/>
          <p:cNvSpPr/>
          <p:nvPr/>
        </p:nvSpPr>
        <p:spPr>
          <a:xfrm>
            <a:off x="1051560" y="336499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Queue and Stack</a:t>
            </a:r>
            <a:endParaRPr lang="en-US" sz="1500" dirty="0"/>
          </a:p>
        </p:txBody>
      </p:sp>
      <p:sp>
        <p:nvSpPr>
          <p:cNvPr id="12" name="Text 10"/>
          <p:cNvSpPr/>
          <p:nvPr/>
        </p:nvSpPr>
        <p:spPr>
          <a:xfrm>
            <a:off x="548640" y="391363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05</a:t>
            </a:r>
            <a:endParaRPr lang="en-US" sz="1500" dirty="0"/>
          </a:p>
        </p:txBody>
      </p:sp>
      <p:sp>
        <p:nvSpPr>
          <p:cNvPr id="13" name="Text 11"/>
          <p:cNvSpPr/>
          <p:nvPr/>
        </p:nvSpPr>
        <p:spPr>
          <a:xfrm>
            <a:off x="1051560" y="391363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Iterator</a:t>
            </a:r>
            <a:endParaRPr lang="en-US" sz="1500" dirty="0"/>
          </a:p>
        </p:txBody>
      </p:sp>
      <p:sp>
        <p:nvSpPr>
          <p:cNvPr id="14" name="Text 12"/>
          <p:cNvSpPr/>
          <p:nvPr/>
        </p:nvSpPr>
        <p:spPr>
          <a:xfrm>
            <a:off x="6263640" y="171907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06</a:t>
            </a:r>
            <a:endParaRPr lang="en-US" sz="1500" dirty="0"/>
          </a:p>
        </p:txBody>
      </p:sp>
      <p:sp>
        <p:nvSpPr>
          <p:cNvPr id="15" name="Text 13"/>
          <p:cNvSpPr/>
          <p:nvPr/>
        </p:nvSpPr>
        <p:spPr>
          <a:xfrm>
            <a:off x="6766560" y="171907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Comparable and Comparator</a:t>
            </a:r>
            <a:endParaRPr lang="en-US" sz="1500" dirty="0"/>
          </a:p>
        </p:txBody>
      </p:sp>
      <p:sp>
        <p:nvSpPr>
          <p:cNvPr id="16" name="Text 14"/>
          <p:cNvSpPr/>
          <p:nvPr/>
        </p:nvSpPr>
        <p:spPr>
          <a:xfrm>
            <a:off x="6263640" y="226771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07</a:t>
            </a:r>
            <a:endParaRPr lang="en-US" sz="1500" dirty="0"/>
          </a:p>
        </p:txBody>
      </p:sp>
      <p:sp>
        <p:nvSpPr>
          <p:cNvPr id="17" name="Text 15"/>
          <p:cNvSpPr/>
          <p:nvPr/>
        </p:nvSpPr>
        <p:spPr>
          <a:xfrm>
            <a:off x="6766560" y="226771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Generics</a:t>
            </a:r>
            <a:endParaRPr lang="en-US" sz="1500" dirty="0"/>
          </a:p>
        </p:txBody>
      </p:sp>
      <p:sp>
        <p:nvSpPr>
          <p:cNvPr id="18" name="Text 16"/>
          <p:cNvSpPr/>
          <p:nvPr/>
        </p:nvSpPr>
        <p:spPr>
          <a:xfrm>
            <a:off x="6263640" y="281635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08</a:t>
            </a:r>
            <a:endParaRPr lang="en-US" sz="1500" dirty="0"/>
          </a:p>
        </p:txBody>
      </p:sp>
      <p:sp>
        <p:nvSpPr>
          <p:cNvPr id="19" name="Text 17"/>
          <p:cNvSpPr/>
          <p:nvPr/>
        </p:nvSpPr>
        <p:spPr>
          <a:xfrm>
            <a:off x="6766560" y="281635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Lambda Expressions</a:t>
            </a:r>
            <a:endParaRPr lang="en-US" sz="1500" dirty="0"/>
          </a:p>
        </p:txBody>
      </p:sp>
      <p:sp>
        <p:nvSpPr>
          <p:cNvPr id="20" name="Text 18"/>
          <p:cNvSpPr/>
          <p:nvPr/>
        </p:nvSpPr>
        <p:spPr>
          <a:xfrm>
            <a:off x="6263640" y="336499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09</a:t>
            </a:r>
            <a:endParaRPr lang="en-US" sz="1500" dirty="0"/>
          </a:p>
        </p:txBody>
      </p:sp>
      <p:sp>
        <p:nvSpPr>
          <p:cNvPr id="21" name="Text 19"/>
          <p:cNvSpPr/>
          <p:nvPr/>
        </p:nvSpPr>
        <p:spPr>
          <a:xfrm>
            <a:off x="6766560" y="336499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Stream API</a:t>
            </a:r>
            <a:endParaRPr lang="en-US" sz="1500" dirty="0"/>
          </a:p>
        </p:txBody>
      </p:sp>
      <p:sp>
        <p:nvSpPr>
          <p:cNvPr id="22" name="Text 20"/>
          <p:cNvSpPr/>
          <p:nvPr/>
        </p:nvSpPr>
        <p:spPr>
          <a:xfrm>
            <a:off x="6263640" y="391363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10</a:t>
            </a:r>
            <a:endParaRPr lang="en-US" sz="1500" dirty="0"/>
          </a:p>
        </p:txBody>
      </p:sp>
      <p:sp>
        <p:nvSpPr>
          <p:cNvPr id="23" name="Text 21"/>
          <p:cNvSpPr/>
          <p:nvPr/>
        </p:nvSpPr>
        <p:spPr>
          <a:xfrm>
            <a:off x="6766560" y="391363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Optional</a:t>
            </a:r>
            <a:endParaRPr lang="en-US" sz="1500" dirty="0"/>
          </a:p>
        </p:txBody>
      </p:sp>
      <p:sp>
        <p:nvSpPr>
          <p:cNvPr id="24" name="Shape 22"/>
          <p:cNvSpPr/>
          <p:nvPr/>
        </p:nvSpPr>
        <p:spPr>
          <a:xfrm>
            <a:off x="0" y="0"/>
            <a:ext cx="12191695" cy="384048"/>
          </a:xfrm>
          <a:prstGeom prst="rect">
            <a:avLst/>
          </a:prstGeom>
          <a:solidFill>
            <a:srgbClr val="1B2A4A"/>
          </a:solidFill>
          <a:ln w="12700">
            <a:solidFill>
              <a:srgbClr val="1B2A4A"/>
            </a:solidFill>
            <a:prstDash val="solid"/>
          </a:ln>
        </p:spPr>
      </p:sp>
      <p:sp>
        <p:nvSpPr>
          <p:cNvPr id="25" name="Text 2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26" name="Shape 24"/>
          <p:cNvSpPr/>
          <p:nvPr/>
        </p:nvSpPr>
        <p:spPr>
          <a:xfrm>
            <a:off x="219456" y="301752"/>
            <a:ext cx="960120" cy="0"/>
          </a:xfrm>
          <a:prstGeom prst="line">
            <a:avLst/>
          </a:prstGeom>
          <a:noFill/>
          <a:ln w="9525">
            <a:solidFill>
              <a:srgbClr val="4A5570"/>
            </a:solidFill>
            <a:prstDash val="solid"/>
          </a:ln>
        </p:spPr>
      </p:sp>
      <p:sp>
        <p:nvSpPr>
          <p:cNvPr id="27" name="Text 2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8" name="Text 2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9" name="Text 2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30" name="Shape 28"/>
          <p:cNvSpPr/>
          <p:nvPr/>
        </p:nvSpPr>
        <p:spPr>
          <a:xfrm>
            <a:off x="0" y="6291072"/>
            <a:ext cx="12191695" cy="566928"/>
          </a:xfrm>
          <a:prstGeom prst="rect">
            <a:avLst/>
          </a:prstGeom>
          <a:solidFill>
            <a:srgbClr val="1B2A4A"/>
          </a:solidFill>
          <a:ln w="12700">
            <a:solidFill>
              <a:srgbClr val="1B2A4A"/>
            </a:solidFill>
            <a:prstDash val="solid"/>
          </a:ln>
        </p:spPr>
      </p:sp>
      <p:sp>
        <p:nvSpPr>
          <p:cNvPr id="31" name="Text 2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32" name="Text 3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PREREQUISITES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Before Day Three</a:t>
            </a:r>
            <a:endParaRPr lang="en-US" sz="2700" dirty="0"/>
          </a:p>
        </p:txBody>
      </p:sp>
      <p:sp>
        <p:nvSpPr>
          <p:cNvPr id="4" name="Text 2"/>
          <p:cNvSpPr/>
          <p:nvPr/>
        </p:nvSpPr>
        <p:spPr>
          <a:xfrm>
            <a:off x="548640" y="1554480"/>
            <a:ext cx="10789920" cy="365760"/>
          </a:xfrm>
          <a:prstGeom prst="rect">
            <a:avLst/>
          </a:prstGeom>
          <a:noFill/>
          <a:ln/>
        </p:spPr>
        <p:txBody>
          <a:bodyPr wrap="square" lIns="0" tIns="0" rIns="0" bIns="0" rtlCol="0" anchor="ctr"/>
          <a:lstStyle/>
          <a:p>
            <a:pPr marL="0" indent="0">
              <a:buNone/>
            </a:pPr>
            <a:r>
              <a:rPr lang="en-US" sz="1300" i="1" dirty="0">
                <a:solidFill>
                  <a:srgbClr val="5A6472"/>
                </a:solidFill>
                <a:latin typeface="Times New Roman" pitchFamily="34" charset="0"/>
                <a:ea typeface="Times New Roman" pitchFamily="34" charset="-122"/>
                <a:cs typeface="Times New Roman" pitchFamily="34" charset="-120"/>
              </a:rPr>
              <a:t>This session builds directly on Sessions 1 and 2.</a:t>
            </a:r>
            <a:endParaRPr lang="en-US" sz="1300" dirty="0"/>
          </a:p>
        </p:txBody>
      </p:sp>
      <p:sp>
        <p:nvSpPr>
          <p:cNvPr id="5" name="Shape 3"/>
          <p:cNvSpPr/>
          <p:nvPr/>
        </p:nvSpPr>
        <p:spPr>
          <a:xfrm>
            <a:off x="594360" y="2011680"/>
            <a:ext cx="10607040" cy="702259"/>
          </a:xfrm>
          <a:prstGeom prst="roundRect">
            <a:avLst>
              <a:gd name="adj" fmla="val 7813"/>
            </a:avLst>
          </a:prstGeom>
          <a:solidFill>
            <a:srgbClr val="F5F6FA"/>
          </a:solidFill>
          <a:ln w="9525">
            <a:solidFill>
              <a:srgbClr val="E4E7EE"/>
            </a:solidFill>
            <a:prstDash val="solid"/>
          </a:ln>
        </p:spPr>
      </p:sp>
      <p:sp>
        <p:nvSpPr>
          <p:cNvPr id="6" name="Text 4"/>
          <p:cNvSpPr/>
          <p:nvPr/>
        </p:nvSpPr>
        <p:spPr>
          <a:xfrm>
            <a:off x="777240" y="2011680"/>
            <a:ext cx="457200" cy="702259"/>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1.</a:t>
            </a:r>
            <a:endParaRPr lang="en-US" sz="1500" dirty="0"/>
          </a:p>
        </p:txBody>
      </p:sp>
      <p:sp>
        <p:nvSpPr>
          <p:cNvPr id="7" name="Text 5"/>
          <p:cNvSpPr/>
          <p:nvPr/>
        </p:nvSpPr>
        <p:spPr>
          <a:xfrm>
            <a:off x="1234440" y="2011680"/>
            <a:ext cx="9784080" cy="702259"/>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Completion of Session 1 (Java Programming Fundamentals) and Session 2 (Advanced Java and OOP)</a:t>
            </a:r>
            <a:endParaRPr lang="en-US" sz="1400" dirty="0"/>
          </a:p>
        </p:txBody>
      </p:sp>
      <p:sp>
        <p:nvSpPr>
          <p:cNvPr id="8" name="Shape 6"/>
          <p:cNvSpPr/>
          <p:nvPr/>
        </p:nvSpPr>
        <p:spPr>
          <a:xfrm>
            <a:off x="594360" y="2841955"/>
            <a:ext cx="10607040" cy="702259"/>
          </a:xfrm>
          <a:prstGeom prst="roundRect">
            <a:avLst>
              <a:gd name="adj" fmla="val 7813"/>
            </a:avLst>
          </a:prstGeom>
          <a:solidFill>
            <a:srgbClr val="F5F6FA"/>
          </a:solidFill>
          <a:ln w="9525">
            <a:solidFill>
              <a:srgbClr val="E4E7EE"/>
            </a:solidFill>
            <a:prstDash val="solid"/>
          </a:ln>
        </p:spPr>
      </p:sp>
      <p:sp>
        <p:nvSpPr>
          <p:cNvPr id="9" name="Text 7"/>
          <p:cNvSpPr/>
          <p:nvPr/>
        </p:nvSpPr>
        <p:spPr>
          <a:xfrm>
            <a:off x="777240" y="2841955"/>
            <a:ext cx="457200" cy="702259"/>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2.</a:t>
            </a:r>
            <a:endParaRPr lang="en-US" sz="1500" dirty="0"/>
          </a:p>
        </p:txBody>
      </p:sp>
      <p:sp>
        <p:nvSpPr>
          <p:cNvPr id="10" name="Text 8"/>
          <p:cNvSpPr/>
          <p:nvPr/>
        </p:nvSpPr>
        <p:spPr>
          <a:xfrm>
            <a:off x="1234440" y="2841955"/>
            <a:ext cx="9784080" cy="702259"/>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Comfortable with arrays, methods, classes, interfaces, and inheritance</a:t>
            </a:r>
            <a:endParaRPr lang="en-US" sz="1400" dirty="0"/>
          </a:p>
        </p:txBody>
      </p:sp>
      <p:sp>
        <p:nvSpPr>
          <p:cNvPr id="11" name="Shape 9"/>
          <p:cNvSpPr/>
          <p:nvPr/>
        </p:nvSpPr>
        <p:spPr>
          <a:xfrm>
            <a:off x="594360" y="3672230"/>
            <a:ext cx="10607040" cy="702259"/>
          </a:xfrm>
          <a:prstGeom prst="roundRect">
            <a:avLst>
              <a:gd name="adj" fmla="val 7813"/>
            </a:avLst>
          </a:prstGeom>
          <a:solidFill>
            <a:srgbClr val="F5F6FA"/>
          </a:solidFill>
          <a:ln w="9525">
            <a:solidFill>
              <a:srgbClr val="E4E7EE"/>
            </a:solidFill>
            <a:prstDash val="solid"/>
          </a:ln>
        </p:spPr>
      </p:sp>
      <p:sp>
        <p:nvSpPr>
          <p:cNvPr id="12" name="Text 10"/>
          <p:cNvSpPr/>
          <p:nvPr/>
        </p:nvSpPr>
        <p:spPr>
          <a:xfrm>
            <a:off x="777240" y="3672230"/>
            <a:ext cx="457200" cy="702259"/>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3.</a:t>
            </a:r>
            <a:endParaRPr lang="en-US" sz="1500" dirty="0"/>
          </a:p>
        </p:txBody>
      </p:sp>
      <p:sp>
        <p:nvSpPr>
          <p:cNvPr id="13" name="Text 11"/>
          <p:cNvSpPr/>
          <p:nvPr/>
        </p:nvSpPr>
        <p:spPr>
          <a:xfrm>
            <a:off x="1234440" y="3672230"/>
            <a:ext cx="9784080" cy="702259"/>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Able to read and write a multi-class program involving polymorphism</a:t>
            </a:r>
            <a:endParaRPr lang="en-US" sz="1400" dirty="0"/>
          </a:p>
        </p:txBody>
      </p:sp>
      <p:sp>
        <p:nvSpPr>
          <p:cNvPr id="14" name="Shape 12"/>
          <p:cNvSpPr/>
          <p:nvPr/>
        </p:nvSpPr>
        <p:spPr>
          <a:xfrm>
            <a:off x="594360" y="4502506"/>
            <a:ext cx="10607040" cy="702259"/>
          </a:xfrm>
          <a:prstGeom prst="roundRect">
            <a:avLst>
              <a:gd name="adj" fmla="val 7813"/>
            </a:avLst>
          </a:prstGeom>
          <a:solidFill>
            <a:srgbClr val="F5F6FA"/>
          </a:solidFill>
          <a:ln w="9525">
            <a:solidFill>
              <a:srgbClr val="E4E7EE"/>
            </a:solidFill>
            <a:prstDash val="solid"/>
          </a:ln>
        </p:spPr>
      </p:sp>
      <p:sp>
        <p:nvSpPr>
          <p:cNvPr id="15" name="Text 13"/>
          <p:cNvSpPr/>
          <p:nvPr/>
        </p:nvSpPr>
        <p:spPr>
          <a:xfrm>
            <a:off x="777240" y="4502506"/>
            <a:ext cx="457200" cy="702259"/>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4.</a:t>
            </a:r>
            <a:endParaRPr lang="en-US" sz="1500" dirty="0"/>
          </a:p>
        </p:txBody>
      </p:sp>
      <p:sp>
        <p:nvSpPr>
          <p:cNvPr id="16" name="Text 14"/>
          <p:cNvSpPr/>
          <p:nvPr/>
        </p:nvSpPr>
        <p:spPr>
          <a:xfrm>
            <a:off x="1234440" y="4502506"/>
            <a:ext cx="9784080" cy="702259"/>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JDK 17 or later and an IDE installed and verified, as set up in Session 1</a:t>
            </a:r>
            <a:endParaRPr lang="en-US" sz="1400" dirty="0"/>
          </a:p>
        </p:txBody>
      </p:sp>
      <p:sp>
        <p:nvSpPr>
          <p:cNvPr id="17" name="Shape 15"/>
          <p:cNvSpPr/>
          <p:nvPr/>
        </p:nvSpPr>
        <p:spPr>
          <a:xfrm>
            <a:off x="594360" y="5332781"/>
            <a:ext cx="10607040" cy="702259"/>
          </a:xfrm>
          <a:prstGeom prst="roundRect">
            <a:avLst>
              <a:gd name="adj" fmla="val 7813"/>
            </a:avLst>
          </a:prstGeom>
          <a:solidFill>
            <a:srgbClr val="F5F6FA"/>
          </a:solidFill>
          <a:ln w="9525">
            <a:solidFill>
              <a:srgbClr val="E4E7EE"/>
            </a:solidFill>
            <a:prstDash val="solid"/>
          </a:ln>
        </p:spPr>
      </p:sp>
      <p:sp>
        <p:nvSpPr>
          <p:cNvPr id="18" name="Text 16"/>
          <p:cNvSpPr/>
          <p:nvPr/>
        </p:nvSpPr>
        <p:spPr>
          <a:xfrm>
            <a:off x="777240" y="5332781"/>
            <a:ext cx="457200" cy="702259"/>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5.</a:t>
            </a:r>
            <a:endParaRPr lang="en-US" sz="1500" dirty="0"/>
          </a:p>
        </p:txBody>
      </p:sp>
      <p:sp>
        <p:nvSpPr>
          <p:cNvPr id="19" name="Text 17"/>
          <p:cNvSpPr/>
          <p:nvPr/>
        </p:nvSpPr>
        <p:spPr>
          <a:xfrm>
            <a:off x="1234440" y="5332781"/>
            <a:ext cx="9784080" cy="702259"/>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A genuine willingness to work through examples that involve more abstract, general-purpose code</a:t>
            </a:r>
            <a:endParaRPr lang="en-US" sz="1400" dirty="0"/>
          </a:p>
        </p:txBody>
      </p:sp>
      <p:sp>
        <p:nvSpPr>
          <p:cNvPr id="20" name="Shape 18"/>
          <p:cNvSpPr/>
          <p:nvPr/>
        </p:nvSpPr>
        <p:spPr>
          <a:xfrm>
            <a:off x="0" y="0"/>
            <a:ext cx="12191695" cy="384048"/>
          </a:xfrm>
          <a:prstGeom prst="rect">
            <a:avLst/>
          </a:prstGeom>
          <a:solidFill>
            <a:srgbClr val="1B2A4A"/>
          </a:solidFill>
          <a:ln w="12700">
            <a:solidFill>
              <a:srgbClr val="1B2A4A"/>
            </a:solidFill>
            <a:prstDash val="solid"/>
          </a:ln>
        </p:spPr>
      </p:sp>
      <p:sp>
        <p:nvSpPr>
          <p:cNvPr id="21" name="Text 19"/>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22" name="Shape 20"/>
          <p:cNvSpPr/>
          <p:nvPr/>
        </p:nvSpPr>
        <p:spPr>
          <a:xfrm>
            <a:off x="219456" y="301752"/>
            <a:ext cx="960120" cy="0"/>
          </a:xfrm>
          <a:prstGeom prst="line">
            <a:avLst/>
          </a:prstGeom>
          <a:noFill/>
          <a:ln w="9525">
            <a:solidFill>
              <a:srgbClr val="4A5570"/>
            </a:solidFill>
            <a:prstDash val="solid"/>
          </a:ln>
        </p:spPr>
      </p:sp>
      <p:sp>
        <p:nvSpPr>
          <p:cNvPr id="23" name="Text 21"/>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4" name="Text 22"/>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5" name="Text 23"/>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6" name="Shape 24"/>
          <p:cNvSpPr/>
          <p:nvPr/>
        </p:nvSpPr>
        <p:spPr>
          <a:xfrm>
            <a:off x="0" y="6291072"/>
            <a:ext cx="12191695" cy="566928"/>
          </a:xfrm>
          <a:prstGeom prst="rect">
            <a:avLst/>
          </a:prstGeom>
          <a:solidFill>
            <a:srgbClr val="1B2A4A"/>
          </a:solidFill>
          <a:ln w="12700">
            <a:solidFill>
              <a:srgbClr val="1B2A4A"/>
            </a:solidFill>
            <a:prstDash val="solid"/>
          </a:ln>
        </p:spPr>
      </p:sp>
      <p:sp>
        <p:nvSpPr>
          <p:cNvPr id="27" name="Text 25"/>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8" name="Text 26"/>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MODULE OBJECTIVE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By the End of This Session</a:t>
            </a:r>
            <a:endParaRPr lang="en-US" sz="2700" dirty="0"/>
          </a:p>
        </p:txBody>
      </p:sp>
      <p:sp>
        <p:nvSpPr>
          <p:cNvPr id="4" name="Shape 2"/>
          <p:cNvSpPr/>
          <p:nvPr/>
        </p:nvSpPr>
        <p:spPr>
          <a:xfrm>
            <a:off x="594360" y="1554480"/>
            <a:ext cx="10607040" cy="448056"/>
          </a:xfrm>
          <a:prstGeom prst="roundRect">
            <a:avLst>
              <a:gd name="adj" fmla="val 12245"/>
            </a:avLst>
          </a:prstGeom>
          <a:solidFill>
            <a:srgbClr val="F5F6FA"/>
          </a:solidFill>
          <a:ln w="9525">
            <a:solidFill>
              <a:srgbClr val="E4E7EE"/>
            </a:solidFill>
            <a:prstDash val="solid"/>
          </a:ln>
        </p:spPr>
      </p:sp>
      <p:sp>
        <p:nvSpPr>
          <p:cNvPr id="5" name="Text 3"/>
          <p:cNvSpPr/>
          <p:nvPr/>
        </p:nvSpPr>
        <p:spPr>
          <a:xfrm>
            <a:off x="777240" y="1554480"/>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1.</a:t>
            </a:r>
            <a:endParaRPr lang="en-US" sz="1500" dirty="0"/>
          </a:p>
        </p:txBody>
      </p:sp>
      <p:sp>
        <p:nvSpPr>
          <p:cNvPr id="6" name="Text 4"/>
          <p:cNvSpPr/>
          <p:nvPr/>
        </p:nvSpPr>
        <p:spPr>
          <a:xfrm>
            <a:off x="1234440" y="1554480"/>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Choose and use the right List, Set, or Map implementation for a given problem</a:t>
            </a:r>
            <a:endParaRPr lang="en-US" sz="1400" dirty="0"/>
          </a:p>
        </p:txBody>
      </p:sp>
      <p:sp>
        <p:nvSpPr>
          <p:cNvPr id="7" name="Shape 5"/>
          <p:cNvSpPr/>
          <p:nvPr/>
        </p:nvSpPr>
        <p:spPr>
          <a:xfrm>
            <a:off x="594360" y="2130552"/>
            <a:ext cx="10607040" cy="448056"/>
          </a:xfrm>
          <a:prstGeom prst="roundRect">
            <a:avLst>
              <a:gd name="adj" fmla="val 12245"/>
            </a:avLst>
          </a:prstGeom>
          <a:solidFill>
            <a:srgbClr val="F5F6FA"/>
          </a:solidFill>
          <a:ln w="9525">
            <a:solidFill>
              <a:srgbClr val="E4E7EE"/>
            </a:solidFill>
            <a:prstDash val="solid"/>
          </a:ln>
        </p:spPr>
      </p:sp>
      <p:sp>
        <p:nvSpPr>
          <p:cNvPr id="8" name="Text 6"/>
          <p:cNvSpPr/>
          <p:nvPr/>
        </p:nvSpPr>
        <p:spPr>
          <a:xfrm>
            <a:off x="777240" y="2130552"/>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2.</a:t>
            </a:r>
            <a:endParaRPr lang="en-US" sz="1500" dirty="0"/>
          </a:p>
        </p:txBody>
      </p:sp>
      <p:sp>
        <p:nvSpPr>
          <p:cNvPr id="9" name="Text 7"/>
          <p:cNvSpPr/>
          <p:nvPr/>
        </p:nvSpPr>
        <p:spPr>
          <a:xfrm>
            <a:off x="1234440" y="2130552"/>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Use Queue and Stack implementations to model ordered and last-in-first-out data</a:t>
            </a:r>
            <a:endParaRPr lang="en-US" sz="1400" dirty="0"/>
          </a:p>
        </p:txBody>
      </p:sp>
      <p:sp>
        <p:nvSpPr>
          <p:cNvPr id="10" name="Shape 8"/>
          <p:cNvSpPr/>
          <p:nvPr/>
        </p:nvSpPr>
        <p:spPr>
          <a:xfrm>
            <a:off x="594360" y="2706624"/>
            <a:ext cx="10607040" cy="448056"/>
          </a:xfrm>
          <a:prstGeom prst="roundRect">
            <a:avLst>
              <a:gd name="adj" fmla="val 12245"/>
            </a:avLst>
          </a:prstGeom>
          <a:solidFill>
            <a:srgbClr val="F5F6FA"/>
          </a:solidFill>
          <a:ln w="9525">
            <a:solidFill>
              <a:srgbClr val="E4E7EE"/>
            </a:solidFill>
            <a:prstDash val="solid"/>
          </a:ln>
        </p:spPr>
      </p:sp>
      <p:sp>
        <p:nvSpPr>
          <p:cNvPr id="11" name="Text 9"/>
          <p:cNvSpPr/>
          <p:nvPr/>
        </p:nvSpPr>
        <p:spPr>
          <a:xfrm>
            <a:off x="777240" y="2706624"/>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3.</a:t>
            </a:r>
            <a:endParaRPr lang="en-US" sz="1500" dirty="0"/>
          </a:p>
        </p:txBody>
      </p:sp>
      <p:sp>
        <p:nvSpPr>
          <p:cNvPr id="12" name="Text 10"/>
          <p:cNvSpPr/>
          <p:nvPr/>
        </p:nvSpPr>
        <p:spPr>
          <a:xfrm>
            <a:off x="1234440" y="2706624"/>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Traverse and safely modify a collection using an Iterator</a:t>
            </a:r>
            <a:endParaRPr lang="en-US" sz="1400" dirty="0"/>
          </a:p>
        </p:txBody>
      </p:sp>
      <p:sp>
        <p:nvSpPr>
          <p:cNvPr id="13" name="Shape 11"/>
          <p:cNvSpPr/>
          <p:nvPr/>
        </p:nvSpPr>
        <p:spPr>
          <a:xfrm>
            <a:off x="594360" y="3282696"/>
            <a:ext cx="10607040" cy="448056"/>
          </a:xfrm>
          <a:prstGeom prst="roundRect">
            <a:avLst>
              <a:gd name="adj" fmla="val 12245"/>
            </a:avLst>
          </a:prstGeom>
          <a:solidFill>
            <a:srgbClr val="F5F6FA"/>
          </a:solidFill>
          <a:ln w="9525">
            <a:solidFill>
              <a:srgbClr val="E4E7EE"/>
            </a:solidFill>
            <a:prstDash val="solid"/>
          </a:ln>
        </p:spPr>
      </p:sp>
      <p:sp>
        <p:nvSpPr>
          <p:cNvPr id="14" name="Text 12"/>
          <p:cNvSpPr/>
          <p:nvPr/>
        </p:nvSpPr>
        <p:spPr>
          <a:xfrm>
            <a:off x="777240" y="3282696"/>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4.</a:t>
            </a:r>
            <a:endParaRPr lang="en-US" sz="1500" dirty="0"/>
          </a:p>
        </p:txBody>
      </p:sp>
      <p:sp>
        <p:nvSpPr>
          <p:cNvPr id="15" name="Text 13"/>
          <p:cNvSpPr/>
          <p:nvPr/>
        </p:nvSpPr>
        <p:spPr>
          <a:xfrm>
            <a:off x="1234440" y="3282696"/>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Sort custom objects using Comparable and Comparator</a:t>
            </a:r>
            <a:endParaRPr lang="en-US" sz="1400" dirty="0"/>
          </a:p>
        </p:txBody>
      </p:sp>
      <p:sp>
        <p:nvSpPr>
          <p:cNvPr id="16" name="Shape 14"/>
          <p:cNvSpPr/>
          <p:nvPr/>
        </p:nvSpPr>
        <p:spPr>
          <a:xfrm>
            <a:off x="594360" y="3858768"/>
            <a:ext cx="10607040" cy="448056"/>
          </a:xfrm>
          <a:prstGeom prst="roundRect">
            <a:avLst>
              <a:gd name="adj" fmla="val 12245"/>
            </a:avLst>
          </a:prstGeom>
          <a:solidFill>
            <a:srgbClr val="F5F6FA"/>
          </a:solidFill>
          <a:ln w="9525">
            <a:solidFill>
              <a:srgbClr val="E4E7EE"/>
            </a:solidFill>
            <a:prstDash val="solid"/>
          </a:ln>
        </p:spPr>
      </p:sp>
      <p:sp>
        <p:nvSpPr>
          <p:cNvPr id="17" name="Text 15"/>
          <p:cNvSpPr/>
          <p:nvPr/>
        </p:nvSpPr>
        <p:spPr>
          <a:xfrm>
            <a:off x="777240" y="3858768"/>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5.</a:t>
            </a:r>
            <a:endParaRPr lang="en-US" sz="1500" dirty="0"/>
          </a:p>
        </p:txBody>
      </p:sp>
      <p:sp>
        <p:nvSpPr>
          <p:cNvPr id="18" name="Text 16"/>
          <p:cNvSpPr/>
          <p:nvPr/>
        </p:nvSpPr>
        <p:spPr>
          <a:xfrm>
            <a:off x="1234440" y="3858768"/>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Write generic classes and methods that work safely across different types</a:t>
            </a:r>
            <a:endParaRPr lang="en-US" sz="1400" dirty="0"/>
          </a:p>
        </p:txBody>
      </p:sp>
      <p:sp>
        <p:nvSpPr>
          <p:cNvPr id="19" name="Shape 17"/>
          <p:cNvSpPr/>
          <p:nvPr/>
        </p:nvSpPr>
        <p:spPr>
          <a:xfrm>
            <a:off x="594360" y="4434840"/>
            <a:ext cx="10607040" cy="448056"/>
          </a:xfrm>
          <a:prstGeom prst="roundRect">
            <a:avLst>
              <a:gd name="adj" fmla="val 12245"/>
            </a:avLst>
          </a:prstGeom>
          <a:solidFill>
            <a:srgbClr val="F5F6FA"/>
          </a:solidFill>
          <a:ln w="9525">
            <a:solidFill>
              <a:srgbClr val="E4E7EE"/>
            </a:solidFill>
            <a:prstDash val="solid"/>
          </a:ln>
        </p:spPr>
      </p:sp>
      <p:sp>
        <p:nvSpPr>
          <p:cNvPr id="20" name="Text 18"/>
          <p:cNvSpPr/>
          <p:nvPr/>
        </p:nvSpPr>
        <p:spPr>
          <a:xfrm>
            <a:off x="777240" y="4434840"/>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6.</a:t>
            </a:r>
            <a:endParaRPr lang="en-US" sz="1500" dirty="0"/>
          </a:p>
        </p:txBody>
      </p:sp>
      <p:sp>
        <p:nvSpPr>
          <p:cNvPr id="21" name="Text 19"/>
          <p:cNvSpPr/>
          <p:nvPr/>
        </p:nvSpPr>
        <p:spPr>
          <a:xfrm>
            <a:off x="1234440" y="4434840"/>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Write lambda expressions and use built-in functional interfaces</a:t>
            </a:r>
            <a:endParaRPr lang="en-US" sz="1400" dirty="0"/>
          </a:p>
        </p:txBody>
      </p:sp>
      <p:sp>
        <p:nvSpPr>
          <p:cNvPr id="22" name="Shape 20"/>
          <p:cNvSpPr/>
          <p:nvPr/>
        </p:nvSpPr>
        <p:spPr>
          <a:xfrm>
            <a:off x="594360" y="5010912"/>
            <a:ext cx="10607040" cy="448056"/>
          </a:xfrm>
          <a:prstGeom prst="roundRect">
            <a:avLst>
              <a:gd name="adj" fmla="val 12245"/>
            </a:avLst>
          </a:prstGeom>
          <a:solidFill>
            <a:srgbClr val="F5F6FA"/>
          </a:solidFill>
          <a:ln w="9525">
            <a:solidFill>
              <a:srgbClr val="E4E7EE"/>
            </a:solidFill>
            <a:prstDash val="solid"/>
          </a:ln>
        </p:spPr>
      </p:sp>
      <p:sp>
        <p:nvSpPr>
          <p:cNvPr id="23" name="Text 21"/>
          <p:cNvSpPr/>
          <p:nvPr/>
        </p:nvSpPr>
        <p:spPr>
          <a:xfrm>
            <a:off x="777240" y="5010912"/>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7.</a:t>
            </a:r>
            <a:endParaRPr lang="en-US" sz="1500" dirty="0"/>
          </a:p>
        </p:txBody>
      </p:sp>
      <p:sp>
        <p:nvSpPr>
          <p:cNvPr id="24" name="Text 22"/>
          <p:cNvSpPr/>
          <p:nvPr/>
        </p:nvSpPr>
        <p:spPr>
          <a:xfrm>
            <a:off x="1234440" y="5010912"/>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Process collections declaratively using the Stream API</a:t>
            </a:r>
            <a:endParaRPr lang="en-US" sz="1400" dirty="0"/>
          </a:p>
        </p:txBody>
      </p:sp>
      <p:sp>
        <p:nvSpPr>
          <p:cNvPr id="25" name="Shape 23"/>
          <p:cNvSpPr/>
          <p:nvPr/>
        </p:nvSpPr>
        <p:spPr>
          <a:xfrm>
            <a:off x="594360" y="5586984"/>
            <a:ext cx="10607040" cy="448056"/>
          </a:xfrm>
          <a:prstGeom prst="roundRect">
            <a:avLst>
              <a:gd name="adj" fmla="val 12245"/>
            </a:avLst>
          </a:prstGeom>
          <a:solidFill>
            <a:srgbClr val="F5F6FA"/>
          </a:solidFill>
          <a:ln w="9525">
            <a:solidFill>
              <a:srgbClr val="E4E7EE"/>
            </a:solidFill>
            <a:prstDash val="solid"/>
          </a:ln>
        </p:spPr>
      </p:sp>
      <p:sp>
        <p:nvSpPr>
          <p:cNvPr id="26" name="Text 24"/>
          <p:cNvSpPr/>
          <p:nvPr/>
        </p:nvSpPr>
        <p:spPr>
          <a:xfrm>
            <a:off x="777240" y="5586984"/>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8.</a:t>
            </a:r>
            <a:endParaRPr lang="en-US" sz="1500" dirty="0"/>
          </a:p>
        </p:txBody>
      </p:sp>
      <p:sp>
        <p:nvSpPr>
          <p:cNvPr id="27" name="Text 25"/>
          <p:cNvSpPr/>
          <p:nvPr/>
        </p:nvSpPr>
        <p:spPr>
          <a:xfrm>
            <a:off x="1234440" y="5586984"/>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Handle possibly missing values safely using Optional</a:t>
            </a:r>
            <a:endParaRPr lang="en-US" sz="1400" dirty="0"/>
          </a:p>
        </p:txBody>
      </p:sp>
      <p:sp>
        <p:nvSpPr>
          <p:cNvPr id="28" name="Shape 26"/>
          <p:cNvSpPr/>
          <p:nvPr/>
        </p:nvSpPr>
        <p:spPr>
          <a:xfrm>
            <a:off x="0" y="0"/>
            <a:ext cx="12191695" cy="384048"/>
          </a:xfrm>
          <a:prstGeom prst="rect">
            <a:avLst/>
          </a:prstGeom>
          <a:solidFill>
            <a:srgbClr val="1B2A4A"/>
          </a:solidFill>
          <a:ln w="12700">
            <a:solidFill>
              <a:srgbClr val="1B2A4A"/>
            </a:solidFill>
            <a:prstDash val="solid"/>
          </a:ln>
        </p:spPr>
      </p:sp>
      <p:sp>
        <p:nvSpPr>
          <p:cNvPr id="29" name="Text 27"/>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30" name="Shape 28"/>
          <p:cNvSpPr/>
          <p:nvPr/>
        </p:nvSpPr>
        <p:spPr>
          <a:xfrm>
            <a:off x="219456" y="301752"/>
            <a:ext cx="960120" cy="0"/>
          </a:xfrm>
          <a:prstGeom prst="line">
            <a:avLst/>
          </a:prstGeom>
          <a:noFill/>
          <a:ln w="9525">
            <a:solidFill>
              <a:srgbClr val="4A5570"/>
            </a:solidFill>
            <a:prstDash val="solid"/>
          </a:ln>
        </p:spPr>
      </p:sp>
      <p:sp>
        <p:nvSpPr>
          <p:cNvPr id="31" name="Text 29"/>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32" name="Text 30"/>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33" name="Text 31"/>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34" name="Shape 32"/>
          <p:cNvSpPr/>
          <p:nvPr/>
        </p:nvSpPr>
        <p:spPr>
          <a:xfrm>
            <a:off x="0" y="6291072"/>
            <a:ext cx="12191695" cy="566928"/>
          </a:xfrm>
          <a:prstGeom prst="rect">
            <a:avLst/>
          </a:prstGeom>
          <a:solidFill>
            <a:srgbClr val="1B2A4A"/>
          </a:solidFill>
          <a:ln w="12700">
            <a:solidFill>
              <a:srgbClr val="1B2A4A"/>
            </a:solidFill>
            <a:prstDash val="solid"/>
          </a:ln>
        </p:spPr>
      </p:sp>
      <p:sp>
        <p:nvSpPr>
          <p:cNvPr id="35" name="Text 33"/>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36" name="Text 34"/>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1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ArrayList and LinkedList</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The two core implementations of the List interface</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Collections Framework: Why It Exists</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unified set of interfaces and classes for storing data</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Rather than every program inventing its own storage structures, Java provides tested, efficient, ready-to-use ones.</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Organized around a few core interfaces</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List, Set, Map, and Queue each describe a different way of organizing data, covered throughout this session.</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Builds directly on the Data Structures Non-Linear course</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Many of the ideas here, such as trees behind TreeSet, connect to what was studied earlier in the program.</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an ArrayList?</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resizable, ordered list backed by an array</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Unlike a plain array, an ArrayList grows and shrinks automatically as elements are added or removed.</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Implements the List interface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It preserves insertion order and allows duplicate elements.</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SETUP</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Creating and Adding to an ArrayList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type in angle brackets specifies what kind of elements the list will hold.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add() appends an element to the end of the list.</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ArrayList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ArrayListDemo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ArrayList</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&gt; names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ArrayList</a:t>
            </a:r>
            <a:r>
              <a:rPr lang="en-US" sz="1500" dirty="0">
                <a:solidFill>
                  <a:srgbClr val="D4D4D4"/>
                </a:solidFill>
                <a:latin typeface="Courier New" pitchFamily="34" charset="0"/>
                <a:ea typeface="Courier New" pitchFamily="34" charset="-122"/>
                <a:cs typeface="Courier New" pitchFamily="34" charset="-120"/>
              </a:rPr>
              <a:t>&lt;&gt;();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names.</a:t>
            </a:r>
            <a:r>
              <a:rPr lang="en-US" sz="1500" dirty="0">
                <a:solidFill>
                  <a:srgbClr val="DCDCAA"/>
                </a:solidFill>
                <a:latin typeface="Courier New" pitchFamily="34" charset="0"/>
                <a:ea typeface="Courier New" pitchFamily="34" charset="-122"/>
                <a:cs typeface="Courier New" pitchFamily="34" charset="-120"/>
              </a:rPr>
              <a:t>add</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names.</a:t>
            </a:r>
            <a:r>
              <a:rPr lang="en-US" sz="1500" dirty="0">
                <a:solidFill>
                  <a:srgbClr val="DCDCAA"/>
                </a:solidFill>
                <a:latin typeface="Courier New" pitchFamily="34" charset="0"/>
                <a:ea typeface="Courier New" pitchFamily="34" charset="-122"/>
                <a:cs typeface="Courier New" pitchFamily="34" charset="-120"/>
              </a:rPr>
              <a:t>add</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"Rahul"</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(names);</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OPERATIONS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Accessing, Updating, and Removing Elements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get(index) reads an element, set(index, value) replaces one, and remove() deletes one.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Each of these can operate by index or, for remove, by value.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ArrayListOps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ArrayList</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&gt; names =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ArrayList</a:t>
            </a:r>
            <a:r>
              <a:rPr lang="en-US" sz="1400" dirty="0">
                <a:solidFill>
                  <a:srgbClr val="D4D4D4"/>
                </a:solidFill>
                <a:latin typeface="Courier New" pitchFamily="34" charset="0"/>
                <a:ea typeface="Courier New" pitchFamily="34" charset="-122"/>
                <a:cs typeface="Courier New" pitchFamily="34" charset="-120"/>
              </a:rPr>
              <a:t>&lt;&gt;();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names.</a:t>
            </a:r>
            <a:r>
              <a:rPr lang="en-US" sz="1400" dirty="0">
                <a:solidFill>
                  <a:srgbClr val="DCDCAA"/>
                </a:solidFill>
                <a:latin typeface="Courier New" pitchFamily="34" charset="0"/>
                <a:ea typeface="Courier New" pitchFamily="34" charset="-122"/>
                <a:cs typeface="Courier New" pitchFamily="34" charset="-120"/>
              </a:rPr>
              <a:t>add</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"Asha"</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names.</a:t>
            </a:r>
            <a:r>
              <a:rPr lang="en-US" sz="1400" dirty="0">
                <a:solidFill>
                  <a:srgbClr val="DCDCAA"/>
                </a:solidFill>
                <a:latin typeface="Courier New" pitchFamily="34" charset="0"/>
                <a:ea typeface="Courier New" pitchFamily="34" charset="-122"/>
                <a:cs typeface="Courier New" pitchFamily="34" charset="-120"/>
              </a:rPr>
              <a:t>add</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"Rahul"</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(names.</a:t>
            </a:r>
            <a:r>
              <a:rPr lang="en-US" sz="1400" dirty="0">
                <a:solidFill>
                  <a:srgbClr val="DCDCAA"/>
                </a:solidFill>
                <a:latin typeface="Courier New" pitchFamily="34" charset="0"/>
                <a:ea typeface="Courier New" pitchFamily="34" charset="-122"/>
                <a:cs typeface="Courier New" pitchFamily="34" charset="-120"/>
              </a:rPr>
              <a:t>get</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B5CEA8"/>
                </a:solidFill>
                <a:latin typeface="Courier New" pitchFamily="34" charset="0"/>
                <a:ea typeface="Courier New" pitchFamily="34" charset="-122"/>
                <a:cs typeface="Courier New" pitchFamily="34" charset="-120"/>
              </a:rPr>
              <a:t>0</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names.</a:t>
            </a:r>
            <a:r>
              <a:rPr lang="en-US" sz="1400" dirty="0">
                <a:solidFill>
                  <a:srgbClr val="DCDCAA"/>
                </a:solidFill>
                <a:latin typeface="Courier New" pitchFamily="34" charset="0"/>
                <a:ea typeface="Courier New" pitchFamily="34" charset="-122"/>
                <a:cs typeface="Courier New" pitchFamily="34" charset="-120"/>
              </a:rPr>
              <a:t>set</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B5CEA8"/>
                </a:solidFill>
                <a:latin typeface="Courier New" pitchFamily="34" charset="0"/>
                <a:ea typeface="Courier New" pitchFamily="34" charset="-122"/>
                <a:cs typeface="Courier New" pitchFamily="34" charset="-120"/>
              </a:rPr>
              <a:t>0</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CE9178"/>
                </a:solidFill>
                <a:latin typeface="Courier New" pitchFamily="34" charset="0"/>
                <a:ea typeface="Courier New" pitchFamily="34" charset="-122"/>
                <a:cs typeface="Courier New" pitchFamily="34" charset="-120"/>
              </a:rPr>
              <a:t>"Ashwini"</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names.</a:t>
            </a:r>
            <a:r>
              <a:rPr lang="en-US" sz="1400" dirty="0">
                <a:solidFill>
                  <a:srgbClr val="DCDCAA"/>
                </a:solidFill>
                <a:latin typeface="Courier New" pitchFamily="34" charset="0"/>
                <a:ea typeface="Courier New" pitchFamily="34" charset="-122"/>
                <a:cs typeface="Courier New" pitchFamily="34" charset="-120"/>
              </a:rPr>
              <a:t>remove</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"Rahul"</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(names);</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TRAVERSAL</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Iterating an ArrayList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for-each loop visits every element of an ArrayList in order.</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size() returns how many elements the list currently holds.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IterateList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ArrayList</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&gt; names =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ArrayList</a:t>
            </a:r>
            <a:r>
              <a:rPr lang="en-US" sz="1400" dirty="0">
                <a:solidFill>
                  <a:srgbClr val="D4D4D4"/>
                </a:solidFill>
                <a:latin typeface="Courier New" pitchFamily="34" charset="0"/>
                <a:ea typeface="Courier New" pitchFamily="34" charset="-122"/>
                <a:cs typeface="Courier New" pitchFamily="34" charset="-120"/>
              </a:rPr>
              <a:t>&lt;&gt;();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names.</a:t>
            </a:r>
            <a:r>
              <a:rPr lang="en-US" sz="1400" dirty="0">
                <a:solidFill>
                  <a:srgbClr val="DCDCAA"/>
                </a:solidFill>
                <a:latin typeface="Courier New" pitchFamily="34" charset="0"/>
                <a:ea typeface="Courier New" pitchFamily="34" charset="-122"/>
                <a:cs typeface="Courier New" pitchFamily="34" charset="-120"/>
              </a:rPr>
              <a:t>add</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"Asha"</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names.</a:t>
            </a:r>
            <a:r>
              <a:rPr lang="en-US" sz="1400" dirty="0">
                <a:solidFill>
                  <a:srgbClr val="DCDCAA"/>
                </a:solidFill>
                <a:latin typeface="Courier New" pitchFamily="34" charset="0"/>
                <a:ea typeface="Courier New" pitchFamily="34" charset="-122"/>
                <a:cs typeface="Courier New" pitchFamily="34" charset="-120"/>
              </a:rPr>
              <a:t>add</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"Rahul"</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for</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name : names)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(name);</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"Total: "</a:t>
            </a:r>
            <a:r>
              <a:rPr lang="en-US" sz="1400" dirty="0">
                <a:solidFill>
                  <a:srgbClr val="D4D4D4"/>
                </a:solidFill>
                <a:latin typeface="Courier New" pitchFamily="34" charset="0"/>
                <a:ea typeface="Courier New" pitchFamily="34" charset="-122"/>
                <a:cs typeface="Courier New" pitchFamily="34" charset="-120"/>
              </a:rPr>
              <a:t> + names.</a:t>
            </a:r>
            <a:r>
              <a:rPr lang="en-US" sz="1400" dirty="0">
                <a:solidFill>
                  <a:srgbClr val="DCDCAA"/>
                </a:solidFill>
                <a:latin typeface="Courier New" pitchFamily="34" charset="0"/>
                <a:ea typeface="Courier New" pitchFamily="34" charset="-122"/>
                <a:cs typeface="Courier New" pitchFamily="34" charset="-120"/>
              </a:rPr>
              <a:t>size</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LinkedList?</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chain of connected nodes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Instead of one contiguous block, each element lives in its own node, connected to the next.</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Also implements the List interface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LinkedList can be used almost anywhere an ArrayList is used, through the same List methods.</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BOTH ENDS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Adding to the Front and Back</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addFirst() and addLast() insert an element at either end of the list directly.</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These operations are typically faster on a LinkedList than the equivalent on an ArrayList.</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LinkedList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LinkedListDemo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LinkedList</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&gt; list =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LinkedList</a:t>
            </a:r>
            <a:r>
              <a:rPr lang="en-US" sz="1400" dirty="0">
                <a:solidFill>
                  <a:srgbClr val="D4D4D4"/>
                </a:solidFill>
                <a:latin typeface="Courier New" pitchFamily="34" charset="0"/>
                <a:ea typeface="Courier New" pitchFamily="34" charset="-122"/>
                <a:cs typeface="Courier New" pitchFamily="34" charset="-120"/>
              </a:rPr>
              <a:t>&lt;&gt;();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list.</a:t>
            </a:r>
            <a:r>
              <a:rPr lang="en-US" sz="1400" dirty="0">
                <a:solidFill>
                  <a:srgbClr val="DCDCAA"/>
                </a:solidFill>
                <a:latin typeface="Courier New" pitchFamily="34" charset="0"/>
                <a:ea typeface="Courier New" pitchFamily="34" charset="-122"/>
                <a:cs typeface="Courier New" pitchFamily="34" charset="-120"/>
              </a:rPr>
              <a:t>addLast</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"Middle"</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list.</a:t>
            </a:r>
            <a:r>
              <a:rPr lang="en-US" sz="1400" dirty="0">
                <a:solidFill>
                  <a:srgbClr val="DCDCAA"/>
                </a:solidFill>
                <a:latin typeface="Courier New" pitchFamily="34" charset="0"/>
                <a:ea typeface="Courier New" pitchFamily="34" charset="-122"/>
                <a:cs typeface="Courier New" pitchFamily="34" charset="-120"/>
              </a:rPr>
              <a:t>addFirst</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"Start"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list.</a:t>
            </a:r>
            <a:r>
              <a:rPr lang="en-US" sz="1400" dirty="0">
                <a:solidFill>
                  <a:srgbClr val="DCDCAA"/>
                </a:solidFill>
                <a:latin typeface="Courier New" pitchFamily="34" charset="0"/>
                <a:ea typeface="Courier New" pitchFamily="34" charset="-122"/>
                <a:cs typeface="Courier New" pitchFamily="34" charset="-120"/>
              </a:rPr>
              <a:t>addLast</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"End"</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(list);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DUAL PURPOSE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LinkedList as a Queue and a Stack</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LinkedList implements both the Queue interface and stack-style push and pop methods.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flexibility is one reason LinkedList remains useful alongside ArrayList.</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LinkedList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LinkedListRoles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LinkedList</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&gt; stack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LinkedList</a:t>
            </a:r>
            <a:r>
              <a:rPr lang="en-US" sz="1500" dirty="0">
                <a:solidFill>
                  <a:srgbClr val="D4D4D4"/>
                </a:solidFill>
                <a:latin typeface="Courier New" pitchFamily="34" charset="0"/>
                <a:ea typeface="Courier New" pitchFamily="34" charset="-122"/>
                <a:cs typeface="Courier New" pitchFamily="34" charset="-120"/>
              </a:rPr>
              <a:t>&lt;&gt;();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stack.</a:t>
            </a:r>
            <a:r>
              <a:rPr lang="en-US" sz="1500" dirty="0">
                <a:solidFill>
                  <a:srgbClr val="DCDCAA"/>
                </a:solidFill>
                <a:latin typeface="Courier New" pitchFamily="34" charset="0"/>
                <a:ea typeface="Courier New" pitchFamily="34" charset="-122"/>
                <a:cs typeface="Courier New" pitchFamily="34" charset="-120"/>
              </a:rPr>
              <a:t>push</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stack.</a:t>
            </a:r>
            <a:r>
              <a:rPr lang="en-US" sz="1500" dirty="0">
                <a:solidFill>
                  <a:srgbClr val="DCDCAA"/>
                </a:solidFill>
                <a:latin typeface="Courier New" pitchFamily="34" charset="0"/>
                <a:ea typeface="Courier New" pitchFamily="34" charset="-122"/>
                <a:cs typeface="Courier New" pitchFamily="34" charset="-120"/>
              </a:rPr>
              <a:t>push</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(stack.</a:t>
            </a:r>
            <a:r>
              <a:rPr lang="en-US" sz="1500" dirty="0">
                <a:solidFill>
                  <a:srgbClr val="DCDCAA"/>
                </a:solidFill>
                <a:latin typeface="Courier New" pitchFamily="34" charset="0"/>
                <a:ea typeface="Courier New" pitchFamily="34" charset="-122"/>
                <a:cs typeface="Courier New" pitchFamily="34" charset="-120"/>
              </a:rPr>
              <a:t>pop</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2, last in first out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COMPARISON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ArrayList vs. LinkedList</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108585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Aspect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ArrayList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LinkedList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Backed by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 resizable array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 chain of linked nodes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Random access with get(index)</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Fast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Slower, must walk the chain</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Insert or remove at the ends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Slower for the front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Fast at both ends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Lists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Modifying a list while iterating with for-each</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throws ConcurrentModificationException; Iterator.remove(), covered later, is the safe alternative.</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Using LinkedList when random access is frequent</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get(index) on a LinkedList is far slower than on an ArrayList for large lists.</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Managing a To-Do List</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Adding, removing, and iterating over a simple ArrayList of tasks.</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ArrayList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ToDoList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ArrayList</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&gt; tasks =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ArrayList</a:t>
            </a:r>
            <a:r>
              <a:rPr lang="en-US" sz="1400" dirty="0">
                <a:solidFill>
                  <a:srgbClr val="D4D4D4"/>
                </a:solidFill>
                <a:latin typeface="Courier New" pitchFamily="34" charset="0"/>
                <a:ea typeface="Courier New" pitchFamily="34" charset="-122"/>
                <a:cs typeface="Courier New" pitchFamily="34" charset="-120"/>
              </a:rPr>
              <a:t>&lt;&gt;();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tasks.</a:t>
            </a:r>
            <a:r>
              <a:rPr lang="en-US" sz="1400" dirty="0">
                <a:solidFill>
                  <a:srgbClr val="DCDCAA"/>
                </a:solidFill>
                <a:latin typeface="Courier New" pitchFamily="34" charset="0"/>
                <a:ea typeface="Courier New" pitchFamily="34" charset="-122"/>
                <a:cs typeface="Courier New" pitchFamily="34" charset="-120"/>
              </a:rPr>
              <a:t>add</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"Write report"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tasks.</a:t>
            </a:r>
            <a:r>
              <a:rPr lang="en-US" sz="1400" dirty="0">
                <a:solidFill>
                  <a:srgbClr val="DCDCAA"/>
                </a:solidFill>
                <a:latin typeface="Courier New" pitchFamily="34" charset="0"/>
                <a:ea typeface="Courier New" pitchFamily="34" charset="-122"/>
                <a:cs typeface="Courier New" pitchFamily="34" charset="-120"/>
              </a:rPr>
              <a:t>add</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"Review code"</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tasks.</a:t>
            </a:r>
            <a:r>
              <a:rPr lang="en-US" sz="1400" dirty="0">
                <a:solidFill>
                  <a:srgbClr val="DCDCAA"/>
                </a:solidFill>
                <a:latin typeface="Courier New" pitchFamily="34" charset="0"/>
                <a:ea typeface="Courier New" pitchFamily="34" charset="-122"/>
                <a:cs typeface="Courier New" pitchFamily="34" charset="-120"/>
              </a:rPr>
              <a:t>remove</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"Review code"</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for</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task : tasks)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 "</a:t>
            </a:r>
            <a:r>
              <a:rPr lang="en-US" sz="1400" dirty="0">
                <a:solidFill>
                  <a:srgbClr val="D4D4D4"/>
                </a:solidFill>
                <a:latin typeface="Courier New" pitchFamily="34" charset="0"/>
                <a:ea typeface="Courier New" pitchFamily="34" charset="-122"/>
                <a:cs typeface="Courier New" pitchFamily="34" charset="-120"/>
              </a:rPr>
              <a:t> + task);</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 Write report</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2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HashSet and TreeSet</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Storing unique elements, unordered and sorted</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Set?</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collection of unique elements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Set automatically rejects duplicate values; adding the same value twice has no additional effect.</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Two common implementations</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HashSet, covered first, and TreeSet, which keeps its elements in sorted order.</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SETUP</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Creating a HashSet and Ensuring Uniqueness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add() returns true if the element was new, and false if it was already present.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duplicate add call is simply ignored, without throwing an error.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HashSet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HashSetDemo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HashSet</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&gt; tags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HashSet</a:t>
            </a:r>
            <a:r>
              <a:rPr lang="en-US" sz="1500" dirty="0">
                <a:solidFill>
                  <a:srgbClr val="D4D4D4"/>
                </a:solidFill>
                <a:latin typeface="Courier New" pitchFamily="34" charset="0"/>
                <a:ea typeface="Courier New" pitchFamily="34" charset="-122"/>
                <a:cs typeface="Courier New" pitchFamily="34" charset="-120"/>
              </a:rPr>
              <a:t>&lt;&gt;();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(tags.</a:t>
            </a:r>
            <a:r>
              <a:rPr lang="en-US" sz="1500" dirty="0">
                <a:solidFill>
                  <a:srgbClr val="DCDCAA"/>
                </a:solidFill>
                <a:latin typeface="Courier New" pitchFamily="34" charset="0"/>
                <a:ea typeface="Courier New" pitchFamily="34" charset="-122"/>
                <a:cs typeface="Courier New" pitchFamily="34" charset="-120"/>
              </a:rPr>
              <a:t>add</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"java"</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true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(tags.</a:t>
            </a:r>
            <a:r>
              <a:rPr lang="en-US" sz="1500" dirty="0">
                <a:solidFill>
                  <a:srgbClr val="DCDCAA"/>
                </a:solidFill>
                <a:latin typeface="Courier New" pitchFamily="34" charset="0"/>
                <a:ea typeface="Courier New" pitchFamily="34" charset="-122"/>
                <a:cs typeface="Courier New" pitchFamily="34" charset="-120"/>
              </a:rPr>
              <a:t>add</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"java"</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false, duplicate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OPERATIONS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Checking and Removing from a HashSet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contains() checks whether a value is already in the set.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remove() deletes a specific element, if it is present.</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import</a:t>
            </a:r>
            <a:r>
              <a:rPr lang="en-US" sz="1200" dirty="0">
                <a:solidFill>
                  <a:srgbClr val="D4D4D4"/>
                </a:solidFill>
                <a:latin typeface="Courier New" pitchFamily="34" charset="0"/>
                <a:ea typeface="Courier New" pitchFamily="34" charset="-122"/>
                <a:cs typeface="Courier New" pitchFamily="34" charset="-120"/>
              </a:rPr>
              <a:t> java.util.</a:t>
            </a:r>
            <a:r>
              <a:rPr lang="en-US" sz="1200" dirty="0">
                <a:solidFill>
                  <a:srgbClr val="4EC9B0"/>
                </a:solidFill>
                <a:latin typeface="Courier New" pitchFamily="34" charset="0"/>
                <a:ea typeface="Courier New" pitchFamily="34" charset="-122"/>
                <a:cs typeface="Courier New" pitchFamily="34" charset="-120"/>
              </a:rPr>
              <a:t>HashSet</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HashSetOps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main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args)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HashSet</a:t>
            </a:r>
            <a:r>
              <a:rPr lang="en-US" sz="1200" dirty="0">
                <a:solidFill>
                  <a:srgbClr val="D4D4D4"/>
                </a:solidFill>
                <a:latin typeface="Courier New" pitchFamily="34" charset="0"/>
                <a:ea typeface="Courier New" pitchFamily="34" charset="-122"/>
                <a:cs typeface="Courier New" pitchFamily="34" charset="-120"/>
              </a:rPr>
              <a:t>&lt;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&gt; tags = </a:t>
            </a:r>
            <a:r>
              <a:rPr lang="en-US" sz="1200" b="1" dirty="0">
                <a:solidFill>
                  <a:srgbClr val="569CD6"/>
                </a:solidFill>
                <a:latin typeface="Courier New" pitchFamily="34" charset="0"/>
                <a:ea typeface="Courier New" pitchFamily="34" charset="-122"/>
                <a:cs typeface="Courier New" pitchFamily="34" charset="-120"/>
              </a:rPr>
              <a:t>new</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HashSet</a:t>
            </a:r>
            <a:r>
              <a:rPr lang="en-US" sz="1200" dirty="0">
                <a:solidFill>
                  <a:srgbClr val="D4D4D4"/>
                </a:solidFill>
                <a:latin typeface="Courier New" pitchFamily="34" charset="0"/>
                <a:ea typeface="Courier New" pitchFamily="34" charset="-122"/>
                <a:cs typeface="Courier New" pitchFamily="34" charset="-120"/>
              </a:rPr>
              <a:t>&lt;&gt;();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tags.</a:t>
            </a:r>
            <a:r>
              <a:rPr lang="en-US" sz="1200" dirty="0">
                <a:solidFill>
                  <a:srgbClr val="DCDCAA"/>
                </a:solidFill>
                <a:latin typeface="Courier New" pitchFamily="34" charset="0"/>
                <a:ea typeface="Courier New" pitchFamily="34" charset="-122"/>
                <a:cs typeface="Courier New" pitchFamily="34" charset="-120"/>
              </a:rPr>
              <a:t>add</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"java"</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tags.</a:t>
            </a:r>
            <a:r>
              <a:rPr lang="en-US" sz="1200" dirty="0">
                <a:solidFill>
                  <a:srgbClr val="DCDCAA"/>
                </a:solidFill>
                <a:latin typeface="Courier New" pitchFamily="34" charset="0"/>
                <a:ea typeface="Courier New" pitchFamily="34" charset="-122"/>
                <a:cs typeface="Courier New" pitchFamily="34" charset="-120"/>
              </a:rPr>
              <a:t>add</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"python"</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(tags.</a:t>
            </a:r>
            <a:r>
              <a:rPr lang="en-US" sz="1200" dirty="0">
                <a:solidFill>
                  <a:srgbClr val="DCDCAA"/>
                </a:solidFill>
                <a:latin typeface="Courier New" pitchFamily="34" charset="0"/>
                <a:ea typeface="Courier New" pitchFamily="34" charset="-122"/>
                <a:cs typeface="Courier New" pitchFamily="34" charset="-120"/>
              </a:rPr>
              <a:t>contains</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"java"</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tags.</a:t>
            </a:r>
            <a:r>
              <a:rPr lang="en-US" sz="1200" dirty="0">
                <a:solidFill>
                  <a:srgbClr val="DCDCAA"/>
                </a:solidFill>
                <a:latin typeface="Courier New" pitchFamily="34" charset="0"/>
                <a:ea typeface="Courier New" pitchFamily="34" charset="-122"/>
                <a:cs typeface="Courier New" pitchFamily="34" charset="-120"/>
              </a:rPr>
              <a:t>remove</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"python"</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(tags);</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ORDERING</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HashSet and Unordered Storage</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No guaranteed order</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HashSet does not remember the order elements were inserted, unlike a List.</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Fast membership checks</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Checking whether a value is present is typically very fast, regardless of how many elements the set holds.</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TreeSet?</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set that keeps its elements sorted</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Every time an element is added, TreeSet places it in the correct sorted position automatically.</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Built on a self-balancing tree internally</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connects directly to the binary search tree concepts covered in the Non-Linear Data Structures course.</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SORTED STORAGE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TreeSet and Natural Ordering</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Elements are automatically kept in their natural sorted order as they are added.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For numbers, this means ascending order; for Strings, alphabetical order.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TreeSet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TreeSetDemo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TreeSet</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Integer</a:t>
            </a:r>
            <a:r>
              <a:rPr lang="en-US" sz="1400" dirty="0">
                <a:solidFill>
                  <a:srgbClr val="D4D4D4"/>
                </a:solidFill>
                <a:latin typeface="Courier New" pitchFamily="34" charset="0"/>
                <a:ea typeface="Courier New" pitchFamily="34" charset="-122"/>
                <a:cs typeface="Courier New" pitchFamily="34" charset="-120"/>
              </a:rPr>
              <a:t>&gt; scores =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TreeSet</a:t>
            </a:r>
            <a:r>
              <a:rPr lang="en-US" sz="1400" dirty="0">
                <a:solidFill>
                  <a:srgbClr val="D4D4D4"/>
                </a:solidFill>
                <a:latin typeface="Courier New" pitchFamily="34" charset="0"/>
                <a:ea typeface="Courier New" pitchFamily="34" charset="-122"/>
                <a:cs typeface="Courier New" pitchFamily="34" charset="-120"/>
              </a:rPr>
              <a:t>&lt;&gt;();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scores.</a:t>
            </a:r>
            <a:r>
              <a:rPr lang="en-US" sz="1400" dirty="0">
                <a:solidFill>
                  <a:srgbClr val="DCDCAA"/>
                </a:solidFill>
                <a:latin typeface="Courier New" pitchFamily="34" charset="0"/>
                <a:ea typeface="Courier New" pitchFamily="34" charset="-122"/>
                <a:cs typeface="Courier New" pitchFamily="34" charset="-120"/>
              </a:rPr>
              <a:t>add</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B5CEA8"/>
                </a:solidFill>
                <a:latin typeface="Courier New" pitchFamily="34" charset="0"/>
                <a:ea typeface="Courier New" pitchFamily="34" charset="-122"/>
                <a:cs typeface="Courier New" pitchFamily="34" charset="-120"/>
              </a:rPr>
              <a:t>75</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scores.</a:t>
            </a:r>
            <a:r>
              <a:rPr lang="en-US" sz="1400" dirty="0">
                <a:solidFill>
                  <a:srgbClr val="DCDCAA"/>
                </a:solidFill>
                <a:latin typeface="Courier New" pitchFamily="34" charset="0"/>
                <a:ea typeface="Courier New" pitchFamily="34" charset="-122"/>
                <a:cs typeface="Courier New" pitchFamily="34" charset="-120"/>
              </a:rPr>
              <a:t>add</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B5CEA8"/>
                </a:solidFill>
                <a:latin typeface="Courier New" pitchFamily="34" charset="0"/>
                <a:ea typeface="Courier New" pitchFamily="34" charset="-122"/>
                <a:cs typeface="Courier New" pitchFamily="34" charset="-120"/>
              </a:rPr>
              <a:t>90</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scores.</a:t>
            </a:r>
            <a:r>
              <a:rPr lang="en-US" sz="1400" dirty="0">
                <a:solidFill>
                  <a:srgbClr val="DCDCAA"/>
                </a:solidFill>
                <a:latin typeface="Courier New" pitchFamily="34" charset="0"/>
                <a:ea typeface="Courier New" pitchFamily="34" charset="-122"/>
                <a:cs typeface="Courier New" pitchFamily="34" charset="-120"/>
              </a:rPr>
              <a:t>add</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B5CEA8"/>
                </a:solidFill>
                <a:latin typeface="Courier New" pitchFamily="34" charset="0"/>
                <a:ea typeface="Courier New" pitchFamily="34" charset="-122"/>
                <a:cs typeface="Courier New" pitchFamily="34" charset="-120"/>
              </a:rPr>
              <a:t>60</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(scores);   </a:t>
            </a:r>
            <a:r>
              <a:rPr lang="en-US" sz="1400" i="1" dirty="0">
                <a:solidFill>
                  <a:srgbClr val="6A9955"/>
                </a:solidFill>
                <a:latin typeface="Courier New" pitchFamily="34" charset="0"/>
                <a:ea typeface="Courier New" pitchFamily="34" charset="-122"/>
                <a:cs typeface="Courier New" pitchFamily="34" charset="-120"/>
              </a:rPr>
              <a:t>// [60, 75, 90]</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COMPARISON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HashSet vs. TreeSet</a:t>
            </a:r>
            <a:endParaRPr lang="en-US" sz="27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108585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Aspect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HashSet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TreeSet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Order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No guaranteed order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Sorted order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Typical speed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Faster for add and contains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Slightly slower, maintains order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Backed by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 hash table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 self-balancing tree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USE CASES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When to Use a Set</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Removing duplicates from data</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Adding values from another collection into a Set automatically discards repeats.</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Needing sorted, unique data</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TreeSet is the right fit when both uniqueness and order matter.</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Sets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Expecting HashSet to preserve insertion order</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LinkedHashSet, not covered here, is the right choice if that order actually matters.</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Adding mutable objects without a consistent equals method</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Set relies on equals and hashCode to detect duplicates correctly.</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Removing Duplicates and Sorting</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Using a TreeSet to both deduplicate and sort a list of scores.</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ArrayList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TreeSet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DedupeAndSort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ArrayList</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Integer</a:t>
            </a:r>
            <a:r>
              <a:rPr lang="en-US" sz="1400" dirty="0">
                <a:solidFill>
                  <a:srgbClr val="D4D4D4"/>
                </a:solidFill>
                <a:latin typeface="Courier New" pitchFamily="34" charset="0"/>
                <a:ea typeface="Courier New" pitchFamily="34" charset="-122"/>
                <a:cs typeface="Courier New" pitchFamily="34" charset="-120"/>
              </a:rPr>
              <a:t>&gt; scores =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ArrayList</a:t>
            </a:r>
            <a:r>
              <a:rPr lang="en-US" sz="1400" dirty="0">
                <a:solidFill>
                  <a:srgbClr val="D4D4D4"/>
                </a:solidFill>
                <a:latin typeface="Courier New" pitchFamily="34" charset="0"/>
                <a:ea typeface="Courier New" pitchFamily="34" charset="-122"/>
                <a:cs typeface="Courier New" pitchFamily="34" charset="-120"/>
              </a:rPr>
              <a:t>&lt;&gt;();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scores.</a:t>
            </a:r>
            <a:r>
              <a:rPr lang="en-US" sz="1400" dirty="0">
                <a:solidFill>
                  <a:srgbClr val="DCDCAA"/>
                </a:solidFill>
                <a:latin typeface="Courier New" pitchFamily="34" charset="0"/>
                <a:ea typeface="Courier New" pitchFamily="34" charset="-122"/>
                <a:cs typeface="Courier New" pitchFamily="34" charset="-120"/>
              </a:rPr>
              <a:t>add</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B5CEA8"/>
                </a:solidFill>
                <a:latin typeface="Courier New" pitchFamily="34" charset="0"/>
                <a:ea typeface="Courier New" pitchFamily="34" charset="-122"/>
                <a:cs typeface="Courier New" pitchFamily="34" charset="-120"/>
              </a:rPr>
              <a:t>75</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scores.</a:t>
            </a:r>
            <a:r>
              <a:rPr lang="en-US" sz="1400" dirty="0">
                <a:solidFill>
                  <a:srgbClr val="DCDCAA"/>
                </a:solidFill>
                <a:latin typeface="Courier New" pitchFamily="34" charset="0"/>
                <a:ea typeface="Courier New" pitchFamily="34" charset="-122"/>
                <a:cs typeface="Courier New" pitchFamily="34" charset="-120"/>
              </a:rPr>
              <a:t>add</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B5CEA8"/>
                </a:solidFill>
                <a:latin typeface="Courier New" pitchFamily="34" charset="0"/>
                <a:ea typeface="Courier New" pitchFamily="34" charset="-122"/>
                <a:cs typeface="Courier New" pitchFamily="34" charset="-120"/>
              </a:rPr>
              <a:t>90</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scores.</a:t>
            </a:r>
            <a:r>
              <a:rPr lang="en-US" sz="1400" dirty="0">
                <a:solidFill>
                  <a:srgbClr val="DCDCAA"/>
                </a:solidFill>
                <a:latin typeface="Courier New" pitchFamily="34" charset="0"/>
                <a:ea typeface="Courier New" pitchFamily="34" charset="-122"/>
                <a:cs typeface="Courier New" pitchFamily="34" charset="-120"/>
              </a:rPr>
              <a:t>add</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B5CEA8"/>
                </a:solidFill>
                <a:latin typeface="Courier New" pitchFamily="34" charset="0"/>
                <a:ea typeface="Courier New" pitchFamily="34" charset="-122"/>
                <a:cs typeface="Courier New" pitchFamily="34" charset="-120"/>
              </a:rPr>
              <a:t>75</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TreeSet</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Integer</a:t>
            </a:r>
            <a:r>
              <a:rPr lang="en-US" sz="1400" dirty="0">
                <a:solidFill>
                  <a:srgbClr val="D4D4D4"/>
                </a:solidFill>
                <a:latin typeface="Courier New" pitchFamily="34" charset="0"/>
                <a:ea typeface="Courier New" pitchFamily="34" charset="-122"/>
                <a:cs typeface="Courier New" pitchFamily="34" charset="-120"/>
              </a:rPr>
              <a:t>&gt; unique =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TreeSet</a:t>
            </a:r>
            <a:r>
              <a:rPr lang="en-US" sz="1400" dirty="0">
                <a:solidFill>
                  <a:srgbClr val="D4D4D4"/>
                </a:solidFill>
                <a:latin typeface="Courier New" pitchFamily="34" charset="0"/>
                <a:ea typeface="Courier New" pitchFamily="34" charset="-122"/>
                <a:cs typeface="Courier New" pitchFamily="34" charset="-120"/>
              </a:rPr>
              <a:t>&lt;&gt;(scores);</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(unique);</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[75, 90]</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3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HashMap and TreeMap</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Storing and retrieving data as key-value pairs</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Map?</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Stores data as key-value pairs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Each key maps to exactly one value, similar to how a word maps to its definition in a dictionary.</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Keys must be unique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Adding a new value for an existing key replaces the old value rather than creating a second entry.</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SETUP</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Creating a HashMap and Adding Entries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Two types in angle brackets specify the key type and the value type, in that order.</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put(key, value) adds a new entry, or updates the value if the key already exists.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HashMap</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HashMapDemo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HashMap</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&gt; scores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HashMap</a:t>
            </a:r>
            <a:r>
              <a:rPr lang="en-US" sz="1500" dirty="0">
                <a:solidFill>
                  <a:srgbClr val="D4D4D4"/>
                </a:solidFill>
                <a:latin typeface="Courier New" pitchFamily="34" charset="0"/>
                <a:ea typeface="Courier New" pitchFamily="34" charset="-122"/>
                <a:cs typeface="Courier New" pitchFamily="34" charset="-120"/>
              </a:rPr>
              <a:t>&lt;&gt;();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scores.</a:t>
            </a:r>
            <a:r>
              <a:rPr lang="en-US" sz="1500" dirty="0">
                <a:solidFill>
                  <a:srgbClr val="DCDCAA"/>
                </a:solidFill>
                <a:latin typeface="Courier New" pitchFamily="34" charset="0"/>
                <a:ea typeface="Courier New" pitchFamily="34" charset="-122"/>
                <a:cs typeface="Courier New" pitchFamily="34" charset="-120"/>
              </a:rPr>
              <a:t>put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90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scores.</a:t>
            </a:r>
            <a:r>
              <a:rPr lang="en-US" sz="1500" dirty="0">
                <a:solidFill>
                  <a:srgbClr val="DCDCAA"/>
                </a:solidFill>
                <a:latin typeface="Courier New" pitchFamily="34" charset="0"/>
                <a:ea typeface="Courier New" pitchFamily="34" charset="-122"/>
                <a:cs typeface="Courier New" pitchFamily="34" charset="-120"/>
              </a:rPr>
              <a:t>put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"Rahul"</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78</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(scores);</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READING VALUES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Retrieving and Checking for Keys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get(key) returns the value for a key, or null if the key is not present.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containsKey() checks whether a key exists before trying to use its value.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MapLookup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HashMap</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&gt; scores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HashMap</a:t>
            </a:r>
            <a:r>
              <a:rPr lang="en-US" sz="1500" dirty="0">
                <a:solidFill>
                  <a:srgbClr val="D4D4D4"/>
                </a:solidFill>
                <a:latin typeface="Courier New" pitchFamily="34" charset="0"/>
                <a:ea typeface="Courier New" pitchFamily="34" charset="-122"/>
                <a:cs typeface="Courier New" pitchFamily="34" charset="-120"/>
              </a:rPr>
              <a:t>&lt;&gt;();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scores.</a:t>
            </a:r>
            <a:r>
              <a:rPr lang="en-US" sz="1500" dirty="0">
                <a:solidFill>
                  <a:srgbClr val="DCDCAA"/>
                </a:solidFill>
                <a:latin typeface="Courier New" pitchFamily="34" charset="0"/>
                <a:ea typeface="Courier New" pitchFamily="34" charset="-122"/>
                <a:cs typeface="Courier New" pitchFamily="34" charset="-120"/>
              </a:rPr>
              <a:t>put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90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if</a:t>
            </a:r>
            <a:r>
              <a:rPr lang="en-US" sz="1500" dirty="0">
                <a:solidFill>
                  <a:srgbClr val="D4D4D4"/>
                </a:solidFill>
                <a:latin typeface="Courier New" pitchFamily="34" charset="0"/>
                <a:ea typeface="Courier New" pitchFamily="34" charset="-122"/>
                <a:cs typeface="Courier New" pitchFamily="34" charset="-120"/>
              </a:rPr>
              <a:t> (scores.</a:t>
            </a:r>
            <a:r>
              <a:rPr lang="en-US" sz="1500" dirty="0">
                <a:solidFill>
                  <a:srgbClr val="DCDCAA"/>
                </a:solidFill>
                <a:latin typeface="Courier New" pitchFamily="34" charset="0"/>
                <a:ea typeface="Courier New" pitchFamily="34" charset="-122"/>
                <a:cs typeface="Courier New" pitchFamily="34" charset="-120"/>
              </a:rPr>
              <a:t>containsKey</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(scores.</a:t>
            </a:r>
            <a:r>
              <a:rPr lang="en-US" sz="1500" dirty="0">
                <a:solidFill>
                  <a:srgbClr val="DCDCAA"/>
                </a:solidFill>
                <a:latin typeface="Courier New" pitchFamily="34" charset="0"/>
                <a:ea typeface="Courier New" pitchFamily="34" charset="-122"/>
                <a:cs typeface="Courier New" pitchFamily="34" charset="-120"/>
              </a:rPr>
              <a:t>get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SAFE DEFAULTS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Removing Entries and getOrDefault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remove(key) deletes the entry for that key, if it exists.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getOrDefault(key, fallback) avoids an extra containsKey check in common situations.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MapDefaults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HashMap</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&gt; scores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HashMap</a:t>
            </a:r>
            <a:r>
              <a:rPr lang="en-US" sz="1500" dirty="0">
                <a:solidFill>
                  <a:srgbClr val="D4D4D4"/>
                </a:solidFill>
                <a:latin typeface="Courier New" pitchFamily="34" charset="0"/>
                <a:ea typeface="Courier New" pitchFamily="34" charset="-122"/>
                <a:cs typeface="Courier New" pitchFamily="34" charset="-120"/>
              </a:rPr>
              <a:t>&lt;&gt;();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scores.</a:t>
            </a:r>
            <a:r>
              <a:rPr lang="en-US" sz="1500" dirty="0">
                <a:solidFill>
                  <a:srgbClr val="DCDCAA"/>
                </a:solidFill>
                <a:latin typeface="Courier New" pitchFamily="34" charset="0"/>
                <a:ea typeface="Courier New" pitchFamily="34" charset="-122"/>
                <a:cs typeface="Courier New" pitchFamily="34" charset="-120"/>
              </a:rPr>
              <a:t>put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90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rahulScore = scores.</a:t>
            </a:r>
            <a:r>
              <a:rPr lang="en-US" sz="1500" dirty="0">
                <a:solidFill>
                  <a:srgbClr val="DCDCAA"/>
                </a:solidFill>
                <a:latin typeface="Courier New" pitchFamily="34" charset="0"/>
                <a:ea typeface="Courier New" pitchFamily="34" charset="-122"/>
                <a:cs typeface="Courier New" pitchFamily="34" charset="-120"/>
              </a:rPr>
              <a:t>getOrDefault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"Rahul"</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(rahulScore);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TRAVERSAL</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Iterating a HashMap</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entrySet() returns every key and value together, which is often the most convenient form to loop over.</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Map.Entry represents one key-value pair from the map.</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import</a:t>
            </a:r>
            <a:r>
              <a:rPr lang="en-US" sz="1200" dirty="0">
                <a:solidFill>
                  <a:srgbClr val="D4D4D4"/>
                </a:solidFill>
                <a:latin typeface="Courier New" pitchFamily="34" charset="0"/>
                <a:ea typeface="Courier New" pitchFamily="34" charset="-122"/>
                <a:cs typeface="Courier New" pitchFamily="34" charset="-120"/>
              </a:rPr>
              <a:t> java.util.</a:t>
            </a:r>
            <a:r>
              <a:rPr lang="en-US" sz="1200" dirty="0">
                <a:solidFill>
                  <a:srgbClr val="4EC9B0"/>
                </a:solidFill>
                <a:latin typeface="Courier New" pitchFamily="34" charset="0"/>
                <a:ea typeface="Courier New" pitchFamily="34" charset="-122"/>
                <a:cs typeface="Courier New" pitchFamily="34" charset="-120"/>
              </a:rPr>
              <a:t>Map</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IterateMap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main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args)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HashMap</a:t>
            </a:r>
            <a:r>
              <a:rPr lang="en-US" sz="1200" dirty="0">
                <a:solidFill>
                  <a:srgbClr val="D4D4D4"/>
                </a:solidFill>
                <a:latin typeface="Courier New" pitchFamily="34" charset="0"/>
                <a:ea typeface="Courier New" pitchFamily="34" charset="-122"/>
                <a:cs typeface="Courier New" pitchFamily="34" charset="-120"/>
              </a:rPr>
              <a:t>&lt;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Integer</a:t>
            </a:r>
            <a:r>
              <a:rPr lang="en-US" sz="1200" dirty="0">
                <a:solidFill>
                  <a:srgbClr val="D4D4D4"/>
                </a:solidFill>
                <a:latin typeface="Courier New" pitchFamily="34" charset="0"/>
                <a:ea typeface="Courier New" pitchFamily="34" charset="-122"/>
                <a:cs typeface="Courier New" pitchFamily="34" charset="-120"/>
              </a:rPr>
              <a:t>&gt; scores = </a:t>
            </a:r>
            <a:r>
              <a:rPr lang="en-US" sz="1200" b="1" dirty="0">
                <a:solidFill>
                  <a:srgbClr val="569CD6"/>
                </a:solidFill>
                <a:latin typeface="Courier New" pitchFamily="34" charset="0"/>
                <a:ea typeface="Courier New" pitchFamily="34" charset="-122"/>
                <a:cs typeface="Courier New" pitchFamily="34" charset="-120"/>
              </a:rPr>
              <a:t>new</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HashMap</a:t>
            </a:r>
            <a:r>
              <a:rPr lang="en-US" sz="1200" dirty="0">
                <a:solidFill>
                  <a:srgbClr val="D4D4D4"/>
                </a:solidFill>
                <a:latin typeface="Courier New" pitchFamily="34" charset="0"/>
                <a:ea typeface="Courier New" pitchFamily="34" charset="-122"/>
                <a:cs typeface="Courier New" pitchFamily="34" charset="-120"/>
              </a:rPr>
              <a:t>&lt;&gt;();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scores.</a:t>
            </a:r>
            <a:r>
              <a:rPr lang="en-US" sz="1200" dirty="0">
                <a:solidFill>
                  <a:srgbClr val="DCDCAA"/>
                </a:solidFill>
                <a:latin typeface="Courier New" pitchFamily="34" charset="0"/>
                <a:ea typeface="Courier New" pitchFamily="34" charset="-122"/>
                <a:cs typeface="Courier New" pitchFamily="34" charset="-120"/>
              </a:rPr>
              <a:t>put</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"Asha"</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B5CEA8"/>
                </a:solidFill>
                <a:latin typeface="Courier New" pitchFamily="34" charset="0"/>
                <a:ea typeface="Courier New" pitchFamily="34" charset="-122"/>
                <a:cs typeface="Courier New" pitchFamily="34" charset="-120"/>
              </a:rPr>
              <a:t>90</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scores.</a:t>
            </a:r>
            <a:r>
              <a:rPr lang="en-US" sz="1200" dirty="0">
                <a:solidFill>
                  <a:srgbClr val="DCDCAA"/>
                </a:solidFill>
                <a:latin typeface="Courier New" pitchFamily="34" charset="0"/>
                <a:ea typeface="Courier New" pitchFamily="34" charset="-122"/>
                <a:cs typeface="Courier New" pitchFamily="34" charset="-120"/>
              </a:rPr>
              <a:t>put</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"Rahul"</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B5CEA8"/>
                </a:solidFill>
                <a:latin typeface="Courier New" pitchFamily="34" charset="0"/>
                <a:ea typeface="Courier New" pitchFamily="34" charset="-122"/>
                <a:cs typeface="Courier New" pitchFamily="34" charset="-120"/>
              </a:rPr>
              <a:t>78</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for</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Map</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Entry</a:t>
            </a:r>
            <a:r>
              <a:rPr lang="en-US" sz="1200" dirty="0">
                <a:solidFill>
                  <a:srgbClr val="D4D4D4"/>
                </a:solidFill>
                <a:latin typeface="Courier New" pitchFamily="34" charset="0"/>
                <a:ea typeface="Courier New" pitchFamily="34" charset="-122"/>
                <a:cs typeface="Courier New" pitchFamily="34" charset="-120"/>
              </a:rPr>
              <a:t>&lt;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Integer</a:t>
            </a:r>
            <a:r>
              <a:rPr lang="en-US" sz="1200" dirty="0">
                <a:solidFill>
                  <a:srgbClr val="D4D4D4"/>
                </a:solidFill>
                <a:latin typeface="Courier New" pitchFamily="34" charset="0"/>
                <a:ea typeface="Courier New" pitchFamily="34" charset="-122"/>
                <a:cs typeface="Courier New" pitchFamily="34" charset="-120"/>
              </a:rPr>
              <a:t>&gt; e : scores.</a:t>
            </a:r>
            <a:r>
              <a:rPr lang="en-US" sz="1200" dirty="0">
                <a:solidFill>
                  <a:srgbClr val="DCDCAA"/>
                </a:solidFill>
                <a:latin typeface="Courier New" pitchFamily="34" charset="0"/>
                <a:ea typeface="Courier New" pitchFamily="34" charset="-122"/>
                <a:cs typeface="Courier New" pitchFamily="34" charset="-120"/>
              </a:rPr>
              <a:t>entrySet</a:t>
            </a: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(e.</a:t>
            </a:r>
            <a:r>
              <a:rPr lang="en-US" sz="1200" dirty="0">
                <a:solidFill>
                  <a:srgbClr val="DCDCAA"/>
                </a:solidFill>
                <a:latin typeface="Courier New" pitchFamily="34" charset="0"/>
                <a:ea typeface="Courier New" pitchFamily="34" charset="-122"/>
                <a:cs typeface="Courier New" pitchFamily="34" charset="-120"/>
              </a:rPr>
              <a:t>getKey</a:t>
            </a:r>
            <a:r>
              <a:rPr lang="en-US" sz="1200" dirty="0">
                <a:solidFill>
                  <a:srgbClr val="D4D4D4"/>
                </a:solidFill>
                <a:latin typeface="Courier New" pitchFamily="34" charset="0"/>
                <a:ea typeface="Courier New" pitchFamily="34" charset="-122"/>
                <a:cs typeface="Courier New" pitchFamily="34" charset="-120"/>
              </a:rPr>
              <a:t>() + </a:t>
            </a:r>
            <a:r>
              <a:rPr lang="en-US" sz="1200" dirty="0">
                <a:solidFill>
                  <a:srgbClr val="CE9178"/>
                </a:solidFill>
                <a:latin typeface="Courier New" pitchFamily="34" charset="0"/>
                <a:ea typeface="Courier New" pitchFamily="34" charset="-122"/>
                <a:cs typeface="Courier New" pitchFamily="34" charset="-120"/>
              </a:rPr>
              <a:t>": "</a:t>
            </a:r>
            <a:r>
              <a:rPr lang="en-US" sz="1200" dirty="0">
                <a:solidFill>
                  <a:srgbClr val="D4D4D4"/>
                </a:solidFill>
                <a:latin typeface="Courier New" pitchFamily="34" charset="0"/>
                <a:ea typeface="Courier New" pitchFamily="34" charset="-122"/>
                <a:cs typeface="Courier New" pitchFamily="34" charset="-120"/>
              </a:rPr>
              <a:t> + e.</a:t>
            </a:r>
            <a:r>
              <a:rPr lang="en-US" sz="1200" dirty="0">
                <a:solidFill>
                  <a:srgbClr val="DCDCAA"/>
                </a:solidFill>
                <a:latin typeface="Courier New" pitchFamily="34" charset="0"/>
                <a:ea typeface="Courier New" pitchFamily="34" charset="-122"/>
                <a:cs typeface="Courier New" pitchFamily="34" charset="-120"/>
              </a:rPr>
              <a:t>getValue</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TreeMap?</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map that keeps its keys sorted</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Iterating over a TreeMap always visits entries in ascending order of their keys.</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Shares the same core methods as HashMap</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put, get, and remove all work exactly the same way; only the internal ordering differs.</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SORTED KEYS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TreeMap in Practice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Entries are automatically kept in order by key as they are added.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firstKey() and lastKey() return the smallest and largest keys directly.</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TreeMap</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TreeMapDemo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TreeMap</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&gt; prices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TreeMap</a:t>
            </a:r>
            <a:r>
              <a:rPr lang="en-US" sz="1500" dirty="0">
                <a:solidFill>
                  <a:srgbClr val="D4D4D4"/>
                </a:solidFill>
                <a:latin typeface="Courier New" pitchFamily="34" charset="0"/>
                <a:ea typeface="Courier New" pitchFamily="34" charset="-122"/>
                <a:cs typeface="Courier New" pitchFamily="34" charset="-120"/>
              </a:rPr>
              <a:t>&lt;&gt;();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prices.</a:t>
            </a:r>
            <a:r>
              <a:rPr lang="en-US" sz="1500" dirty="0">
                <a:solidFill>
                  <a:srgbClr val="DCDCAA"/>
                </a:solidFill>
                <a:latin typeface="Courier New" pitchFamily="34" charset="0"/>
                <a:ea typeface="Courier New" pitchFamily="34" charset="-122"/>
                <a:cs typeface="Courier New" pitchFamily="34" charset="-120"/>
              </a:rPr>
              <a:t>put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"Banana"</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1.2</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prices.</a:t>
            </a:r>
            <a:r>
              <a:rPr lang="en-US" sz="1500" dirty="0">
                <a:solidFill>
                  <a:srgbClr val="DCDCAA"/>
                </a:solidFill>
                <a:latin typeface="Courier New" pitchFamily="34" charset="0"/>
                <a:ea typeface="Courier New" pitchFamily="34" charset="-122"/>
                <a:cs typeface="Courier New" pitchFamily="34" charset="-120"/>
              </a:rPr>
              <a:t>put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"Apple"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2.5</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(prices.</a:t>
            </a:r>
            <a:r>
              <a:rPr lang="en-US" sz="1500" dirty="0">
                <a:solidFill>
                  <a:srgbClr val="DCDCAA"/>
                </a:solidFill>
                <a:latin typeface="Courier New" pitchFamily="34" charset="0"/>
                <a:ea typeface="Courier New" pitchFamily="34" charset="-122"/>
                <a:cs typeface="Courier New" pitchFamily="34" charset="-120"/>
              </a:rPr>
              <a:t>firstKey</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Apple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COMPARISON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HashMap vs. TreeMap</a:t>
            </a:r>
            <a:endParaRPr lang="en-US" sz="27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144780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Aspect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HashMap</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TreeMap</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4478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Order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No guaranteed order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Sorted by key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478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Typical speed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Faster for put and get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Slightly slower, maintains order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COMPARISON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HashMap vs. HashSet</a:t>
            </a:r>
            <a:endParaRPr lang="en-US" sz="27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144780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Aspect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HashSet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HashMap</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4478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Stores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Individual unique elements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Unique keys, each with a value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478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Lookup by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The element itself, with contains()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The key, with get()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Maps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Using == to check if a value equals another</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For objects such as Integer or String, equals() should be used, not ==, when comparing values.</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Assuming HashMap preserves insertion order</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Just like HashSet, HashMap makes no such guarantee.</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Counting Word Frequency</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Using a HashMap to count how many times each word appears.</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HashMap</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WordFrequency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words = {</a:t>
            </a:r>
            <a:r>
              <a:rPr lang="en-US" sz="1500" dirty="0">
                <a:solidFill>
                  <a:srgbClr val="CE9178"/>
                </a:solidFill>
                <a:latin typeface="Courier New" pitchFamily="34" charset="0"/>
                <a:ea typeface="Courier New" pitchFamily="34" charset="-122"/>
                <a:cs typeface="Courier New" pitchFamily="34" charset="-120"/>
              </a:rPr>
              <a:t>"java"</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CE9178"/>
                </a:solidFill>
                <a:latin typeface="Courier New" pitchFamily="34" charset="0"/>
                <a:ea typeface="Courier New" pitchFamily="34" charset="-122"/>
                <a:cs typeface="Courier New" pitchFamily="34" charset="-120"/>
              </a:rPr>
              <a:t>"code"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CE9178"/>
                </a:solidFill>
                <a:latin typeface="Courier New" pitchFamily="34" charset="0"/>
                <a:ea typeface="Courier New" pitchFamily="34" charset="-122"/>
                <a:cs typeface="Courier New" pitchFamily="34" charset="-120"/>
              </a:rPr>
              <a:t>"java"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HashMap</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&gt; counts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HashMap</a:t>
            </a:r>
            <a:r>
              <a:rPr lang="en-US" sz="1500" dirty="0">
                <a:solidFill>
                  <a:srgbClr val="D4D4D4"/>
                </a:solidFill>
                <a:latin typeface="Courier New" pitchFamily="34" charset="0"/>
                <a:ea typeface="Courier New" pitchFamily="34" charset="-122"/>
                <a:cs typeface="Courier New" pitchFamily="34" charset="-120"/>
              </a:rPr>
              <a:t>&lt;&gt;();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for</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word : words)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counts.</a:t>
            </a:r>
            <a:r>
              <a:rPr lang="en-US" sz="1500" dirty="0">
                <a:solidFill>
                  <a:srgbClr val="DCDCAA"/>
                </a:solidFill>
                <a:latin typeface="Courier New" pitchFamily="34" charset="0"/>
                <a:ea typeface="Courier New" pitchFamily="34" charset="-122"/>
                <a:cs typeface="Courier New" pitchFamily="34" charset="-120"/>
              </a:rPr>
              <a:t>put</a:t>
            </a:r>
            <a:r>
              <a:rPr lang="en-US" sz="1500" dirty="0">
                <a:solidFill>
                  <a:srgbClr val="D4D4D4"/>
                </a:solidFill>
                <a:latin typeface="Courier New" pitchFamily="34" charset="0"/>
                <a:ea typeface="Courier New" pitchFamily="34" charset="-122"/>
                <a:cs typeface="Courier New" pitchFamily="34" charset="-120"/>
              </a:rPr>
              <a:t>(word, counts.</a:t>
            </a:r>
            <a:r>
              <a:rPr lang="en-US" sz="1500" dirty="0">
                <a:solidFill>
                  <a:srgbClr val="DCDCAA"/>
                </a:solidFill>
                <a:latin typeface="Courier New" pitchFamily="34" charset="0"/>
                <a:ea typeface="Courier New" pitchFamily="34" charset="-122"/>
                <a:cs typeface="Courier New" pitchFamily="34" charset="-120"/>
              </a:rPr>
              <a:t>getOrDefault</a:t>
            </a:r>
            <a:r>
              <a:rPr lang="en-US" sz="1500" dirty="0">
                <a:solidFill>
                  <a:srgbClr val="D4D4D4"/>
                </a:solidFill>
                <a:latin typeface="Courier New" pitchFamily="34" charset="0"/>
                <a:ea typeface="Courier New" pitchFamily="34" charset="-122"/>
                <a:cs typeface="Courier New" pitchFamily="34" charset="-120"/>
              </a:rPr>
              <a:t>(word,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(counts.</a:t>
            </a:r>
            <a:r>
              <a:rPr lang="en-US" sz="1500" dirty="0">
                <a:solidFill>
                  <a:srgbClr val="DCDCAA"/>
                </a:solidFill>
                <a:latin typeface="Courier New" pitchFamily="34" charset="0"/>
                <a:ea typeface="Courier New" pitchFamily="34" charset="-122"/>
                <a:cs typeface="Courier New" pitchFamily="34" charset="-120"/>
              </a:rPr>
              <a:t>get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"java"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2</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4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Queue and Stack</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First-in-first-out and last-in-first-out collections</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Queue?</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First in, first out</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earliest element added is always the first one removed, like people waiting in a line.</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An interface implemented by LinkedList</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As seen earlier in this session, LinkedList can be used through the Queue interface directly.</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IMPLEMENTATION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Using the Queue Interface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offer() adds to the back, and poll() removes and returns from the front.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peek() looks at the front element without removing it.</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LinkedList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Queue</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QueueDemo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Queue</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&gt; line =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LinkedList</a:t>
            </a:r>
            <a:r>
              <a:rPr lang="en-US" sz="1400" dirty="0">
                <a:solidFill>
                  <a:srgbClr val="D4D4D4"/>
                </a:solidFill>
                <a:latin typeface="Courier New" pitchFamily="34" charset="0"/>
                <a:ea typeface="Courier New" pitchFamily="34" charset="-122"/>
                <a:cs typeface="Courier New" pitchFamily="34" charset="-120"/>
              </a:rPr>
              <a:t>&lt;&gt;();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line.</a:t>
            </a:r>
            <a:r>
              <a:rPr lang="en-US" sz="1400" dirty="0">
                <a:solidFill>
                  <a:srgbClr val="DCDCAA"/>
                </a:solidFill>
                <a:latin typeface="Courier New" pitchFamily="34" charset="0"/>
                <a:ea typeface="Courier New" pitchFamily="34" charset="-122"/>
                <a:cs typeface="Courier New" pitchFamily="34" charset="-120"/>
              </a:rPr>
              <a:t>offer</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"Customer 1"</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line.</a:t>
            </a:r>
            <a:r>
              <a:rPr lang="en-US" sz="1400" dirty="0">
                <a:solidFill>
                  <a:srgbClr val="DCDCAA"/>
                </a:solidFill>
                <a:latin typeface="Courier New" pitchFamily="34" charset="0"/>
                <a:ea typeface="Courier New" pitchFamily="34" charset="-122"/>
                <a:cs typeface="Courier New" pitchFamily="34" charset="-120"/>
              </a:rPr>
              <a:t>offer</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"Customer 2"</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(line.</a:t>
            </a:r>
            <a:r>
              <a:rPr lang="en-US" sz="1400" dirty="0">
                <a:solidFill>
                  <a:srgbClr val="DCDCAA"/>
                </a:solidFill>
                <a:latin typeface="Courier New" pitchFamily="34" charset="0"/>
                <a:ea typeface="Courier New" pitchFamily="34" charset="-122"/>
                <a:cs typeface="Courier New" pitchFamily="34" charset="-120"/>
              </a:rPr>
              <a:t>poll</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Stack?</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Last in, first out</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most recently added element is always the first one removed, like a stack of plates.</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Access is restricted to one end</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stack only allows adding and removing from its top.</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IMPLEMENTATION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Using Java's Stack Class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push() adds to the top, and pop() removes and returns the top element.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java.util.Stack is one of the oldest classes in the Collections Framework.</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Stack</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StackDemo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Stack</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&gt; stack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Stack</a:t>
            </a:r>
            <a:r>
              <a:rPr lang="en-US" sz="1500" dirty="0">
                <a:solidFill>
                  <a:srgbClr val="D4D4D4"/>
                </a:solidFill>
                <a:latin typeface="Courier New" pitchFamily="34" charset="0"/>
                <a:ea typeface="Courier New" pitchFamily="34" charset="-122"/>
                <a:cs typeface="Courier New" pitchFamily="34" charset="-120"/>
              </a:rPr>
              <a:t>&lt;&gt;();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stack.</a:t>
            </a:r>
            <a:r>
              <a:rPr lang="en-US" sz="1500" dirty="0">
                <a:solidFill>
                  <a:srgbClr val="DCDCAA"/>
                </a:solidFill>
                <a:latin typeface="Courier New" pitchFamily="34" charset="0"/>
                <a:ea typeface="Courier New" pitchFamily="34" charset="-122"/>
                <a:cs typeface="Courier New" pitchFamily="34" charset="-120"/>
              </a:rPr>
              <a:t>push</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10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stack.</a:t>
            </a:r>
            <a:r>
              <a:rPr lang="en-US" sz="1500" dirty="0">
                <a:solidFill>
                  <a:srgbClr val="DCDCAA"/>
                </a:solidFill>
                <a:latin typeface="Courier New" pitchFamily="34" charset="0"/>
                <a:ea typeface="Courier New" pitchFamily="34" charset="-122"/>
                <a:cs typeface="Courier New" pitchFamily="34" charset="-120"/>
              </a:rPr>
              <a:t>push</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20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(stack.</a:t>
            </a:r>
            <a:r>
              <a:rPr lang="en-US" sz="1500" dirty="0">
                <a:solidFill>
                  <a:srgbClr val="DCDCAA"/>
                </a:solidFill>
                <a:latin typeface="Courier New" pitchFamily="34" charset="0"/>
                <a:ea typeface="Courier New" pitchFamily="34" charset="-122"/>
                <a:cs typeface="Courier New" pitchFamily="34" charset="-120"/>
              </a:rPr>
              <a:t>pop</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20</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MODERN ALTERNATIVE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Using Deque as a Stack</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ArrayDeque is often recommended over Stack for new code.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push and pop on a Deque behave the same way as on the older Stack class.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ArrayDeque</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Deque</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DequeAsStack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Deque</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Integer</a:t>
            </a:r>
            <a:r>
              <a:rPr lang="en-US" sz="1400" dirty="0">
                <a:solidFill>
                  <a:srgbClr val="D4D4D4"/>
                </a:solidFill>
                <a:latin typeface="Courier New" pitchFamily="34" charset="0"/>
                <a:ea typeface="Courier New" pitchFamily="34" charset="-122"/>
                <a:cs typeface="Courier New" pitchFamily="34" charset="-120"/>
              </a:rPr>
              <a:t>&gt; stack =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ArrayDeque</a:t>
            </a:r>
            <a:r>
              <a:rPr lang="en-US" sz="1400" dirty="0">
                <a:solidFill>
                  <a:srgbClr val="D4D4D4"/>
                </a:solidFill>
                <a:latin typeface="Courier New" pitchFamily="34" charset="0"/>
                <a:ea typeface="Courier New" pitchFamily="34" charset="-122"/>
                <a:cs typeface="Courier New" pitchFamily="34" charset="-120"/>
              </a:rPr>
              <a:t>&lt;&gt;();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stack.</a:t>
            </a:r>
            <a:r>
              <a:rPr lang="en-US" sz="1400" dirty="0">
                <a:solidFill>
                  <a:srgbClr val="DCDCAA"/>
                </a:solidFill>
                <a:latin typeface="Courier New" pitchFamily="34" charset="0"/>
                <a:ea typeface="Courier New" pitchFamily="34" charset="-122"/>
                <a:cs typeface="Courier New" pitchFamily="34" charset="-120"/>
              </a:rPr>
              <a:t>push</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B5CEA8"/>
                </a:solidFill>
                <a:latin typeface="Courier New" pitchFamily="34" charset="0"/>
                <a:ea typeface="Courier New" pitchFamily="34" charset="-122"/>
                <a:cs typeface="Courier New" pitchFamily="34" charset="-120"/>
              </a:rPr>
              <a:t>10</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stack.</a:t>
            </a:r>
            <a:r>
              <a:rPr lang="en-US" sz="1400" dirty="0">
                <a:solidFill>
                  <a:srgbClr val="DCDCAA"/>
                </a:solidFill>
                <a:latin typeface="Courier New" pitchFamily="34" charset="0"/>
                <a:ea typeface="Courier New" pitchFamily="34" charset="-122"/>
                <a:cs typeface="Courier New" pitchFamily="34" charset="-120"/>
              </a:rPr>
              <a:t>push</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B5CEA8"/>
                </a:solidFill>
                <a:latin typeface="Courier New" pitchFamily="34" charset="0"/>
                <a:ea typeface="Courier New" pitchFamily="34" charset="-122"/>
                <a:cs typeface="Courier New" pitchFamily="34" charset="-120"/>
              </a:rPr>
              <a:t>20</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(stack.</a:t>
            </a:r>
            <a:r>
              <a:rPr lang="en-US" sz="1400" dirty="0">
                <a:solidFill>
                  <a:srgbClr val="DCDCAA"/>
                </a:solidFill>
                <a:latin typeface="Courier New" pitchFamily="34" charset="0"/>
                <a:ea typeface="Courier New" pitchFamily="34" charset="-122"/>
                <a:cs typeface="Courier New" pitchFamily="34" charset="-120"/>
              </a:rPr>
              <a:t>pop</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A DIFFERENT ORDER</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PriorityQueue: The Idea</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Elements come out by priority, not arrival order</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Unlike a normal queue, the element with the highest, or lowest, priority is removed first.</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Commonly implemented with a heap</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connects directly to the Heaps module from the Non-Linear Data Structures course.</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IMPLEMENTATION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Using PriorityQueue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PriorityQueue automatically keeps its smallest element accessible at the front by default.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poll() removes and returns that smallest element.</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PriorityQueue</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PriorityQueueDemo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PriorityQueue</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Integer</a:t>
            </a:r>
            <a:r>
              <a:rPr lang="en-US" sz="1400" dirty="0">
                <a:solidFill>
                  <a:srgbClr val="D4D4D4"/>
                </a:solidFill>
                <a:latin typeface="Courier New" pitchFamily="34" charset="0"/>
                <a:ea typeface="Courier New" pitchFamily="34" charset="-122"/>
                <a:cs typeface="Courier New" pitchFamily="34" charset="-120"/>
              </a:rPr>
              <a:t>&gt; pq =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PriorityQueue</a:t>
            </a:r>
            <a:r>
              <a:rPr lang="en-US" sz="1400" dirty="0">
                <a:solidFill>
                  <a:srgbClr val="D4D4D4"/>
                </a:solidFill>
                <a:latin typeface="Courier New" pitchFamily="34" charset="0"/>
                <a:ea typeface="Courier New" pitchFamily="34" charset="-122"/>
                <a:cs typeface="Courier New" pitchFamily="34" charset="-120"/>
              </a:rPr>
              <a:t>&lt;&gt;();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pq.</a:t>
            </a:r>
            <a:r>
              <a:rPr lang="en-US" sz="1400" dirty="0">
                <a:solidFill>
                  <a:srgbClr val="DCDCAA"/>
                </a:solidFill>
                <a:latin typeface="Courier New" pitchFamily="34" charset="0"/>
                <a:ea typeface="Courier New" pitchFamily="34" charset="-122"/>
                <a:cs typeface="Courier New" pitchFamily="34" charset="-120"/>
              </a:rPr>
              <a:t>offer</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B5CEA8"/>
                </a:solidFill>
                <a:latin typeface="Courier New" pitchFamily="34" charset="0"/>
                <a:ea typeface="Courier New" pitchFamily="34" charset="-122"/>
                <a:cs typeface="Courier New" pitchFamily="34" charset="-120"/>
              </a:rPr>
              <a:t>5</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pq.</a:t>
            </a:r>
            <a:r>
              <a:rPr lang="en-US" sz="1400" dirty="0">
                <a:solidFill>
                  <a:srgbClr val="DCDCAA"/>
                </a:solidFill>
                <a:latin typeface="Courier New" pitchFamily="34" charset="0"/>
                <a:ea typeface="Courier New" pitchFamily="34" charset="-122"/>
                <a:cs typeface="Courier New" pitchFamily="34" charset="-120"/>
              </a:rPr>
              <a:t>offer</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B5CEA8"/>
                </a:solidFill>
                <a:latin typeface="Courier New" pitchFamily="34" charset="0"/>
                <a:ea typeface="Courier New" pitchFamily="34" charset="-122"/>
                <a:cs typeface="Courier New" pitchFamily="34" charset="-120"/>
              </a:rPr>
              <a:t>1</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pq.</a:t>
            </a:r>
            <a:r>
              <a:rPr lang="en-US" sz="1400" dirty="0">
                <a:solidFill>
                  <a:srgbClr val="DCDCAA"/>
                </a:solidFill>
                <a:latin typeface="Courier New" pitchFamily="34" charset="0"/>
                <a:ea typeface="Courier New" pitchFamily="34" charset="-122"/>
                <a:cs typeface="Courier New" pitchFamily="34" charset="-120"/>
              </a:rPr>
              <a:t>offer</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B5CEA8"/>
                </a:solidFill>
                <a:latin typeface="Courier New" pitchFamily="34" charset="0"/>
                <a:ea typeface="Courier New" pitchFamily="34" charset="-122"/>
                <a:cs typeface="Courier New" pitchFamily="34" charset="-120"/>
              </a:rPr>
              <a:t>3</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(pq.</a:t>
            </a:r>
            <a:r>
              <a:rPr lang="en-US" sz="1400" dirty="0">
                <a:solidFill>
                  <a:srgbClr val="DCDCAA"/>
                </a:solidFill>
                <a:latin typeface="Courier New" pitchFamily="34" charset="0"/>
                <a:ea typeface="Courier New" pitchFamily="34" charset="-122"/>
                <a:cs typeface="Courier New" pitchFamily="34" charset="-120"/>
              </a:rPr>
              <a:t>poll</a:t>
            </a:r>
            <a:r>
              <a:rPr lang="en-US" sz="1400" dirty="0">
                <a:solidFill>
                  <a:srgbClr val="D4D4D4"/>
                </a:solidFill>
                <a:latin typeface="Courier New" pitchFamily="34" charset="0"/>
                <a:ea typeface="Courier New" pitchFamily="34" charset="-122"/>
                <a:cs typeface="Courier New" pitchFamily="34" charset="-120"/>
              </a:rPr>
              <a:t>());   </a:t>
            </a:r>
            <a:r>
              <a:rPr lang="en-US" sz="1400" i="1" dirty="0">
                <a:solidFill>
                  <a:srgbClr val="6A9955"/>
                </a:solidFill>
                <a:latin typeface="Courier New" pitchFamily="34" charset="0"/>
                <a:ea typeface="Courier New" pitchFamily="34" charset="-122"/>
                <a:cs typeface="Courier New" pitchFamily="34" charset="-120"/>
              </a:rPr>
              <a:t>// 1</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COMPARISON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Stack vs. Queue</a:t>
            </a:r>
            <a:endParaRPr lang="en-US" sz="27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144780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Aspect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Stack</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Queue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4478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Order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Last in, first out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First in, first out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478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Typical use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Undo, backtracking</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Scheduling, buffering</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Queues and Stacks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Calling pop or poll on an empty collection</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throws an exception; isEmpty() should be checked first.</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Confusing add() with offer() on a Queue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add() throws an exception on failure, while offer() returns false instead.</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A Simple Task Queue</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Processing tasks in the order they were added, using a Queue.</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LinkedList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Queue</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TaskQueue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Queue</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&gt; tasks =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LinkedList</a:t>
            </a:r>
            <a:r>
              <a:rPr lang="en-US" sz="1400" dirty="0">
                <a:solidFill>
                  <a:srgbClr val="D4D4D4"/>
                </a:solidFill>
                <a:latin typeface="Courier New" pitchFamily="34" charset="0"/>
                <a:ea typeface="Courier New" pitchFamily="34" charset="-122"/>
                <a:cs typeface="Courier New" pitchFamily="34" charset="-120"/>
              </a:rPr>
              <a:t>&lt;&gt;();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tasks.</a:t>
            </a:r>
            <a:r>
              <a:rPr lang="en-US" sz="1400" dirty="0">
                <a:solidFill>
                  <a:srgbClr val="DCDCAA"/>
                </a:solidFill>
                <a:latin typeface="Courier New" pitchFamily="34" charset="0"/>
                <a:ea typeface="Courier New" pitchFamily="34" charset="-122"/>
                <a:cs typeface="Courier New" pitchFamily="34" charset="-120"/>
              </a:rPr>
              <a:t>offer</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"Print report"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tasks.</a:t>
            </a:r>
            <a:r>
              <a:rPr lang="en-US" sz="1400" dirty="0">
                <a:solidFill>
                  <a:srgbClr val="DCDCAA"/>
                </a:solidFill>
                <a:latin typeface="Courier New" pitchFamily="34" charset="0"/>
                <a:ea typeface="Courier New" pitchFamily="34" charset="-122"/>
                <a:cs typeface="Courier New" pitchFamily="34" charset="-120"/>
              </a:rPr>
              <a:t>offer</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"Send email"</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while</a:t>
            </a:r>
            <a:r>
              <a:rPr lang="en-US" sz="1400" dirty="0">
                <a:solidFill>
                  <a:srgbClr val="D4D4D4"/>
                </a:solidFill>
                <a:latin typeface="Courier New" pitchFamily="34" charset="0"/>
                <a:ea typeface="Courier New" pitchFamily="34" charset="-122"/>
                <a:cs typeface="Courier New" pitchFamily="34" charset="-120"/>
              </a:rPr>
              <a:t> (!tasks.</a:t>
            </a:r>
            <a:r>
              <a:rPr lang="en-US" sz="1400" dirty="0">
                <a:solidFill>
                  <a:srgbClr val="DCDCAA"/>
                </a:solidFill>
                <a:latin typeface="Courier New" pitchFamily="34" charset="0"/>
                <a:ea typeface="Courier New" pitchFamily="34" charset="-122"/>
                <a:cs typeface="Courier New" pitchFamily="34" charset="-120"/>
              </a:rPr>
              <a:t>isEmpty</a:t>
            </a: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"Processing: "</a:t>
            </a:r>
            <a:r>
              <a:rPr lang="en-US" sz="1400" dirty="0">
                <a:solidFill>
                  <a:srgbClr val="D4D4D4"/>
                </a:solidFill>
                <a:latin typeface="Courier New" pitchFamily="34" charset="0"/>
                <a:ea typeface="Courier New" pitchFamily="34" charset="-122"/>
                <a:cs typeface="Courier New" pitchFamily="34" charset="-120"/>
              </a:rPr>
              <a:t> + tasks.</a:t>
            </a:r>
            <a:r>
              <a:rPr lang="en-US" sz="1400" dirty="0">
                <a:solidFill>
                  <a:srgbClr val="DCDCAA"/>
                </a:solidFill>
                <a:latin typeface="Courier New" pitchFamily="34" charset="0"/>
                <a:ea typeface="Courier New" pitchFamily="34" charset="-122"/>
                <a:cs typeface="Courier New" pitchFamily="34" charset="-120"/>
              </a:rPr>
              <a:t>poll</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Processing: Print report</a:t>
            </a:r>
            <a:endParaRPr lang="en-US" sz="1300" dirty="0"/>
          </a:p>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Processing: Send email</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5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Iterator</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A uniform way to step through any collection</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an Iterator?</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An object designed to step through a collection</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An Iterator visits each element one at a time, in a controlled, predictable way.</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Powers the for-each loop internally</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Behind the scenes, a for-each loop over a collection is implemented using an Iterator.</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STEPPING THROUGH</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Obtaining and Using an Iterator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hasNext() checks whether another element remains, and next() returns it and advances forward.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pattern works identically across every collection type covered in this session.</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100" b="1" dirty="0">
                <a:solidFill>
                  <a:srgbClr val="569CD6"/>
                </a:solidFill>
                <a:latin typeface="Courier New" pitchFamily="34" charset="0"/>
                <a:ea typeface="Courier New" pitchFamily="34" charset="-122"/>
                <a:cs typeface="Courier New" pitchFamily="34" charset="-120"/>
              </a:rPr>
              <a:t>import</a:t>
            </a:r>
            <a:r>
              <a:rPr lang="en-US" sz="1100" dirty="0">
                <a:solidFill>
                  <a:srgbClr val="D4D4D4"/>
                </a:solidFill>
                <a:latin typeface="Courier New" pitchFamily="34" charset="0"/>
                <a:ea typeface="Courier New" pitchFamily="34" charset="-122"/>
                <a:cs typeface="Courier New" pitchFamily="34" charset="-120"/>
              </a:rPr>
              <a:t> java.util.</a:t>
            </a:r>
            <a:r>
              <a:rPr lang="en-US" sz="1100" dirty="0">
                <a:solidFill>
                  <a:srgbClr val="4EC9B0"/>
                </a:solidFill>
                <a:latin typeface="Courier New" pitchFamily="34" charset="0"/>
                <a:ea typeface="Courier New" pitchFamily="34" charset="-122"/>
                <a:cs typeface="Courier New" pitchFamily="34" charset="-120"/>
              </a:rPr>
              <a:t>ArrayList</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b="1" dirty="0">
                <a:solidFill>
                  <a:srgbClr val="569CD6"/>
                </a:solidFill>
                <a:latin typeface="Courier New" pitchFamily="34" charset="0"/>
                <a:ea typeface="Courier New" pitchFamily="34" charset="-122"/>
                <a:cs typeface="Courier New" pitchFamily="34" charset="-120"/>
              </a:rPr>
              <a:t>import</a:t>
            </a:r>
            <a:r>
              <a:rPr lang="en-US" sz="1100" dirty="0">
                <a:solidFill>
                  <a:srgbClr val="D4D4D4"/>
                </a:solidFill>
                <a:latin typeface="Courier New" pitchFamily="34" charset="0"/>
                <a:ea typeface="Courier New" pitchFamily="34" charset="-122"/>
                <a:cs typeface="Courier New" pitchFamily="34" charset="-120"/>
              </a:rPr>
              <a:t> java.util.</a:t>
            </a:r>
            <a:r>
              <a:rPr lang="en-US" sz="1100" dirty="0">
                <a:solidFill>
                  <a:srgbClr val="4EC9B0"/>
                </a:solidFill>
                <a:latin typeface="Courier New" pitchFamily="34" charset="0"/>
                <a:ea typeface="Courier New" pitchFamily="34" charset="-122"/>
                <a:cs typeface="Courier New" pitchFamily="34" charset="-120"/>
              </a:rPr>
              <a:t>Iterator</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b="1" dirty="0">
                <a:solidFill>
                  <a:srgbClr val="569CD6"/>
                </a:solidFill>
                <a:latin typeface="Courier New" pitchFamily="34" charset="0"/>
                <a:ea typeface="Courier New" pitchFamily="34" charset="-122"/>
                <a:cs typeface="Courier New" pitchFamily="34" charset="-120"/>
              </a:rPr>
              <a:t>public</a:t>
            </a: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class</a:t>
            </a:r>
            <a:r>
              <a:rPr lang="en-US" sz="1100" dirty="0">
                <a:solidFill>
                  <a:srgbClr val="D4D4D4"/>
                </a:solidFill>
                <a:latin typeface="Courier New" pitchFamily="34" charset="0"/>
                <a:ea typeface="Courier New" pitchFamily="34" charset="-122"/>
                <a:cs typeface="Courier New" pitchFamily="34" charset="-120"/>
              </a:rPr>
              <a:t> IteratorDemo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public</a:t>
            </a: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static</a:t>
            </a: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void</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DCDCAA"/>
                </a:solidFill>
                <a:latin typeface="Courier New" pitchFamily="34" charset="0"/>
                <a:ea typeface="Courier New" pitchFamily="34" charset="-122"/>
                <a:cs typeface="Courier New" pitchFamily="34" charset="-120"/>
              </a:rPr>
              <a:t>main</a:t>
            </a:r>
            <a:r>
              <a:rPr lang="en-US" sz="1100" dirty="0">
                <a:solidFill>
                  <a:srgbClr val="D4D4D4"/>
                </a:solidFill>
                <a:latin typeface="Courier New" pitchFamily="34" charset="0"/>
                <a:ea typeface="Courier New" pitchFamily="34" charset="-122"/>
                <a:cs typeface="Courier New" pitchFamily="34" charset="-120"/>
              </a:rPr>
              <a:t>(</a:t>
            </a:r>
            <a:r>
              <a:rPr lang="en-US" sz="1100" dirty="0">
                <a:solidFill>
                  <a:srgbClr val="4EC9B0"/>
                </a:solidFill>
                <a:latin typeface="Courier New" pitchFamily="34" charset="0"/>
                <a:ea typeface="Courier New" pitchFamily="34" charset="-122"/>
                <a:cs typeface="Courier New" pitchFamily="34" charset="-120"/>
              </a:rPr>
              <a:t>String</a:t>
            </a:r>
            <a:r>
              <a:rPr lang="en-US" sz="1100" dirty="0">
                <a:solidFill>
                  <a:srgbClr val="D4D4D4"/>
                </a:solidFill>
                <a:latin typeface="Courier New" pitchFamily="34" charset="0"/>
                <a:ea typeface="Courier New" pitchFamily="34" charset="-122"/>
                <a:cs typeface="Courier New" pitchFamily="34" charset="-120"/>
              </a:rPr>
              <a:t>[] args)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4EC9B0"/>
                </a:solidFill>
                <a:latin typeface="Courier New" pitchFamily="34" charset="0"/>
                <a:ea typeface="Courier New" pitchFamily="34" charset="-122"/>
                <a:cs typeface="Courier New" pitchFamily="34" charset="-120"/>
              </a:rPr>
              <a:t>ArrayList</a:t>
            </a:r>
            <a:r>
              <a:rPr lang="en-US" sz="1100" dirty="0">
                <a:solidFill>
                  <a:srgbClr val="D4D4D4"/>
                </a:solidFill>
                <a:latin typeface="Courier New" pitchFamily="34" charset="0"/>
                <a:ea typeface="Courier New" pitchFamily="34" charset="-122"/>
                <a:cs typeface="Courier New" pitchFamily="34" charset="-120"/>
              </a:rPr>
              <a:t>&lt;</a:t>
            </a:r>
            <a:r>
              <a:rPr lang="en-US" sz="1100" dirty="0">
                <a:solidFill>
                  <a:srgbClr val="4EC9B0"/>
                </a:solidFill>
                <a:latin typeface="Courier New" pitchFamily="34" charset="0"/>
                <a:ea typeface="Courier New" pitchFamily="34" charset="-122"/>
                <a:cs typeface="Courier New" pitchFamily="34" charset="-120"/>
              </a:rPr>
              <a:t>String</a:t>
            </a:r>
            <a:r>
              <a:rPr lang="en-US" sz="1100" dirty="0">
                <a:solidFill>
                  <a:srgbClr val="D4D4D4"/>
                </a:solidFill>
                <a:latin typeface="Courier New" pitchFamily="34" charset="0"/>
                <a:ea typeface="Courier New" pitchFamily="34" charset="-122"/>
                <a:cs typeface="Courier New" pitchFamily="34" charset="-120"/>
              </a:rPr>
              <a:t>&gt; names = </a:t>
            </a:r>
            <a:r>
              <a:rPr lang="en-US" sz="1100" b="1" dirty="0">
                <a:solidFill>
                  <a:srgbClr val="569CD6"/>
                </a:solidFill>
                <a:latin typeface="Courier New" pitchFamily="34" charset="0"/>
                <a:ea typeface="Courier New" pitchFamily="34" charset="-122"/>
                <a:cs typeface="Courier New" pitchFamily="34" charset="-120"/>
              </a:rPr>
              <a:t>new</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4EC9B0"/>
                </a:solidFill>
                <a:latin typeface="Courier New" pitchFamily="34" charset="0"/>
                <a:ea typeface="Courier New" pitchFamily="34" charset="-122"/>
                <a:cs typeface="Courier New" pitchFamily="34" charset="-120"/>
              </a:rPr>
              <a:t>ArrayList</a:t>
            </a:r>
            <a:r>
              <a:rPr lang="en-US" sz="1100" dirty="0">
                <a:solidFill>
                  <a:srgbClr val="D4D4D4"/>
                </a:solidFill>
                <a:latin typeface="Courier New" pitchFamily="34" charset="0"/>
                <a:ea typeface="Courier New" pitchFamily="34" charset="-122"/>
                <a:cs typeface="Courier New" pitchFamily="34" charset="-120"/>
              </a:rPr>
              <a:t>&lt;&gt;();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names.</a:t>
            </a:r>
            <a:r>
              <a:rPr lang="en-US" sz="1100" dirty="0">
                <a:solidFill>
                  <a:srgbClr val="DCDCAA"/>
                </a:solidFill>
                <a:latin typeface="Courier New" pitchFamily="34" charset="0"/>
                <a:ea typeface="Courier New" pitchFamily="34" charset="-122"/>
                <a:cs typeface="Courier New" pitchFamily="34" charset="-120"/>
              </a:rPr>
              <a:t>add</a:t>
            </a:r>
            <a:r>
              <a:rPr lang="en-US" sz="1100" dirty="0">
                <a:solidFill>
                  <a:srgbClr val="D4D4D4"/>
                </a:solidFill>
                <a:latin typeface="Courier New" pitchFamily="34" charset="0"/>
                <a:ea typeface="Courier New" pitchFamily="34" charset="-122"/>
                <a:cs typeface="Courier New" pitchFamily="34" charset="-120"/>
              </a:rPr>
              <a:t>(</a:t>
            </a:r>
            <a:r>
              <a:rPr lang="en-US" sz="1100" dirty="0">
                <a:solidFill>
                  <a:srgbClr val="CE9178"/>
                </a:solidFill>
                <a:latin typeface="Courier New" pitchFamily="34" charset="0"/>
                <a:ea typeface="Courier New" pitchFamily="34" charset="-122"/>
                <a:cs typeface="Courier New" pitchFamily="34" charset="-120"/>
              </a:rPr>
              <a:t>"Asha"</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names.</a:t>
            </a:r>
            <a:r>
              <a:rPr lang="en-US" sz="1100" dirty="0">
                <a:solidFill>
                  <a:srgbClr val="DCDCAA"/>
                </a:solidFill>
                <a:latin typeface="Courier New" pitchFamily="34" charset="0"/>
                <a:ea typeface="Courier New" pitchFamily="34" charset="-122"/>
                <a:cs typeface="Courier New" pitchFamily="34" charset="-120"/>
              </a:rPr>
              <a:t>add</a:t>
            </a:r>
            <a:r>
              <a:rPr lang="en-US" sz="1100" dirty="0">
                <a:solidFill>
                  <a:srgbClr val="D4D4D4"/>
                </a:solidFill>
                <a:latin typeface="Courier New" pitchFamily="34" charset="0"/>
                <a:ea typeface="Courier New" pitchFamily="34" charset="-122"/>
                <a:cs typeface="Courier New" pitchFamily="34" charset="-120"/>
              </a:rPr>
              <a:t>(</a:t>
            </a:r>
            <a:r>
              <a:rPr lang="en-US" sz="1100" dirty="0">
                <a:solidFill>
                  <a:srgbClr val="CE9178"/>
                </a:solidFill>
                <a:latin typeface="Courier New" pitchFamily="34" charset="0"/>
                <a:ea typeface="Courier New" pitchFamily="34" charset="-122"/>
                <a:cs typeface="Courier New" pitchFamily="34" charset="-120"/>
              </a:rPr>
              <a:t>"Rahul"</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4EC9B0"/>
                </a:solidFill>
                <a:latin typeface="Courier New" pitchFamily="34" charset="0"/>
                <a:ea typeface="Courier New" pitchFamily="34" charset="-122"/>
                <a:cs typeface="Courier New" pitchFamily="34" charset="-120"/>
              </a:rPr>
              <a:t>Iterator</a:t>
            </a:r>
            <a:r>
              <a:rPr lang="en-US" sz="1100" dirty="0">
                <a:solidFill>
                  <a:srgbClr val="D4D4D4"/>
                </a:solidFill>
                <a:latin typeface="Courier New" pitchFamily="34" charset="0"/>
                <a:ea typeface="Courier New" pitchFamily="34" charset="-122"/>
                <a:cs typeface="Courier New" pitchFamily="34" charset="-120"/>
              </a:rPr>
              <a:t>&lt;</a:t>
            </a:r>
            <a:r>
              <a:rPr lang="en-US" sz="1100" dirty="0">
                <a:solidFill>
                  <a:srgbClr val="4EC9B0"/>
                </a:solidFill>
                <a:latin typeface="Courier New" pitchFamily="34" charset="0"/>
                <a:ea typeface="Courier New" pitchFamily="34" charset="-122"/>
                <a:cs typeface="Courier New" pitchFamily="34" charset="-120"/>
              </a:rPr>
              <a:t>String</a:t>
            </a:r>
            <a:r>
              <a:rPr lang="en-US" sz="1100" dirty="0">
                <a:solidFill>
                  <a:srgbClr val="D4D4D4"/>
                </a:solidFill>
                <a:latin typeface="Courier New" pitchFamily="34" charset="0"/>
                <a:ea typeface="Courier New" pitchFamily="34" charset="-122"/>
                <a:cs typeface="Courier New" pitchFamily="34" charset="-120"/>
              </a:rPr>
              <a:t>&gt; it = names.</a:t>
            </a:r>
            <a:r>
              <a:rPr lang="en-US" sz="1100" dirty="0">
                <a:solidFill>
                  <a:srgbClr val="DCDCAA"/>
                </a:solidFill>
                <a:latin typeface="Courier New" pitchFamily="34" charset="0"/>
                <a:ea typeface="Courier New" pitchFamily="34" charset="-122"/>
                <a:cs typeface="Courier New" pitchFamily="34" charset="-120"/>
              </a:rPr>
              <a:t>iterator</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while</a:t>
            </a:r>
            <a:r>
              <a:rPr lang="en-US" sz="1100" dirty="0">
                <a:solidFill>
                  <a:srgbClr val="D4D4D4"/>
                </a:solidFill>
                <a:latin typeface="Courier New" pitchFamily="34" charset="0"/>
                <a:ea typeface="Courier New" pitchFamily="34" charset="-122"/>
                <a:cs typeface="Courier New" pitchFamily="34" charset="-120"/>
              </a:rPr>
              <a:t> (it.</a:t>
            </a:r>
            <a:r>
              <a:rPr lang="en-US" sz="1100" dirty="0">
                <a:solidFill>
                  <a:srgbClr val="DCDCAA"/>
                </a:solidFill>
                <a:latin typeface="Courier New" pitchFamily="34" charset="0"/>
                <a:ea typeface="Courier New" pitchFamily="34" charset="-122"/>
                <a:cs typeface="Courier New" pitchFamily="34" charset="-120"/>
              </a:rPr>
              <a:t>hasNext</a:t>
            </a: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4EC9B0"/>
                </a:solidFill>
                <a:latin typeface="Courier New" pitchFamily="34" charset="0"/>
                <a:ea typeface="Courier New" pitchFamily="34" charset="-122"/>
                <a:cs typeface="Courier New" pitchFamily="34" charset="-120"/>
              </a:rPr>
              <a:t>System</a:t>
            </a:r>
            <a:r>
              <a:rPr lang="en-US" sz="1100" dirty="0">
                <a:solidFill>
                  <a:srgbClr val="D4D4D4"/>
                </a:solidFill>
                <a:latin typeface="Courier New" pitchFamily="34" charset="0"/>
                <a:ea typeface="Courier New" pitchFamily="34" charset="-122"/>
                <a:cs typeface="Courier New" pitchFamily="34" charset="-120"/>
              </a:rPr>
              <a:t>.out.</a:t>
            </a:r>
            <a:r>
              <a:rPr lang="en-US" sz="1100" dirty="0">
                <a:solidFill>
                  <a:srgbClr val="DCDCAA"/>
                </a:solidFill>
                <a:latin typeface="Courier New" pitchFamily="34" charset="0"/>
                <a:ea typeface="Courier New" pitchFamily="34" charset="-122"/>
                <a:cs typeface="Courier New" pitchFamily="34" charset="-120"/>
              </a:rPr>
              <a:t>println</a:t>
            </a:r>
            <a:r>
              <a:rPr lang="en-US" sz="1100" dirty="0">
                <a:solidFill>
                  <a:srgbClr val="D4D4D4"/>
                </a:solidFill>
                <a:latin typeface="Courier New" pitchFamily="34" charset="0"/>
                <a:ea typeface="Courier New" pitchFamily="34" charset="-122"/>
                <a:cs typeface="Courier New" pitchFamily="34" charset="-120"/>
              </a:rPr>
              <a:t>(it.</a:t>
            </a:r>
            <a:r>
              <a:rPr lang="en-US" sz="1100" dirty="0">
                <a:solidFill>
                  <a:srgbClr val="DCDCAA"/>
                </a:solidFill>
                <a:latin typeface="Courier New" pitchFamily="34" charset="0"/>
                <a:ea typeface="Courier New" pitchFamily="34" charset="-122"/>
                <a:cs typeface="Courier New" pitchFamily="34" charset="-120"/>
              </a:rPr>
              <a:t>next</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a:t>
            </a:r>
            <a:endParaRPr lang="en-US" sz="11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SAFE REMOVAL</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Removing Elements with Iterator.remove()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Iterator.remove() removes the element most recently returned by next().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is the safe way to remove elements from a collection while looping over it.</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900" b="1" dirty="0">
                <a:solidFill>
                  <a:srgbClr val="569CD6"/>
                </a:solidFill>
                <a:latin typeface="Courier New" pitchFamily="34" charset="0"/>
                <a:ea typeface="Courier New" pitchFamily="34" charset="-122"/>
                <a:cs typeface="Courier New" pitchFamily="34" charset="-120"/>
              </a:rPr>
              <a:t>import</a:t>
            </a:r>
            <a:r>
              <a:rPr lang="en-US" sz="900" dirty="0">
                <a:solidFill>
                  <a:srgbClr val="D4D4D4"/>
                </a:solidFill>
                <a:latin typeface="Courier New" pitchFamily="34" charset="0"/>
                <a:ea typeface="Courier New" pitchFamily="34" charset="-122"/>
                <a:cs typeface="Courier New" pitchFamily="34" charset="-120"/>
              </a:rPr>
              <a:t> java.util.</a:t>
            </a:r>
            <a:r>
              <a:rPr lang="en-US" sz="900" dirty="0">
                <a:solidFill>
                  <a:srgbClr val="4EC9B0"/>
                </a:solidFill>
                <a:latin typeface="Courier New" pitchFamily="34" charset="0"/>
                <a:ea typeface="Courier New" pitchFamily="34" charset="-122"/>
                <a:cs typeface="Courier New" pitchFamily="34" charset="-120"/>
              </a:rPr>
              <a:t>ArrayList</a:t>
            </a:r>
            <a:r>
              <a:rPr lang="en-US" sz="900" dirty="0">
                <a:solidFill>
                  <a:srgbClr val="D4D4D4"/>
                </a:solidFill>
                <a:latin typeface="Courier New" pitchFamily="34" charset="0"/>
                <a:ea typeface="Courier New" pitchFamily="34" charset="-122"/>
                <a:cs typeface="Courier New" pitchFamily="34" charset="-120"/>
              </a:rPr>
              <a:t>;</a:t>
            </a:r>
            <a:endParaRPr lang="en-US" sz="900" dirty="0"/>
          </a:p>
          <a:p>
            <a:pPr marL="0" indent="0" algn="l">
              <a:lnSpc>
                <a:spcPct val="118000"/>
              </a:lnSpc>
              <a:buNone/>
            </a:pPr>
            <a:r>
              <a:rPr lang="en-US" sz="900" b="1" dirty="0">
                <a:solidFill>
                  <a:srgbClr val="569CD6"/>
                </a:solidFill>
                <a:latin typeface="Courier New" pitchFamily="34" charset="0"/>
                <a:ea typeface="Courier New" pitchFamily="34" charset="-122"/>
                <a:cs typeface="Courier New" pitchFamily="34" charset="-120"/>
              </a:rPr>
              <a:t>import</a:t>
            </a:r>
            <a:r>
              <a:rPr lang="en-US" sz="900" dirty="0">
                <a:solidFill>
                  <a:srgbClr val="D4D4D4"/>
                </a:solidFill>
                <a:latin typeface="Courier New" pitchFamily="34" charset="0"/>
                <a:ea typeface="Courier New" pitchFamily="34" charset="-122"/>
                <a:cs typeface="Courier New" pitchFamily="34" charset="-120"/>
              </a:rPr>
              <a:t> java.util.</a:t>
            </a:r>
            <a:r>
              <a:rPr lang="en-US" sz="900" dirty="0">
                <a:solidFill>
                  <a:srgbClr val="4EC9B0"/>
                </a:solidFill>
                <a:latin typeface="Courier New" pitchFamily="34" charset="0"/>
                <a:ea typeface="Courier New" pitchFamily="34" charset="-122"/>
                <a:cs typeface="Courier New" pitchFamily="34" charset="-120"/>
              </a:rPr>
              <a:t>Iterator</a:t>
            </a:r>
            <a:r>
              <a:rPr lang="en-US" sz="900" dirty="0">
                <a:solidFill>
                  <a:srgbClr val="D4D4D4"/>
                </a:solidFill>
                <a:latin typeface="Courier New" pitchFamily="34" charset="0"/>
                <a:ea typeface="Courier New" pitchFamily="34" charset="-122"/>
                <a:cs typeface="Courier New" pitchFamily="34" charset="-120"/>
              </a:rPr>
              <a:t>;</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gn="l">
              <a:lnSpc>
                <a:spcPct val="118000"/>
              </a:lnSpc>
              <a:buNone/>
            </a:pPr>
            <a:r>
              <a:rPr lang="en-US" sz="900" b="1" dirty="0">
                <a:solidFill>
                  <a:srgbClr val="569CD6"/>
                </a:solidFill>
                <a:latin typeface="Courier New" pitchFamily="34" charset="0"/>
                <a:ea typeface="Courier New" pitchFamily="34" charset="-122"/>
                <a:cs typeface="Courier New" pitchFamily="34" charset="-120"/>
              </a:rPr>
              <a:t>public</a:t>
            </a:r>
            <a:r>
              <a:rPr lang="en-US" sz="900" dirty="0">
                <a:solidFill>
                  <a:srgbClr val="D4D4D4"/>
                </a:solidFill>
                <a:latin typeface="Courier New" pitchFamily="34" charset="0"/>
                <a:ea typeface="Courier New" pitchFamily="34" charset="-122"/>
                <a:cs typeface="Courier New" pitchFamily="34" charset="-120"/>
              </a:rPr>
              <a:t> </a:t>
            </a:r>
            <a:r>
              <a:rPr lang="en-US" sz="900" b="1" dirty="0">
                <a:solidFill>
                  <a:srgbClr val="569CD6"/>
                </a:solidFill>
                <a:latin typeface="Courier New" pitchFamily="34" charset="0"/>
                <a:ea typeface="Courier New" pitchFamily="34" charset="-122"/>
                <a:cs typeface="Courier New" pitchFamily="34" charset="-120"/>
              </a:rPr>
              <a:t>class</a:t>
            </a:r>
            <a:r>
              <a:rPr lang="en-US" sz="900" dirty="0">
                <a:solidFill>
                  <a:srgbClr val="D4D4D4"/>
                </a:solidFill>
                <a:latin typeface="Courier New" pitchFamily="34" charset="0"/>
                <a:ea typeface="Courier New" pitchFamily="34" charset="-122"/>
                <a:cs typeface="Courier New" pitchFamily="34" charset="-120"/>
              </a:rPr>
              <a:t> RemoveWhileIterating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b="1" dirty="0">
                <a:solidFill>
                  <a:srgbClr val="569CD6"/>
                </a:solidFill>
                <a:latin typeface="Courier New" pitchFamily="34" charset="0"/>
                <a:ea typeface="Courier New" pitchFamily="34" charset="-122"/>
                <a:cs typeface="Courier New" pitchFamily="34" charset="-120"/>
              </a:rPr>
              <a:t>public</a:t>
            </a:r>
            <a:r>
              <a:rPr lang="en-US" sz="900" dirty="0">
                <a:solidFill>
                  <a:srgbClr val="D4D4D4"/>
                </a:solidFill>
                <a:latin typeface="Courier New" pitchFamily="34" charset="0"/>
                <a:ea typeface="Courier New" pitchFamily="34" charset="-122"/>
                <a:cs typeface="Courier New" pitchFamily="34" charset="-120"/>
              </a:rPr>
              <a:t> </a:t>
            </a:r>
            <a:r>
              <a:rPr lang="en-US" sz="900" b="1" dirty="0">
                <a:solidFill>
                  <a:srgbClr val="569CD6"/>
                </a:solidFill>
                <a:latin typeface="Courier New" pitchFamily="34" charset="0"/>
                <a:ea typeface="Courier New" pitchFamily="34" charset="-122"/>
                <a:cs typeface="Courier New" pitchFamily="34" charset="-120"/>
              </a:rPr>
              <a:t>static</a:t>
            </a:r>
            <a:r>
              <a:rPr lang="en-US" sz="900" dirty="0">
                <a:solidFill>
                  <a:srgbClr val="D4D4D4"/>
                </a:solidFill>
                <a:latin typeface="Courier New" pitchFamily="34" charset="0"/>
                <a:ea typeface="Courier New" pitchFamily="34" charset="-122"/>
                <a:cs typeface="Courier New" pitchFamily="34" charset="-120"/>
              </a:rPr>
              <a:t> </a:t>
            </a:r>
            <a:r>
              <a:rPr lang="en-US" sz="900" b="1" dirty="0">
                <a:solidFill>
                  <a:srgbClr val="569CD6"/>
                </a:solidFill>
                <a:latin typeface="Courier New" pitchFamily="34" charset="0"/>
                <a:ea typeface="Courier New" pitchFamily="34" charset="-122"/>
                <a:cs typeface="Courier New" pitchFamily="34" charset="-120"/>
              </a:rPr>
              <a:t>void</a:t>
            </a:r>
            <a:r>
              <a:rPr lang="en-US" sz="900" dirty="0">
                <a:solidFill>
                  <a:srgbClr val="D4D4D4"/>
                </a:solidFill>
                <a:latin typeface="Courier New" pitchFamily="34" charset="0"/>
                <a:ea typeface="Courier New" pitchFamily="34" charset="-122"/>
                <a:cs typeface="Courier New" pitchFamily="34" charset="-120"/>
              </a:rPr>
              <a:t> </a:t>
            </a:r>
            <a:r>
              <a:rPr lang="en-US" sz="900" dirty="0">
                <a:solidFill>
                  <a:srgbClr val="DCDCAA"/>
                </a:solidFill>
                <a:latin typeface="Courier New" pitchFamily="34" charset="0"/>
                <a:ea typeface="Courier New" pitchFamily="34" charset="-122"/>
                <a:cs typeface="Courier New" pitchFamily="34" charset="-120"/>
              </a:rPr>
              <a:t>main</a:t>
            </a:r>
            <a:r>
              <a:rPr lang="en-US" sz="900" dirty="0">
                <a:solidFill>
                  <a:srgbClr val="D4D4D4"/>
                </a:solidFill>
                <a:latin typeface="Courier New" pitchFamily="34" charset="0"/>
                <a:ea typeface="Courier New" pitchFamily="34" charset="-122"/>
                <a:cs typeface="Courier New" pitchFamily="34" charset="-120"/>
              </a:rPr>
              <a:t>(</a:t>
            </a:r>
            <a:r>
              <a:rPr lang="en-US" sz="900" dirty="0">
                <a:solidFill>
                  <a:srgbClr val="4EC9B0"/>
                </a:solidFill>
                <a:latin typeface="Courier New" pitchFamily="34" charset="0"/>
                <a:ea typeface="Courier New" pitchFamily="34" charset="-122"/>
                <a:cs typeface="Courier New" pitchFamily="34" charset="-120"/>
              </a:rPr>
              <a:t>String</a:t>
            </a:r>
            <a:r>
              <a:rPr lang="en-US" sz="900" dirty="0">
                <a:solidFill>
                  <a:srgbClr val="D4D4D4"/>
                </a:solidFill>
                <a:latin typeface="Courier New" pitchFamily="34" charset="0"/>
                <a:ea typeface="Courier New" pitchFamily="34" charset="-122"/>
                <a:cs typeface="Courier New" pitchFamily="34" charset="-120"/>
              </a:rPr>
              <a:t>[] args)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dirty="0">
                <a:solidFill>
                  <a:srgbClr val="4EC9B0"/>
                </a:solidFill>
                <a:latin typeface="Courier New" pitchFamily="34" charset="0"/>
                <a:ea typeface="Courier New" pitchFamily="34" charset="-122"/>
                <a:cs typeface="Courier New" pitchFamily="34" charset="-120"/>
              </a:rPr>
              <a:t>ArrayList</a:t>
            </a:r>
            <a:r>
              <a:rPr lang="en-US" sz="900" dirty="0">
                <a:solidFill>
                  <a:srgbClr val="D4D4D4"/>
                </a:solidFill>
                <a:latin typeface="Courier New" pitchFamily="34" charset="0"/>
                <a:ea typeface="Courier New" pitchFamily="34" charset="-122"/>
                <a:cs typeface="Courier New" pitchFamily="34" charset="-120"/>
              </a:rPr>
              <a:t>&lt;</a:t>
            </a:r>
            <a:r>
              <a:rPr lang="en-US" sz="900" dirty="0">
                <a:solidFill>
                  <a:srgbClr val="4EC9B0"/>
                </a:solidFill>
                <a:latin typeface="Courier New" pitchFamily="34" charset="0"/>
                <a:ea typeface="Courier New" pitchFamily="34" charset="-122"/>
                <a:cs typeface="Courier New" pitchFamily="34" charset="-120"/>
              </a:rPr>
              <a:t>Integer</a:t>
            </a:r>
            <a:r>
              <a:rPr lang="en-US" sz="900" dirty="0">
                <a:solidFill>
                  <a:srgbClr val="D4D4D4"/>
                </a:solidFill>
                <a:latin typeface="Courier New" pitchFamily="34" charset="0"/>
                <a:ea typeface="Courier New" pitchFamily="34" charset="-122"/>
                <a:cs typeface="Courier New" pitchFamily="34" charset="-120"/>
              </a:rPr>
              <a:t>&gt; numbers = </a:t>
            </a:r>
            <a:r>
              <a:rPr lang="en-US" sz="900" b="1" dirty="0">
                <a:solidFill>
                  <a:srgbClr val="569CD6"/>
                </a:solidFill>
                <a:latin typeface="Courier New" pitchFamily="34" charset="0"/>
                <a:ea typeface="Courier New" pitchFamily="34" charset="-122"/>
                <a:cs typeface="Courier New" pitchFamily="34" charset="-120"/>
              </a:rPr>
              <a:t>new</a:t>
            </a:r>
            <a:r>
              <a:rPr lang="en-US" sz="900" dirty="0">
                <a:solidFill>
                  <a:srgbClr val="D4D4D4"/>
                </a:solidFill>
                <a:latin typeface="Courier New" pitchFamily="34" charset="0"/>
                <a:ea typeface="Courier New" pitchFamily="34" charset="-122"/>
                <a:cs typeface="Courier New" pitchFamily="34" charset="-120"/>
              </a:rPr>
              <a:t> </a:t>
            </a:r>
            <a:r>
              <a:rPr lang="en-US" sz="900" dirty="0">
                <a:solidFill>
                  <a:srgbClr val="4EC9B0"/>
                </a:solidFill>
                <a:latin typeface="Courier New" pitchFamily="34" charset="0"/>
                <a:ea typeface="Courier New" pitchFamily="34" charset="-122"/>
                <a:cs typeface="Courier New" pitchFamily="34" charset="-120"/>
              </a:rPr>
              <a:t>ArrayList</a:t>
            </a:r>
            <a:r>
              <a:rPr lang="en-US" sz="900" dirty="0">
                <a:solidFill>
                  <a:srgbClr val="D4D4D4"/>
                </a:solidFill>
                <a:latin typeface="Courier New" pitchFamily="34" charset="0"/>
                <a:ea typeface="Courier New" pitchFamily="34" charset="-122"/>
                <a:cs typeface="Courier New" pitchFamily="34" charset="-120"/>
              </a:rPr>
              <a:t>&lt;&gt;();</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numbers.</a:t>
            </a:r>
            <a:r>
              <a:rPr lang="en-US" sz="900" dirty="0">
                <a:solidFill>
                  <a:srgbClr val="DCDCAA"/>
                </a:solidFill>
                <a:latin typeface="Courier New" pitchFamily="34" charset="0"/>
                <a:ea typeface="Courier New" pitchFamily="34" charset="-122"/>
                <a:cs typeface="Courier New" pitchFamily="34" charset="-120"/>
              </a:rPr>
              <a:t>add</a:t>
            </a:r>
            <a:r>
              <a:rPr lang="en-US" sz="900" dirty="0">
                <a:solidFill>
                  <a:srgbClr val="D4D4D4"/>
                </a:solidFill>
                <a:latin typeface="Courier New" pitchFamily="34" charset="0"/>
                <a:ea typeface="Courier New" pitchFamily="34" charset="-122"/>
                <a:cs typeface="Courier New" pitchFamily="34" charset="-120"/>
              </a:rPr>
              <a:t>(</a:t>
            </a:r>
            <a:r>
              <a:rPr lang="en-US" sz="900" dirty="0">
                <a:solidFill>
                  <a:srgbClr val="B5CEA8"/>
                </a:solidFill>
                <a:latin typeface="Courier New" pitchFamily="34" charset="0"/>
                <a:ea typeface="Courier New" pitchFamily="34" charset="-122"/>
                <a:cs typeface="Courier New" pitchFamily="34" charset="-120"/>
              </a:rPr>
              <a:t>1</a:t>
            </a:r>
            <a:r>
              <a:rPr lang="en-US" sz="900" dirty="0">
                <a:solidFill>
                  <a:srgbClr val="D4D4D4"/>
                </a:solidFill>
                <a:latin typeface="Courier New" pitchFamily="34" charset="0"/>
                <a:ea typeface="Courier New" pitchFamily="34" charset="-122"/>
                <a:cs typeface="Courier New" pitchFamily="34" charset="-120"/>
              </a:rPr>
              <a:t>);</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numbers.</a:t>
            </a:r>
            <a:r>
              <a:rPr lang="en-US" sz="900" dirty="0">
                <a:solidFill>
                  <a:srgbClr val="DCDCAA"/>
                </a:solidFill>
                <a:latin typeface="Courier New" pitchFamily="34" charset="0"/>
                <a:ea typeface="Courier New" pitchFamily="34" charset="-122"/>
                <a:cs typeface="Courier New" pitchFamily="34" charset="-120"/>
              </a:rPr>
              <a:t>add</a:t>
            </a:r>
            <a:r>
              <a:rPr lang="en-US" sz="900" dirty="0">
                <a:solidFill>
                  <a:srgbClr val="D4D4D4"/>
                </a:solidFill>
                <a:latin typeface="Courier New" pitchFamily="34" charset="0"/>
                <a:ea typeface="Courier New" pitchFamily="34" charset="-122"/>
                <a:cs typeface="Courier New" pitchFamily="34" charset="-120"/>
              </a:rPr>
              <a:t>(</a:t>
            </a:r>
            <a:r>
              <a:rPr lang="en-US" sz="900" dirty="0">
                <a:solidFill>
                  <a:srgbClr val="B5CEA8"/>
                </a:solidFill>
                <a:latin typeface="Courier New" pitchFamily="34" charset="0"/>
                <a:ea typeface="Courier New" pitchFamily="34" charset="-122"/>
                <a:cs typeface="Courier New" pitchFamily="34" charset="-120"/>
              </a:rPr>
              <a:t>2</a:t>
            </a:r>
            <a:r>
              <a:rPr lang="en-US" sz="900" dirty="0">
                <a:solidFill>
                  <a:srgbClr val="D4D4D4"/>
                </a:solidFill>
                <a:latin typeface="Courier New" pitchFamily="34" charset="0"/>
                <a:ea typeface="Courier New" pitchFamily="34" charset="-122"/>
                <a:cs typeface="Courier New" pitchFamily="34" charset="-120"/>
              </a:rPr>
              <a:t>);</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numbers.</a:t>
            </a:r>
            <a:r>
              <a:rPr lang="en-US" sz="900" dirty="0">
                <a:solidFill>
                  <a:srgbClr val="DCDCAA"/>
                </a:solidFill>
                <a:latin typeface="Courier New" pitchFamily="34" charset="0"/>
                <a:ea typeface="Courier New" pitchFamily="34" charset="-122"/>
                <a:cs typeface="Courier New" pitchFamily="34" charset="-120"/>
              </a:rPr>
              <a:t>add</a:t>
            </a:r>
            <a:r>
              <a:rPr lang="en-US" sz="900" dirty="0">
                <a:solidFill>
                  <a:srgbClr val="D4D4D4"/>
                </a:solidFill>
                <a:latin typeface="Courier New" pitchFamily="34" charset="0"/>
                <a:ea typeface="Courier New" pitchFamily="34" charset="-122"/>
                <a:cs typeface="Courier New" pitchFamily="34" charset="-120"/>
              </a:rPr>
              <a:t>(</a:t>
            </a:r>
            <a:r>
              <a:rPr lang="en-US" sz="900" dirty="0">
                <a:solidFill>
                  <a:srgbClr val="B5CEA8"/>
                </a:solidFill>
                <a:latin typeface="Courier New" pitchFamily="34" charset="0"/>
                <a:ea typeface="Courier New" pitchFamily="34" charset="-122"/>
                <a:cs typeface="Courier New" pitchFamily="34" charset="-120"/>
              </a:rPr>
              <a:t>3</a:t>
            </a:r>
            <a:r>
              <a:rPr lang="en-US" sz="900" dirty="0">
                <a:solidFill>
                  <a:srgbClr val="D4D4D4"/>
                </a:solidFill>
                <a:latin typeface="Courier New" pitchFamily="34" charset="0"/>
                <a:ea typeface="Courier New" pitchFamily="34" charset="-122"/>
                <a:cs typeface="Courier New" pitchFamily="34" charset="-120"/>
              </a:rPr>
              <a:t>);</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dirty="0">
                <a:solidFill>
                  <a:srgbClr val="4EC9B0"/>
                </a:solidFill>
                <a:latin typeface="Courier New" pitchFamily="34" charset="0"/>
                <a:ea typeface="Courier New" pitchFamily="34" charset="-122"/>
                <a:cs typeface="Courier New" pitchFamily="34" charset="-120"/>
              </a:rPr>
              <a:t>Iterator</a:t>
            </a:r>
            <a:r>
              <a:rPr lang="en-US" sz="900" dirty="0">
                <a:solidFill>
                  <a:srgbClr val="D4D4D4"/>
                </a:solidFill>
                <a:latin typeface="Courier New" pitchFamily="34" charset="0"/>
                <a:ea typeface="Courier New" pitchFamily="34" charset="-122"/>
                <a:cs typeface="Courier New" pitchFamily="34" charset="-120"/>
              </a:rPr>
              <a:t>&lt;</a:t>
            </a:r>
            <a:r>
              <a:rPr lang="en-US" sz="900" dirty="0">
                <a:solidFill>
                  <a:srgbClr val="4EC9B0"/>
                </a:solidFill>
                <a:latin typeface="Courier New" pitchFamily="34" charset="0"/>
                <a:ea typeface="Courier New" pitchFamily="34" charset="-122"/>
                <a:cs typeface="Courier New" pitchFamily="34" charset="-120"/>
              </a:rPr>
              <a:t>Integer</a:t>
            </a:r>
            <a:r>
              <a:rPr lang="en-US" sz="900" dirty="0">
                <a:solidFill>
                  <a:srgbClr val="D4D4D4"/>
                </a:solidFill>
                <a:latin typeface="Courier New" pitchFamily="34" charset="0"/>
                <a:ea typeface="Courier New" pitchFamily="34" charset="-122"/>
                <a:cs typeface="Courier New" pitchFamily="34" charset="-120"/>
              </a:rPr>
              <a:t>&gt; it = numbers.</a:t>
            </a:r>
            <a:r>
              <a:rPr lang="en-US" sz="900" dirty="0">
                <a:solidFill>
                  <a:srgbClr val="DCDCAA"/>
                </a:solidFill>
                <a:latin typeface="Courier New" pitchFamily="34" charset="0"/>
                <a:ea typeface="Courier New" pitchFamily="34" charset="-122"/>
                <a:cs typeface="Courier New" pitchFamily="34" charset="-120"/>
              </a:rPr>
              <a:t>iterator</a:t>
            </a:r>
            <a:r>
              <a:rPr lang="en-US" sz="900" dirty="0">
                <a:solidFill>
                  <a:srgbClr val="D4D4D4"/>
                </a:solidFill>
                <a:latin typeface="Courier New" pitchFamily="34" charset="0"/>
                <a:ea typeface="Courier New" pitchFamily="34" charset="-122"/>
                <a:cs typeface="Courier New" pitchFamily="34" charset="-120"/>
              </a:rPr>
              <a:t>();</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b="1" dirty="0">
                <a:solidFill>
                  <a:srgbClr val="569CD6"/>
                </a:solidFill>
                <a:latin typeface="Courier New" pitchFamily="34" charset="0"/>
                <a:ea typeface="Courier New" pitchFamily="34" charset="-122"/>
                <a:cs typeface="Courier New" pitchFamily="34" charset="-120"/>
              </a:rPr>
              <a:t>while</a:t>
            </a:r>
            <a:r>
              <a:rPr lang="en-US" sz="900" dirty="0">
                <a:solidFill>
                  <a:srgbClr val="D4D4D4"/>
                </a:solidFill>
                <a:latin typeface="Courier New" pitchFamily="34" charset="0"/>
                <a:ea typeface="Courier New" pitchFamily="34" charset="-122"/>
                <a:cs typeface="Courier New" pitchFamily="34" charset="-120"/>
              </a:rPr>
              <a:t> (it.</a:t>
            </a:r>
            <a:r>
              <a:rPr lang="en-US" sz="900" dirty="0">
                <a:solidFill>
                  <a:srgbClr val="DCDCAA"/>
                </a:solidFill>
                <a:latin typeface="Courier New" pitchFamily="34" charset="0"/>
                <a:ea typeface="Courier New" pitchFamily="34" charset="-122"/>
                <a:cs typeface="Courier New" pitchFamily="34" charset="-120"/>
              </a:rPr>
              <a:t>hasNext</a:t>
            </a: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b="1" dirty="0">
                <a:solidFill>
                  <a:srgbClr val="569CD6"/>
                </a:solidFill>
                <a:latin typeface="Courier New" pitchFamily="34" charset="0"/>
                <a:ea typeface="Courier New" pitchFamily="34" charset="-122"/>
                <a:cs typeface="Courier New" pitchFamily="34" charset="-120"/>
              </a:rPr>
              <a:t>if</a:t>
            </a:r>
            <a:r>
              <a:rPr lang="en-US" sz="900" dirty="0">
                <a:solidFill>
                  <a:srgbClr val="D4D4D4"/>
                </a:solidFill>
                <a:latin typeface="Courier New" pitchFamily="34" charset="0"/>
                <a:ea typeface="Courier New" pitchFamily="34" charset="-122"/>
                <a:cs typeface="Courier New" pitchFamily="34" charset="-120"/>
              </a:rPr>
              <a:t> (it.</a:t>
            </a:r>
            <a:r>
              <a:rPr lang="en-US" sz="900" dirty="0">
                <a:solidFill>
                  <a:srgbClr val="DCDCAA"/>
                </a:solidFill>
                <a:latin typeface="Courier New" pitchFamily="34" charset="0"/>
                <a:ea typeface="Courier New" pitchFamily="34" charset="-122"/>
                <a:cs typeface="Courier New" pitchFamily="34" charset="-120"/>
              </a:rPr>
              <a:t>next</a:t>
            </a:r>
            <a:r>
              <a:rPr lang="en-US" sz="900" dirty="0">
                <a:solidFill>
                  <a:srgbClr val="D4D4D4"/>
                </a:solidFill>
                <a:latin typeface="Courier New" pitchFamily="34" charset="0"/>
                <a:ea typeface="Courier New" pitchFamily="34" charset="-122"/>
                <a:cs typeface="Courier New" pitchFamily="34" charset="-120"/>
              </a:rPr>
              <a:t>() % </a:t>
            </a:r>
            <a:r>
              <a:rPr lang="en-US" sz="900" dirty="0">
                <a:solidFill>
                  <a:srgbClr val="B5CEA8"/>
                </a:solidFill>
                <a:latin typeface="Courier New" pitchFamily="34" charset="0"/>
                <a:ea typeface="Courier New" pitchFamily="34" charset="-122"/>
                <a:cs typeface="Courier New" pitchFamily="34" charset="-120"/>
              </a:rPr>
              <a:t>2</a:t>
            </a:r>
            <a:r>
              <a:rPr lang="en-US" sz="900" dirty="0">
                <a:solidFill>
                  <a:srgbClr val="D4D4D4"/>
                </a:solidFill>
                <a:latin typeface="Courier New" pitchFamily="34" charset="0"/>
                <a:ea typeface="Courier New" pitchFamily="34" charset="-122"/>
                <a:cs typeface="Courier New" pitchFamily="34" charset="-120"/>
              </a:rPr>
              <a:t> == </a:t>
            </a:r>
            <a:r>
              <a:rPr lang="en-US" sz="900" dirty="0">
                <a:solidFill>
                  <a:srgbClr val="B5CEA8"/>
                </a:solidFill>
                <a:latin typeface="Courier New" pitchFamily="34" charset="0"/>
                <a:ea typeface="Courier New" pitchFamily="34" charset="-122"/>
                <a:cs typeface="Courier New" pitchFamily="34" charset="-120"/>
              </a:rPr>
              <a:t>0</a:t>
            </a:r>
            <a:r>
              <a:rPr lang="en-US" sz="900" dirty="0">
                <a:solidFill>
                  <a:srgbClr val="D4D4D4"/>
                </a:solidFill>
                <a:latin typeface="Courier New" pitchFamily="34" charset="0"/>
                <a:ea typeface="Courier New" pitchFamily="34" charset="-122"/>
                <a:cs typeface="Courier New" pitchFamily="34" charset="-120"/>
              </a:rPr>
              <a:t>) it.</a:t>
            </a:r>
            <a:r>
              <a:rPr lang="en-US" sz="900" dirty="0">
                <a:solidFill>
                  <a:srgbClr val="DCDCAA"/>
                </a:solidFill>
                <a:latin typeface="Courier New" pitchFamily="34" charset="0"/>
                <a:ea typeface="Courier New" pitchFamily="34" charset="-122"/>
                <a:cs typeface="Courier New" pitchFamily="34" charset="-120"/>
              </a:rPr>
              <a:t>remove</a:t>
            </a:r>
            <a:r>
              <a:rPr lang="en-US" sz="900" dirty="0">
                <a:solidFill>
                  <a:srgbClr val="D4D4D4"/>
                </a:solidFill>
                <a:latin typeface="Courier New" pitchFamily="34" charset="0"/>
                <a:ea typeface="Courier New" pitchFamily="34" charset="-122"/>
                <a:cs typeface="Courier New" pitchFamily="34" charset="-120"/>
              </a:rPr>
              <a:t>();</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dirty="0">
                <a:solidFill>
                  <a:srgbClr val="4EC9B0"/>
                </a:solidFill>
                <a:latin typeface="Courier New" pitchFamily="34" charset="0"/>
                <a:ea typeface="Courier New" pitchFamily="34" charset="-122"/>
                <a:cs typeface="Courier New" pitchFamily="34" charset="-120"/>
              </a:rPr>
              <a:t>System</a:t>
            </a:r>
            <a:r>
              <a:rPr lang="en-US" sz="900" dirty="0">
                <a:solidFill>
                  <a:srgbClr val="D4D4D4"/>
                </a:solidFill>
                <a:latin typeface="Courier New" pitchFamily="34" charset="0"/>
                <a:ea typeface="Courier New" pitchFamily="34" charset="-122"/>
                <a:cs typeface="Courier New" pitchFamily="34" charset="-120"/>
              </a:rPr>
              <a:t>.out.</a:t>
            </a:r>
            <a:r>
              <a:rPr lang="en-US" sz="900" dirty="0">
                <a:solidFill>
                  <a:srgbClr val="DCDCAA"/>
                </a:solidFill>
                <a:latin typeface="Courier New" pitchFamily="34" charset="0"/>
                <a:ea typeface="Courier New" pitchFamily="34" charset="-122"/>
                <a:cs typeface="Courier New" pitchFamily="34" charset="-120"/>
              </a:rPr>
              <a:t>println</a:t>
            </a:r>
            <a:r>
              <a:rPr lang="en-US" sz="900" dirty="0">
                <a:solidFill>
                  <a:srgbClr val="D4D4D4"/>
                </a:solidFill>
                <a:latin typeface="Courier New" pitchFamily="34" charset="0"/>
                <a:ea typeface="Courier New" pitchFamily="34" charset="-122"/>
                <a:cs typeface="Courier New" pitchFamily="34" charset="-120"/>
              </a:rPr>
              <a:t>(numbers);</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A COMMON TRAP</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Why Not Modify a Collection in a for-each Loop</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for-each hides its underlying iterator</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Calling a collection's own add or remove method during a for-each loop confuses that hidden iterator.</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This throws ConcurrentModificationException</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Iterator.remove() is the correct way to avoid this exception entirely.</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COMPARISON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Iterator vs. for-each Loop</a:t>
            </a:r>
            <a:endParaRPr lang="en-US" sz="27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144780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Aspect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for-each Loop</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Iterator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4478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Syntax</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Simple, concise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More verbose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478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Safe removal during looping</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No</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 with remove()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EXTRA POWER</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ListIterator: Moving in Both Directions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ListIterator, available on List types, can move both forward with next() and backward with previous().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It also supports set() to replace the last returned element in place.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100" b="1" dirty="0">
                <a:solidFill>
                  <a:srgbClr val="569CD6"/>
                </a:solidFill>
                <a:latin typeface="Courier New" pitchFamily="34" charset="0"/>
                <a:ea typeface="Courier New" pitchFamily="34" charset="-122"/>
                <a:cs typeface="Courier New" pitchFamily="34" charset="-120"/>
              </a:rPr>
              <a:t>import</a:t>
            </a:r>
            <a:r>
              <a:rPr lang="en-US" sz="1100" dirty="0">
                <a:solidFill>
                  <a:srgbClr val="D4D4D4"/>
                </a:solidFill>
                <a:latin typeface="Courier New" pitchFamily="34" charset="0"/>
                <a:ea typeface="Courier New" pitchFamily="34" charset="-122"/>
                <a:cs typeface="Courier New" pitchFamily="34" charset="-120"/>
              </a:rPr>
              <a:t> java.util.</a:t>
            </a:r>
            <a:r>
              <a:rPr lang="en-US" sz="1100" dirty="0">
                <a:solidFill>
                  <a:srgbClr val="4EC9B0"/>
                </a:solidFill>
                <a:latin typeface="Courier New" pitchFamily="34" charset="0"/>
                <a:ea typeface="Courier New" pitchFamily="34" charset="-122"/>
                <a:cs typeface="Courier New" pitchFamily="34" charset="-120"/>
              </a:rPr>
              <a:t>ArrayList</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b="1" dirty="0">
                <a:solidFill>
                  <a:srgbClr val="569CD6"/>
                </a:solidFill>
                <a:latin typeface="Courier New" pitchFamily="34" charset="0"/>
                <a:ea typeface="Courier New" pitchFamily="34" charset="-122"/>
                <a:cs typeface="Courier New" pitchFamily="34" charset="-120"/>
              </a:rPr>
              <a:t>import</a:t>
            </a:r>
            <a:r>
              <a:rPr lang="en-US" sz="1100" dirty="0">
                <a:solidFill>
                  <a:srgbClr val="D4D4D4"/>
                </a:solidFill>
                <a:latin typeface="Courier New" pitchFamily="34" charset="0"/>
                <a:ea typeface="Courier New" pitchFamily="34" charset="-122"/>
                <a:cs typeface="Courier New" pitchFamily="34" charset="-120"/>
              </a:rPr>
              <a:t> java.util.</a:t>
            </a:r>
            <a:r>
              <a:rPr lang="en-US" sz="1100" dirty="0">
                <a:solidFill>
                  <a:srgbClr val="4EC9B0"/>
                </a:solidFill>
                <a:latin typeface="Courier New" pitchFamily="34" charset="0"/>
                <a:ea typeface="Courier New" pitchFamily="34" charset="-122"/>
                <a:cs typeface="Courier New" pitchFamily="34" charset="-120"/>
              </a:rPr>
              <a:t>ListIterator</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b="1" dirty="0">
                <a:solidFill>
                  <a:srgbClr val="569CD6"/>
                </a:solidFill>
                <a:latin typeface="Courier New" pitchFamily="34" charset="0"/>
                <a:ea typeface="Courier New" pitchFamily="34" charset="-122"/>
                <a:cs typeface="Courier New" pitchFamily="34" charset="-120"/>
              </a:rPr>
              <a:t>public</a:t>
            </a: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class</a:t>
            </a:r>
            <a:r>
              <a:rPr lang="en-US" sz="1100" dirty="0">
                <a:solidFill>
                  <a:srgbClr val="D4D4D4"/>
                </a:solidFill>
                <a:latin typeface="Courier New" pitchFamily="34" charset="0"/>
                <a:ea typeface="Courier New" pitchFamily="34" charset="-122"/>
                <a:cs typeface="Courier New" pitchFamily="34" charset="-120"/>
              </a:rPr>
              <a:t> ListIteratorDemo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public</a:t>
            </a: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static</a:t>
            </a: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void</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DCDCAA"/>
                </a:solidFill>
                <a:latin typeface="Courier New" pitchFamily="34" charset="0"/>
                <a:ea typeface="Courier New" pitchFamily="34" charset="-122"/>
                <a:cs typeface="Courier New" pitchFamily="34" charset="-120"/>
              </a:rPr>
              <a:t>main</a:t>
            </a:r>
            <a:r>
              <a:rPr lang="en-US" sz="1100" dirty="0">
                <a:solidFill>
                  <a:srgbClr val="D4D4D4"/>
                </a:solidFill>
                <a:latin typeface="Courier New" pitchFamily="34" charset="0"/>
                <a:ea typeface="Courier New" pitchFamily="34" charset="-122"/>
                <a:cs typeface="Courier New" pitchFamily="34" charset="-120"/>
              </a:rPr>
              <a:t>(</a:t>
            </a:r>
            <a:r>
              <a:rPr lang="en-US" sz="1100" dirty="0">
                <a:solidFill>
                  <a:srgbClr val="4EC9B0"/>
                </a:solidFill>
                <a:latin typeface="Courier New" pitchFamily="34" charset="0"/>
                <a:ea typeface="Courier New" pitchFamily="34" charset="-122"/>
                <a:cs typeface="Courier New" pitchFamily="34" charset="-120"/>
              </a:rPr>
              <a:t>String</a:t>
            </a:r>
            <a:r>
              <a:rPr lang="en-US" sz="1100" dirty="0">
                <a:solidFill>
                  <a:srgbClr val="D4D4D4"/>
                </a:solidFill>
                <a:latin typeface="Courier New" pitchFamily="34" charset="0"/>
                <a:ea typeface="Courier New" pitchFamily="34" charset="-122"/>
                <a:cs typeface="Courier New" pitchFamily="34" charset="-120"/>
              </a:rPr>
              <a:t>[] args)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4EC9B0"/>
                </a:solidFill>
                <a:latin typeface="Courier New" pitchFamily="34" charset="0"/>
                <a:ea typeface="Courier New" pitchFamily="34" charset="-122"/>
                <a:cs typeface="Courier New" pitchFamily="34" charset="-120"/>
              </a:rPr>
              <a:t>ArrayList</a:t>
            </a:r>
            <a:r>
              <a:rPr lang="en-US" sz="1100" dirty="0">
                <a:solidFill>
                  <a:srgbClr val="D4D4D4"/>
                </a:solidFill>
                <a:latin typeface="Courier New" pitchFamily="34" charset="0"/>
                <a:ea typeface="Courier New" pitchFamily="34" charset="-122"/>
                <a:cs typeface="Courier New" pitchFamily="34" charset="-120"/>
              </a:rPr>
              <a:t>&lt;</a:t>
            </a:r>
            <a:r>
              <a:rPr lang="en-US" sz="1100" dirty="0">
                <a:solidFill>
                  <a:srgbClr val="4EC9B0"/>
                </a:solidFill>
                <a:latin typeface="Courier New" pitchFamily="34" charset="0"/>
                <a:ea typeface="Courier New" pitchFamily="34" charset="-122"/>
                <a:cs typeface="Courier New" pitchFamily="34" charset="-120"/>
              </a:rPr>
              <a:t>String</a:t>
            </a:r>
            <a:r>
              <a:rPr lang="en-US" sz="1100" dirty="0">
                <a:solidFill>
                  <a:srgbClr val="D4D4D4"/>
                </a:solidFill>
                <a:latin typeface="Courier New" pitchFamily="34" charset="0"/>
                <a:ea typeface="Courier New" pitchFamily="34" charset="-122"/>
                <a:cs typeface="Courier New" pitchFamily="34" charset="-120"/>
              </a:rPr>
              <a:t>&gt; names = </a:t>
            </a:r>
            <a:r>
              <a:rPr lang="en-US" sz="1100" b="1" dirty="0">
                <a:solidFill>
                  <a:srgbClr val="569CD6"/>
                </a:solidFill>
                <a:latin typeface="Courier New" pitchFamily="34" charset="0"/>
                <a:ea typeface="Courier New" pitchFamily="34" charset="-122"/>
                <a:cs typeface="Courier New" pitchFamily="34" charset="-120"/>
              </a:rPr>
              <a:t>new</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4EC9B0"/>
                </a:solidFill>
                <a:latin typeface="Courier New" pitchFamily="34" charset="0"/>
                <a:ea typeface="Courier New" pitchFamily="34" charset="-122"/>
                <a:cs typeface="Courier New" pitchFamily="34" charset="-120"/>
              </a:rPr>
              <a:t>ArrayList</a:t>
            </a:r>
            <a:r>
              <a:rPr lang="en-US" sz="1100" dirty="0">
                <a:solidFill>
                  <a:srgbClr val="D4D4D4"/>
                </a:solidFill>
                <a:latin typeface="Courier New" pitchFamily="34" charset="0"/>
                <a:ea typeface="Courier New" pitchFamily="34" charset="-122"/>
                <a:cs typeface="Courier New" pitchFamily="34" charset="-120"/>
              </a:rPr>
              <a:t>&lt;&gt;();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names.</a:t>
            </a:r>
            <a:r>
              <a:rPr lang="en-US" sz="1100" dirty="0">
                <a:solidFill>
                  <a:srgbClr val="DCDCAA"/>
                </a:solidFill>
                <a:latin typeface="Courier New" pitchFamily="34" charset="0"/>
                <a:ea typeface="Courier New" pitchFamily="34" charset="-122"/>
                <a:cs typeface="Courier New" pitchFamily="34" charset="-120"/>
              </a:rPr>
              <a:t>add</a:t>
            </a:r>
            <a:r>
              <a:rPr lang="en-US" sz="1100" dirty="0">
                <a:solidFill>
                  <a:srgbClr val="D4D4D4"/>
                </a:solidFill>
                <a:latin typeface="Courier New" pitchFamily="34" charset="0"/>
                <a:ea typeface="Courier New" pitchFamily="34" charset="-122"/>
                <a:cs typeface="Courier New" pitchFamily="34" charset="-120"/>
              </a:rPr>
              <a:t>(</a:t>
            </a:r>
            <a:r>
              <a:rPr lang="en-US" sz="1100" dirty="0">
                <a:solidFill>
                  <a:srgbClr val="CE9178"/>
                </a:solidFill>
                <a:latin typeface="Courier New" pitchFamily="34" charset="0"/>
                <a:ea typeface="Courier New" pitchFamily="34" charset="-122"/>
                <a:cs typeface="Courier New" pitchFamily="34" charset="-120"/>
              </a:rPr>
              <a:t>"Asha"</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4EC9B0"/>
                </a:solidFill>
                <a:latin typeface="Courier New" pitchFamily="34" charset="0"/>
                <a:ea typeface="Courier New" pitchFamily="34" charset="-122"/>
                <a:cs typeface="Courier New" pitchFamily="34" charset="-120"/>
              </a:rPr>
              <a:t>ListIterator</a:t>
            </a:r>
            <a:r>
              <a:rPr lang="en-US" sz="1100" dirty="0">
                <a:solidFill>
                  <a:srgbClr val="D4D4D4"/>
                </a:solidFill>
                <a:latin typeface="Courier New" pitchFamily="34" charset="0"/>
                <a:ea typeface="Courier New" pitchFamily="34" charset="-122"/>
                <a:cs typeface="Courier New" pitchFamily="34" charset="-120"/>
              </a:rPr>
              <a:t>&lt;</a:t>
            </a:r>
            <a:r>
              <a:rPr lang="en-US" sz="1100" dirty="0">
                <a:solidFill>
                  <a:srgbClr val="4EC9B0"/>
                </a:solidFill>
                <a:latin typeface="Courier New" pitchFamily="34" charset="0"/>
                <a:ea typeface="Courier New" pitchFamily="34" charset="-122"/>
                <a:cs typeface="Courier New" pitchFamily="34" charset="-120"/>
              </a:rPr>
              <a:t>String</a:t>
            </a:r>
            <a:r>
              <a:rPr lang="en-US" sz="1100" dirty="0">
                <a:solidFill>
                  <a:srgbClr val="D4D4D4"/>
                </a:solidFill>
                <a:latin typeface="Courier New" pitchFamily="34" charset="0"/>
                <a:ea typeface="Courier New" pitchFamily="34" charset="-122"/>
                <a:cs typeface="Courier New" pitchFamily="34" charset="-120"/>
              </a:rPr>
              <a:t>&gt; it = names.</a:t>
            </a:r>
            <a:r>
              <a:rPr lang="en-US" sz="1100" dirty="0">
                <a:solidFill>
                  <a:srgbClr val="DCDCAA"/>
                </a:solidFill>
                <a:latin typeface="Courier New" pitchFamily="34" charset="0"/>
                <a:ea typeface="Courier New" pitchFamily="34" charset="-122"/>
                <a:cs typeface="Courier New" pitchFamily="34" charset="-120"/>
              </a:rPr>
              <a:t>listIterator</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while</a:t>
            </a:r>
            <a:r>
              <a:rPr lang="en-US" sz="1100" dirty="0">
                <a:solidFill>
                  <a:srgbClr val="D4D4D4"/>
                </a:solidFill>
                <a:latin typeface="Courier New" pitchFamily="34" charset="0"/>
                <a:ea typeface="Courier New" pitchFamily="34" charset="-122"/>
                <a:cs typeface="Courier New" pitchFamily="34" charset="-120"/>
              </a:rPr>
              <a:t> (it.</a:t>
            </a:r>
            <a:r>
              <a:rPr lang="en-US" sz="1100" dirty="0">
                <a:solidFill>
                  <a:srgbClr val="DCDCAA"/>
                </a:solidFill>
                <a:latin typeface="Courier New" pitchFamily="34" charset="0"/>
                <a:ea typeface="Courier New" pitchFamily="34" charset="-122"/>
                <a:cs typeface="Courier New" pitchFamily="34" charset="-120"/>
              </a:rPr>
              <a:t>hasNext</a:t>
            </a: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it.</a:t>
            </a:r>
            <a:r>
              <a:rPr lang="en-US" sz="1100" dirty="0">
                <a:solidFill>
                  <a:srgbClr val="DCDCAA"/>
                </a:solidFill>
                <a:latin typeface="Courier New" pitchFamily="34" charset="0"/>
                <a:ea typeface="Courier New" pitchFamily="34" charset="-122"/>
                <a:cs typeface="Courier New" pitchFamily="34" charset="-120"/>
              </a:rPr>
              <a:t>set</a:t>
            </a:r>
            <a:r>
              <a:rPr lang="en-US" sz="1100" dirty="0">
                <a:solidFill>
                  <a:srgbClr val="D4D4D4"/>
                </a:solidFill>
                <a:latin typeface="Courier New" pitchFamily="34" charset="0"/>
                <a:ea typeface="Courier New" pitchFamily="34" charset="-122"/>
                <a:cs typeface="Courier New" pitchFamily="34" charset="-120"/>
              </a:rPr>
              <a:t>(it.</a:t>
            </a:r>
            <a:r>
              <a:rPr lang="en-US" sz="1100" dirty="0">
                <a:solidFill>
                  <a:srgbClr val="DCDCAA"/>
                </a:solidFill>
                <a:latin typeface="Courier New" pitchFamily="34" charset="0"/>
                <a:ea typeface="Courier New" pitchFamily="34" charset="-122"/>
                <a:cs typeface="Courier New" pitchFamily="34" charset="-120"/>
              </a:rPr>
              <a:t>next</a:t>
            </a:r>
            <a:r>
              <a:rPr lang="en-US" sz="1100" dirty="0">
                <a:solidFill>
                  <a:srgbClr val="D4D4D4"/>
                </a:solidFill>
                <a:latin typeface="Courier New" pitchFamily="34" charset="0"/>
                <a:ea typeface="Courier New" pitchFamily="34" charset="-122"/>
                <a:cs typeface="Courier New" pitchFamily="34" charset="-120"/>
              </a:rPr>
              <a:t>().</a:t>
            </a:r>
            <a:r>
              <a:rPr lang="en-US" sz="1100" dirty="0">
                <a:solidFill>
                  <a:srgbClr val="DCDCAA"/>
                </a:solidFill>
                <a:latin typeface="Courier New" pitchFamily="34" charset="0"/>
                <a:ea typeface="Courier New" pitchFamily="34" charset="-122"/>
                <a:cs typeface="Courier New" pitchFamily="34" charset="-120"/>
              </a:rPr>
              <a:t>toUpperCase</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4EC9B0"/>
                </a:solidFill>
                <a:latin typeface="Courier New" pitchFamily="34" charset="0"/>
                <a:ea typeface="Courier New" pitchFamily="34" charset="-122"/>
                <a:cs typeface="Courier New" pitchFamily="34" charset="-120"/>
              </a:rPr>
              <a:t>System</a:t>
            </a:r>
            <a:r>
              <a:rPr lang="en-US" sz="1100" dirty="0">
                <a:solidFill>
                  <a:srgbClr val="D4D4D4"/>
                </a:solidFill>
                <a:latin typeface="Courier New" pitchFamily="34" charset="0"/>
                <a:ea typeface="Courier New" pitchFamily="34" charset="-122"/>
                <a:cs typeface="Courier New" pitchFamily="34" charset="-120"/>
              </a:rPr>
              <a:t>.out.</a:t>
            </a:r>
            <a:r>
              <a:rPr lang="en-US" sz="1100" dirty="0">
                <a:solidFill>
                  <a:srgbClr val="DCDCAA"/>
                </a:solidFill>
                <a:latin typeface="Courier New" pitchFamily="34" charset="0"/>
                <a:ea typeface="Courier New" pitchFamily="34" charset="-122"/>
                <a:cs typeface="Courier New" pitchFamily="34" charset="-120"/>
              </a:rPr>
              <a:t>println</a:t>
            </a:r>
            <a:r>
              <a:rPr lang="en-US" sz="1100" dirty="0">
                <a:solidFill>
                  <a:srgbClr val="D4D4D4"/>
                </a:solidFill>
                <a:latin typeface="Courier New" pitchFamily="34" charset="0"/>
                <a:ea typeface="Courier New" pitchFamily="34" charset="-122"/>
                <a:cs typeface="Courier New" pitchFamily="34" charset="-120"/>
              </a:rPr>
              <a:t>(names);</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a:t>
            </a:r>
            <a:endParaRPr lang="en-US" sz="11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Iterators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Calling next() without checking hasNext() first</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throws NoSuchElementException once the collection has been fully visited.</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Modifying a collection directly during a for-each loop</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Use Iterator.remove() instead, as shown earlier in this section.</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Safely Removing Items While Iterating</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Removing every negative number from a list without triggering an exception.</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import</a:t>
            </a:r>
            <a:r>
              <a:rPr lang="en-US" sz="1200" dirty="0">
                <a:solidFill>
                  <a:srgbClr val="D4D4D4"/>
                </a:solidFill>
                <a:latin typeface="Courier New" pitchFamily="34" charset="0"/>
                <a:ea typeface="Courier New" pitchFamily="34" charset="-122"/>
                <a:cs typeface="Courier New" pitchFamily="34" charset="-120"/>
              </a:rPr>
              <a:t> java.util.</a:t>
            </a:r>
            <a:r>
              <a:rPr lang="en-US" sz="1200" dirty="0">
                <a:solidFill>
                  <a:srgbClr val="4EC9B0"/>
                </a:solidFill>
                <a:latin typeface="Courier New" pitchFamily="34" charset="0"/>
                <a:ea typeface="Courier New" pitchFamily="34" charset="-122"/>
                <a:cs typeface="Courier New" pitchFamily="34" charset="-120"/>
              </a:rPr>
              <a:t>ArrayList</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import</a:t>
            </a:r>
            <a:r>
              <a:rPr lang="en-US" sz="1200" dirty="0">
                <a:solidFill>
                  <a:srgbClr val="D4D4D4"/>
                </a:solidFill>
                <a:latin typeface="Courier New" pitchFamily="34" charset="0"/>
                <a:ea typeface="Courier New" pitchFamily="34" charset="-122"/>
                <a:cs typeface="Courier New" pitchFamily="34" charset="-120"/>
              </a:rPr>
              <a:t> java.util.</a:t>
            </a:r>
            <a:r>
              <a:rPr lang="en-US" sz="1200" dirty="0">
                <a:solidFill>
                  <a:srgbClr val="4EC9B0"/>
                </a:solidFill>
                <a:latin typeface="Courier New" pitchFamily="34" charset="0"/>
                <a:ea typeface="Courier New" pitchFamily="34" charset="-122"/>
                <a:cs typeface="Courier New" pitchFamily="34" charset="-120"/>
              </a:rPr>
              <a:t>Iterator</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SafeRemoval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main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args)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ArrayList</a:t>
            </a:r>
            <a:r>
              <a:rPr lang="en-US" sz="1200" dirty="0">
                <a:solidFill>
                  <a:srgbClr val="D4D4D4"/>
                </a:solidFill>
                <a:latin typeface="Courier New" pitchFamily="34" charset="0"/>
                <a:ea typeface="Courier New" pitchFamily="34" charset="-122"/>
                <a:cs typeface="Courier New" pitchFamily="34" charset="-120"/>
              </a:rPr>
              <a:t>&lt;</a:t>
            </a:r>
            <a:r>
              <a:rPr lang="en-US" sz="1200" dirty="0">
                <a:solidFill>
                  <a:srgbClr val="4EC9B0"/>
                </a:solidFill>
                <a:latin typeface="Courier New" pitchFamily="34" charset="0"/>
                <a:ea typeface="Courier New" pitchFamily="34" charset="-122"/>
                <a:cs typeface="Courier New" pitchFamily="34" charset="-120"/>
              </a:rPr>
              <a:t>Integer</a:t>
            </a:r>
            <a:r>
              <a:rPr lang="en-US" sz="1200" dirty="0">
                <a:solidFill>
                  <a:srgbClr val="D4D4D4"/>
                </a:solidFill>
                <a:latin typeface="Courier New" pitchFamily="34" charset="0"/>
                <a:ea typeface="Courier New" pitchFamily="34" charset="-122"/>
                <a:cs typeface="Courier New" pitchFamily="34" charset="-120"/>
              </a:rPr>
              <a:t>&gt; numbers = </a:t>
            </a:r>
            <a:r>
              <a:rPr lang="en-US" sz="1200" b="1" dirty="0">
                <a:solidFill>
                  <a:srgbClr val="569CD6"/>
                </a:solidFill>
                <a:latin typeface="Courier New" pitchFamily="34" charset="0"/>
                <a:ea typeface="Courier New" pitchFamily="34" charset="-122"/>
                <a:cs typeface="Courier New" pitchFamily="34" charset="-120"/>
              </a:rPr>
              <a:t>new</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ArrayList</a:t>
            </a:r>
            <a:r>
              <a:rPr lang="en-US" sz="1200" dirty="0">
                <a:solidFill>
                  <a:srgbClr val="D4D4D4"/>
                </a:solidFill>
                <a:latin typeface="Courier New" pitchFamily="34" charset="0"/>
                <a:ea typeface="Courier New" pitchFamily="34" charset="-122"/>
                <a:cs typeface="Courier New" pitchFamily="34" charset="-120"/>
              </a:rPr>
              <a:t>&lt;&gt;();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numbers.</a:t>
            </a:r>
            <a:r>
              <a:rPr lang="en-US" sz="1200" dirty="0">
                <a:solidFill>
                  <a:srgbClr val="DCDCAA"/>
                </a:solidFill>
                <a:latin typeface="Courier New" pitchFamily="34" charset="0"/>
                <a:ea typeface="Courier New" pitchFamily="34" charset="-122"/>
                <a:cs typeface="Courier New" pitchFamily="34" charset="-120"/>
              </a:rPr>
              <a:t>add</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B5CEA8"/>
                </a:solidFill>
                <a:latin typeface="Courier New" pitchFamily="34" charset="0"/>
                <a:ea typeface="Courier New" pitchFamily="34" charset="-122"/>
                <a:cs typeface="Courier New" pitchFamily="34" charset="-120"/>
              </a:rPr>
              <a:t>2</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numbers.</a:t>
            </a:r>
            <a:r>
              <a:rPr lang="en-US" sz="1200" dirty="0">
                <a:solidFill>
                  <a:srgbClr val="DCDCAA"/>
                </a:solidFill>
                <a:latin typeface="Courier New" pitchFamily="34" charset="0"/>
                <a:ea typeface="Courier New" pitchFamily="34" charset="-122"/>
                <a:cs typeface="Courier New" pitchFamily="34" charset="-120"/>
              </a:rPr>
              <a:t>add</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B5CEA8"/>
                </a:solidFill>
                <a:latin typeface="Courier New" pitchFamily="34" charset="0"/>
                <a:ea typeface="Courier New" pitchFamily="34" charset="-122"/>
                <a:cs typeface="Courier New" pitchFamily="34" charset="-120"/>
              </a:rPr>
              <a:t>5</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numbers.</a:t>
            </a:r>
            <a:r>
              <a:rPr lang="en-US" sz="1200" dirty="0">
                <a:solidFill>
                  <a:srgbClr val="DCDCAA"/>
                </a:solidFill>
                <a:latin typeface="Courier New" pitchFamily="34" charset="0"/>
                <a:ea typeface="Courier New" pitchFamily="34" charset="-122"/>
                <a:cs typeface="Courier New" pitchFamily="34" charset="-120"/>
              </a:rPr>
              <a:t>add</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B5CEA8"/>
                </a:solidFill>
                <a:latin typeface="Courier New" pitchFamily="34" charset="0"/>
                <a:ea typeface="Courier New" pitchFamily="34" charset="-122"/>
                <a:cs typeface="Courier New" pitchFamily="34" charset="-120"/>
              </a:rPr>
              <a:t>7</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Iterator</a:t>
            </a:r>
            <a:r>
              <a:rPr lang="en-US" sz="1200" dirty="0">
                <a:solidFill>
                  <a:srgbClr val="D4D4D4"/>
                </a:solidFill>
                <a:latin typeface="Courier New" pitchFamily="34" charset="0"/>
                <a:ea typeface="Courier New" pitchFamily="34" charset="-122"/>
                <a:cs typeface="Courier New" pitchFamily="34" charset="-120"/>
              </a:rPr>
              <a:t>&lt;</a:t>
            </a:r>
            <a:r>
              <a:rPr lang="en-US" sz="1200" dirty="0">
                <a:solidFill>
                  <a:srgbClr val="4EC9B0"/>
                </a:solidFill>
                <a:latin typeface="Courier New" pitchFamily="34" charset="0"/>
                <a:ea typeface="Courier New" pitchFamily="34" charset="-122"/>
                <a:cs typeface="Courier New" pitchFamily="34" charset="-120"/>
              </a:rPr>
              <a:t>Integer</a:t>
            </a:r>
            <a:r>
              <a:rPr lang="en-US" sz="1200" dirty="0">
                <a:solidFill>
                  <a:srgbClr val="D4D4D4"/>
                </a:solidFill>
                <a:latin typeface="Courier New" pitchFamily="34" charset="0"/>
                <a:ea typeface="Courier New" pitchFamily="34" charset="-122"/>
                <a:cs typeface="Courier New" pitchFamily="34" charset="-120"/>
              </a:rPr>
              <a:t>&gt; it = numbers.</a:t>
            </a:r>
            <a:r>
              <a:rPr lang="en-US" sz="1200" dirty="0">
                <a:solidFill>
                  <a:srgbClr val="DCDCAA"/>
                </a:solidFill>
                <a:latin typeface="Courier New" pitchFamily="34" charset="0"/>
                <a:ea typeface="Courier New" pitchFamily="34" charset="-122"/>
                <a:cs typeface="Courier New" pitchFamily="34" charset="-120"/>
              </a:rPr>
              <a:t>iterator</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while</a:t>
            </a:r>
            <a:r>
              <a:rPr lang="en-US" sz="1200" dirty="0">
                <a:solidFill>
                  <a:srgbClr val="D4D4D4"/>
                </a:solidFill>
                <a:latin typeface="Courier New" pitchFamily="34" charset="0"/>
                <a:ea typeface="Courier New" pitchFamily="34" charset="-122"/>
                <a:cs typeface="Courier New" pitchFamily="34" charset="-120"/>
              </a:rPr>
              <a:t> (it.</a:t>
            </a:r>
            <a:r>
              <a:rPr lang="en-US" sz="1200" dirty="0">
                <a:solidFill>
                  <a:srgbClr val="DCDCAA"/>
                </a:solidFill>
                <a:latin typeface="Courier New" pitchFamily="34" charset="0"/>
                <a:ea typeface="Courier New" pitchFamily="34" charset="-122"/>
                <a:cs typeface="Courier New" pitchFamily="34" charset="-120"/>
              </a:rPr>
              <a:t>hasNext</a:t>
            </a: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if</a:t>
            </a:r>
            <a:r>
              <a:rPr lang="en-US" sz="1200" dirty="0">
                <a:solidFill>
                  <a:srgbClr val="D4D4D4"/>
                </a:solidFill>
                <a:latin typeface="Courier New" pitchFamily="34" charset="0"/>
                <a:ea typeface="Courier New" pitchFamily="34" charset="-122"/>
                <a:cs typeface="Courier New" pitchFamily="34" charset="-120"/>
              </a:rPr>
              <a:t> (it.</a:t>
            </a:r>
            <a:r>
              <a:rPr lang="en-US" sz="1200" dirty="0">
                <a:solidFill>
                  <a:srgbClr val="DCDCAA"/>
                </a:solidFill>
                <a:latin typeface="Courier New" pitchFamily="34" charset="0"/>
                <a:ea typeface="Courier New" pitchFamily="34" charset="-122"/>
                <a:cs typeface="Courier New" pitchFamily="34" charset="-120"/>
              </a:rPr>
              <a:t>next</a:t>
            </a:r>
            <a:r>
              <a:rPr lang="en-US" sz="1200" dirty="0">
                <a:solidFill>
                  <a:srgbClr val="D4D4D4"/>
                </a:solidFill>
                <a:latin typeface="Courier New" pitchFamily="34" charset="0"/>
                <a:ea typeface="Courier New" pitchFamily="34" charset="-122"/>
                <a:cs typeface="Courier New" pitchFamily="34" charset="-120"/>
              </a:rPr>
              <a:t>() &lt; </a:t>
            </a:r>
            <a:r>
              <a:rPr lang="en-US" sz="1200" dirty="0">
                <a:solidFill>
                  <a:srgbClr val="B5CEA8"/>
                </a:solidFill>
                <a:latin typeface="Courier New" pitchFamily="34" charset="0"/>
                <a:ea typeface="Courier New" pitchFamily="34" charset="-122"/>
                <a:cs typeface="Courier New" pitchFamily="34" charset="-120"/>
              </a:rPr>
              <a:t>0</a:t>
            </a:r>
            <a:r>
              <a:rPr lang="en-US" sz="1200" dirty="0">
                <a:solidFill>
                  <a:srgbClr val="D4D4D4"/>
                </a:solidFill>
                <a:latin typeface="Courier New" pitchFamily="34" charset="0"/>
                <a:ea typeface="Courier New" pitchFamily="34" charset="-122"/>
                <a:cs typeface="Courier New" pitchFamily="34" charset="-120"/>
              </a:rPr>
              <a:t>) it.</a:t>
            </a:r>
            <a:r>
              <a:rPr lang="en-US" sz="1200" dirty="0">
                <a:solidFill>
                  <a:srgbClr val="DCDCAA"/>
                </a:solidFill>
                <a:latin typeface="Courier New" pitchFamily="34" charset="0"/>
                <a:ea typeface="Courier New" pitchFamily="34" charset="-122"/>
                <a:cs typeface="Courier New" pitchFamily="34" charset="-120"/>
              </a:rPr>
              <a:t>remove</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(numbers);</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[5]</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6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Comparable and Comparator</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Defining how custom objects should be sorted</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THE PROBLEM</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Sorting Custom Objects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Java knows how to sort numbers and text by default</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But it has no idea how to sort a list of custom Employee or Student objects on its own.</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Two interfaces solve this</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Comparable defines a class's own natural order; Comparator defines an order from outside the class.</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NATURAL ORDER</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Comparable Interface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class implements Comparable to define its own default sorting order.</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compareTo() returns negative, zero, or positive, matching the convention used throughout Java.</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Employee </a:t>
            </a:r>
            <a:r>
              <a:rPr lang="en-US" sz="1500" b="1" dirty="0">
                <a:solidFill>
                  <a:srgbClr val="569CD6"/>
                </a:solidFill>
                <a:latin typeface="Courier New" pitchFamily="34" charset="0"/>
                <a:ea typeface="Courier New" pitchFamily="34" charset="-122"/>
                <a:cs typeface="Courier New" pitchFamily="34" charset="-120"/>
              </a:rPr>
              <a:t>implements</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Comparable</a:t>
            </a:r>
            <a:r>
              <a:rPr lang="en-US" sz="1500" dirty="0">
                <a:solidFill>
                  <a:srgbClr val="D4D4D4"/>
                </a:solidFill>
                <a:latin typeface="Courier New" pitchFamily="34" charset="0"/>
                <a:ea typeface="Courier New" pitchFamily="34" charset="-122"/>
                <a:cs typeface="Courier New" pitchFamily="34" charset="-120"/>
              </a:rPr>
              <a:t>&lt;Employee&gt;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name;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salary;</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compareTo</a:t>
            </a:r>
            <a:r>
              <a:rPr lang="en-US" sz="1500" dirty="0">
                <a:solidFill>
                  <a:srgbClr val="D4D4D4"/>
                </a:solidFill>
                <a:latin typeface="Courier New" pitchFamily="34" charset="0"/>
                <a:ea typeface="Courier New" pitchFamily="34" charset="-122"/>
                <a:cs typeface="Courier New" pitchFamily="34" charset="-120"/>
              </a:rPr>
              <a:t>(Employee other)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compare</a:t>
            </a:r>
            <a:r>
              <a:rPr lang="en-US" sz="1500" dirty="0">
                <a:solidFill>
                  <a:srgbClr val="D4D4D4"/>
                </a:solidFill>
                <a:latin typeface="Courier New" pitchFamily="34" charset="0"/>
                <a:ea typeface="Courier New" pitchFamily="34" charset="-122"/>
                <a:cs typeface="Courier New" pitchFamily="34" charset="-120"/>
              </a:rPr>
              <a:t>(</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.salary, other.salary);</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USING IT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Sorting with Comparable</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Once compareTo is implemented, Collections.sort works directly.</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ArrayList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Collections</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SortComparable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ArrayList</a:t>
            </a:r>
            <a:r>
              <a:rPr lang="en-US" sz="1500" dirty="0">
                <a:solidFill>
                  <a:srgbClr val="D4D4D4"/>
                </a:solidFill>
                <a:latin typeface="Courier New" pitchFamily="34" charset="0"/>
                <a:ea typeface="Courier New" pitchFamily="34" charset="-122"/>
                <a:cs typeface="Courier New" pitchFamily="34" charset="-120"/>
              </a:rPr>
              <a:t>&lt;Employee&gt; list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ArrayList</a:t>
            </a:r>
            <a:r>
              <a:rPr lang="en-US" sz="1500" dirty="0">
                <a:solidFill>
                  <a:srgbClr val="D4D4D4"/>
                </a:solidFill>
                <a:latin typeface="Courier New" pitchFamily="34" charset="0"/>
                <a:ea typeface="Courier New" pitchFamily="34" charset="-122"/>
                <a:cs typeface="Courier New" pitchFamily="34" charset="-120"/>
              </a:rPr>
              <a:t>&lt;&gt;();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list.</a:t>
            </a:r>
            <a:r>
              <a:rPr lang="en-US" sz="1500" dirty="0">
                <a:solidFill>
                  <a:srgbClr val="DCDCAA"/>
                </a:solidFill>
                <a:latin typeface="Courier New" pitchFamily="34" charset="0"/>
                <a:ea typeface="Courier New" pitchFamily="34" charset="-122"/>
                <a:cs typeface="Courier New" pitchFamily="34" charset="-120"/>
              </a:rPr>
              <a:t>add</a:t>
            </a:r>
            <a:r>
              <a:rPr lang="en-US" sz="1500" dirty="0">
                <a:solidFill>
                  <a:srgbClr val="D4D4D4"/>
                </a:solidFill>
                <a:latin typeface="Courier New" pitchFamily="34" charset="0"/>
                <a:ea typeface="Courier New" pitchFamily="34" charset="-122"/>
                <a:cs typeface="Courier New" pitchFamily="34" charset="-120"/>
              </a:rPr>
              <a:t>(</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Employee</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70000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list.</a:t>
            </a:r>
            <a:r>
              <a:rPr lang="en-US" sz="1500" dirty="0">
                <a:solidFill>
                  <a:srgbClr val="DCDCAA"/>
                </a:solidFill>
                <a:latin typeface="Courier New" pitchFamily="34" charset="0"/>
                <a:ea typeface="Courier New" pitchFamily="34" charset="-122"/>
                <a:cs typeface="Courier New" pitchFamily="34" charset="-120"/>
              </a:rPr>
              <a:t>add</a:t>
            </a:r>
            <a:r>
              <a:rPr lang="en-US" sz="1500" dirty="0">
                <a:solidFill>
                  <a:srgbClr val="D4D4D4"/>
                </a:solidFill>
                <a:latin typeface="Courier New" pitchFamily="34" charset="0"/>
                <a:ea typeface="Courier New" pitchFamily="34" charset="-122"/>
                <a:cs typeface="Courier New" pitchFamily="34" charset="-120"/>
              </a:rPr>
              <a:t>(</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Employee</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"Rahul"</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50000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Collections</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sort</a:t>
            </a:r>
            <a:r>
              <a:rPr lang="en-US" sz="1500" dirty="0">
                <a:solidFill>
                  <a:srgbClr val="D4D4D4"/>
                </a:solidFill>
                <a:latin typeface="Courier New" pitchFamily="34" charset="0"/>
                <a:ea typeface="Courier New" pitchFamily="34" charset="-122"/>
                <a:cs typeface="Courier New" pitchFamily="34" charset="-120"/>
              </a:rPr>
              <a:t>(list);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(list.</a:t>
            </a:r>
            <a:r>
              <a:rPr lang="en-US" sz="1500" dirty="0">
                <a:solidFill>
                  <a:srgbClr val="DCDCAA"/>
                </a:solidFill>
                <a:latin typeface="Courier New" pitchFamily="34" charset="0"/>
                <a:ea typeface="Courier New" pitchFamily="34" charset="-122"/>
                <a:cs typeface="Courier New" pitchFamily="34" charset="-120"/>
              </a:rPr>
              <a:t>get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).name);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Rahul</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EXTERNAL ORDER</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Comparator Interface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Comparator defines an order from outside the class being sorted.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is useful when a class needs to be sorted in more than one way.</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Comparator</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ByName </a:t>
            </a:r>
            <a:r>
              <a:rPr lang="en-US" sz="1500" b="1" dirty="0">
                <a:solidFill>
                  <a:srgbClr val="569CD6"/>
                </a:solidFill>
                <a:latin typeface="Courier New" pitchFamily="34" charset="0"/>
                <a:ea typeface="Courier New" pitchFamily="34" charset="-122"/>
                <a:cs typeface="Courier New" pitchFamily="34" charset="-120"/>
              </a:rPr>
              <a:t>implements</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Comparator</a:t>
            </a:r>
            <a:r>
              <a:rPr lang="en-US" sz="1500" dirty="0">
                <a:solidFill>
                  <a:srgbClr val="D4D4D4"/>
                </a:solidFill>
                <a:latin typeface="Courier New" pitchFamily="34" charset="0"/>
                <a:ea typeface="Courier New" pitchFamily="34" charset="-122"/>
                <a:cs typeface="Courier New" pitchFamily="34" charset="-120"/>
              </a:rPr>
              <a:t>&lt;Employee&gt;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compare</a:t>
            </a:r>
            <a:r>
              <a:rPr lang="en-US" sz="1500" dirty="0">
                <a:solidFill>
                  <a:srgbClr val="D4D4D4"/>
                </a:solidFill>
                <a:latin typeface="Courier New" pitchFamily="34" charset="0"/>
                <a:ea typeface="Courier New" pitchFamily="34" charset="-122"/>
                <a:cs typeface="Courier New" pitchFamily="34" charset="-120"/>
              </a:rPr>
              <a:t>(Employee a, Employee b)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a.name.</a:t>
            </a:r>
            <a:r>
              <a:rPr lang="en-US" sz="1500" dirty="0">
                <a:solidFill>
                  <a:srgbClr val="DCDCAA"/>
                </a:solidFill>
                <a:latin typeface="Courier New" pitchFamily="34" charset="0"/>
                <a:ea typeface="Courier New" pitchFamily="34" charset="-122"/>
                <a:cs typeface="Courier New" pitchFamily="34" charset="-120"/>
              </a:rPr>
              <a:t>compareTo</a:t>
            </a:r>
            <a:r>
              <a:rPr lang="en-US" sz="1500" dirty="0">
                <a:solidFill>
                  <a:srgbClr val="D4D4D4"/>
                </a:solidFill>
                <a:latin typeface="Courier New" pitchFamily="34" charset="0"/>
                <a:ea typeface="Courier New" pitchFamily="34" charset="-122"/>
                <a:cs typeface="Courier New" pitchFamily="34" charset="-120"/>
              </a:rPr>
              <a:t>(b.name);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MODERN STYLE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Comparator with Lambda Expressions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Comparator is often written far more concisely using a lambda expression, covered in more depth later in this session.</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avoids writing a separate named class for a simple comparison.</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ArrayList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LambdaComparator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ArrayList</a:t>
            </a:r>
            <a:r>
              <a:rPr lang="en-US" sz="1500" dirty="0">
                <a:solidFill>
                  <a:srgbClr val="D4D4D4"/>
                </a:solidFill>
                <a:latin typeface="Courier New" pitchFamily="34" charset="0"/>
                <a:ea typeface="Courier New" pitchFamily="34" charset="-122"/>
                <a:cs typeface="Courier New" pitchFamily="34" charset="-120"/>
              </a:rPr>
              <a:t>&lt;Employee&gt; list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ArrayList</a:t>
            </a:r>
            <a:r>
              <a:rPr lang="en-US" sz="1500" dirty="0">
                <a:solidFill>
                  <a:srgbClr val="D4D4D4"/>
                </a:solidFill>
                <a:latin typeface="Courier New" pitchFamily="34" charset="0"/>
                <a:ea typeface="Courier New" pitchFamily="34" charset="-122"/>
                <a:cs typeface="Courier New" pitchFamily="34" charset="-120"/>
              </a:rPr>
              <a:t>&lt;&gt;();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list.</a:t>
            </a:r>
            <a:r>
              <a:rPr lang="en-US" sz="1500" dirty="0">
                <a:solidFill>
                  <a:srgbClr val="DCDCAA"/>
                </a:solidFill>
                <a:latin typeface="Courier New" pitchFamily="34" charset="0"/>
                <a:ea typeface="Courier New" pitchFamily="34" charset="-122"/>
                <a:cs typeface="Courier New" pitchFamily="34" charset="-120"/>
              </a:rPr>
              <a:t>add</a:t>
            </a:r>
            <a:r>
              <a:rPr lang="en-US" sz="1500" dirty="0">
                <a:solidFill>
                  <a:srgbClr val="D4D4D4"/>
                </a:solidFill>
                <a:latin typeface="Courier New" pitchFamily="34" charset="0"/>
                <a:ea typeface="Courier New" pitchFamily="34" charset="-122"/>
                <a:cs typeface="Courier New" pitchFamily="34" charset="-120"/>
              </a:rPr>
              <a:t>(</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Employee</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70000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list.</a:t>
            </a:r>
            <a:r>
              <a:rPr lang="en-US" sz="1500" dirty="0">
                <a:solidFill>
                  <a:srgbClr val="DCDCAA"/>
                </a:solidFill>
                <a:latin typeface="Courier New" pitchFamily="34" charset="0"/>
                <a:ea typeface="Courier New" pitchFamily="34" charset="-122"/>
                <a:cs typeface="Courier New" pitchFamily="34" charset="-120"/>
              </a:rPr>
              <a:t>sort</a:t>
            </a:r>
            <a:r>
              <a:rPr lang="en-US" sz="1500" dirty="0">
                <a:solidFill>
                  <a:srgbClr val="D4D4D4"/>
                </a:solidFill>
                <a:latin typeface="Courier New" pitchFamily="34" charset="0"/>
                <a:ea typeface="Courier New" pitchFamily="34" charset="-122"/>
                <a:cs typeface="Courier New" pitchFamily="34" charset="-120"/>
              </a:rPr>
              <a:t>((a, b) -&gt; a.name.</a:t>
            </a:r>
            <a:r>
              <a:rPr lang="en-US" sz="1500" dirty="0">
                <a:solidFill>
                  <a:srgbClr val="DCDCAA"/>
                </a:solidFill>
                <a:latin typeface="Courier New" pitchFamily="34" charset="0"/>
                <a:ea typeface="Courier New" pitchFamily="34" charset="-122"/>
                <a:cs typeface="Courier New" pitchFamily="34" charset="-120"/>
              </a:rPr>
              <a:t>compareTo</a:t>
            </a:r>
            <a:r>
              <a:rPr lang="en-US" sz="1500" dirty="0">
                <a:solidFill>
                  <a:srgbClr val="D4D4D4"/>
                </a:solidFill>
                <a:latin typeface="Courier New" pitchFamily="34" charset="0"/>
                <a:ea typeface="Courier New" pitchFamily="34" charset="-122"/>
                <a:cs typeface="Courier New" pitchFamily="34" charset="-120"/>
              </a:rPr>
              <a:t>(b.name));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COMBINING RULES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Chaining Comparators with thenComparing</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thenComparing adds a tie-breaking rule, used only when the first comparison finds two elements equal.</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Multiple calls can be chained together to sort by several criteria in order.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Comparator</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Comparator</a:t>
            </a:r>
            <a:r>
              <a:rPr lang="en-US" sz="1500" dirty="0">
                <a:solidFill>
                  <a:srgbClr val="D4D4D4"/>
                </a:solidFill>
                <a:latin typeface="Courier New" pitchFamily="34" charset="0"/>
                <a:ea typeface="Courier New" pitchFamily="34" charset="-122"/>
                <a:cs typeface="Courier New" pitchFamily="34" charset="-120"/>
              </a:rPr>
              <a:t>&lt;Employee&gt; byDept = </a:t>
            </a:r>
            <a:r>
              <a:rPr lang="en-US" sz="1500" dirty="0">
                <a:solidFill>
                  <a:srgbClr val="4EC9B0"/>
                </a:solidFill>
                <a:latin typeface="Courier New" pitchFamily="34" charset="0"/>
                <a:ea typeface="Courier New" pitchFamily="34" charset="-122"/>
                <a:cs typeface="Courier New" pitchFamily="34" charset="-120"/>
              </a:rPr>
              <a:t>Comparator</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comparing</a:t>
            </a:r>
            <a:r>
              <a:rPr lang="en-US" sz="1500" dirty="0">
                <a:solidFill>
                  <a:srgbClr val="D4D4D4"/>
                </a:solidFill>
                <a:latin typeface="Courier New" pitchFamily="34" charset="0"/>
                <a:ea typeface="Courier New" pitchFamily="34" charset="-122"/>
                <a:cs typeface="Courier New" pitchFamily="34" charset="-120"/>
              </a:rPr>
              <a:t>(e -&gt; e.department);</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Comparator</a:t>
            </a:r>
            <a:r>
              <a:rPr lang="en-US" sz="1500" dirty="0">
                <a:solidFill>
                  <a:srgbClr val="D4D4D4"/>
                </a:solidFill>
                <a:latin typeface="Courier New" pitchFamily="34" charset="0"/>
                <a:ea typeface="Courier New" pitchFamily="34" charset="-122"/>
                <a:cs typeface="Courier New" pitchFamily="34" charset="-120"/>
              </a:rPr>
              <a:t>&lt;Employee&gt; combined = byDept.</a:t>
            </a:r>
            <a:r>
              <a:rPr lang="en-US" sz="1500" dirty="0">
                <a:solidFill>
                  <a:srgbClr val="DCDCAA"/>
                </a:solidFill>
                <a:latin typeface="Courier New" pitchFamily="34" charset="0"/>
                <a:ea typeface="Courier New" pitchFamily="34" charset="-122"/>
                <a:cs typeface="Courier New" pitchFamily="34" charset="-120"/>
              </a:rPr>
              <a:t>thenComparing</a:t>
            </a:r>
            <a:r>
              <a:rPr lang="en-US" sz="1500" dirty="0">
                <a:solidFill>
                  <a:srgbClr val="D4D4D4"/>
                </a:solidFill>
                <a:latin typeface="Courier New" pitchFamily="34" charset="0"/>
                <a:ea typeface="Courier New" pitchFamily="34" charset="-122"/>
                <a:cs typeface="Courier New" pitchFamily="34" charset="-120"/>
              </a:rPr>
              <a:t>(e -&gt; e.name);</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COMPARISON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Comparable vs. Comparator</a:t>
            </a:r>
            <a:endParaRPr lang="en-US" sz="27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144780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Aspect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Comparable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Comparator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4478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Defined inside the class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 via compareTo</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No, defined separately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478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Number of orderings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One natural order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As many as needed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Sorting</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Subtracting values directly inside compareTo</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can overflow for large numbers; Integer.compare or Double.compare is safer.</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Forgetting that compareTo must be consistent with equals</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Inconsistent ordering can cause subtle bugs in sorted collections such as TreeSet.</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Sorting a List of Employees</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Sorting first by department, then by name within each department.</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list.</a:t>
            </a:r>
            <a:r>
              <a:rPr lang="en-US" sz="1500" dirty="0">
                <a:solidFill>
                  <a:srgbClr val="DCDCAA"/>
                </a:solidFill>
                <a:latin typeface="Courier New" pitchFamily="34" charset="0"/>
                <a:ea typeface="Courier New" pitchFamily="34" charset="-122"/>
                <a:cs typeface="Courier New" pitchFamily="34" charset="-120"/>
              </a:rPr>
              <a:t>sort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Comparator</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comparing</a:t>
            </a:r>
            <a:r>
              <a:rPr lang="en-US" sz="1500" dirty="0">
                <a:solidFill>
                  <a:srgbClr val="D4D4D4"/>
                </a:solidFill>
                <a:latin typeface="Courier New" pitchFamily="34" charset="0"/>
                <a:ea typeface="Courier New" pitchFamily="34" charset="-122"/>
                <a:cs typeface="Courier New" pitchFamily="34" charset="-120"/>
              </a:rPr>
              <a:t>((Employee e) -&gt; e.department)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thenComparing</a:t>
            </a:r>
            <a:r>
              <a:rPr lang="en-US" sz="1500" dirty="0">
                <a:solidFill>
                  <a:srgbClr val="D4D4D4"/>
                </a:solidFill>
                <a:latin typeface="Courier New" pitchFamily="34" charset="0"/>
                <a:ea typeface="Courier New" pitchFamily="34" charset="-122"/>
                <a:cs typeface="Courier New" pitchFamily="34" charset="-120"/>
              </a:rPr>
              <a:t>(e -&gt; e.name)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(list.</a:t>
            </a:r>
            <a:r>
              <a:rPr lang="en-US" sz="1500" dirty="0">
                <a:solidFill>
                  <a:srgbClr val="DCDCAA"/>
                </a:solidFill>
                <a:latin typeface="Courier New" pitchFamily="34" charset="0"/>
                <a:ea typeface="Courier New" pitchFamily="34" charset="-122"/>
                <a:cs typeface="Courier New" pitchFamily="34" charset="-120"/>
              </a:rPr>
              <a:t>get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).name);</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Sorted by department, then name</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7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Generics</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Writing code that works safely across many different types</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Are Generics?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Let a class or method work with any type, safely</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Generics were used throughout this session already, every time angle brackets appeared, such as ArrayList&lt;String&gt;.</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Catch type errors at compile time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Without generics, mixing incompatible types in a collection would only fail at run time.</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WRITING ONE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Generic Classes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type parameter, commonly named T, can hold any reference type safely.</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same Box class works for a String, an Integer, or any other type, without being rewritten.</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Box&lt;T&gt;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private</a:t>
            </a:r>
            <a:r>
              <a:rPr lang="en-US" sz="1500" dirty="0">
                <a:solidFill>
                  <a:srgbClr val="D4D4D4"/>
                </a:solidFill>
                <a:latin typeface="Courier New" pitchFamily="34" charset="0"/>
                <a:ea typeface="Courier New" pitchFamily="34" charset="-122"/>
                <a:cs typeface="Courier New" pitchFamily="34" charset="-120"/>
              </a:rPr>
              <a:t> T content;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set</a:t>
            </a:r>
            <a:r>
              <a:rPr lang="en-US" sz="1500" dirty="0">
                <a:solidFill>
                  <a:srgbClr val="D4D4D4"/>
                </a:solidFill>
                <a:latin typeface="Courier New" pitchFamily="34" charset="0"/>
                <a:ea typeface="Courier New" pitchFamily="34" charset="-122"/>
                <a:cs typeface="Courier New" pitchFamily="34" charset="-120"/>
              </a:rPr>
              <a:t>(T content) {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.content = content;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T </a:t>
            </a:r>
            <a:r>
              <a:rPr lang="en-US" sz="1500" dirty="0">
                <a:solidFill>
                  <a:srgbClr val="DCDCAA"/>
                </a:solidFill>
                <a:latin typeface="Courier New" pitchFamily="34" charset="0"/>
                <a:ea typeface="Courier New" pitchFamily="34" charset="-122"/>
                <a:cs typeface="Courier New" pitchFamily="34" charset="-120"/>
              </a:rPr>
              <a:t>get</a:t>
            </a:r>
            <a:r>
              <a:rPr lang="en-US" sz="1500" dirty="0">
                <a:solidFill>
                  <a:srgbClr val="D4D4D4"/>
                </a:solidFill>
                <a:latin typeface="Courier New" pitchFamily="34" charset="0"/>
                <a:ea typeface="Courier New" pitchFamily="34" charset="-122"/>
                <a:cs typeface="Courier New" pitchFamily="34" charset="-120"/>
              </a:rPr>
              <a:t>() {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content;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Box&lt;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&gt; box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Box&lt;&gt;();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box.</a:t>
            </a:r>
            <a:r>
              <a:rPr lang="en-US" sz="1500" dirty="0">
                <a:solidFill>
                  <a:srgbClr val="DCDCAA"/>
                </a:solidFill>
                <a:latin typeface="Courier New" pitchFamily="34" charset="0"/>
                <a:ea typeface="Courier New" pitchFamily="34" charset="-122"/>
                <a:cs typeface="Courier New" pitchFamily="34" charset="-120"/>
              </a:rPr>
              <a:t>set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"Hello"</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value = box.</a:t>
            </a:r>
            <a:r>
              <a:rPr lang="en-US" sz="1500" dirty="0">
                <a:solidFill>
                  <a:srgbClr val="DCDCAA"/>
                </a:solidFill>
                <a:latin typeface="Courier New" pitchFamily="34" charset="0"/>
                <a:ea typeface="Courier New" pitchFamily="34" charset="-122"/>
                <a:cs typeface="Courier New" pitchFamily="34" charset="-120"/>
              </a:rPr>
              <a:t>get</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no cast needed</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WRITING ONE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Generic Methods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type parameter can be declared on a single method instead of the whole class.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is useful for utility methods that work across many different types.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Utils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&lt;T </a:t>
            </a:r>
            <a:r>
              <a:rPr lang="en-US" sz="1500" b="1" dirty="0">
                <a:solidFill>
                  <a:srgbClr val="569CD6"/>
                </a:solidFill>
                <a:latin typeface="Courier New" pitchFamily="34" charset="0"/>
                <a:ea typeface="Courier New" pitchFamily="34" charset="-122"/>
                <a:cs typeface="Courier New" pitchFamily="34" charset="-120"/>
              </a:rPr>
              <a:t>extends</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Comparable</a:t>
            </a:r>
            <a:r>
              <a:rPr lang="en-US" sz="1500" dirty="0">
                <a:solidFill>
                  <a:srgbClr val="D4D4D4"/>
                </a:solidFill>
                <a:latin typeface="Courier New" pitchFamily="34" charset="0"/>
                <a:ea typeface="Courier New" pitchFamily="34" charset="-122"/>
                <a:cs typeface="Courier New" pitchFamily="34" charset="-120"/>
              </a:rPr>
              <a:t>&lt;T&gt;&gt; T </a:t>
            </a:r>
            <a:r>
              <a:rPr lang="en-US" sz="1500" dirty="0">
                <a:solidFill>
                  <a:srgbClr val="DCDCAA"/>
                </a:solidFill>
                <a:latin typeface="Courier New" pitchFamily="34" charset="0"/>
                <a:ea typeface="Courier New" pitchFamily="34" charset="-122"/>
                <a:cs typeface="Courier New" pitchFamily="34" charset="-120"/>
              </a:rPr>
              <a:t>max</a:t>
            </a:r>
            <a:r>
              <a:rPr lang="en-US" sz="1500" dirty="0">
                <a:solidFill>
                  <a:srgbClr val="D4D4D4"/>
                </a:solidFill>
                <a:latin typeface="Courier New" pitchFamily="34" charset="0"/>
                <a:ea typeface="Courier New" pitchFamily="34" charset="-122"/>
                <a:cs typeface="Courier New" pitchFamily="34" charset="-120"/>
              </a:rPr>
              <a:t>(T a, T b)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a.</a:t>
            </a:r>
            <a:r>
              <a:rPr lang="en-US" sz="1500" dirty="0">
                <a:solidFill>
                  <a:srgbClr val="DCDCAA"/>
                </a:solidFill>
                <a:latin typeface="Courier New" pitchFamily="34" charset="0"/>
                <a:ea typeface="Courier New" pitchFamily="34" charset="-122"/>
                <a:cs typeface="Courier New" pitchFamily="34" charset="-120"/>
              </a:rPr>
              <a:t>compareTo</a:t>
            </a:r>
            <a:r>
              <a:rPr lang="en-US" sz="1500" dirty="0">
                <a:solidFill>
                  <a:srgbClr val="D4D4D4"/>
                </a:solidFill>
                <a:latin typeface="Courier New" pitchFamily="34" charset="0"/>
                <a:ea typeface="Courier New" pitchFamily="34" charset="-122"/>
                <a:cs typeface="Courier New" pitchFamily="34" charset="-120"/>
              </a:rPr>
              <a:t>(b) &gt;=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 ? a : b;</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larger = Utils.</a:t>
            </a:r>
            <a:r>
              <a:rPr lang="en-US" sz="1500" dirty="0">
                <a:solidFill>
                  <a:srgbClr val="DCDCAA"/>
                </a:solidFill>
                <a:latin typeface="Courier New" pitchFamily="34" charset="0"/>
                <a:ea typeface="Courier New" pitchFamily="34" charset="-122"/>
                <a:cs typeface="Courier New" pitchFamily="34" charset="-120"/>
              </a:rPr>
              <a:t>max</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45</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90</a:t>
            </a: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RESTRICTING THE TYPE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Bounded Type Parameters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extends Comparable&lt;T&gt; restricts the type parameter to only types that can be compared.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lets a generic method safely call compareTo on its arguments.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&lt;T </a:t>
            </a:r>
            <a:r>
              <a:rPr lang="en-US" sz="1500" b="1" dirty="0">
                <a:solidFill>
                  <a:srgbClr val="569CD6"/>
                </a:solidFill>
                <a:latin typeface="Courier New" pitchFamily="34" charset="0"/>
                <a:ea typeface="Courier New" pitchFamily="34" charset="-122"/>
                <a:cs typeface="Courier New" pitchFamily="34" charset="-120"/>
              </a:rPr>
              <a:t>extends</a:t>
            </a:r>
            <a:r>
              <a:rPr lang="en-US" sz="1500" dirty="0">
                <a:solidFill>
                  <a:srgbClr val="D4D4D4"/>
                </a:solidFill>
                <a:latin typeface="Courier New" pitchFamily="34" charset="0"/>
                <a:ea typeface="Courier New" pitchFamily="34" charset="-122"/>
                <a:cs typeface="Courier New" pitchFamily="34" charset="-120"/>
              </a:rPr>
              <a:t> Number&gt;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sum</a:t>
            </a:r>
            <a:r>
              <a:rPr lang="en-US" sz="1500" dirty="0">
                <a:solidFill>
                  <a:srgbClr val="D4D4D4"/>
                </a:solidFill>
                <a:latin typeface="Courier New" pitchFamily="34" charset="0"/>
                <a:ea typeface="Courier New" pitchFamily="34" charset="-122"/>
                <a:cs typeface="Courier New" pitchFamily="34" charset="-120"/>
              </a:rPr>
              <a:t>(java.util.</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&lt;T&gt; nums)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total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for</a:t>
            </a:r>
            <a:r>
              <a:rPr lang="en-US" sz="1500" dirty="0">
                <a:solidFill>
                  <a:srgbClr val="D4D4D4"/>
                </a:solidFill>
                <a:latin typeface="Courier New" pitchFamily="34" charset="0"/>
                <a:ea typeface="Courier New" pitchFamily="34" charset="-122"/>
                <a:cs typeface="Courier New" pitchFamily="34" charset="-120"/>
              </a:rPr>
              <a:t> (T n : nums) total += n.</a:t>
            </a:r>
            <a:r>
              <a:rPr lang="en-US" sz="1500" dirty="0">
                <a:solidFill>
                  <a:srgbClr val="DCDCAA"/>
                </a:solidFill>
                <a:latin typeface="Courier New" pitchFamily="34" charset="0"/>
                <a:ea typeface="Courier New" pitchFamily="34" charset="-122"/>
                <a:cs typeface="Courier New" pitchFamily="34" charset="-120"/>
              </a:rPr>
              <a:t>doubleValue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total;</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FLEXIBLE BOUNDARIES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Wildcards: ? extends and ? super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 extends Number accepts a list of Number or any of its subtypes, for reading.</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 super Integer accepts a list of Integer or any of its supertypes, for writing.</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sumAll</a:t>
            </a:r>
            <a:r>
              <a:rPr lang="en-US" sz="1500" dirty="0">
                <a:solidFill>
                  <a:srgbClr val="D4D4D4"/>
                </a:solidFill>
                <a:latin typeface="Courier New" pitchFamily="34" charset="0"/>
                <a:ea typeface="Courier New" pitchFamily="34" charset="-122"/>
                <a:cs typeface="Courier New" pitchFamily="34" charset="-120"/>
              </a:rPr>
              <a:t>(java.util.</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&lt;? </a:t>
            </a:r>
            <a:r>
              <a:rPr lang="en-US" sz="1500" b="1" dirty="0">
                <a:solidFill>
                  <a:srgbClr val="569CD6"/>
                </a:solidFill>
                <a:latin typeface="Courier New" pitchFamily="34" charset="0"/>
                <a:ea typeface="Courier New" pitchFamily="34" charset="-122"/>
                <a:cs typeface="Courier New" pitchFamily="34" charset="-120"/>
              </a:rPr>
              <a:t>extends</a:t>
            </a:r>
            <a:r>
              <a:rPr lang="en-US" sz="1500" dirty="0">
                <a:solidFill>
                  <a:srgbClr val="D4D4D4"/>
                </a:solidFill>
                <a:latin typeface="Courier New" pitchFamily="34" charset="0"/>
                <a:ea typeface="Courier New" pitchFamily="34" charset="-122"/>
                <a:cs typeface="Courier New" pitchFamily="34" charset="-120"/>
              </a:rPr>
              <a:t> Number&gt; nums)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total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for</a:t>
            </a:r>
            <a:r>
              <a:rPr lang="en-US" sz="1500" dirty="0">
                <a:solidFill>
                  <a:srgbClr val="D4D4D4"/>
                </a:solidFill>
                <a:latin typeface="Courier New" pitchFamily="34" charset="0"/>
                <a:ea typeface="Courier New" pitchFamily="34" charset="-122"/>
                <a:cs typeface="Courier New" pitchFamily="34" charset="-120"/>
              </a:rPr>
              <a:t> (Number n : nums) total += n.</a:t>
            </a:r>
            <a:r>
              <a:rPr lang="en-US" sz="1500" dirty="0">
                <a:solidFill>
                  <a:srgbClr val="DCDCAA"/>
                </a:solidFill>
                <a:latin typeface="Courier New" pitchFamily="34" charset="0"/>
                <a:ea typeface="Courier New" pitchFamily="34" charset="-122"/>
                <a:cs typeface="Courier New" pitchFamily="34" charset="-120"/>
              </a:rPr>
              <a:t>doubleValue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total;</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WHY IT MATTERS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Generics Improve Type Safety</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Errors move from run time to compile time</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Attempting to add the wrong type to a generic collection is caught immediately, not after the program is already running.</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Removes the need for manual casting</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Reading an element back out of a generic collection returns the correct type automatically.</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EVERYDAY USE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Generics and Collections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Every collection type covered in this session is generic, from ArrayList to HashMap.</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is exactly why a HashMap&lt;String, Integer&gt; only ever accepts String keys and Integer values.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HashMap</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&gt; scores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HashMap</a:t>
            </a:r>
            <a:r>
              <a:rPr lang="en-US" sz="1500" dirty="0">
                <a:solidFill>
                  <a:srgbClr val="D4D4D4"/>
                </a:solidFill>
                <a:latin typeface="Courier New" pitchFamily="34" charset="0"/>
                <a:ea typeface="Courier New" pitchFamily="34" charset="-122"/>
                <a:cs typeface="Courier New" pitchFamily="34" charset="-120"/>
              </a:rPr>
              <a:t>&lt;&gt;();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scores.</a:t>
            </a:r>
            <a:r>
              <a:rPr lang="en-US" sz="1500" dirty="0">
                <a:solidFill>
                  <a:srgbClr val="DCDCAA"/>
                </a:solidFill>
                <a:latin typeface="Courier New" pitchFamily="34" charset="0"/>
                <a:ea typeface="Courier New" pitchFamily="34" charset="-122"/>
                <a:cs typeface="Courier New" pitchFamily="34" charset="-120"/>
              </a:rPr>
              <a:t>put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90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i="1" dirty="0">
                <a:solidFill>
                  <a:srgbClr val="6A9955"/>
                </a:solidFill>
                <a:latin typeface="Courier New" pitchFamily="34" charset="0"/>
                <a:ea typeface="Courier New" pitchFamily="34" charset="-122"/>
                <a:cs typeface="Courier New" pitchFamily="34" charset="-120"/>
              </a:rPr>
              <a:t>// scores.put(5, </a:t>
            </a:r>
            <a:r>
              <a:rPr lang="en-US" sz="1500" dirty="0">
                <a:solidFill>
                  <a:srgbClr val="CE9178"/>
                </a:solidFill>
                <a:latin typeface="Courier New" pitchFamily="34" charset="0"/>
                <a:ea typeface="Courier New" pitchFamily="34" charset="-122"/>
                <a:cs typeface="Courier New" pitchFamily="34" charset="-120"/>
              </a:rPr>
              <a:t>"wrong"</a:t>
            </a:r>
            <a:r>
              <a:rPr lang="en-US" sz="1500" dirty="0">
                <a:solidFill>
                  <a:srgbClr val="D4D4D4"/>
                </a:solidFill>
                <a:latin typeface="Courier New" pitchFamily="34" charset="0"/>
                <a:ea typeface="Courier New" pitchFamily="34" charset="-122"/>
                <a:cs typeface="Courier New" pitchFamily="34" charset="-120"/>
              </a:rPr>
              <a:t>);   would not compile</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A BRIEF NOTE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Type Erasure</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Generic type information is removed at run time</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JVM does not actually know at run time that a list was declared as ArrayList&lt;String&gt;.</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This is why some generic operations are restricted</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For example, creating a generic array directly is not allowed in Java.</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Generics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Using a raw type without any type parameter</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disables type checking entirely and should be avoided in new code.</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Confusing extends and super in wildcards</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extends is for reading, super is for writing; mixing them up causes compile errors.</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MORE FLEXIBILITY</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Multiple Type Parameters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generic class can declare more than one type parameter, separated by commas.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is exactly how Map&lt;K, V&gt; is defined internally.</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Pair&lt;A, B&gt;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 first;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B second;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Pair</a:t>
            </a:r>
            <a:r>
              <a:rPr lang="en-US" sz="1500" dirty="0">
                <a:solidFill>
                  <a:srgbClr val="D4D4D4"/>
                </a:solidFill>
                <a:latin typeface="Courier New" pitchFamily="34" charset="0"/>
                <a:ea typeface="Courier New" pitchFamily="34" charset="-122"/>
                <a:cs typeface="Courier New" pitchFamily="34" charset="-120"/>
              </a:rPr>
              <a:t>(A first, B second)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.first = first;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.second = second;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A Generic Box Class</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One class, reused safely for two completely different types.</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Box&lt;T&gt;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T content;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set</a:t>
            </a:r>
            <a:r>
              <a:rPr lang="en-US" sz="1500" dirty="0">
                <a:solidFill>
                  <a:srgbClr val="D4D4D4"/>
                </a:solidFill>
                <a:latin typeface="Courier New" pitchFamily="34" charset="0"/>
                <a:ea typeface="Courier New" pitchFamily="34" charset="-122"/>
                <a:cs typeface="Courier New" pitchFamily="34" charset="-120"/>
              </a:rPr>
              <a:t>(T content) {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.content = content;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T </a:t>
            </a:r>
            <a:r>
              <a:rPr lang="en-US" sz="1500" dirty="0">
                <a:solidFill>
                  <a:srgbClr val="DCDCAA"/>
                </a:solidFill>
                <a:latin typeface="Courier New" pitchFamily="34" charset="0"/>
                <a:ea typeface="Courier New" pitchFamily="34" charset="-122"/>
                <a:cs typeface="Courier New" pitchFamily="34" charset="-120"/>
              </a:rPr>
              <a:t>get</a:t>
            </a:r>
            <a:r>
              <a:rPr lang="en-US" sz="1500" dirty="0">
                <a:solidFill>
                  <a:srgbClr val="D4D4D4"/>
                </a:solidFill>
                <a:latin typeface="Courier New" pitchFamily="34" charset="0"/>
                <a:ea typeface="Courier New" pitchFamily="34" charset="-122"/>
                <a:cs typeface="Courier New" pitchFamily="34" charset="-120"/>
              </a:rPr>
              <a:t>() {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content;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Main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Box&lt;</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&gt; intBox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Box&lt;&gt;();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intBox.</a:t>
            </a:r>
            <a:r>
              <a:rPr lang="en-US" sz="1500" dirty="0">
                <a:solidFill>
                  <a:srgbClr val="DCDCAA"/>
                </a:solidFill>
                <a:latin typeface="Courier New" pitchFamily="34" charset="0"/>
                <a:ea typeface="Courier New" pitchFamily="34" charset="-122"/>
                <a:cs typeface="Courier New" pitchFamily="34" charset="-120"/>
              </a:rPr>
              <a:t>set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42</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(intBox.</a:t>
            </a:r>
            <a:r>
              <a:rPr lang="en-US" sz="1500" dirty="0">
                <a:solidFill>
                  <a:srgbClr val="DCDCAA"/>
                </a:solidFill>
                <a:latin typeface="Courier New" pitchFamily="34" charset="0"/>
                <a:ea typeface="Courier New" pitchFamily="34" charset="-122"/>
                <a:cs typeface="Courier New" pitchFamily="34" charset="-120"/>
              </a:rPr>
              <a:t>get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42</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8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Lambda Expressions</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Writing small, anonymous blocks of behavior concisely</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Lambda Expression?</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short, anonymous block of code</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lambda expression represents a small piece of behavior that can be passed around like a value.</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Introduced in Java 8</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Lambdas made functional-style programming, including the Stream API covered next, practical in Java.</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SYNTAX</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Lambda Expression Syntax</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general form is: (parameters) -&gt; expression or block.</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Parameter types are usually omitted, since Java can infer them from context.</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i="1" dirty="0">
                <a:solidFill>
                  <a:srgbClr val="6A9955"/>
                </a:solidFill>
                <a:latin typeface="Courier New" pitchFamily="34" charset="0"/>
                <a:ea typeface="Courier New" pitchFamily="34" charset="-122"/>
                <a:cs typeface="Courier New" pitchFamily="34" charset="-120"/>
              </a:rPr>
              <a:t>// A lambda with one parameter</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n -&gt; n * n</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i="1" dirty="0">
                <a:solidFill>
                  <a:srgbClr val="6A9955"/>
                </a:solidFill>
                <a:latin typeface="Courier New" pitchFamily="34" charset="0"/>
                <a:ea typeface="Courier New" pitchFamily="34" charset="-122"/>
                <a:cs typeface="Courier New" pitchFamily="34" charset="-120"/>
              </a:rPr>
              <a:t>// A lambda with two parameters</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 b) -&gt; a + b</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i="1" dirty="0">
                <a:solidFill>
                  <a:srgbClr val="6A9955"/>
                </a:solidFill>
                <a:latin typeface="Courier New" pitchFamily="34" charset="0"/>
                <a:ea typeface="Courier New" pitchFamily="34" charset="-122"/>
                <a:cs typeface="Courier New" pitchFamily="34" charset="-120"/>
              </a:rPr>
              <a:t>// A lambda with a block body</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 b) -&gt;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sum = a + b;</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sum;</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FOUNDATION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Functional Interfaces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An interface with exactly one abstract method</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lambda expression can be used anywhere a functional interface is expected.</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The lambda provides the body for that one method</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is precisely how a lambda was already used earlier, when sorting a list with a Comparator.</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IN 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Using Runnable and Comparator as Lambdas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Runnable is a functional interface with a single run() method.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Both examples below are lambdas providing the body for a functional interface's one method.</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Runnable</a:t>
            </a:r>
            <a:r>
              <a:rPr lang="en-US" sz="1500" dirty="0">
                <a:solidFill>
                  <a:srgbClr val="D4D4D4"/>
                </a:solidFill>
                <a:latin typeface="Courier New" pitchFamily="34" charset="0"/>
                <a:ea typeface="Courier New" pitchFamily="34" charset="-122"/>
                <a:cs typeface="Courier New" pitchFamily="34" charset="-120"/>
              </a:rPr>
              <a:t> task = () -&gt;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"Running!"</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task.</a:t>
            </a:r>
            <a:r>
              <a:rPr lang="en-US" sz="1500" dirty="0">
                <a:solidFill>
                  <a:srgbClr val="DCDCAA"/>
                </a:solidFill>
                <a:latin typeface="Courier New" pitchFamily="34" charset="0"/>
                <a:ea typeface="Courier New" pitchFamily="34" charset="-122"/>
                <a:cs typeface="Courier New" pitchFamily="34" charset="-120"/>
              </a:rPr>
              <a:t>run</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Comparator</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&gt; byLength = (a, b) -&gt; a.</a:t>
            </a:r>
            <a:r>
              <a:rPr lang="en-US" sz="1500" dirty="0">
                <a:solidFill>
                  <a:srgbClr val="DCDCAA"/>
                </a:solidFill>
                <a:latin typeface="Courier New" pitchFamily="34" charset="0"/>
                <a:ea typeface="Courier New" pitchFamily="34" charset="-122"/>
                <a:cs typeface="Courier New" pitchFamily="34" charset="-120"/>
              </a:rPr>
              <a:t>length</a:t>
            </a:r>
            <a:r>
              <a:rPr lang="en-US" sz="1500" dirty="0">
                <a:solidFill>
                  <a:srgbClr val="D4D4D4"/>
                </a:solidFill>
                <a:latin typeface="Courier New" pitchFamily="34" charset="0"/>
                <a:ea typeface="Courier New" pitchFamily="34" charset="-122"/>
                <a:cs typeface="Courier New" pitchFamily="34" charset="-120"/>
              </a:rPr>
              <a:t>() - b.</a:t>
            </a:r>
            <a:r>
              <a:rPr lang="en-US" sz="1500" dirty="0">
                <a:solidFill>
                  <a:srgbClr val="DCDCAA"/>
                </a:solidFill>
                <a:latin typeface="Courier New" pitchFamily="34" charset="0"/>
                <a:ea typeface="Courier New" pitchFamily="34" charset="-122"/>
                <a:cs typeface="Courier New" pitchFamily="34" charset="-120"/>
              </a:rPr>
              <a:t>length</a:t>
            </a: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REFERENCE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Built-in Functional Interfaces</a:t>
            </a:r>
            <a:endParaRPr lang="en-US" sz="27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530352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86868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Interface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Purpose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Predicate&lt;T&gt;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Tests a condition, returns a boolean</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Function&lt;T, R&gt;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Transforms a value of type T into type 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Consumer&lt;T&gt;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Accepts a value and performs an action, returns nothing</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Supplier&lt;T&gt;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Supplies a value, taking no arguments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4"/>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IN 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Predicate, Function, and Consumer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These three interfaces from java.util.function appear constantly throughout the Stream API, covered next.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Each represents a different shape of small, reusable behavior.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java.util.function.</a:t>
            </a:r>
            <a:r>
              <a:rPr lang="en-US" sz="1500" dirty="0">
                <a:solidFill>
                  <a:srgbClr val="4EC9B0"/>
                </a:solidFill>
                <a:latin typeface="Courier New" pitchFamily="34" charset="0"/>
                <a:ea typeface="Courier New" pitchFamily="34" charset="-122"/>
                <a:cs typeface="Courier New" pitchFamily="34" charset="-120"/>
              </a:rPr>
              <a:t>Predicate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java.util.function.</a:t>
            </a:r>
            <a:r>
              <a:rPr lang="en-US" sz="1500" dirty="0">
                <a:solidFill>
                  <a:srgbClr val="4EC9B0"/>
                </a:solidFill>
                <a:latin typeface="Courier New" pitchFamily="34" charset="0"/>
                <a:ea typeface="Courier New" pitchFamily="34" charset="-122"/>
                <a:cs typeface="Courier New" pitchFamily="34" charset="-120"/>
              </a:rPr>
              <a:t>Function</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Predicate</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&gt; isEven = n -&gt; n % </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Function</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&gt; square = n -&gt; n * n;</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(isEven.</a:t>
            </a:r>
            <a:r>
              <a:rPr lang="en-US" sz="1500" dirty="0">
                <a:solidFill>
                  <a:srgbClr val="DCDCAA"/>
                </a:solidFill>
                <a:latin typeface="Courier New" pitchFamily="34" charset="0"/>
                <a:ea typeface="Courier New" pitchFamily="34" charset="-122"/>
                <a:cs typeface="Courier New" pitchFamily="34" charset="-120"/>
              </a:rPr>
              <a:t>test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4</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(square.</a:t>
            </a:r>
            <a:r>
              <a:rPr lang="en-US" sz="1500" dirty="0">
                <a:solidFill>
                  <a:srgbClr val="DCDCAA"/>
                </a:solidFill>
                <a:latin typeface="Courier New" pitchFamily="34" charset="0"/>
                <a:ea typeface="Courier New" pitchFamily="34" charset="-122"/>
                <a:cs typeface="Courier New" pitchFamily="34" charset="-120"/>
              </a:rPr>
              <a:t>apply</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EVEN SHORTER</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Method References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method reference points directly to an existing method, as a shorthand for a simple lambda.</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System.out::println is equivalent to writing x -&gt; System.out.println(x).</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ArrayList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ArrayList</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&gt; names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ArrayList</a:t>
            </a:r>
            <a:r>
              <a:rPr lang="en-US" sz="1500" dirty="0">
                <a:solidFill>
                  <a:srgbClr val="D4D4D4"/>
                </a:solidFill>
                <a:latin typeface="Courier New" pitchFamily="34" charset="0"/>
                <a:ea typeface="Courier New" pitchFamily="34" charset="-122"/>
                <a:cs typeface="Courier New" pitchFamily="34" charset="-120"/>
              </a:rPr>
              <a:t>&lt;&gt;();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names.</a:t>
            </a:r>
            <a:r>
              <a:rPr lang="en-US" sz="1500" dirty="0">
                <a:solidFill>
                  <a:srgbClr val="DCDCAA"/>
                </a:solidFill>
                <a:latin typeface="Courier New" pitchFamily="34" charset="0"/>
                <a:ea typeface="Courier New" pitchFamily="34" charset="-122"/>
                <a:cs typeface="Courier New" pitchFamily="34" charset="-120"/>
              </a:rPr>
              <a:t>add</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names.</a:t>
            </a:r>
            <a:r>
              <a:rPr lang="en-US" sz="1500" dirty="0">
                <a:solidFill>
                  <a:srgbClr val="DCDCAA"/>
                </a:solidFill>
                <a:latin typeface="Courier New" pitchFamily="34" charset="0"/>
                <a:ea typeface="Courier New" pitchFamily="34" charset="-122"/>
                <a:cs typeface="Courier New" pitchFamily="34" charset="-120"/>
              </a:rPr>
              <a:t>forEach</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.out::println);</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WHY IT MATTERS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Why Lambdas Matter</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Removes boilerplate for small behaviors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one-line lambda often replaces an entire separate class that existed only to implement one method.</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Enables the Stream API</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Nearly every Stream operation, covered next, takes a lambda expression as an argument.</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Lambdas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Using a lambda where the target type is ambiguous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lambda's meaning depends entirely on the functional interface it is being assigned to.</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Writing an overly complex lambda body</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If a lambda grows beyond a couple of lines, a named method is often clearer.</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Filtering a List with a Lambda</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Using removeIf, which accepts a Predicate lambda, to filter a list in place.</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ArrayList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FilterDemo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ArrayList</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&gt; nums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ArrayList</a:t>
            </a:r>
            <a:r>
              <a:rPr lang="en-US" sz="1500" dirty="0">
                <a:solidFill>
                  <a:srgbClr val="D4D4D4"/>
                </a:solidFill>
                <a:latin typeface="Courier New" pitchFamily="34" charset="0"/>
                <a:ea typeface="Courier New" pitchFamily="34" charset="-122"/>
                <a:cs typeface="Courier New" pitchFamily="34" charset="-120"/>
              </a:rPr>
              <a:t>&lt;&gt;();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nums.</a:t>
            </a:r>
            <a:r>
              <a:rPr lang="en-US" sz="1500" dirty="0">
                <a:solidFill>
                  <a:srgbClr val="DCDCAA"/>
                </a:solidFill>
                <a:latin typeface="Courier New" pitchFamily="34" charset="0"/>
                <a:ea typeface="Courier New" pitchFamily="34" charset="-122"/>
                <a:cs typeface="Courier New" pitchFamily="34" charset="-120"/>
              </a:rPr>
              <a:t>add</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nums.</a:t>
            </a:r>
            <a:r>
              <a:rPr lang="en-US" sz="1500" dirty="0">
                <a:solidFill>
                  <a:srgbClr val="DCDCAA"/>
                </a:solidFill>
                <a:latin typeface="Courier New" pitchFamily="34" charset="0"/>
                <a:ea typeface="Courier New" pitchFamily="34" charset="-122"/>
                <a:cs typeface="Courier New" pitchFamily="34" charset="-120"/>
              </a:rPr>
              <a:t>add</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nums.</a:t>
            </a:r>
            <a:r>
              <a:rPr lang="en-US" sz="1500" dirty="0">
                <a:solidFill>
                  <a:srgbClr val="DCDCAA"/>
                </a:solidFill>
                <a:latin typeface="Courier New" pitchFamily="34" charset="0"/>
                <a:ea typeface="Courier New" pitchFamily="34" charset="-122"/>
                <a:cs typeface="Courier New" pitchFamily="34" charset="-120"/>
              </a:rPr>
              <a:t>add</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3</a:t>
            </a:r>
            <a:r>
              <a:rPr lang="en-US" sz="1500" dirty="0">
                <a:solidFill>
                  <a:srgbClr val="D4D4D4"/>
                </a:solidFill>
                <a:latin typeface="Courier New" pitchFamily="34" charset="0"/>
                <a:ea typeface="Courier New" pitchFamily="34" charset="-122"/>
                <a:cs typeface="Courier New" pitchFamily="34" charset="-120"/>
              </a:rPr>
              <a:t>); nums.</a:t>
            </a:r>
            <a:r>
              <a:rPr lang="en-US" sz="1500" dirty="0">
                <a:solidFill>
                  <a:srgbClr val="DCDCAA"/>
                </a:solidFill>
                <a:latin typeface="Courier New" pitchFamily="34" charset="0"/>
                <a:ea typeface="Courier New" pitchFamily="34" charset="-122"/>
                <a:cs typeface="Courier New" pitchFamily="34" charset="-120"/>
              </a:rPr>
              <a:t>add</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4</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nums.</a:t>
            </a:r>
            <a:r>
              <a:rPr lang="en-US" sz="1500" dirty="0">
                <a:solidFill>
                  <a:srgbClr val="DCDCAA"/>
                </a:solidFill>
                <a:latin typeface="Courier New" pitchFamily="34" charset="0"/>
                <a:ea typeface="Courier New" pitchFamily="34" charset="-122"/>
                <a:cs typeface="Courier New" pitchFamily="34" charset="-120"/>
              </a:rPr>
              <a:t>removeIf</a:t>
            </a:r>
            <a:r>
              <a:rPr lang="en-US" sz="1500" dirty="0">
                <a:solidFill>
                  <a:srgbClr val="D4D4D4"/>
                </a:solidFill>
                <a:latin typeface="Courier New" pitchFamily="34" charset="0"/>
                <a:ea typeface="Courier New" pitchFamily="34" charset="-122"/>
                <a:cs typeface="Courier New" pitchFamily="34" charset="-120"/>
              </a:rPr>
              <a:t>(n -&gt; n % </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(nums);</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[2, 4]</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9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Stream API</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Processing collections declaratively, one operation at a time</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the Stream API?</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pipeline for processing collections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stream describes a sequence of operations, such as filtering and transforming, applied to data in order.</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Declarative, not imperative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stream describes what result is wanted, rather than the step-by-step loop needed to produce it.</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GETTING STARTED</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Creating a Stream</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stream() creates a Stream from any collection, ready for further operations.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stream is not itself a collection; it represents a sequence of processing steps.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&gt; nums = </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of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3</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4</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var</a:t>
            </a:r>
            <a:r>
              <a:rPr lang="en-US" sz="1500" dirty="0">
                <a:solidFill>
                  <a:srgbClr val="D4D4D4"/>
                </a:solidFill>
                <a:latin typeface="Courier New" pitchFamily="34" charset="0"/>
                <a:ea typeface="Courier New" pitchFamily="34" charset="-122"/>
                <a:cs typeface="Courier New" pitchFamily="34" charset="-120"/>
              </a:rPr>
              <a:t> stream = nums.</a:t>
            </a:r>
            <a:r>
              <a:rPr lang="en-US" sz="1500" dirty="0">
                <a:solidFill>
                  <a:srgbClr val="DCDCAA"/>
                </a:solidFill>
                <a:latin typeface="Courier New" pitchFamily="34" charset="0"/>
                <a:ea typeface="Courier New" pitchFamily="34" charset="-122"/>
                <a:cs typeface="Courier New" pitchFamily="34" charset="-120"/>
              </a:rPr>
              <a:t>stream</a:t>
            </a: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SELECTING AND TRANSFORMING</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filter and map</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filter() keeps only elements matching a condition, expressed as a Predicate lambda.</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map() transforms each element into something else, expressed as a Function lambda.</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&gt; nums = </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of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3</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4</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nums.</a:t>
            </a:r>
            <a:r>
              <a:rPr lang="en-US" sz="1500" dirty="0">
                <a:solidFill>
                  <a:srgbClr val="DCDCAA"/>
                </a:solidFill>
                <a:latin typeface="Courier New" pitchFamily="34" charset="0"/>
                <a:ea typeface="Courier New" pitchFamily="34" charset="-122"/>
                <a:cs typeface="Courier New" pitchFamily="34" charset="-120"/>
              </a:rPr>
              <a:t>stream</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filter</a:t>
            </a:r>
            <a:r>
              <a:rPr lang="en-US" sz="1500" dirty="0">
                <a:solidFill>
                  <a:srgbClr val="D4D4D4"/>
                </a:solidFill>
                <a:latin typeface="Courier New" pitchFamily="34" charset="0"/>
                <a:ea typeface="Courier New" pitchFamily="34" charset="-122"/>
                <a:cs typeface="Courier New" pitchFamily="34" charset="-120"/>
              </a:rPr>
              <a:t>(n -&gt; n % </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map</a:t>
            </a:r>
            <a:r>
              <a:rPr lang="en-US" sz="1500" dirty="0">
                <a:solidFill>
                  <a:srgbClr val="D4D4D4"/>
                </a:solidFill>
                <a:latin typeface="Courier New" pitchFamily="34" charset="0"/>
                <a:ea typeface="Courier New" pitchFamily="34" charset="-122"/>
                <a:cs typeface="Courier New" pitchFamily="34" charset="-120"/>
              </a:rPr>
              <a:t>(n -&gt; n * n)</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forEach</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.out::println);</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ORDERING</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sorted</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sorted() orders the stream's elements, either naturally or using a supplied Comparator.</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original collection is never modified; a stream only describes new processing.</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&gt; names = </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of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"Rahul"</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CE9178"/>
                </a:solidFill>
                <a:latin typeface="Courier New" pitchFamily="34" charset="0"/>
                <a:ea typeface="Courier New" pitchFamily="34" charset="-122"/>
                <a:cs typeface="Courier New" pitchFamily="34" charset="-120"/>
              </a:rPr>
              <a:t>"Meera"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names.</a:t>
            </a:r>
            <a:r>
              <a:rPr lang="en-US" sz="1500" dirty="0">
                <a:solidFill>
                  <a:srgbClr val="DCDCAA"/>
                </a:solidFill>
                <a:latin typeface="Courier New" pitchFamily="34" charset="0"/>
                <a:ea typeface="Courier New" pitchFamily="34" charset="-122"/>
                <a:cs typeface="Courier New" pitchFamily="34" charset="-120"/>
              </a:rPr>
              <a:t>stream</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sorted</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forEach</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.out::println);</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CONSUMING RESULTS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forEach</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forEach() runs a Consumer lambda once for every element remaining in the stream.</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It is typically the final step in a stream pipeline, since it produces no further stream.</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of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CE9178"/>
                </a:solidFill>
                <a:latin typeface="Courier New" pitchFamily="34" charset="0"/>
                <a:ea typeface="Courier New" pitchFamily="34" charset="-122"/>
                <a:cs typeface="Courier New" pitchFamily="34" charset="-120"/>
              </a:rPr>
              <a:t>"b"</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CE9178"/>
                </a:solidFill>
                <a:latin typeface="Courier New" pitchFamily="34" charset="0"/>
                <a:ea typeface="Courier New" pitchFamily="34" charset="-122"/>
                <a:cs typeface="Courier New" pitchFamily="34" charset="-120"/>
              </a:rPr>
              <a:t>"c"</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stream</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forEach</a:t>
            </a:r>
            <a:r>
              <a:rPr lang="en-US" sz="1500" dirty="0">
                <a:solidFill>
                  <a:srgbClr val="D4D4D4"/>
                </a:solidFill>
                <a:latin typeface="Courier New" pitchFamily="34" charset="0"/>
                <a:ea typeface="Courier New" pitchFamily="34" charset="-122"/>
                <a:cs typeface="Courier New" pitchFamily="34" charset="-120"/>
              </a:rPr>
              <a:t>(letter -&gt;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(letter.</a:t>
            </a:r>
            <a:r>
              <a:rPr lang="en-US" sz="1500" dirty="0">
                <a:solidFill>
                  <a:srgbClr val="DCDCAA"/>
                </a:solidFill>
                <a:latin typeface="Courier New" pitchFamily="34" charset="0"/>
                <a:ea typeface="Courier New" pitchFamily="34" charset="-122"/>
                <a:cs typeface="Courier New" pitchFamily="34" charset="-120"/>
              </a:rPr>
              <a:t>toUpperCase</a:t>
            </a: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BUILDING A RESULT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collect and Collectors.toList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collect() gathers the stream's elements back into a concrete collection.</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Collectors.toList() is the most common collector, producing a List from the stream.</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java.util.stream.</a:t>
            </a:r>
            <a:r>
              <a:rPr lang="en-US" sz="1500" dirty="0">
                <a:solidFill>
                  <a:srgbClr val="4EC9B0"/>
                </a:solidFill>
                <a:latin typeface="Courier New" pitchFamily="34" charset="0"/>
                <a:ea typeface="Courier New" pitchFamily="34" charset="-122"/>
                <a:cs typeface="Courier New" pitchFamily="34" charset="-120"/>
              </a:rPr>
              <a:t>Collectors</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&gt; evens = </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of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3</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4</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stream</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filter</a:t>
            </a:r>
            <a:r>
              <a:rPr lang="en-US" sz="1500" dirty="0">
                <a:solidFill>
                  <a:srgbClr val="D4D4D4"/>
                </a:solidFill>
                <a:latin typeface="Courier New" pitchFamily="34" charset="0"/>
                <a:ea typeface="Courier New" pitchFamily="34" charset="-122"/>
                <a:cs typeface="Courier New" pitchFamily="34" charset="-120"/>
              </a:rPr>
              <a:t>(n -&gt; n % </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collect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Collectors</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toList</a:t>
            </a: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SUMMARIZING</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Aggregate Operations: count, min, max</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count() returns how many elements remain in the stream.</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min() and max() find the smallest and largest elements, given a Comparator.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long</a:t>
            </a:r>
            <a:r>
              <a:rPr lang="en-US" sz="1500" dirty="0">
                <a:solidFill>
                  <a:srgbClr val="D4D4D4"/>
                </a:solidFill>
                <a:latin typeface="Courier New" pitchFamily="34" charset="0"/>
                <a:ea typeface="Courier New" pitchFamily="34" charset="-122"/>
                <a:cs typeface="Courier New" pitchFamily="34" charset="-120"/>
              </a:rPr>
              <a:t> total = </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of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3</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4</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stream</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count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largest = </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of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4</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9</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stream</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max</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::compareTo)</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get</a:t>
            </a: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COMBINING VALUES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reduce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reduce() combines every element into a single result, using a supplied combining function.</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is a general-purpose tool that can express many other aggregate operations.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sum = </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of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3</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4</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stream</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reduce</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 (a, b) -&gt; a + b);</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(sum);</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PUTTING IT TOGETHER</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Combining Multiple Operations</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Filtering, transforming, and collecting in a single, readable pipeline.</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List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java.util.stream.</a:t>
            </a:r>
            <a:r>
              <a:rPr lang="en-US" sz="1400" dirty="0">
                <a:solidFill>
                  <a:srgbClr val="4EC9B0"/>
                </a:solidFill>
                <a:latin typeface="Courier New" pitchFamily="34" charset="0"/>
                <a:ea typeface="Courier New" pitchFamily="34" charset="-122"/>
                <a:cs typeface="Courier New" pitchFamily="34" charset="-120"/>
              </a:rPr>
              <a:t>Collectors</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StreamPipeline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List</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Integer</a:t>
            </a:r>
            <a:r>
              <a:rPr lang="en-US" sz="1400" dirty="0">
                <a:solidFill>
                  <a:srgbClr val="D4D4D4"/>
                </a:solidFill>
                <a:latin typeface="Courier New" pitchFamily="34" charset="0"/>
                <a:ea typeface="Courier New" pitchFamily="34" charset="-122"/>
                <a:cs typeface="Courier New" pitchFamily="34" charset="-120"/>
              </a:rPr>
              <a:t>&gt; result = </a:t>
            </a:r>
            <a:r>
              <a:rPr lang="en-US" sz="1400" dirty="0">
                <a:solidFill>
                  <a:srgbClr val="4EC9B0"/>
                </a:solidFill>
                <a:latin typeface="Courier New" pitchFamily="34" charset="0"/>
                <a:ea typeface="Courier New" pitchFamily="34" charset="-122"/>
                <a:cs typeface="Courier New" pitchFamily="34" charset="-120"/>
              </a:rPr>
              <a:t>List</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DCDCAA"/>
                </a:solidFill>
                <a:latin typeface="Courier New" pitchFamily="34" charset="0"/>
                <a:ea typeface="Courier New" pitchFamily="34" charset="-122"/>
                <a:cs typeface="Courier New" pitchFamily="34" charset="-120"/>
              </a:rPr>
              <a:t>of</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B5CEA8"/>
                </a:solidFill>
                <a:latin typeface="Courier New" pitchFamily="34" charset="0"/>
                <a:ea typeface="Courier New" pitchFamily="34" charset="-122"/>
                <a:cs typeface="Courier New" pitchFamily="34" charset="-120"/>
              </a:rPr>
              <a:t>1</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B5CEA8"/>
                </a:solidFill>
                <a:latin typeface="Courier New" pitchFamily="34" charset="0"/>
                <a:ea typeface="Courier New" pitchFamily="34" charset="-122"/>
                <a:cs typeface="Courier New" pitchFamily="34" charset="-120"/>
              </a:rPr>
              <a:t>2</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B5CEA8"/>
                </a:solidFill>
                <a:latin typeface="Courier New" pitchFamily="34" charset="0"/>
                <a:ea typeface="Courier New" pitchFamily="34" charset="-122"/>
                <a:cs typeface="Courier New" pitchFamily="34" charset="-120"/>
              </a:rPr>
              <a:t>3</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B5CEA8"/>
                </a:solidFill>
                <a:latin typeface="Courier New" pitchFamily="34" charset="0"/>
                <a:ea typeface="Courier New" pitchFamily="34" charset="-122"/>
                <a:cs typeface="Courier New" pitchFamily="34" charset="-120"/>
              </a:rPr>
              <a:t>4</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B5CEA8"/>
                </a:solidFill>
                <a:latin typeface="Courier New" pitchFamily="34" charset="0"/>
                <a:ea typeface="Courier New" pitchFamily="34" charset="-122"/>
                <a:cs typeface="Courier New" pitchFamily="34" charset="-120"/>
              </a:rPr>
              <a:t>5</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B5CEA8"/>
                </a:solidFill>
                <a:latin typeface="Courier New" pitchFamily="34" charset="0"/>
                <a:ea typeface="Courier New" pitchFamily="34" charset="-122"/>
                <a:cs typeface="Courier New" pitchFamily="34" charset="-120"/>
              </a:rPr>
              <a:t>6</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stream</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filter</a:t>
            </a:r>
            <a:r>
              <a:rPr lang="en-US" sz="1400" dirty="0">
                <a:solidFill>
                  <a:srgbClr val="D4D4D4"/>
                </a:solidFill>
                <a:latin typeface="Courier New" pitchFamily="34" charset="0"/>
                <a:ea typeface="Courier New" pitchFamily="34" charset="-122"/>
                <a:cs typeface="Courier New" pitchFamily="34" charset="-120"/>
              </a:rPr>
              <a:t>(n -&gt; n % </a:t>
            </a:r>
            <a:r>
              <a:rPr lang="en-US" sz="1400" dirty="0">
                <a:solidFill>
                  <a:srgbClr val="B5CEA8"/>
                </a:solidFill>
                <a:latin typeface="Courier New" pitchFamily="34" charset="0"/>
                <a:ea typeface="Courier New" pitchFamily="34" charset="-122"/>
                <a:cs typeface="Courier New" pitchFamily="34" charset="-120"/>
              </a:rPr>
              <a:t>2</a:t>
            </a:r>
            <a:r>
              <a:rPr lang="en-US" sz="1400" dirty="0">
                <a:solidFill>
                  <a:srgbClr val="D4D4D4"/>
                </a:solidFill>
                <a:latin typeface="Courier New" pitchFamily="34" charset="0"/>
                <a:ea typeface="Courier New" pitchFamily="34" charset="-122"/>
                <a:cs typeface="Courier New" pitchFamily="34" charset="-120"/>
              </a:rPr>
              <a:t> == </a:t>
            </a:r>
            <a:r>
              <a:rPr lang="en-US" sz="1400" dirty="0">
                <a:solidFill>
                  <a:srgbClr val="B5CEA8"/>
                </a:solidFill>
                <a:latin typeface="Courier New" pitchFamily="34" charset="0"/>
                <a:ea typeface="Courier New" pitchFamily="34" charset="-122"/>
                <a:cs typeface="Courier New" pitchFamily="34" charset="-120"/>
              </a:rPr>
              <a:t>0</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map</a:t>
            </a:r>
            <a:r>
              <a:rPr lang="en-US" sz="1400" dirty="0">
                <a:solidFill>
                  <a:srgbClr val="D4D4D4"/>
                </a:solidFill>
                <a:latin typeface="Courier New" pitchFamily="34" charset="0"/>
                <a:ea typeface="Courier New" pitchFamily="34" charset="-122"/>
                <a:cs typeface="Courier New" pitchFamily="34" charset="-120"/>
              </a:rPr>
              <a:t>(n -&gt; n * </a:t>
            </a:r>
            <a:r>
              <a:rPr lang="en-US" sz="1400" dirty="0">
                <a:solidFill>
                  <a:srgbClr val="B5CEA8"/>
                </a:solidFill>
                <a:latin typeface="Courier New" pitchFamily="34" charset="0"/>
                <a:ea typeface="Courier New" pitchFamily="34" charset="-122"/>
                <a:cs typeface="Courier New" pitchFamily="34" charset="-120"/>
              </a:rPr>
              <a:t>10</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collect</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Collectors</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DCDCAA"/>
                </a:solidFill>
                <a:latin typeface="Courier New" pitchFamily="34" charset="0"/>
                <a:ea typeface="Courier New" pitchFamily="34" charset="-122"/>
                <a:cs typeface="Courier New" pitchFamily="34" charset="-120"/>
              </a:rPr>
              <a:t>toList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(result);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[20, 40, 60]</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THE BIGGER PICTURE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Streams and Collections Working Together</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Streams read from collections, and collect back into them</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Collections Framework covered earlier in this session and the Stream API are designed to work hand in hand.</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stream itself cannot be reused</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Once a stream's operations have run, a new stream must be created to process the data again.</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Streams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Trying to reuse a stream after it has already been consumed</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throws an IllegalStateException; a fresh stream must be created instead.</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Using a stream when a simple loop would be clearer</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Streams shine for multi-step transformations, not necessarily for every single loop in a program.</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Processing a List of Students</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Filtering students who passed, then collecting their names.</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java.util.stream.</a:t>
            </a:r>
            <a:r>
              <a:rPr lang="en-US" sz="1500" dirty="0">
                <a:solidFill>
                  <a:srgbClr val="4EC9B0"/>
                </a:solidFill>
                <a:latin typeface="Courier New" pitchFamily="34" charset="0"/>
                <a:ea typeface="Courier New" pitchFamily="34" charset="-122"/>
                <a:cs typeface="Courier New" pitchFamily="34" charset="-120"/>
              </a:rPr>
              <a:t>Collectors</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&gt; passed = </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of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"Asha:90"</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CE9178"/>
                </a:solidFill>
                <a:latin typeface="Courier New" pitchFamily="34" charset="0"/>
                <a:ea typeface="Courier New" pitchFamily="34" charset="-122"/>
                <a:cs typeface="Courier New" pitchFamily="34" charset="-120"/>
              </a:rPr>
              <a:t>"Rahul:35"</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CE9178"/>
                </a:solidFill>
                <a:latin typeface="Courier New" pitchFamily="34" charset="0"/>
                <a:ea typeface="Courier New" pitchFamily="34" charset="-122"/>
                <a:cs typeface="Courier New" pitchFamily="34" charset="-120"/>
              </a:rPr>
              <a:t>"Meera:78"</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stream</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filter</a:t>
            </a:r>
            <a:r>
              <a:rPr lang="en-US" sz="1500" dirty="0">
                <a:solidFill>
                  <a:srgbClr val="D4D4D4"/>
                </a:solidFill>
                <a:latin typeface="Courier New" pitchFamily="34" charset="0"/>
                <a:ea typeface="Courier New" pitchFamily="34" charset="-122"/>
                <a:cs typeface="Courier New" pitchFamily="34" charset="-120"/>
              </a:rPr>
              <a:t>(s -&gt; </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parseInt</a:t>
            </a:r>
            <a:r>
              <a:rPr lang="en-US" sz="1500" dirty="0">
                <a:solidFill>
                  <a:srgbClr val="D4D4D4"/>
                </a:solidFill>
                <a:latin typeface="Courier New" pitchFamily="34" charset="0"/>
                <a:ea typeface="Courier New" pitchFamily="34" charset="-122"/>
                <a:cs typeface="Courier New" pitchFamily="34" charset="-120"/>
              </a:rPr>
              <a:t>(s.</a:t>
            </a:r>
            <a:r>
              <a:rPr lang="en-US" sz="1500" dirty="0">
                <a:solidFill>
                  <a:srgbClr val="DCDCAA"/>
                </a:solidFill>
                <a:latin typeface="Courier New" pitchFamily="34" charset="0"/>
                <a:ea typeface="Courier New" pitchFamily="34" charset="-122"/>
                <a:cs typeface="Courier New" pitchFamily="34" charset="-120"/>
              </a:rPr>
              <a:t>split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&gt;= </a:t>
            </a:r>
            <a:r>
              <a:rPr lang="en-US" sz="1500" dirty="0">
                <a:solidFill>
                  <a:srgbClr val="B5CEA8"/>
                </a:solidFill>
                <a:latin typeface="Courier New" pitchFamily="34" charset="0"/>
                <a:ea typeface="Courier New" pitchFamily="34" charset="-122"/>
                <a:cs typeface="Courier New" pitchFamily="34" charset="-120"/>
              </a:rPr>
              <a:t>40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map</a:t>
            </a:r>
            <a:r>
              <a:rPr lang="en-US" sz="1500" dirty="0">
                <a:solidFill>
                  <a:srgbClr val="D4D4D4"/>
                </a:solidFill>
                <a:latin typeface="Courier New" pitchFamily="34" charset="0"/>
                <a:ea typeface="Courier New" pitchFamily="34" charset="-122"/>
                <a:cs typeface="Courier New" pitchFamily="34" charset="-120"/>
              </a:rPr>
              <a:t>(s -&gt; s.</a:t>
            </a:r>
            <a:r>
              <a:rPr lang="en-US" sz="1500" dirty="0">
                <a:solidFill>
                  <a:srgbClr val="DCDCAA"/>
                </a:solidFill>
                <a:latin typeface="Courier New" pitchFamily="34" charset="0"/>
                <a:ea typeface="Courier New" pitchFamily="34" charset="-122"/>
                <a:cs typeface="Courier New" pitchFamily="34" charset="-120"/>
              </a:rPr>
              <a:t>split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collect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Collectors</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toList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(passed);</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[Asha, Meera]</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10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Optional</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Handling possibly missing values without a NullPointerException</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THE PROBLEM</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NullPointerException</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One of the most common runtime errors in Java</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It occurs when a method or field is accessed on a reference that is null.</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Often caused by a value that might legitimately be missing</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search that finds nothing, for example, has no natural non-null result to return.</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Optional?</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container that may or may not hold a value</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Optional makes the possibility of a missing value explicit in a method's return type.</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Encourages handling the missing case deliberately</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Code using an Optional is nudged toward checking for a value before using it.</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CREATING ONE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Creating an Optional</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Optional.of() wraps a known non-null value.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Optional.empty() represents the deliberate absence of a value.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Optional</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Optional</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&gt; present = </a:t>
            </a:r>
            <a:r>
              <a:rPr lang="en-US" sz="1500" dirty="0">
                <a:solidFill>
                  <a:srgbClr val="4EC9B0"/>
                </a:solidFill>
                <a:latin typeface="Courier New" pitchFamily="34" charset="0"/>
                <a:ea typeface="Courier New" pitchFamily="34" charset="-122"/>
                <a:cs typeface="Courier New" pitchFamily="34" charset="-120"/>
              </a:rPr>
              <a:t>Optional</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of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Optional</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&gt; absent = </a:t>
            </a:r>
            <a:r>
              <a:rPr lang="en-US" sz="1500" dirty="0">
                <a:solidFill>
                  <a:srgbClr val="4EC9B0"/>
                </a:solidFill>
                <a:latin typeface="Courier New" pitchFamily="34" charset="0"/>
                <a:ea typeface="Courier New" pitchFamily="34" charset="-122"/>
                <a:cs typeface="Courier New" pitchFamily="34" charset="-120"/>
              </a:rPr>
              <a:t>Optional</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empty</a:t>
            </a: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CHECKING FIRST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Checking and Retrieving a Value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isPresent() checks whether a value exists before attempting to read it.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get() retrieves the value, but throws an exception if called on an empty Optional.</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Optional</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&gt; name = </a:t>
            </a:r>
            <a:r>
              <a:rPr lang="en-US" sz="1500" dirty="0">
                <a:solidFill>
                  <a:srgbClr val="4EC9B0"/>
                </a:solidFill>
                <a:latin typeface="Courier New" pitchFamily="34" charset="0"/>
                <a:ea typeface="Courier New" pitchFamily="34" charset="-122"/>
                <a:cs typeface="Courier New" pitchFamily="34" charset="-120"/>
              </a:rPr>
              <a:t>Optional</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of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if</a:t>
            </a:r>
            <a:r>
              <a:rPr lang="en-US" sz="1500" dirty="0">
                <a:solidFill>
                  <a:srgbClr val="D4D4D4"/>
                </a:solidFill>
                <a:latin typeface="Courier New" pitchFamily="34" charset="0"/>
                <a:ea typeface="Courier New" pitchFamily="34" charset="-122"/>
                <a:cs typeface="Courier New" pitchFamily="34" charset="-120"/>
              </a:rPr>
              <a:t> (name.</a:t>
            </a:r>
            <a:r>
              <a:rPr lang="en-US" sz="1500" dirty="0">
                <a:solidFill>
                  <a:srgbClr val="DCDCAA"/>
                </a:solidFill>
                <a:latin typeface="Courier New" pitchFamily="34" charset="0"/>
                <a:ea typeface="Courier New" pitchFamily="34" charset="-122"/>
                <a:cs typeface="Courier New" pitchFamily="34" charset="-120"/>
              </a:rPr>
              <a:t>isPresent</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(name.</a:t>
            </a:r>
            <a:r>
              <a:rPr lang="en-US" sz="1500" dirty="0">
                <a:solidFill>
                  <a:srgbClr val="DCDCAA"/>
                </a:solidFill>
                <a:latin typeface="Courier New" pitchFamily="34" charset="0"/>
                <a:ea typeface="Courier New" pitchFamily="34" charset="-122"/>
                <a:cs typeface="Courier New" pitchFamily="34" charset="-120"/>
              </a:rPr>
              <a:t>get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SAFE DEFAULTS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orElse and orElseGet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orElse() provides a fallback value to use if the Optional is empty.</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avoids writing an explicit if statement for the common case of a simple default.</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Optional</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&gt; name = </a:t>
            </a:r>
            <a:r>
              <a:rPr lang="en-US" sz="1500" dirty="0">
                <a:solidFill>
                  <a:srgbClr val="4EC9B0"/>
                </a:solidFill>
                <a:latin typeface="Courier New" pitchFamily="34" charset="0"/>
                <a:ea typeface="Courier New" pitchFamily="34" charset="-122"/>
                <a:cs typeface="Courier New" pitchFamily="34" charset="-120"/>
              </a:rPr>
              <a:t>Optional</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empty</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result = name.</a:t>
            </a:r>
            <a:r>
              <a:rPr lang="en-US" sz="1500" dirty="0">
                <a:solidFill>
                  <a:srgbClr val="DCDCAA"/>
                </a:solidFill>
                <a:latin typeface="Courier New" pitchFamily="34" charset="0"/>
                <a:ea typeface="Courier New" pitchFamily="34" charset="-122"/>
                <a:cs typeface="Courier New" pitchFamily="34" charset="-120"/>
              </a:rPr>
              <a:t>orElse</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"Unknown"</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(result);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A CLEANER STYLE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Using ifPresent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ifPresent() runs a Consumer lambda only if a value is actually present.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avoids an explicit isPresent check followed by a separate get call.</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dirty="0">
                <a:solidFill>
                  <a:srgbClr val="4EC9B0"/>
                </a:solidFill>
                <a:latin typeface="Courier New" pitchFamily="34" charset="0"/>
                <a:ea typeface="Courier New" pitchFamily="34" charset="-122"/>
                <a:cs typeface="Courier New" pitchFamily="34" charset="-120"/>
              </a:rPr>
              <a:t>Optional</a:t>
            </a:r>
            <a:r>
              <a:rPr lang="en-US" sz="1500" dirty="0">
                <a:solidFill>
                  <a:srgbClr val="D4D4D4"/>
                </a:solidFill>
                <a:latin typeface="Courier New" pitchFamily="34" charset="0"/>
                <a:ea typeface="Courier New" pitchFamily="34" charset="-122"/>
                <a:cs typeface="Courier New" pitchFamily="34" charset="-120"/>
              </a:rPr>
              <a:t>&lt;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&gt; name = </a:t>
            </a:r>
            <a:r>
              <a:rPr lang="en-US" sz="1500" dirty="0">
                <a:solidFill>
                  <a:srgbClr val="4EC9B0"/>
                </a:solidFill>
                <a:latin typeface="Courier New" pitchFamily="34" charset="0"/>
                <a:ea typeface="Courier New" pitchFamily="34" charset="-122"/>
                <a:cs typeface="Courier New" pitchFamily="34" charset="-120"/>
              </a:rPr>
              <a:t>Optional</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of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name.</a:t>
            </a:r>
            <a:r>
              <a:rPr lang="en-US" sz="1500" dirty="0">
                <a:solidFill>
                  <a:srgbClr val="DCDCAA"/>
                </a:solidFill>
                <a:latin typeface="Courier New" pitchFamily="34" charset="0"/>
                <a:ea typeface="Courier New" pitchFamily="34" charset="-122"/>
                <a:cs typeface="Courier New" pitchFamily="34" charset="-120"/>
              </a:rPr>
              <a:t>ifPresent</a:t>
            </a:r>
            <a:r>
              <a:rPr lang="en-US" sz="1500" dirty="0">
                <a:solidFill>
                  <a:srgbClr val="D4D4D4"/>
                </a:solidFill>
                <a:latin typeface="Courier New" pitchFamily="34" charset="0"/>
                <a:ea typeface="Courier New" pitchFamily="34" charset="-122"/>
                <a:cs typeface="Courier New" pitchFamily="34" charset="-120"/>
              </a:rPr>
              <a:t>(n -&gt;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"Found: "</a:t>
            </a:r>
            <a:r>
              <a:rPr lang="en-US" sz="1500" dirty="0">
                <a:solidFill>
                  <a:srgbClr val="D4D4D4"/>
                </a:solidFill>
                <a:latin typeface="Courier New" pitchFamily="34" charset="0"/>
                <a:ea typeface="Courier New" pitchFamily="34" charset="-122"/>
                <a:cs typeface="Courier New" pitchFamily="34" charset="-120"/>
              </a:rPr>
              <a:t> + n));</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WORKING TOGETHER</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Optional with Streams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Several stream operations, such as max() seen earlier, already return an Optional.</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makes the possibility of an empty stream explicit in the return type.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java.util.</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var</a:t>
            </a:r>
            <a:r>
              <a:rPr lang="en-US" sz="1500" dirty="0">
                <a:solidFill>
                  <a:srgbClr val="D4D4D4"/>
                </a:solidFill>
                <a:latin typeface="Courier New" pitchFamily="34" charset="0"/>
                <a:ea typeface="Courier New" pitchFamily="34" charset="-122"/>
                <a:cs typeface="Courier New" pitchFamily="34" charset="-120"/>
              </a:rPr>
              <a:t> maxValue = </a:t>
            </a:r>
            <a:r>
              <a:rPr lang="en-US" sz="1500" dirty="0">
                <a:solidFill>
                  <a:srgbClr val="4EC9B0"/>
                </a:solidFill>
                <a:latin typeface="Courier New" pitchFamily="34" charset="0"/>
                <a:ea typeface="Courier New" pitchFamily="34" charset="-122"/>
                <a:cs typeface="Courier New" pitchFamily="34" charset="-120"/>
              </a:rPr>
              <a:t>List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of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4</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9</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stream</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max</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Integer</a:t>
            </a:r>
            <a:r>
              <a:rPr lang="en-US" sz="1500" dirty="0">
                <a:solidFill>
                  <a:srgbClr val="D4D4D4"/>
                </a:solidFill>
                <a:latin typeface="Courier New" pitchFamily="34" charset="0"/>
                <a:ea typeface="Courier New" pitchFamily="34" charset="-122"/>
                <a:cs typeface="Courier New" pitchFamily="34" charset="-120"/>
              </a:rPr>
              <a:t>::compareTo);</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maxValue.</a:t>
            </a:r>
            <a:r>
              <a:rPr lang="en-US" sz="1500" dirty="0">
                <a:solidFill>
                  <a:srgbClr val="DCDCAA"/>
                </a:solidFill>
                <a:latin typeface="Courier New" pitchFamily="34" charset="0"/>
                <a:ea typeface="Courier New" pitchFamily="34" charset="-122"/>
                <a:cs typeface="Courier New" pitchFamily="34" charset="-120"/>
              </a:rPr>
              <a:t>ifPresent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.out::println);</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Optional</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Calling get() without checking isPresent() first</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defeats the entire purpose of Optional, and can still throw an exception.</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Using Optional for every field or parameter</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Optional is intended mainly for return types, not as a general replacement for null everywhere.</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GUIDANCE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Optional Best Practices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Prefer orElse, orElseGet, or ifPresent over get()</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These methods handle the missing case safely, without risking an exception.</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Use Optional as a return type, not a field type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keeps its purpose focused on signaling a possibly missing result.</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Safely Finding a User by ID</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A lookup method that returns Optional instead of risking a null result.</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List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Optional</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UserLookup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Optional</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&gt; </a:t>
            </a:r>
            <a:r>
              <a:rPr lang="en-US" sz="1400" dirty="0">
                <a:solidFill>
                  <a:srgbClr val="DCDCAA"/>
                </a:solidFill>
                <a:latin typeface="Courier New" pitchFamily="34" charset="0"/>
                <a:ea typeface="Courier New" pitchFamily="34" charset="-122"/>
                <a:cs typeface="Courier New" pitchFamily="34" charset="-120"/>
              </a:rPr>
              <a:t>findUser</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List</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&gt; users, </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id)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return</a:t>
            </a:r>
            <a:r>
              <a:rPr lang="en-US" sz="1400" dirty="0">
                <a:solidFill>
                  <a:srgbClr val="D4D4D4"/>
                </a:solidFill>
                <a:latin typeface="Courier New" pitchFamily="34" charset="0"/>
                <a:ea typeface="Courier New" pitchFamily="34" charset="-122"/>
                <a:cs typeface="Courier New" pitchFamily="34" charset="-120"/>
              </a:rPr>
              <a:t> users.</a:t>
            </a:r>
            <a:r>
              <a:rPr lang="en-US" sz="1400" dirty="0">
                <a:solidFill>
                  <a:srgbClr val="DCDCAA"/>
                </a:solidFill>
                <a:latin typeface="Courier New" pitchFamily="34" charset="0"/>
                <a:ea typeface="Courier New" pitchFamily="34" charset="-122"/>
                <a:cs typeface="Courier New" pitchFamily="34" charset="-120"/>
              </a:rPr>
              <a:t>stream</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DCDCAA"/>
                </a:solidFill>
                <a:latin typeface="Courier New" pitchFamily="34" charset="0"/>
                <a:ea typeface="Courier New" pitchFamily="34" charset="-122"/>
                <a:cs typeface="Courier New" pitchFamily="34" charset="-120"/>
              </a:rPr>
              <a:t>filter</a:t>
            </a:r>
            <a:r>
              <a:rPr lang="en-US" sz="1400" dirty="0">
                <a:solidFill>
                  <a:srgbClr val="D4D4D4"/>
                </a:solidFill>
                <a:latin typeface="Courier New" pitchFamily="34" charset="0"/>
                <a:ea typeface="Courier New" pitchFamily="34" charset="-122"/>
                <a:cs typeface="Courier New" pitchFamily="34" charset="-120"/>
              </a:rPr>
              <a:t>(u -&gt; u.</a:t>
            </a:r>
            <a:r>
              <a:rPr lang="en-US" sz="1400" dirty="0">
                <a:solidFill>
                  <a:srgbClr val="DCDCAA"/>
                </a:solidFill>
                <a:latin typeface="Courier New" pitchFamily="34" charset="0"/>
                <a:ea typeface="Courier New" pitchFamily="34" charset="-122"/>
                <a:cs typeface="Courier New" pitchFamily="34" charset="-120"/>
              </a:rPr>
              <a:t>equals</a:t>
            </a:r>
            <a:r>
              <a:rPr lang="en-US" sz="1400" dirty="0">
                <a:solidFill>
                  <a:srgbClr val="D4D4D4"/>
                </a:solidFill>
                <a:latin typeface="Courier New" pitchFamily="34" charset="0"/>
                <a:ea typeface="Courier New" pitchFamily="34" charset="-122"/>
                <a:cs typeface="Courier New" pitchFamily="34" charset="-120"/>
              </a:rPr>
              <a:t>(id)).</a:t>
            </a:r>
            <a:r>
              <a:rPr lang="en-US" sz="1400" dirty="0">
                <a:solidFill>
                  <a:srgbClr val="DCDCAA"/>
                </a:solidFill>
                <a:latin typeface="Courier New" pitchFamily="34" charset="0"/>
                <a:ea typeface="Courier New" pitchFamily="34" charset="-122"/>
                <a:cs typeface="Courier New" pitchFamily="34" charset="-120"/>
              </a:rPr>
              <a:t>findFirst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List</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&gt; users = </a:t>
            </a:r>
            <a:r>
              <a:rPr lang="en-US" sz="1400" dirty="0">
                <a:solidFill>
                  <a:srgbClr val="4EC9B0"/>
                </a:solidFill>
                <a:latin typeface="Courier New" pitchFamily="34" charset="0"/>
                <a:ea typeface="Courier New" pitchFamily="34" charset="-122"/>
                <a:cs typeface="Courier New" pitchFamily="34" charset="-120"/>
              </a:rPr>
              <a:t>List</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DCDCAA"/>
                </a:solidFill>
                <a:latin typeface="Courier New" pitchFamily="34" charset="0"/>
                <a:ea typeface="Courier New" pitchFamily="34" charset="-122"/>
                <a:cs typeface="Courier New" pitchFamily="34" charset="-120"/>
              </a:rPr>
              <a:t>of</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"u1"</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CE9178"/>
                </a:solidFill>
                <a:latin typeface="Courier New" pitchFamily="34" charset="0"/>
                <a:ea typeface="Courier New" pitchFamily="34" charset="-122"/>
                <a:cs typeface="Courier New" pitchFamily="34" charset="-120"/>
              </a:rPr>
              <a:t>"u2"</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Optional</a:t>
            </a:r>
            <a:r>
              <a:rPr lang="en-US" sz="1400" dirty="0">
                <a:solidFill>
                  <a:srgbClr val="D4D4D4"/>
                </a:solidFill>
                <a:latin typeface="Courier New" pitchFamily="34" charset="0"/>
                <a:ea typeface="Courier New" pitchFamily="34" charset="-122"/>
                <a:cs typeface="Courier New" pitchFamily="34" charset="-120"/>
              </a:rPr>
              <a:t>&lt;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&gt; result = </a:t>
            </a:r>
            <a:r>
              <a:rPr lang="en-US" sz="1400" dirty="0">
                <a:solidFill>
                  <a:srgbClr val="DCDCAA"/>
                </a:solidFill>
                <a:latin typeface="Courier New" pitchFamily="34" charset="0"/>
                <a:ea typeface="Courier New" pitchFamily="34" charset="-122"/>
                <a:cs typeface="Courier New" pitchFamily="34" charset="-120"/>
              </a:rPr>
              <a:t>findUser</a:t>
            </a:r>
            <a:r>
              <a:rPr lang="en-US" sz="1400" dirty="0">
                <a:solidFill>
                  <a:srgbClr val="D4D4D4"/>
                </a:solidFill>
                <a:latin typeface="Courier New" pitchFamily="34" charset="0"/>
                <a:ea typeface="Courier New" pitchFamily="34" charset="-122"/>
                <a:cs typeface="Courier New" pitchFamily="34" charset="-120"/>
              </a:rPr>
              <a:t>(users, </a:t>
            </a:r>
            <a:r>
              <a:rPr lang="en-US" sz="1400" dirty="0">
                <a:solidFill>
                  <a:srgbClr val="CE9178"/>
                </a:solidFill>
                <a:latin typeface="Courier New" pitchFamily="34" charset="0"/>
                <a:ea typeface="Courier New" pitchFamily="34" charset="-122"/>
                <a:cs typeface="Courier New" pitchFamily="34" charset="-120"/>
              </a:rPr>
              <a:t>"u3"</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(result.</a:t>
            </a:r>
            <a:r>
              <a:rPr lang="en-US" sz="1400" dirty="0">
                <a:solidFill>
                  <a:srgbClr val="DCDCAA"/>
                </a:solidFill>
                <a:latin typeface="Courier New" pitchFamily="34" charset="0"/>
                <a:ea typeface="Courier New" pitchFamily="34" charset="-122"/>
                <a:cs typeface="Courier New" pitchFamily="34" charset="-120"/>
              </a:rPr>
              <a:t>orElse</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"Not found"</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Not found</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MODULE OUTCOME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You Will Be Able To Do</a:t>
            </a:r>
            <a:endParaRPr lang="en-US" sz="2700" dirty="0"/>
          </a:p>
        </p:txBody>
      </p:sp>
      <p:sp>
        <p:nvSpPr>
          <p:cNvPr id="4" name="Shape 2"/>
          <p:cNvSpPr/>
          <p:nvPr/>
        </p:nvSpPr>
        <p:spPr>
          <a:xfrm>
            <a:off x="594360" y="1554480"/>
            <a:ext cx="10607040" cy="448056"/>
          </a:xfrm>
          <a:prstGeom prst="roundRect">
            <a:avLst>
              <a:gd name="adj" fmla="val 12245"/>
            </a:avLst>
          </a:prstGeom>
          <a:solidFill>
            <a:srgbClr val="F5F6FA"/>
          </a:solidFill>
          <a:ln w="9525">
            <a:solidFill>
              <a:srgbClr val="E4E7EE"/>
            </a:solidFill>
            <a:prstDash val="solid"/>
          </a:ln>
        </p:spPr>
      </p:sp>
      <p:sp>
        <p:nvSpPr>
          <p:cNvPr id="5" name="Text 3"/>
          <p:cNvSpPr/>
          <p:nvPr/>
        </p:nvSpPr>
        <p:spPr>
          <a:xfrm>
            <a:off x="777240" y="1554480"/>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1.</a:t>
            </a:r>
            <a:endParaRPr lang="en-US" sz="1500" dirty="0"/>
          </a:p>
        </p:txBody>
      </p:sp>
      <p:sp>
        <p:nvSpPr>
          <p:cNvPr id="6" name="Text 4"/>
          <p:cNvSpPr/>
          <p:nvPr/>
        </p:nvSpPr>
        <p:spPr>
          <a:xfrm>
            <a:off x="1234440" y="1554480"/>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Chosen and used the right List, Set, or Map implementation for a given problem</a:t>
            </a:r>
            <a:endParaRPr lang="en-US" sz="1400" dirty="0"/>
          </a:p>
        </p:txBody>
      </p:sp>
      <p:sp>
        <p:nvSpPr>
          <p:cNvPr id="7" name="Shape 5"/>
          <p:cNvSpPr/>
          <p:nvPr/>
        </p:nvSpPr>
        <p:spPr>
          <a:xfrm>
            <a:off x="594360" y="2130552"/>
            <a:ext cx="10607040" cy="448056"/>
          </a:xfrm>
          <a:prstGeom prst="roundRect">
            <a:avLst>
              <a:gd name="adj" fmla="val 12245"/>
            </a:avLst>
          </a:prstGeom>
          <a:solidFill>
            <a:srgbClr val="F5F6FA"/>
          </a:solidFill>
          <a:ln w="9525">
            <a:solidFill>
              <a:srgbClr val="E4E7EE"/>
            </a:solidFill>
            <a:prstDash val="solid"/>
          </a:ln>
        </p:spPr>
      </p:sp>
      <p:sp>
        <p:nvSpPr>
          <p:cNvPr id="8" name="Text 6"/>
          <p:cNvSpPr/>
          <p:nvPr/>
        </p:nvSpPr>
        <p:spPr>
          <a:xfrm>
            <a:off x="777240" y="2130552"/>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2.</a:t>
            </a:r>
            <a:endParaRPr lang="en-US" sz="1500" dirty="0"/>
          </a:p>
        </p:txBody>
      </p:sp>
      <p:sp>
        <p:nvSpPr>
          <p:cNvPr id="9" name="Text 7"/>
          <p:cNvSpPr/>
          <p:nvPr/>
        </p:nvSpPr>
        <p:spPr>
          <a:xfrm>
            <a:off x="1234440" y="2130552"/>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Used Queue and Stack implementations to model ordered and last-in-first-out data</a:t>
            </a:r>
            <a:endParaRPr lang="en-US" sz="1400" dirty="0"/>
          </a:p>
        </p:txBody>
      </p:sp>
      <p:sp>
        <p:nvSpPr>
          <p:cNvPr id="10" name="Shape 8"/>
          <p:cNvSpPr/>
          <p:nvPr/>
        </p:nvSpPr>
        <p:spPr>
          <a:xfrm>
            <a:off x="594360" y="2706624"/>
            <a:ext cx="10607040" cy="448056"/>
          </a:xfrm>
          <a:prstGeom prst="roundRect">
            <a:avLst>
              <a:gd name="adj" fmla="val 12245"/>
            </a:avLst>
          </a:prstGeom>
          <a:solidFill>
            <a:srgbClr val="F5F6FA"/>
          </a:solidFill>
          <a:ln w="9525">
            <a:solidFill>
              <a:srgbClr val="E4E7EE"/>
            </a:solidFill>
            <a:prstDash val="solid"/>
          </a:ln>
        </p:spPr>
      </p:sp>
      <p:sp>
        <p:nvSpPr>
          <p:cNvPr id="11" name="Text 9"/>
          <p:cNvSpPr/>
          <p:nvPr/>
        </p:nvSpPr>
        <p:spPr>
          <a:xfrm>
            <a:off x="777240" y="2706624"/>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3.</a:t>
            </a:r>
            <a:endParaRPr lang="en-US" sz="1500" dirty="0"/>
          </a:p>
        </p:txBody>
      </p:sp>
      <p:sp>
        <p:nvSpPr>
          <p:cNvPr id="12" name="Text 10"/>
          <p:cNvSpPr/>
          <p:nvPr/>
        </p:nvSpPr>
        <p:spPr>
          <a:xfrm>
            <a:off x="1234440" y="2706624"/>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Traversed and safely modified a collection using an Iterator</a:t>
            </a:r>
            <a:endParaRPr lang="en-US" sz="1400" dirty="0"/>
          </a:p>
        </p:txBody>
      </p:sp>
      <p:sp>
        <p:nvSpPr>
          <p:cNvPr id="13" name="Shape 11"/>
          <p:cNvSpPr/>
          <p:nvPr/>
        </p:nvSpPr>
        <p:spPr>
          <a:xfrm>
            <a:off x="594360" y="3282696"/>
            <a:ext cx="10607040" cy="448056"/>
          </a:xfrm>
          <a:prstGeom prst="roundRect">
            <a:avLst>
              <a:gd name="adj" fmla="val 12245"/>
            </a:avLst>
          </a:prstGeom>
          <a:solidFill>
            <a:srgbClr val="F5F6FA"/>
          </a:solidFill>
          <a:ln w="9525">
            <a:solidFill>
              <a:srgbClr val="E4E7EE"/>
            </a:solidFill>
            <a:prstDash val="solid"/>
          </a:ln>
        </p:spPr>
      </p:sp>
      <p:sp>
        <p:nvSpPr>
          <p:cNvPr id="14" name="Text 12"/>
          <p:cNvSpPr/>
          <p:nvPr/>
        </p:nvSpPr>
        <p:spPr>
          <a:xfrm>
            <a:off x="777240" y="3282696"/>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4.</a:t>
            </a:r>
            <a:endParaRPr lang="en-US" sz="1500" dirty="0"/>
          </a:p>
        </p:txBody>
      </p:sp>
      <p:sp>
        <p:nvSpPr>
          <p:cNvPr id="15" name="Text 13"/>
          <p:cNvSpPr/>
          <p:nvPr/>
        </p:nvSpPr>
        <p:spPr>
          <a:xfrm>
            <a:off x="1234440" y="3282696"/>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Sorted custom objects using Comparable and Comparator</a:t>
            </a:r>
            <a:endParaRPr lang="en-US" sz="1400" dirty="0"/>
          </a:p>
        </p:txBody>
      </p:sp>
      <p:sp>
        <p:nvSpPr>
          <p:cNvPr id="16" name="Shape 14"/>
          <p:cNvSpPr/>
          <p:nvPr/>
        </p:nvSpPr>
        <p:spPr>
          <a:xfrm>
            <a:off x="594360" y="3858768"/>
            <a:ext cx="10607040" cy="448056"/>
          </a:xfrm>
          <a:prstGeom prst="roundRect">
            <a:avLst>
              <a:gd name="adj" fmla="val 12245"/>
            </a:avLst>
          </a:prstGeom>
          <a:solidFill>
            <a:srgbClr val="F5F6FA"/>
          </a:solidFill>
          <a:ln w="9525">
            <a:solidFill>
              <a:srgbClr val="E4E7EE"/>
            </a:solidFill>
            <a:prstDash val="solid"/>
          </a:ln>
        </p:spPr>
      </p:sp>
      <p:sp>
        <p:nvSpPr>
          <p:cNvPr id="17" name="Text 15"/>
          <p:cNvSpPr/>
          <p:nvPr/>
        </p:nvSpPr>
        <p:spPr>
          <a:xfrm>
            <a:off x="777240" y="3858768"/>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5.</a:t>
            </a:r>
            <a:endParaRPr lang="en-US" sz="1500" dirty="0"/>
          </a:p>
        </p:txBody>
      </p:sp>
      <p:sp>
        <p:nvSpPr>
          <p:cNvPr id="18" name="Text 16"/>
          <p:cNvSpPr/>
          <p:nvPr/>
        </p:nvSpPr>
        <p:spPr>
          <a:xfrm>
            <a:off x="1234440" y="3858768"/>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Written generic classes and methods that work safely across different types</a:t>
            </a:r>
            <a:endParaRPr lang="en-US" sz="1400" dirty="0"/>
          </a:p>
        </p:txBody>
      </p:sp>
      <p:sp>
        <p:nvSpPr>
          <p:cNvPr id="19" name="Shape 17"/>
          <p:cNvSpPr/>
          <p:nvPr/>
        </p:nvSpPr>
        <p:spPr>
          <a:xfrm>
            <a:off x="594360" y="4434840"/>
            <a:ext cx="10607040" cy="448056"/>
          </a:xfrm>
          <a:prstGeom prst="roundRect">
            <a:avLst>
              <a:gd name="adj" fmla="val 12245"/>
            </a:avLst>
          </a:prstGeom>
          <a:solidFill>
            <a:srgbClr val="F5F6FA"/>
          </a:solidFill>
          <a:ln w="9525">
            <a:solidFill>
              <a:srgbClr val="E4E7EE"/>
            </a:solidFill>
            <a:prstDash val="solid"/>
          </a:ln>
        </p:spPr>
      </p:sp>
      <p:sp>
        <p:nvSpPr>
          <p:cNvPr id="20" name="Text 18"/>
          <p:cNvSpPr/>
          <p:nvPr/>
        </p:nvSpPr>
        <p:spPr>
          <a:xfrm>
            <a:off x="777240" y="4434840"/>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6.</a:t>
            </a:r>
            <a:endParaRPr lang="en-US" sz="1500" dirty="0"/>
          </a:p>
        </p:txBody>
      </p:sp>
      <p:sp>
        <p:nvSpPr>
          <p:cNvPr id="21" name="Text 19"/>
          <p:cNvSpPr/>
          <p:nvPr/>
        </p:nvSpPr>
        <p:spPr>
          <a:xfrm>
            <a:off x="1234440" y="4434840"/>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Written lambda expressions and used built-in functional interfaces</a:t>
            </a:r>
            <a:endParaRPr lang="en-US" sz="1400" dirty="0"/>
          </a:p>
        </p:txBody>
      </p:sp>
      <p:sp>
        <p:nvSpPr>
          <p:cNvPr id="22" name="Shape 20"/>
          <p:cNvSpPr/>
          <p:nvPr/>
        </p:nvSpPr>
        <p:spPr>
          <a:xfrm>
            <a:off x="594360" y="5010912"/>
            <a:ext cx="10607040" cy="448056"/>
          </a:xfrm>
          <a:prstGeom prst="roundRect">
            <a:avLst>
              <a:gd name="adj" fmla="val 12245"/>
            </a:avLst>
          </a:prstGeom>
          <a:solidFill>
            <a:srgbClr val="F5F6FA"/>
          </a:solidFill>
          <a:ln w="9525">
            <a:solidFill>
              <a:srgbClr val="E4E7EE"/>
            </a:solidFill>
            <a:prstDash val="solid"/>
          </a:ln>
        </p:spPr>
      </p:sp>
      <p:sp>
        <p:nvSpPr>
          <p:cNvPr id="23" name="Text 21"/>
          <p:cNvSpPr/>
          <p:nvPr/>
        </p:nvSpPr>
        <p:spPr>
          <a:xfrm>
            <a:off x="777240" y="5010912"/>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7.</a:t>
            </a:r>
            <a:endParaRPr lang="en-US" sz="1500" dirty="0"/>
          </a:p>
        </p:txBody>
      </p:sp>
      <p:sp>
        <p:nvSpPr>
          <p:cNvPr id="24" name="Text 22"/>
          <p:cNvSpPr/>
          <p:nvPr/>
        </p:nvSpPr>
        <p:spPr>
          <a:xfrm>
            <a:off x="1234440" y="5010912"/>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Processed collections declaratively using the Stream API</a:t>
            </a:r>
            <a:endParaRPr lang="en-US" sz="1400" dirty="0"/>
          </a:p>
        </p:txBody>
      </p:sp>
      <p:sp>
        <p:nvSpPr>
          <p:cNvPr id="25" name="Shape 23"/>
          <p:cNvSpPr/>
          <p:nvPr/>
        </p:nvSpPr>
        <p:spPr>
          <a:xfrm>
            <a:off x="594360" y="5586984"/>
            <a:ext cx="10607040" cy="448056"/>
          </a:xfrm>
          <a:prstGeom prst="roundRect">
            <a:avLst>
              <a:gd name="adj" fmla="val 12245"/>
            </a:avLst>
          </a:prstGeom>
          <a:solidFill>
            <a:srgbClr val="F5F6FA"/>
          </a:solidFill>
          <a:ln w="9525">
            <a:solidFill>
              <a:srgbClr val="E4E7EE"/>
            </a:solidFill>
            <a:prstDash val="solid"/>
          </a:ln>
        </p:spPr>
      </p:sp>
      <p:sp>
        <p:nvSpPr>
          <p:cNvPr id="26" name="Text 24"/>
          <p:cNvSpPr/>
          <p:nvPr/>
        </p:nvSpPr>
        <p:spPr>
          <a:xfrm>
            <a:off x="777240" y="5586984"/>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8.</a:t>
            </a:r>
            <a:endParaRPr lang="en-US" sz="1500" dirty="0"/>
          </a:p>
        </p:txBody>
      </p:sp>
      <p:sp>
        <p:nvSpPr>
          <p:cNvPr id="27" name="Text 25"/>
          <p:cNvSpPr/>
          <p:nvPr/>
        </p:nvSpPr>
        <p:spPr>
          <a:xfrm>
            <a:off x="1234440" y="5586984"/>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Handled possibly missing values safely using Optional</a:t>
            </a:r>
            <a:endParaRPr lang="en-US" sz="1400" dirty="0"/>
          </a:p>
        </p:txBody>
      </p:sp>
      <p:sp>
        <p:nvSpPr>
          <p:cNvPr id="28" name="Shape 26"/>
          <p:cNvSpPr/>
          <p:nvPr/>
        </p:nvSpPr>
        <p:spPr>
          <a:xfrm>
            <a:off x="0" y="0"/>
            <a:ext cx="12191695" cy="384048"/>
          </a:xfrm>
          <a:prstGeom prst="rect">
            <a:avLst/>
          </a:prstGeom>
          <a:solidFill>
            <a:srgbClr val="1B2A4A"/>
          </a:solidFill>
          <a:ln w="12700">
            <a:solidFill>
              <a:srgbClr val="1B2A4A"/>
            </a:solidFill>
            <a:prstDash val="solid"/>
          </a:ln>
        </p:spPr>
      </p:sp>
      <p:sp>
        <p:nvSpPr>
          <p:cNvPr id="29" name="Text 27"/>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30" name="Shape 28"/>
          <p:cNvSpPr/>
          <p:nvPr/>
        </p:nvSpPr>
        <p:spPr>
          <a:xfrm>
            <a:off x="219456" y="301752"/>
            <a:ext cx="960120" cy="0"/>
          </a:xfrm>
          <a:prstGeom prst="line">
            <a:avLst/>
          </a:prstGeom>
          <a:noFill/>
          <a:ln w="9525">
            <a:solidFill>
              <a:srgbClr val="4A5570"/>
            </a:solidFill>
            <a:prstDash val="solid"/>
          </a:ln>
        </p:spPr>
      </p:sp>
      <p:sp>
        <p:nvSpPr>
          <p:cNvPr id="31" name="Text 29"/>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32" name="Text 30"/>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33" name="Text 31"/>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34" name="Shape 32"/>
          <p:cNvSpPr/>
          <p:nvPr/>
        </p:nvSpPr>
        <p:spPr>
          <a:xfrm>
            <a:off x="0" y="6291072"/>
            <a:ext cx="12191695" cy="566928"/>
          </a:xfrm>
          <a:prstGeom prst="rect">
            <a:avLst/>
          </a:prstGeom>
          <a:solidFill>
            <a:srgbClr val="1B2A4A"/>
          </a:solidFill>
          <a:ln w="12700">
            <a:solidFill>
              <a:srgbClr val="1B2A4A"/>
            </a:solidFill>
            <a:prstDash val="solid"/>
          </a:ln>
        </p:spPr>
      </p:sp>
      <p:sp>
        <p:nvSpPr>
          <p:cNvPr id="35" name="Text 33"/>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36" name="Text 34"/>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8961120" y="-2011680"/>
            <a:ext cx="5943600" cy="5943600"/>
          </a:xfrm>
          <a:prstGeom prst="ellipse">
            <a:avLst/>
          </a:prstGeom>
          <a:solidFill>
            <a:srgbClr val="20242F"/>
          </a:solidFill>
          <a:ln w="12700">
            <a:solidFill>
              <a:srgbClr val="000000"/>
            </a:solidFill>
            <a:prstDash val="solid"/>
          </a:ln>
        </p:spPr>
      </p:sp>
      <p:sp>
        <p:nvSpPr>
          <p:cNvPr id="4" name="Text 2"/>
          <p:cNvSpPr/>
          <p:nvPr/>
        </p:nvSpPr>
        <p:spPr>
          <a:xfrm>
            <a:off x="640080" y="2834640"/>
            <a:ext cx="7315200" cy="822960"/>
          </a:xfrm>
          <a:prstGeom prst="rect">
            <a:avLst/>
          </a:prstGeom>
          <a:noFill/>
          <a:ln/>
        </p:spPr>
        <p:txBody>
          <a:bodyPr wrap="square" lIns="0" tIns="0" rIns="0" bIns="0" rtlCol="0" anchor="ctr"/>
          <a:lstStyle/>
          <a:p>
            <a:pPr marL="0" indent="0">
              <a:buNone/>
            </a:pPr>
            <a:r>
              <a:rPr lang="en-US" sz="4000" b="1" dirty="0">
                <a:solidFill>
                  <a:srgbClr val="FFFFFF"/>
                </a:solidFill>
                <a:latin typeface="Times New Roman" pitchFamily="34" charset="0"/>
                <a:ea typeface="Times New Roman" pitchFamily="34" charset="-122"/>
                <a:cs typeface="Times New Roman" pitchFamily="34" charset="-120"/>
              </a:rPr>
              <a:t>Thank You</a:t>
            </a:r>
            <a:endParaRPr lang="en-US" sz="4000" dirty="0"/>
          </a:p>
        </p:txBody>
      </p:sp>
      <p:sp>
        <p:nvSpPr>
          <p:cNvPr id="5" name="Text 3"/>
          <p:cNvSpPr/>
          <p:nvPr/>
        </p:nvSpPr>
        <p:spPr>
          <a:xfrm>
            <a:off x="640080" y="3611880"/>
            <a:ext cx="9144000" cy="365760"/>
          </a:xfrm>
          <a:prstGeom prst="rect">
            <a:avLst/>
          </a:prstGeom>
          <a:noFill/>
          <a:ln/>
        </p:spPr>
        <p:txBody>
          <a:bodyPr wrap="square" lIns="0" tIns="0" rIns="0" bIns="0" rtlCol="0" anchor="ctr"/>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Questions &amp; Discussion  |  Java Collections, Generics and Modern Java</a:t>
            </a:r>
            <a:endParaRPr lang="en-US" sz="1500" dirty="0"/>
          </a:p>
        </p:txBody>
      </p:sp>
      <p:sp>
        <p:nvSpPr>
          <p:cNvPr id="6" name="Shape 4"/>
          <p:cNvSpPr/>
          <p:nvPr/>
        </p:nvSpPr>
        <p:spPr>
          <a:xfrm>
            <a:off x="0" y="0"/>
            <a:ext cx="12191695" cy="384048"/>
          </a:xfrm>
          <a:prstGeom prst="rect">
            <a:avLst/>
          </a:prstGeom>
          <a:solidFill>
            <a:srgbClr val="1B2A4A"/>
          </a:solidFill>
          <a:ln w="12700">
            <a:solidFill>
              <a:srgbClr val="1B2A4A"/>
            </a:solidFill>
            <a:prstDash val="solid"/>
          </a:ln>
        </p:spPr>
      </p:sp>
      <p:sp>
        <p:nvSpPr>
          <p:cNvPr id="7" name="Text 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8" name="Shape 6"/>
          <p:cNvSpPr/>
          <p:nvPr/>
        </p:nvSpPr>
        <p:spPr>
          <a:xfrm>
            <a:off x="219456" y="301752"/>
            <a:ext cx="960120" cy="0"/>
          </a:xfrm>
          <a:prstGeom prst="line">
            <a:avLst/>
          </a:prstGeom>
          <a:noFill/>
          <a:ln w="9525">
            <a:solidFill>
              <a:srgbClr val="4A5570"/>
            </a:solidFill>
            <a:prstDash val="solid"/>
          </a:ln>
        </p:spPr>
      </p:sp>
      <p:sp>
        <p:nvSpPr>
          <p:cNvPr id="9" name="Text 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0" name="Text 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1" name="Text 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2" name="Shape 10"/>
          <p:cNvSpPr/>
          <p:nvPr/>
        </p:nvSpPr>
        <p:spPr>
          <a:xfrm>
            <a:off x="0" y="6291072"/>
            <a:ext cx="12191695" cy="566928"/>
          </a:xfrm>
          <a:prstGeom prst="rect">
            <a:avLst/>
          </a:prstGeom>
          <a:solidFill>
            <a:srgbClr val="1B2A4A"/>
          </a:solidFill>
          <a:ln w="12700">
            <a:solidFill>
              <a:srgbClr val="1B2A4A"/>
            </a:solidFill>
            <a:prstDash val="solid"/>
          </a:ln>
        </p:spPr>
      </p:sp>
      <p:sp>
        <p:nvSpPr>
          <p:cNvPr id="13" name="Text 1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4" name="Text 1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KNOWLEDGE CHECK · QUESTION 1 OF 2</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Quick Quiz</a:t>
            </a:r>
            <a:endParaRPr lang="en-US" sz="2700" dirty="0"/>
          </a:p>
        </p:txBody>
      </p:sp>
      <p:sp>
        <p:nvSpPr>
          <p:cNvPr id="4" name="Shape 2"/>
          <p:cNvSpPr/>
          <p:nvPr/>
        </p:nvSpPr>
        <p:spPr>
          <a:xfrm>
            <a:off x="594360" y="1600200"/>
            <a:ext cx="10607040" cy="1938528"/>
          </a:xfrm>
          <a:prstGeom prst="roundRect">
            <a:avLst>
              <a:gd name="adj" fmla="val 3302"/>
            </a:avLst>
          </a:prstGeom>
          <a:solidFill>
            <a:srgbClr val="F5F6FA"/>
          </a:solidFill>
          <a:ln w="9525">
            <a:solidFill>
              <a:srgbClr val="E4E7EE"/>
            </a:solidFill>
            <a:prstDash val="solid"/>
          </a:ln>
        </p:spPr>
      </p:sp>
      <p:sp>
        <p:nvSpPr>
          <p:cNvPr id="5" name="Text 3"/>
          <p:cNvSpPr/>
          <p:nvPr/>
        </p:nvSpPr>
        <p:spPr>
          <a:xfrm>
            <a:off x="822960" y="1709928"/>
            <a:ext cx="10149840" cy="292608"/>
          </a:xfrm>
          <a:prstGeom prst="rect">
            <a:avLst/>
          </a:prstGeom>
          <a:noFill/>
          <a:ln/>
        </p:spPr>
        <p:txBody>
          <a:bodyPr wrap="square" lIns="0" tIns="0" rIns="0" bIns="0" rtlCol="0" anchor="ctr"/>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What does the following code print?</a:t>
            </a:r>
            <a:endParaRPr lang="en-US" sz="1500" dirty="0"/>
          </a:p>
        </p:txBody>
      </p:sp>
      <p:sp>
        <p:nvSpPr>
          <p:cNvPr id="6" name="Text 4"/>
          <p:cNvSpPr/>
          <p:nvPr/>
        </p:nvSpPr>
        <p:spPr>
          <a:xfrm>
            <a:off x="822960" y="2039112"/>
            <a:ext cx="10149840" cy="1408176"/>
          </a:xfrm>
          <a:prstGeom prst="rect">
            <a:avLst/>
          </a:prstGeom>
          <a:noFill/>
          <a:ln/>
        </p:spPr>
        <p:txBody>
          <a:bodyPr wrap="square" lIns="0" tIns="0" rIns="0" bIns="0" rtlCol="0" anchor="t"/>
          <a:lstStyle/>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List&lt;Integer&gt; nums = List.of(1, 2, 3, 4, 5);</a:t>
            </a:r>
            <a:endParaRPr lang="en-US" sz="1200" dirty="0"/>
          </a:p>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long count = nums.stream()</a:t>
            </a:r>
            <a:endParaRPr lang="en-US" sz="1200" dirty="0"/>
          </a:p>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    .filter(n -&gt; n % 2 == 0)</a:t>
            </a:r>
            <a:endParaRPr lang="en-US" sz="1200" dirty="0"/>
          </a:p>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    .count();</a:t>
            </a:r>
            <a:endParaRPr lang="en-US" sz="1200" dirty="0"/>
          </a:p>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System.out.println(count);</a:t>
            </a:r>
            <a:endParaRPr lang="en-US" sz="1200" dirty="0"/>
          </a:p>
        </p:txBody>
      </p:sp>
      <p:sp>
        <p:nvSpPr>
          <p:cNvPr id="7" name="Shape 5"/>
          <p:cNvSpPr/>
          <p:nvPr/>
        </p:nvSpPr>
        <p:spPr>
          <a:xfrm>
            <a:off x="594360" y="3813048"/>
            <a:ext cx="5166360" cy="973836"/>
          </a:xfrm>
          <a:prstGeom prst="roundRect">
            <a:avLst>
              <a:gd name="adj" fmla="val 7512"/>
            </a:avLst>
          </a:prstGeom>
          <a:solidFill>
            <a:srgbClr val="1B2A4A"/>
          </a:solidFill>
          <a:ln w="15875">
            <a:solidFill>
              <a:srgbClr val="1B2A4A"/>
            </a:solidFill>
            <a:prstDash val="solid"/>
          </a:ln>
        </p:spPr>
      </p:sp>
      <p:sp>
        <p:nvSpPr>
          <p:cNvPr id="8" name="Shape 6"/>
          <p:cNvSpPr/>
          <p:nvPr/>
        </p:nvSpPr>
        <p:spPr>
          <a:xfrm>
            <a:off x="777240" y="4098798"/>
            <a:ext cx="402336" cy="402336"/>
          </a:xfrm>
          <a:prstGeom prst="ellipse">
            <a:avLst/>
          </a:prstGeom>
          <a:solidFill>
            <a:srgbClr val="E8590C"/>
          </a:solidFill>
          <a:ln w="12700">
            <a:solidFill>
              <a:srgbClr val="000000"/>
            </a:solidFill>
            <a:prstDash val="solid"/>
          </a:ln>
        </p:spPr>
      </p:sp>
      <p:sp>
        <p:nvSpPr>
          <p:cNvPr id="9" name="Text 7"/>
          <p:cNvSpPr/>
          <p:nvPr/>
        </p:nvSpPr>
        <p:spPr>
          <a:xfrm>
            <a:off x="777240" y="4098798"/>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A</a:t>
            </a:r>
            <a:endParaRPr lang="en-US" sz="1600" dirty="0"/>
          </a:p>
        </p:txBody>
      </p:sp>
      <p:sp>
        <p:nvSpPr>
          <p:cNvPr id="10" name="Text 8"/>
          <p:cNvSpPr/>
          <p:nvPr/>
        </p:nvSpPr>
        <p:spPr>
          <a:xfrm>
            <a:off x="1307592" y="3813048"/>
            <a:ext cx="4251960" cy="973836"/>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11" name="Text 9"/>
          <p:cNvSpPr/>
          <p:nvPr/>
        </p:nvSpPr>
        <p:spPr>
          <a:xfrm>
            <a:off x="1307592" y="4494276"/>
            <a:ext cx="4251960" cy="237744"/>
          </a:xfrm>
          <a:prstGeom prst="rect">
            <a:avLst/>
          </a:prstGeom>
          <a:noFill/>
          <a:ln/>
        </p:spPr>
        <p:txBody>
          <a:bodyPr wrap="square" lIns="0" tIns="0" rIns="0" bIns="0" rtlCol="0" anchor="ctr"/>
          <a:lstStyle/>
          <a:p>
            <a:pPr marL="0" indent="0">
              <a:buNone/>
            </a:pPr>
            <a:r>
              <a:rPr lang="en-US" sz="900" b="1" kern="0" spc="100" dirty="0">
                <a:solidFill>
                  <a:srgbClr val="F3B67D"/>
                </a:solidFill>
                <a:latin typeface="Times New Roman" pitchFamily="34" charset="0"/>
                <a:ea typeface="Times New Roman" pitchFamily="34" charset="-122"/>
                <a:cs typeface="Times New Roman" pitchFamily="34" charset="-120"/>
              </a:rPr>
              <a:t>CORRECT ANSWER</a:t>
            </a:r>
            <a:endParaRPr lang="en-US" sz="900" dirty="0"/>
          </a:p>
        </p:txBody>
      </p:sp>
      <p:sp>
        <p:nvSpPr>
          <p:cNvPr id="12" name="Shape 10"/>
          <p:cNvSpPr/>
          <p:nvPr/>
        </p:nvSpPr>
        <p:spPr>
          <a:xfrm>
            <a:off x="6035040" y="3813048"/>
            <a:ext cx="5166360" cy="973836"/>
          </a:xfrm>
          <a:prstGeom prst="roundRect">
            <a:avLst>
              <a:gd name="adj" fmla="val 7512"/>
            </a:avLst>
          </a:prstGeom>
          <a:solidFill>
            <a:srgbClr val="FFFFFF"/>
          </a:solidFill>
          <a:ln w="15875">
            <a:solidFill>
              <a:srgbClr val="E4E7EE"/>
            </a:solidFill>
            <a:prstDash val="solid"/>
          </a:ln>
        </p:spPr>
      </p:sp>
      <p:sp>
        <p:nvSpPr>
          <p:cNvPr id="13" name="Shape 11"/>
          <p:cNvSpPr/>
          <p:nvPr/>
        </p:nvSpPr>
        <p:spPr>
          <a:xfrm>
            <a:off x="6217920" y="4098798"/>
            <a:ext cx="402336" cy="402336"/>
          </a:xfrm>
          <a:prstGeom prst="ellipse">
            <a:avLst/>
          </a:prstGeom>
          <a:solidFill>
            <a:srgbClr val="F5F6FA"/>
          </a:solidFill>
          <a:ln w="12700">
            <a:solidFill>
              <a:srgbClr val="000000"/>
            </a:solidFill>
            <a:prstDash val="solid"/>
          </a:ln>
        </p:spPr>
      </p:sp>
      <p:sp>
        <p:nvSpPr>
          <p:cNvPr id="14" name="Text 12"/>
          <p:cNvSpPr/>
          <p:nvPr/>
        </p:nvSpPr>
        <p:spPr>
          <a:xfrm>
            <a:off x="6217920" y="4098798"/>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B</a:t>
            </a:r>
            <a:endParaRPr lang="en-US" sz="1600" dirty="0"/>
          </a:p>
        </p:txBody>
      </p:sp>
      <p:sp>
        <p:nvSpPr>
          <p:cNvPr id="15" name="Text 13"/>
          <p:cNvSpPr/>
          <p:nvPr/>
        </p:nvSpPr>
        <p:spPr>
          <a:xfrm>
            <a:off x="6748272" y="3813048"/>
            <a:ext cx="4251960" cy="97383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3</a:t>
            </a:r>
            <a:endParaRPr lang="en-US" sz="1400" dirty="0"/>
          </a:p>
        </p:txBody>
      </p:sp>
      <p:sp>
        <p:nvSpPr>
          <p:cNvPr id="16" name="Shape 14"/>
          <p:cNvSpPr/>
          <p:nvPr/>
        </p:nvSpPr>
        <p:spPr>
          <a:xfrm>
            <a:off x="594360" y="5061204"/>
            <a:ext cx="5166360" cy="973836"/>
          </a:xfrm>
          <a:prstGeom prst="roundRect">
            <a:avLst>
              <a:gd name="adj" fmla="val 7512"/>
            </a:avLst>
          </a:prstGeom>
          <a:solidFill>
            <a:srgbClr val="FFFFFF"/>
          </a:solidFill>
          <a:ln w="15875">
            <a:solidFill>
              <a:srgbClr val="E4E7EE"/>
            </a:solidFill>
            <a:prstDash val="solid"/>
          </a:ln>
        </p:spPr>
      </p:sp>
      <p:sp>
        <p:nvSpPr>
          <p:cNvPr id="17" name="Shape 15"/>
          <p:cNvSpPr/>
          <p:nvPr/>
        </p:nvSpPr>
        <p:spPr>
          <a:xfrm>
            <a:off x="777240" y="5346954"/>
            <a:ext cx="402336" cy="402336"/>
          </a:xfrm>
          <a:prstGeom prst="ellipse">
            <a:avLst/>
          </a:prstGeom>
          <a:solidFill>
            <a:srgbClr val="F5F6FA"/>
          </a:solidFill>
          <a:ln w="12700">
            <a:solidFill>
              <a:srgbClr val="000000"/>
            </a:solidFill>
            <a:prstDash val="solid"/>
          </a:ln>
        </p:spPr>
      </p:sp>
      <p:sp>
        <p:nvSpPr>
          <p:cNvPr id="18" name="Text 16"/>
          <p:cNvSpPr/>
          <p:nvPr/>
        </p:nvSpPr>
        <p:spPr>
          <a:xfrm>
            <a:off x="777240" y="5346954"/>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C</a:t>
            </a:r>
            <a:endParaRPr lang="en-US" sz="1600" dirty="0"/>
          </a:p>
        </p:txBody>
      </p:sp>
      <p:sp>
        <p:nvSpPr>
          <p:cNvPr id="19" name="Text 17"/>
          <p:cNvSpPr/>
          <p:nvPr/>
        </p:nvSpPr>
        <p:spPr>
          <a:xfrm>
            <a:off x="1307592" y="5061204"/>
            <a:ext cx="4251960" cy="97383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5</a:t>
            </a:r>
            <a:endParaRPr lang="en-US" sz="1400" dirty="0"/>
          </a:p>
        </p:txBody>
      </p:sp>
      <p:sp>
        <p:nvSpPr>
          <p:cNvPr id="20" name="Shape 18"/>
          <p:cNvSpPr/>
          <p:nvPr/>
        </p:nvSpPr>
        <p:spPr>
          <a:xfrm>
            <a:off x="6035040" y="5061204"/>
            <a:ext cx="5166360" cy="973836"/>
          </a:xfrm>
          <a:prstGeom prst="roundRect">
            <a:avLst>
              <a:gd name="adj" fmla="val 7512"/>
            </a:avLst>
          </a:prstGeom>
          <a:solidFill>
            <a:srgbClr val="FFFFFF"/>
          </a:solidFill>
          <a:ln w="15875">
            <a:solidFill>
              <a:srgbClr val="E4E7EE"/>
            </a:solidFill>
            <a:prstDash val="solid"/>
          </a:ln>
        </p:spPr>
      </p:sp>
      <p:sp>
        <p:nvSpPr>
          <p:cNvPr id="21" name="Shape 19"/>
          <p:cNvSpPr/>
          <p:nvPr/>
        </p:nvSpPr>
        <p:spPr>
          <a:xfrm>
            <a:off x="6217920" y="5346954"/>
            <a:ext cx="402336" cy="402336"/>
          </a:xfrm>
          <a:prstGeom prst="ellipse">
            <a:avLst/>
          </a:prstGeom>
          <a:solidFill>
            <a:srgbClr val="F5F6FA"/>
          </a:solidFill>
          <a:ln w="12700">
            <a:solidFill>
              <a:srgbClr val="000000"/>
            </a:solidFill>
            <a:prstDash val="solid"/>
          </a:ln>
        </p:spPr>
      </p:sp>
      <p:sp>
        <p:nvSpPr>
          <p:cNvPr id="22" name="Text 20"/>
          <p:cNvSpPr/>
          <p:nvPr/>
        </p:nvSpPr>
        <p:spPr>
          <a:xfrm>
            <a:off x="6217920" y="5346954"/>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D</a:t>
            </a:r>
            <a:endParaRPr lang="en-US" sz="1600" dirty="0"/>
          </a:p>
        </p:txBody>
      </p:sp>
      <p:sp>
        <p:nvSpPr>
          <p:cNvPr id="23" name="Text 21"/>
          <p:cNvSpPr/>
          <p:nvPr/>
        </p:nvSpPr>
        <p:spPr>
          <a:xfrm>
            <a:off x="6748272" y="5061204"/>
            <a:ext cx="4251960" cy="97383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Compile error</a:t>
            </a:r>
            <a:endParaRPr lang="en-US" sz="1400" dirty="0"/>
          </a:p>
        </p:txBody>
      </p:sp>
      <p:sp>
        <p:nvSpPr>
          <p:cNvPr id="24" name="Shape 22"/>
          <p:cNvSpPr/>
          <p:nvPr/>
        </p:nvSpPr>
        <p:spPr>
          <a:xfrm>
            <a:off x="0" y="0"/>
            <a:ext cx="12191695" cy="384048"/>
          </a:xfrm>
          <a:prstGeom prst="rect">
            <a:avLst/>
          </a:prstGeom>
          <a:solidFill>
            <a:srgbClr val="1B2A4A"/>
          </a:solidFill>
          <a:ln w="12700">
            <a:solidFill>
              <a:srgbClr val="1B2A4A"/>
            </a:solidFill>
            <a:prstDash val="solid"/>
          </a:ln>
        </p:spPr>
      </p:sp>
      <p:sp>
        <p:nvSpPr>
          <p:cNvPr id="25" name="Text 2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26" name="Shape 24"/>
          <p:cNvSpPr/>
          <p:nvPr/>
        </p:nvSpPr>
        <p:spPr>
          <a:xfrm>
            <a:off x="219456" y="301752"/>
            <a:ext cx="960120" cy="0"/>
          </a:xfrm>
          <a:prstGeom prst="line">
            <a:avLst/>
          </a:prstGeom>
          <a:noFill/>
          <a:ln w="9525">
            <a:solidFill>
              <a:srgbClr val="4A5570"/>
            </a:solidFill>
            <a:prstDash val="solid"/>
          </a:ln>
        </p:spPr>
      </p:sp>
      <p:sp>
        <p:nvSpPr>
          <p:cNvPr id="27" name="Text 2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8" name="Text 2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9" name="Text 2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30" name="Shape 28"/>
          <p:cNvSpPr/>
          <p:nvPr/>
        </p:nvSpPr>
        <p:spPr>
          <a:xfrm>
            <a:off x="0" y="6291072"/>
            <a:ext cx="12191695" cy="566928"/>
          </a:xfrm>
          <a:prstGeom prst="rect">
            <a:avLst/>
          </a:prstGeom>
          <a:solidFill>
            <a:srgbClr val="1B2A4A"/>
          </a:solidFill>
          <a:ln w="12700">
            <a:solidFill>
              <a:srgbClr val="1B2A4A"/>
            </a:solidFill>
            <a:prstDash val="solid"/>
          </a:ln>
        </p:spPr>
      </p:sp>
      <p:sp>
        <p:nvSpPr>
          <p:cNvPr id="31" name="Text 2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32" name="Text 3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KNOWLEDGE CHECK · QUESTION 2 OF 2</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Quick Quiz</a:t>
            </a:r>
            <a:endParaRPr lang="en-US" sz="2700" dirty="0"/>
          </a:p>
        </p:txBody>
      </p:sp>
      <p:sp>
        <p:nvSpPr>
          <p:cNvPr id="4" name="Shape 2"/>
          <p:cNvSpPr/>
          <p:nvPr/>
        </p:nvSpPr>
        <p:spPr>
          <a:xfrm>
            <a:off x="594360" y="1600200"/>
            <a:ext cx="10607040" cy="822960"/>
          </a:xfrm>
          <a:prstGeom prst="roundRect">
            <a:avLst>
              <a:gd name="adj" fmla="val 7778"/>
            </a:avLst>
          </a:prstGeom>
          <a:solidFill>
            <a:srgbClr val="F5F6FA"/>
          </a:solidFill>
          <a:ln w="9525">
            <a:solidFill>
              <a:srgbClr val="E4E7EE"/>
            </a:solidFill>
            <a:prstDash val="solid"/>
          </a:ln>
        </p:spPr>
      </p:sp>
      <p:sp>
        <p:nvSpPr>
          <p:cNvPr id="5" name="Text 3"/>
          <p:cNvSpPr/>
          <p:nvPr/>
        </p:nvSpPr>
        <p:spPr>
          <a:xfrm>
            <a:off x="822960" y="1600200"/>
            <a:ext cx="10149840" cy="822960"/>
          </a:xfrm>
          <a:prstGeom prst="rect">
            <a:avLst/>
          </a:prstGeom>
          <a:noFill/>
          <a:ln/>
        </p:spPr>
        <p:txBody>
          <a:bodyPr wrap="square" lIns="0" tIns="0" rIns="0" bIns="0" rtlCol="0" anchor="ctr"/>
          <a:lstStyle/>
          <a:p>
            <a:pPr marL="0" indent="0">
              <a:buNone/>
            </a:pPr>
            <a:r>
              <a:rPr lang="en-US" sz="1900" b="1" dirty="0">
                <a:solidFill>
                  <a:srgbClr val="1A202C"/>
                </a:solidFill>
                <a:latin typeface="Times New Roman" pitchFamily="34" charset="0"/>
                <a:ea typeface="Times New Roman" pitchFamily="34" charset="-122"/>
                <a:cs typeface="Times New Roman" pitchFamily="34" charset="-120"/>
              </a:rPr>
              <a:t>Which class should be used to efficiently store unique elements in sorted order?</a:t>
            </a:r>
            <a:endParaRPr lang="en-US" sz="1900" dirty="0"/>
          </a:p>
        </p:txBody>
      </p:sp>
      <p:sp>
        <p:nvSpPr>
          <p:cNvPr id="6" name="Shape 4"/>
          <p:cNvSpPr/>
          <p:nvPr/>
        </p:nvSpPr>
        <p:spPr>
          <a:xfrm>
            <a:off x="594360" y="2697480"/>
            <a:ext cx="5166360" cy="1280160"/>
          </a:xfrm>
          <a:prstGeom prst="roundRect">
            <a:avLst>
              <a:gd name="adj" fmla="val 5714"/>
            </a:avLst>
          </a:prstGeom>
          <a:solidFill>
            <a:srgbClr val="FFFFFF"/>
          </a:solidFill>
          <a:ln w="15875">
            <a:solidFill>
              <a:srgbClr val="E4E7EE"/>
            </a:solidFill>
            <a:prstDash val="solid"/>
          </a:ln>
        </p:spPr>
      </p:sp>
      <p:sp>
        <p:nvSpPr>
          <p:cNvPr id="7" name="Shape 5"/>
          <p:cNvSpPr/>
          <p:nvPr/>
        </p:nvSpPr>
        <p:spPr>
          <a:xfrm>
            <a:off x="777240" y="3136392"/>
            <a:ext cx="402336" cy="402336"/>
          </a:xfrm>
          <a:prstGeom prst="ellipse">
            <a:avLst/>
          </a:prstGeom>
          <a:solidFill>
            <a:srgbClr val="F5F6FA"/>
          </a:solidFill>
          <a:ln w="12700">
            <a:solidFill>
              <a:srgbClr val="000000"/>
            </a:solidFill>
            <a:prstDash val="solid"/>
          </a:ln>
        </p:spPr>
      </p:sp>
      <p:sp>
        <p:nvSpPr>
          <p:cNvPr id="8" name="Text 6"/>
          <p:cNvSpPr/>
          <p:nvPr/>
        </p:nvSpPr>
        <p:spPr>
          <a:xfrm>
            <a:off x="777240" y="3136392"/>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A</a:t>
            </a:r>
            <a:endParaRPr lang="en-US" sz="1600" dirty="0"/>
          </a:p>
        </p:txBody>
      </p:sp>
      <p:sp>
        <p:nvSpPr>
          <p:cNvPr id="9" name="Text 7"/>
          <p:cNvSpPr/>
          <p:nvPr/>
        </p:nvSpPr>
        <p:spPr>
          <a:xfrm>
            <a:off x="1307592" y="2697480"/>
            <a:ext cx="4251960" cy="1280160"/>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ArrayList</a:t>
            </a:r>
            <a:endParaRPr lang="en-US" sz="1400" dirty="0"/>
          </a:p>
        </p:txBody>
      </p:sp>
      <p:sp>
        <p:nvSpPr>
          <p:cNvPr id="10" name="Shape 8"/>
          <p:cNvSpPr/>
          <p:nvPr/>
        </p:nvSpPr>
        <p:spPr>
          <a:xfrm>
            <a:off x="6035040" y="2697480"/>
            <a:ext cx="5166360" cy="1280160"/>
          </a:xfrm>
          <a:prstGeom prst="roundRect">
            <a:avLst>
              <a:gd name="adj" fmla="val 5714"/>
            </a:avLst>
          </a:prstGeom>
          <a:solidFill>
            <a:srgbClr val="FFFFFF"/>
          </a:solidFill>
          <a:ln w="15875">
            <a:solidFill>
              <a:srgbClr val="E4E7EE"/>
            </a:solidFill>
            <a:prstDash val="solid"/>
          </a:ln>
        </p:spPr>
      </p:sp>
      <p:sp>
        <p:nvSpPr>
          <p:cNvPr id="11" name="Shape 9"/>
          <p:cNvSpPr/>
          <p:nvPr/>
        </p:nvSpPr>
        <p:spPr>
          <a:xfrm>
            <a:off x="6217920" y="3136392"/>
            <a:ext cx="402336" cy="402336"/>
          </a:xfrm>
          <a:prstGeom prst="ellipse">
            <a:avLst/>
          </a:prstGeom>
          <a:solidFill>
            <a:srgbClr val="F5F6FA"/>
          </a:solidFill>
          <a:ln w="12700">
            <a:solidFill>
              <a:srgbClr val="000000"/>
            </a:solidFill>
            <a:prstDash val="solid"/>
          </a:ln>
        </p:spPr>
      </p:sp>
      <p:sp>
        <p:nvSpPr>
          <p:cNvPr id="12" name="Text 10"/>
          <p:cNvSpPr/>
          <p:nvPr/>
        </p:nvSpPr>
        <p:spPr>
          <a:xfrm>
            <a:off x="6217920" y="3136392"/>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B</a:t>
            </a:r>
            <a:endParaRPr lang="en-US" sz="1600" dirty="0"/>
          </a:p>
        </p:txBody>
      </p:sp>
      <p:sp>
        <p:nvSpPr>
          <p:cNvPr id="13" name="Text 11"/>
          <p:cNvSpPr/>
          <p:nvPr/>
        </p:nvSpPr>
        <p:spPr>
          <a:xfrm>
            <a:off x="6748272" y="2697480"/>
            <a:ext cx="4251960" cy="1280160"/>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HashSet</a:t>
            </a:r>
            <a:endParaRPr lang="en-US" sz="1400" dirty="0"/>
          </a:p>
        </p:txBody>
      </p:sp>
      <p:sp>
        <p:nvSpPr>
          <p:cNvPr id="14" name="Shape 12"/>
          <p:cNvSpPr/>
          <p:nvPr/>
        </p:nvSpPr>
        <p:spPr>
          <a:xfrm>
            <a:off x="594360" y="4251960"/>
            <a:ext cx="5166360" cy="1280160"/>
          </a:xfrm>
          <a:prstGeom prst="roundRect">
            <a:avLst>
              <a:gd name="adj" fmla="val 5714"/>
            </a:avLst>
          </a:prstGeom>
          <a:solidFill>
            <a:srgbClr val="1B2A4A"/>
          </a:solidFill>
          <a:ln w="15875">
            <a:solidFill>
              <a:srgbClr val="1B2A4A"/>
            </a:solidFill>
            <a:prstDash val="solid"/>
          </a:ln>
        </p:spPr>
      </p:sp>
      <p:sp>
        <p:nvSpPr>
          <p:cNvPr id="15" name="Shape 13"/>
          <p:cNvSpPr/>
          <p:nvPr/>
        </p:nvSpPr>
        <p:spPr>
          <a:xfrm>
            <a:off x="777240" y="4690872"/>
            <a:ext cx="402336" cy="402336"/>
          </a:xfrm>
          <a:prstGeom prst="ellipse">
            <a:avLst/>
          </a:prstGeom>
          <a:solidFill>
            <a:srgbClr val="E8590C"/>
          </a:solidFill>
          <a:ln w="12700">
            <a:solidFill>
              <a:srgbClr val="000000"/>
            </a:solidFill>
            <a:prstDash val="solid"/>
          </a:ln>
        </p:spPr>
      </p:sp>
      <p:sp>
        <p:nvSpPr>
          <p:cNvPr id="16" name="Text 14"/>
          <p:cNvSpPr/>
          <p:nvPr/>
        </p:nvSpPr>
        <p:spPr>
          <a:xfrm>
            <a:off x="777240" y="469087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C</a:t>
            </a:r>
            <a:endParaRPr lang="en-US" sz="1600" dirty="0"/>
          </a:p>
        </p:txBody>
      </p:sp>
      <p:sp>
        <p:nvSpPr>
          <p:cNvPr id="17" name="Text 15"/>
          <p:cNvSpPr/>
          <p:nvPr/>
        </p:nvSpPr>
        <p:spPr>
          <a:xfrm>
            <a:off x="1307592" y="4251960"/>
            <a:ext cx="4251960" cy="1280160"/>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TreeSet</a:t>
            </a:r>
            <a:endParaRPr lang="en-US" sz="1400" dirty="0"/>
          </a:p>
        </p:txBody>
      </p:sp>
      <p:sp>
        <p:nvSpPr>
          <p:cNvPr id="18" name="Text 16"/>
          <p:cNvSpPr/>
          <p:nvPr/>
        </p:nvSpPr>
        <p:spPr>
          <a:xfrm>
            <a:off x="1307592" y="5239512"/>
            <a:ext cx="4251960" cy="237744"/>
          </a:xfrm>
          <a:prstGeom prst="rect">
            <a:avLst/>
          </a:prstGeom>
          <a:noFill/>
          <a:ln/>
        </p:spPr>
        <p:txBody>
          <a:bodyPr wrap="square" lIns="0" tIns="0" rIns="0" bIns="0" rtlCol="0" anchor="ctr"/>
          <a:lstStyle/>
          <a:p>
            <a:pPr marL="0" indent="0">
              <a:buNone/>
            </a:pPr>
            <a:r>
              <a:rPr lang="en-US" sz="900" b="1" kern="0" spc="100" dirty="0">
                <a:solidFill>
                  <a:srgbClr val="F3B67D"/>
                </a:solidFill>
                <a:latin typeface="Times New Roman" pitchFamily="34" charset="0"/>
                <a:ea typeface="Times New Roman" pitchFamily="34" charset="-122"/>
                <a:cs typeface="Times New Roman" pitchFamily="34" charset="-120"/>
              </a:rPr>
              <a:t>CORRECT ANSWER</a:t>
            </a:r>
            <a:endParaRPr lang="en-US" sz="900" dirty="0"/>
          </a:p>
        </p:txBody>
      </p:sp>
      <p:sp>
        <p:nvSpPr>
          <p:cNvPr id="19" name="Shape 17"/>
          <p:cNvSpPr/>
          <p:nvPr/>
        </p:nvSpPr>
        <p:spPr>
          <a:xfrm>
            <a:off x="6035040" y="4251960"/>
            <a:ext cx="5166360" cy="1280160"/>
          </a:xfrm>
          <a:prstGeom prst="roundRect">
            <a:avLst>
              <a:gd name="adj" fmla="val 5714"/>
            </a:avLst>
          </a:prstGeom>
          <a:solidFill>
            <a:srgbClr val="FFFFFF"/>
          </a:solidFill>
          <a:ln w="15875">
            <a:solidFill>
              <a:srgbClr val="E4E7EE"/>
            </a:solidFill>
            <a:prstDash val="solid"/>
          </a:ln>
        </p:spPr>
      </p:sp>
      <p:sp>
        <p:nvSpPr>
          <p:cNvPr id="20" name="Shape 18"/>
          <p:cNvSpPr/>
          <p:nvPr/>
        </p:nvSpPr>
        <p:spPr>
          <a:xfrm>
            <a:off x="6217920" y="4690872"/>
            <a:ext cx="402336" cy="402336"/>
          </a:xfrm>
          <a:prstGeom prst="ellipse">
            <a:avLst/>
          </a:prstGeom>
          <a:solidFill>
            <a:srgbClr val="F5F6FA"/>
          </a:solidFill>
          <a:ln w="12700">
            <a:solidFill>
              <a:srgbClr val="000000"/>
            </a:solidFill>
            <a:prstDash val="solid"/>
          </a:ln>
        </p:spPr>
      </p:sp>
      <p:sp>
        <p:nvSpPr>
          <p:cNvPr id="21" name="Text 19"/>
          <p:cNvSpPr/>
          <p:nvPr/>
        </p:nvSpPr>
        <p:spPr>
          <a:xfrm>
            <a:off x="6217920" y="4690872"/>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D</a:t>
            </a:r>
            <a:endParaRPr lang="en-US" sz="1600" dirty="0"/>
          </a:p>
        </p:txBody>
      </p:sp>
      <p:sp>
        <p:nvSpPr>
          <p:cNvPr id="22" name="Text 20"/>
          <p:cNvSpPr/>
          <p:nvPr/>
        </p:nvSpPr>
        <p:spPr>
          <a:xfrm>
            <a:off x="6748272" y="4251960"/>
            <a:ext cx="4251960" cy="1280160"/>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LinkedList</a:t>
            </a:r>
            <a:endParaRPr lang="en-US" sz="1400" dirty="0"/>
          </a:p>
        </p:txBody>
      </p:sp>
      <p:sp>
        <p:nvSpPr>
          <p:cNvPr id="23" name="Shape 21"/>
          <p:cNvSpPr/>
          <p:nvPr/>
        </p:nvSpPr>
        <p:spPr>
          <a:xfrm>
            <a:off x="0" y="0"/>
            <a:ext cx="12191695" cy="384048"/>
          </a:xfrm>
          <a:prstGeom prst="rect">
            <a:avLst/>
          </a:prstGeom>
          <a:solidFill>
            <a:srgbClr val="1B2A4A"/>
          </a:solidFill>
          <a:ln w="12700">
            <a:solidFill>
              <a:srgbClr val="1B2A4A"/>
            </a:solidFill>
            <a:prstDash val="solid"/>
          </a:ln>
        </p:spPr>
      </p:sp>
      <p:sp>
        <p:nvSpPr>
          <p:cNvPr id="24" name="Text 22"/>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25" name="Shape 23"/>
          <p:cNvSpPr/>
          <p:nvPr/>
        </p:nvSpPr>
        <p:spPr>
          <a:xfrm>
            <a:off x="219456" y="301752"/>
            <a:ext cx="960120" cy="0"/>
          </a:xfrm>
          <a:prstGeom prst="line">
            <a:avLst/>
          </a:prstGeom>
          <a:noFill/>
          <a:ln w="9525">
            <a:solidFill>
              <a:srgbClr val="4A5570"/>
            </a:solidFill>
            <a:prstDash val="solid"/>
          </a:ln>
        </p:spPr>
      </p:sp>
      <p:sp>
        <p:nvSpPr>
          <p:cNvPr id="26" name="Text 24"/>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7" name="Text 25"/>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8" name="Text 26"/>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9" name="Shape 27"/>
          <p:cNvSpPr/>
          <p:nvPr/>
        </p:nvSpPr>
        <p:spPr>
          <a:xfrm>
            <a:off x="0" y="6291072"/>
            <a:ext cx="12191695" cy="566928"/>
          </a:xfrm>
          <a:prstGeom prst="rect">
            <a:avLst/>
          </a:prstGeom>
          <a:solidFill>
            <a:srgbClr val="1B2A4A"/>
          </a:solidFill>
          <a:ln w="12700">
            <a:solidFill>
              <a:srgbClr val="1B2A4A"/>
            </a:solidFill>
            <a:prstDash val="solid"/>
          </a:ln>
        </p:spPr>
      </p:sp>
      <p:sp>
        <p:nvSpPr>
          <p:cNvPr id="30" name="Text 28"/>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31" name="Text 29"/>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21391</Words>
  <Application>Microsoft Office PowerPoint</Application>
  <PresentationFormat>Widescreen</PresentationFormat>
  <Paragraphs>2139</Paragraphs>
  <Slides>120</Slides>
  <Notes>120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120</vt:i4>
      </vt:variant>
    </vt:vector>
  </HeadingPairs>
  <TitlesOfParts>
    <vt:vector size="124" baseType="lpstr">
      <vt:lpstr>Arial</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Collections, Generics and Modern Java</dc:title>
  <dc:subject>PptxGenJS Presentation</dc:subject>
  <dc:creator>EduBridge</dc:creator>
  <cp:lastModifiedBy>Rakesh Kr</cp:lastModifiedBy>
  <cp:revision>2</cp:revision>
  <dcterms:created xsi:type="dcterms:W3CDTF">2026-08-19T03:16:47Z</dcterms:created>
  <dcterms:modified xsi:type="dcterms:W3CDTF">2026-08-31T03:59:04Z</dcterms:modified>
</cp:coreProperties>
</file>