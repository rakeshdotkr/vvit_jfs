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255" autoAdjust="0"/>
    <p:restoredTop sz="94610"/>
  </p:normalViewPr>
  <p:slideViewPr>
    <p:cSldViewPr snapToGrid="0" snapToObjects="1">
      <p:cViewPr>
        <p:scale>
          <a:sx n="125" d="100"/>
          <a:sy n="125" d="100"/>
        </p:scale>
        <p:origin x="-1109" y="-7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presProps" Target="presProp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viewProps" Target="viewProps.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811951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1.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1.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1.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1.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1.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1.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1.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1.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1.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1.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116.xml"/><Relationship Id="rId1" Type="http://schemas.openxmlformats.org/officeDocument/2006/relationships/slideLayout" Target="../slideLayouts/slideLayout1.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1.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118.xml"/><Relationship Id="rId1" Type="http://schemas.openxmlformats.org/officeDocument/2006/relationships/slideLayout" Target="../slideLayouts/slideLayout1.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119.xml"/><Relationship Id="rId1" Type="http://schemas.openxmlformats.org/officeDocument/2006/relationships/slideLayout" Target="../slideLayouts/slideLayout1.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1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81C24"/>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81C24"/>
          </a:solidFill>
          <a:ln w="12700">
            <a:solidFill>
              <a:srgbClr val="181C24"/>
            </a:solidFill>
            <a:prstDash val="solid"/>
          </a:ln>
        </p:spPr>
      </p:sp>
      <p:sp>
        <p:nvSpPr>
          <p:cNvPr id="5" name="Text 3"/>
          <p:cNvSpPr/>
          <p:nvPr/>
        </p:nvSpPr>
        <p:spPr>
          <a:xfrm>
            <a:off x="640080" y="2331720"/>
            <a:ext cx="5486400" cy="457200"/>
          </a:xfrm>
          <a:prstGeom prst="rect">
            <a:avLst/>
          </a:prstGeom>
          <a:noFill/>
          <a:ln/>
        </p:spPr>
        <p:txBody>
          <a:bodyPr wrap="square" lIns="0" tIns="0" rIns="0" bIns="0" rtlCol="0" anchor="ctr"/>
          <a:lstStyle/>
          <a:p>
            <a:pPr marL="0" indent="0">
              <a:buNone/>
            </a:pPr>
            <a:r>
              <a:rPr lang="en-US" sz="1600" b="1" kern="0" spc="300" dirty="0">
                <a:solidFill>
                  <a:srgbClr val="E8590C"/>
                </a:solidFill>
                <a:latin typeface="Times New Roman" pitchFamily="34" charset="0"/>
                <a:ea typeface="Times New Roman" pitchFamily="34" charset="-122"/>
                <a:cs typeface="Times New Roman" pitchFamily="34" charset="-120"/>
              </a:rPr>
              <a:t>JAVA</a:t>
            </a:r>
            <a:endParaRPr lang="en-US" sz="1600" dirty="0"/>
          </a:p>
        </p:txBody>
      </p:sp>
      <p:sp>
        <p:nvSpPr>
          <p:cNvPr id="6" name="Text 4"/>
          <p:cNvSpPr/>
          <p:nvPr/>
        </p:nvSpPr>
        <p:spPr>
          <a:xfrm>
            <a:off x="594360" y="2697480"/>
            <a:ext cx="10515600" cy="1737360"/>
          </a:xfrm>
          <a:prstGeom prst="rect">
            <a:avLst/>
          </a:prstGeom>
          <a:noFill/>
          <a:ln/>
        </p:spPr>
        <p:txBody>
          <a:bodyPr wrap="square" lIns="0" tIns="0" rIns="0" bIns="0" rtlCol="0" anchor="t"/>
          <a:lstStyle/>
          <a:p>
            <a:pPr marL="0" indent="0">
              <a:lnSpc>
                <a:spcPct val="105000"/>
              </a:lnSpc>
              <a:buNone/>
            </a:pPr>
            <a:r>
              <a:rPr lang="en-US" sz="4400" b="1" dirty="0">
                <a:solidFill>
                  <a:srgbClr val="FFFFFF"/>
                </a:solidFill>
                <a:latin typeface="Times New Roman" pitchFamily="34" charset="0"/>
                <a:ea typeface="Times New Roman" pitchFamily="34" charset="-122"/>
                <a:cs typeface="Times New Roman" pitchFamily="34" charset="-120"/>
              </a:rPr>
              <a:t>Advanced Java</a:t>
            </a:r>
            <a:endParaRPr lang="en-US" sz="4400" dirty="0"/>
          </a:p>
          <a:p>
            <a:pPr marL="0" indent="0">
              <a:lnSpc>
                <a:spcPct val="105000"/>
              </a:lnSpc>
              <a:buNone/>
            </a:pPr>
            <a:r>
              <a:rPr lang="en-US" sz="4400" b="1" dirty="0">
                <a:solidFill>
                  <a:srgbClr val="FFFFFF"/>
                </a:solidFill>
                <a:latin typeface="Times New Roman" pitchFamily="34" charset="0"/>
                <a:ea typeface="Times New Roman" pitchFamily="34" charset="-122"/>
                <a:cs typeface="Times New Roman" pitchFamily="34" charset="-120"/>
              </a:rPr>
              <a:t>&amp; OOP</a:t>
            </a:r>
            <a:endParaRPr lang="en-US" sz="4400" dirty="0"/>
          </a:p>
        </p:txBody>
      </p:sp>
      <p:sp>
        <p:nvSpPr>
          <p:cNvPr id="7" name="Shape 5"/>
          <p:cNvSpPr/>
          <p:nvPr/>
        </p:nvSpPr>
        <p:spPr>
          <a:xfrm>
            <a:off x="640080" y="4160520"/>
            <a:ext cx="1280160" cy="36576"/>
          </a:xfrm>
          <a:prstGeom prst="rect">
            <a:avLst/>
          </a:prstGeom>
          <a:solidFill>
            <a:srgbClr val="E8590C"/>
          </a:solidFill>
          <a:ln w="12700">
            <a:solidFill>
              <a:srgbClr val="000000"/>
            </a:solidFill>
            <a:prstDash val="solid"/>
          </a:ln>
        </p:spPr>
      </p:sp>
      <p:sp>
        <p:nvSpPr>
          <p:cNvPr id="8" name="Text 6"/>
          <p:cNvSpPr/>
          <p:nvPr/>
        </p:nvSpPr>
        <p:spPr>
          <a:xfrm>
            <a:off x="640080" y="4343400"/>
            <a:ext cx="9601200" cy="640080"/>
          </a:xfrm>
          <a:prstGeom prst="rect">
            <a:avLst/>
          </a:prstGeom>
          <a:noFill/>
          <a:ln/>
        </p:spPr>
        <p:txBody>
          <a:bodyPr wrap="square" lIns="0" tIns="0" rIns="0" bIns="0" rtlCol="0" anchor="t"/>
          <a:lstStyle/>
          <a:p>
            <a:pPr marL="0" indent="0">
              <a:buNone/>
            </a:pPr>
            <a:r>
              <a:rPr lang="en-US" sz="1800" dirty="0">
                <a:solidFill>
                  <a:srgbClr val="8C93A0"/>
                </a:solidFill>
                <a:latin typeface="Times New Roman" pitchFamily="34" charset="0"/>
                <a:ea typeface="Times New Roman" pitchFamily="34" charset="-122"/>
                <a:cs typeface="Times New Roman" pitchFamily="34" charset="-120"/>
              </a:rPr>
              <a:t>Classes, Objects, Constructors, this, static, Access Modifiers, Encapsulation, Inheritance, Polymorphism, Abstraction, Interfaces, Packages and Exception Handling</a:t>
            </a:r>
            <a:endParaRPr lang="en-US" sz="1800" dirty="0"/>
          </a:p>
        </p:txBody>
      </p:sp>
      <p:sp>
        <p:nvSpPr>
          <p:cNvPr id="9" name="Text 7"/>
          <p:cNvSpPr/>
          <p:nvPr/>
        </p:nvSpPr>
        <p:spPr>
          <a:xfrm>
            <a:off x="640080" y="5532120"/>
            <a:ext cx="9601200" cy="320040"/>
          </a:xfrm>
          <a:prstGeom prst="rect">
            <a:avLst/>
          </a:prstGeom>
          <a:noFill/>
          <a:ln/>
        </p:spPr>
        <p:txBody>
          <a:bodyPr wrap="square" lIns="0" tIns="0" rIns="0" bIns="0" rtlCol="0" anchor="ctr"/>
          <a:lstStyle/>
          <a:p>
            <a:pPr marL="0" indent="0">
              <a:buNone/>
            </a:pPr>
            <a:r>
              <a:rPr lang="en-US" sz="1200" dirty="0">
                <a:solidFill>
                  <a:srgbClr val="8C93A0"/>
                </a:solidFill>
                <a:latin typeface="Times New Roman" pitchFamily="34" charset="0"/>
                <a:ea typeface="Times New Roman" pitchFamily="34" charset="-122"/>
                <a:cs typeface="Times New Roman" pitchFamily="34" charset="-120"/>
              </a:rPr>
              <a:t>Advanced Java and OOP  |  Session 2 of 12  |  Duration: 6 Hours</a:t>
            </a:r>
            <a:endParaRPr lang="en-US" sz="1200" dirty="0"/>
          </a:p>
        </p:txBody>
      </p:sp>
      <p:sp>
        <p:nvSpPr>
          <p:cNvPr id="10" name="Shape 8"/>
          <p:cNvSpPr/>
          <p:nvPr/>
        </p:nvSpPr>
        <p:spPr>
          <a:xfrm>
            <a:off x="0" y="0"/>
            <a:ext cx="12191695" cy="384048"/>
          </a:xfrm>
          <a:prstGeom prst="rect">
            <a:avLst/>
          </a:prstGeom>
          <a:solidFill>
            <a:srgbClr val="1B2A4A"/>
          </a:solidFill>
          <a:ln w="12700">
            <a:solidFill>
              <a:srgbClr val="1B2A4A"/>
            </a:solidFill>
            <a:prstDash val="solid"/>
          </a:ln>
        </p:spPr>
      </p:sp>
      <p:sp>
        <p:nvSpPr>
          <p:cNvPr id="11" name="Text 9"/>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2" name="Shape 10"/>
          <p:cNvSpPr/>
          <p:nvPr/>
        </p:nvSpPr>
        <p:spPr>
          <a:xfrm>
            <a:off x="219456" y="301752"/>
            <a:ext cx="960120" cy="0"/>
          </a:xfrm>
          <a:prstGeom prst="line">
            <a:avLst/>
          </a:prstGeom>
          <a:noFill/>
          <a:ln w="9525">
            <a:solidFill>
              <a:srgbClr val="4A5570"/>
            </a:solidFill>
            <a:prstDash val="solid"/>
          </a:ln>
        </p:spPr>
      </p:sp>
      <p:sp>
        <p:nvSpPr>
          <p:cNvPr id="13" name="Text 11"/>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14" name="Text 12"/>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15" name="Text 13"/>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16" name="Shape 14"/>
          <p:cNvSpPr/>
          <p:nvPr/>
        </p:nvSpPr>
        <p:spPr>
          <a:xfrm>
            <a:off x="0" y="6291072"/>
            <a:ext cx="12191695" cy="566928"/>
          </a:xfrm>
          <a:prstGeom prst="rect">
            <a:avLst/>
          </a:prstGeom>
          <a:solidFill>
            <a:srgbClr val="1B2A4A"/>
          </a:solidFill>
          <a:ln w="12700">
            <a:solidFill>
              <a:srgbClr val="1B2A4A"/>
            </a:solidFill>
            <a:prstDash val="solid"/>
          </a:ln>
        </p:spPr>
      </p:sp>
      <p:sp>
        <p:nvSpPr>
          <p:cNvPr id="17" name="Text 15"/>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18" name="Text 16"/>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73152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AGENDA</a:t>
            </a:r>
            <a:endParaRPr lang="en-US" sz="1300" dirty="0"/>
          </a:p>
        </p:txBody>
      </p:sp>
      <p:sp>
        <p:nvSpPr>
          <p:cNvPr id="3" name="Text 1"/>
          <p:cNvSpPr/>
          <p:nvPr/>
        </p:nvSpPr>
        <p:spPr>
          <a:xfrm>
            <a:off x="548640" y="786384"/>
            <a:ext cx="9144000" cy="640080"/>
          </a:xfrm>
          <a:prstGeom prst="rect">
            <a:avLst/>
          </a:prstGeom>
          <a:noFill/>
          <a:ln/>
        </p:spPr>
        <p:txBody>
          <a:bodyPr wrap="square" lIns="0" tIns="0" rIns="0" bIns="0" rtlCol="0" anchor="ctr"/>
          <a:lstStyle/>
          <a:p>
            <a:pPr marL="0" indent="0">
              <a:buNone/>
            </a:pPr>
            <a:r>
              <a:rPr lang="en-US" sz="2800" b="1" dirty="0">
                <a:solidFill>
                  <a:srgbClr val="1A202C"/>
                </a:solidFill>
                <a:latin typeface="Times New Roman" pitchFamily="34" charset="0"/>
                <a:ea typeface="Times New Roman" pitchFamily="34" charset="-122"/>
                <a:cs typeface="Times New Roman" pitchFamily="34" charset="-120"/>
              </a:rPr>
              <a:t>What We'll Cover</a:t>
            </a:r>
            <a:endParaRPr lang="en-US" sz="2800" dirty="0"/>
          </a:p>
        </p:txBody>
      </p:sp>
      <p:sp>
        <p:nvSpPr>
          <p:cNvPr id="4" name="Text 2"/>
          <p:cNvSpPr/>
          <p:nvPr/>
        </p:nvSpPr>
        <p:spPr>
          <a:xfrm>
            <a:off x="548640" y="1719072"/>
            <a:ext cx="502920" cy="457200"/>
          </a:xfrm>
          <a:prstGeom prst="rect">
            <a:avLst/>
          </a:prstGeom>
          <a:noFill/>
          <a:ln/>
        </p:spPr>
        <p:txBody>
          <a:bodyPr wrap="square" lIns="0" tIns="0" rIns="0" bIns="0" rtlCol="0" anchor="ctr"/>
          <a:lstStyle/>
          <a:p>
            <a:pPr marL="0" indent="0">
              <a:buNone/>
            </a:pPr>
            <a:r>
              <a:rPr lang="en-US" sz="1500" b="1" dirty="0">
                <a:solidFill>
                  <a:srgbClr val="E8590C"/>
                </a:solidFill>
                <a:latin typeface="Times New Roman" pitchFamily="34" charset="0"/>
                <a:ea typeface="Times New Roman" pitchFamily="34" charset="-122"/>
                <a:cs typeface="Times New Roman" pitchFamily="34" charset="-120"/>
              </a:rPr>
              <a:t>01</a:t>
            </a:r>
            <a:endParaRPr lang="en-US" sz="1500" dirty="0"/>
          </a:p>
        </p:txBody>
      </p:sp>
      <p:sp>
        <p:nvSpPr>
          <p:cNvPr id="5" name="Text 3"/>
          <p:cNvSpPr/>
          <p:nvPr/>
        </p:nvSpPr>
        <p:spPr>
          <a:xfrm>
            <a:off x="1051560" y="1719072"/>
            <a:ext cx="4892040" cy="457200"/>
          </a:xfrm>
          <a:prstGeom prst="rect">
            <a:avLst/>
          </a:prstGeom>
          <a:noFill/>
          <a:ln/>
        </p:spPr>
        <p:txBody>
          <a:bodyPr wrap="square" lIns="0" tIns="0" rIns="0" bIns="0" rtlCol="0" anchor="ctr"/>
          <a:lstStyle/>
          <a:p>
            <a:pPr marL="0" indent="0">
              <a:buNone/>
            </a:pPr>
            <a:r>
              <a:rPr lang="en-US" sz="1500" dirty="0">
                <a:solidFill>
                  <a:srgbClr val="1A202C"/>
                </a:solidFill>
                <a:latin typeface="Times New Roman" pitchFamily="34" charset="0"/>
                <a:ea typeface="Times New Roman" pitchFamily="34" charset="-122"/>
                <a:cs typeface="Times New Roman" pitchFamily="34" charset="-120"/>
              </a:rPr>
              <a:t>Classes and Objects</a:t>
            </a:r>
            <a:endParaRPr lang="en-US" sz="1500" dirty="0"/>
          </a:p>
        </p:txBody>
      </p:sp>
      <p:sp>
        <p:nvSpPr>
          <p:cNvPr id="6" name="Text 4"/>
          <p:cNvSpPr/>
          <p:nvPr/>
        </p:nvSpPr>
        <p:spPr>
          <a:xfrm>
            <a:off x="548640" y="2267712"/>
            <a:ext cx="502920" cy="457200"/>
          </a:xfrm>
          <a:prstGeom prst="rect">
            <a:avLst/>
          </a:prstGeom>
          <a:noFill/>
          <a:ln/>
        </p:spPr>
        <p:txBody>
          <a:bodyPr wrap="square" lIns="0" tIns="0" rIns="0" bIns="0" rtlCol="0" anchor="ctr"/>
          <a:lstStyle/>
          <a:p>
            <a:pPr marL="0" indent="0">
              <a:buNone/>
            </a:pPr>
            <a:r>
              <a:rPr lang="en-US" sz="1500" b="1" dirty="0">
                <a:solidFill>
                  <a:srgbClr val="E8590C"/>
                </a:solidFill>
                <a:latin typeface="Times New Roman" pitchFamily="34" charset="0"/>
                <a:ea typeface="Times New Roman" pitchFamily="34" charset="-122"/>
                <a:cs typeface="Times New Roman" pitchFamily="34" charset="-120"/>
              </a:rPr>
              <a:t>02</a:t>
            </a:r>
            <a:endParaRPr lang="en-US" sz="1500" dirty="0"/>
          </a:p>
        </p:txBody>
      </p:sp>
      <p:sp>
        <p:nvSpPr>
          <p:cNvPr id="7" name="Text 5"/>
          <p:cNvSpPr/>
          <p:nvPr/>
        </p:nvSpPr>
        <p:spPr>
          <a:xfrm>
            <a:off x="1051560" y="2267712"/>
            <a:ext cx="4892040" cy="457200"/>
          </a:xfrm>
          <a:prstGeom prst="rect">
            <a:avLst/>
          </a:prstGeom>
          <a:noFill/>
          <a:ln/>
        </p:spPr>
        <p:txBody>
          <a:bodyPr wrap="square" lIns="0" tIns="0" rIns="0" bIns="0" rtlCol="0" anchor="ctr"/>
          <a:lstStyle/>
          <a:p>
            <a:pPr marL="0" indent="0">
              <a:buNone/>
            </a:pPr>
            <a:r>
              <a:rPr lang="en-US" sz="1500" dirty="0">
                <a:solidFill>
                  <a:srgbClr val="1A202C"/>
                </a:solidFill>
                <a:latin typeface="Times New Roman" pitchFamily="34" charset="0"/>
                <a:ea typeface="Times New Roman" pitchFamily="34" charset="-122"/>
                <a:cs typeface="Times New Roman" pitchFamily="34" charset="-120"/>
              </a:rPr>
              <a:t>Constructors</a:t>
            </a:r>
            <a:endParaRPr lang="en-US" sz="1500" dirty="0"/>
          </a:p>
        </p:txBody>
      </p:sp>
      <p:sp>
        <p:nvSpPr>
          <p:cNvPr id="8" name="Text 6"/>
          <p:cNvSpPr/>
          <p:nvPr/>
        </p:nvSpPr>
        <p:spPr>
          <a:xfrm>
            <a:off x="548640" y="2816352"/>
            <a:ext cx="502920" cy="457200"/>
          </a:xfrm>
          <a:prstGeom prst="rect">
            <a:avLst/>
          </a:prstGeom>
          <a:noFill/>
          <a:ln/>
        </p:spPr>
        <p:txBody>
          <a:bodyPr wrap="square" lIns="0" tIns="0" rIns="0" bIns="0" rtlCol="0" anchor="ctr"/>
          <a:lstStyle/>
          <a:p>
            <a:pPr marL="0" indent="0">
              <a:buNone/>
            </a:pPr>
            <a:r>
              <a:rPr lang="en-US" sz="1500" b="1" dirty="0">
                <a:solidFill>
                  <a:srgbClr val="E8590C"/>
                </a:solidFill>
                <a:latin typeface="Times New Roman" pitchFamily="34" charset="0"/>
                <a:ea typeface="Times New Roman" pitchFamily="34" charset="-122"/>
                <a:cs typeface="Times New Roman" pitchFamily="34" charset="-120"/>
              </a:rPr>
              <a:t>03</a:t>
            </a:r>
            <a:endParaRPr lang="en-US" sz="1500" dirty="0"/>
          </a:p>
        </p:txBody>
      </p:sp>
      <p:sp>
        <p:nvSpPr>
          <p:cNvPr id="9" name="Text 7"/>
          <p:cNvSpPr/>
          <p:nvPr/>
        </p:nvSpPr>
        <p:spPr>
          <a:xfrm>
            <a:off x="1051560" y="2816352"/>
            <a:ext cx="4892040" cy="457200"/>
          </a:xfrm>
          <a:prstGeom prst="rect">
            <a:avLst/>
          </a:prstGeom>
          <a:noFill/>
          <a:ln/>
        </p:spPr>
        <p:txBody>
          <a:bodyPr wrap="square" lIns="0" tIns="0" rIns="0" bIns="0" rtlCol="0" anchor="ctr"/>
          <a:lstStyle/>
          <a:p>
            <a:pPr marL="0" indent="0">
              <a:buNone/>
            </a:pPr>
            <a:r>
              <a:rPr lang="en-US" sz="1500" dirty="0">
                <a:solidFill>
                  <a:srgbClr val="1A202C"/>
                </a:solidFill>
                <a:latin typeface="Times New Roman" pitchFamily="34" charset="0"/>
                <a:ea typeface="Times New Roman" pitchFamily="34" charset="-122"/>
                <a:cs typeface="Times New Roman" pitchFamily="34" charset="-120"/>
              </a:rPr>
              <a:t>The this Keyword</a:t>
            </a:r>
            <a:endParaRPr lang="en-US" sz="1500" dirty="0"/>
          </a:p>
        </p:txBody>
      </p:sp>
      <p:sp>
        <p:nvSpPr>
          <p:cNvPr id="10" name="Text 8"/>
          <p:cNvSpPr/>
          <p:nvPr/>
        </p:nvSpPr>
        <p:spPr>
          <a:xfrm>
            <a:off x="548640" y="3364992"/>
            <a:ext cx="502920" cy="457200"/>
          </a:xfrm>
          <a:prstGeom prst="rect">
            <a:avLst/>
          </a:prstGeom>
          <a:noFill/>
          <a:ln/>
        </p:spPr>
        <p:txBody>
          <a:bodyPr wrap="square" lIns="0" tIns="0" rIns="0" bIns="0" rtlCol="0" anchor="ctr"/>
          <a:lstStyle/>
          <a:p>
            <a:pPr marL="0" indent="0">
              <a:buNone/>
            </a:pPr>
            <a:r>
              <a:rPr lang="en-US" sz="1500" b="1" dirty="0">
                <a:solidFill>
                  <a:srgbClr val="E8590C"/>
                </a:solidFill>
                <a:latin typeface="Times New Roman" pitchFamily="34" charset="0"/>
                <a:ea typeface="Times New Roman" pitchFamily="34" charset="-122"/>
                <a:cs typeface="Times New Roman" pitchFamily="34" charset="-120"/>
              </a:rPr>
              <a:t>04</a:t>
            </a:r>
            <a:endParaRPr lang="en-US" sz="1500" dirty="0"/>
          </a:p>
        </p:txBody>
      </p:sp>
      <p:sp>
        <p:nvSpPr>
          <p:cNvPr id="11" name="Text 9"/>
          <p:cNvSpPr/>
          <p:nvPr/>
        </p:nvSpPr>
        <p:spPr>
          <a:xfrm>
            <a:off x="1051560" y="3364992"/>
            <a:ext cx="4892040" cy="457200"/>
          </a:xfrm>
          <a:prstGeom prst="rect">
            <a:avLst/>
          </a:prstGeom>
          <a:noFill/>
          <a:ln/>
        </p:spPr>
        <p:txBody>
          <a:bodyPr wrap="square" lIns="0" tIns="0" rIns="0" bIns="0" rtlCol="0" anchor="ctr"/>
          <a:lstStyle/>
          <a:p>
            <a:pPr marL="0" indent="0">
              <a:buNone/>
            </a:pPr>
            <a:r>
              <a:rPr lang="en-US" sz="1500" dirty="0">
                <a:solidFill>
                  <a:srgbClr val="1A202C"/>
                </a:solidFill>
                <a:latin typeface="Times New Roman" pitchFamily="34" charset="0"/>
                <a:ea typeface="Times New Roman" pitchFamily="34" charset="-122"/>
                <a:cs typeface="Times New Roman" pitchFamily="34" charset="-120"/>
              </a:rPr>
              <a:t>The static Keyword</a:t>
            </a:r>
            <a:endParaRPr lang="en-US" sz="1500" dirty="0"/>
          </a:p>
        </p:txBody>
      </p:sp>
      <p:sp>
        <p:nvSpPr>
          <p:cNvPr id="12" name="Text 10"/>
          <p:cNvSpPr/>
          <p:nvPr/>
        </p:nvSpPr>
        <p:spPr>
          <a:xfrm>
            <a:off x="548640" y="3913632"/>
            <a:ext cx="502920" cy="457200"/>
          </a:xfrm>
          <a:prstGeom prst="rect">
            <a:avLst/>
          </a:prstGeom>
          <a:noFill/>
          <a:ln/>
        </p:spPr>
        <p:txBody>
          <a:bodyPr wrap="square" lIns="0" tIns="0" rIns="0" bIns="0" rtlCol="0" anchor="ctr"/>
          <a:lstStyle/>
          <a:p>
            <a:pPr marL="0" indent="0">
              <a:buNone/>
            </a:pPr>
            <a:r>
              <a:rPr lang="en-US" sz="1500" b="1" dirty="0">
                <a:solidFill>
                  <a:srgbClr val="E8590C"/>
                </a:solidFill>
                <a:latin typeface="Times New Roman" pitchFamily="34" charset="0"/>
                <a:ea typeface="Times New Roman" pitchFamily="34" charset="-122"/>
                <a:cs typeface="Times New Roman" pitchFamily="34" charset="-120"/>
              </a:rPr>
              <a:t>05</a:t>
            </a:r>
            <a:endParaRPr lang="en-US" sz="1500" dirty="0"/>
          </a:p>
        </p:txBody>
      </p:sp>
      <p:sp>
        <p:nvSpPr>
          <p:cNvPr id="13" name="Text 11"/>
          <p:cNvSpPr/>
          <p:nvPr/>
        </p:nvSpPr>
        <p:spPr>
          <a:xfrm>
            <a:off x="1051560" y="3913632"/>
            <a:ext cx="4892040" cy="457200"/>
          </a:xfrm>
          <a:prstGeom prst="rect">
            <a:avLst/>
          </a:prstGeom>
          <a:noFill/>
          <a:ln/>
        </p:spPr>
        <p:txBody>
          <a:bodyPr wrap="square" lIns="0" tIns="0" rIns="0" bIns="0" rtlCol="0" anchor="ctr"/>
          <a:lstStyle/>
          <a:p>
            <a:pPr marL="0" indent="0">
              <a:buNone/>
            </a:pPr>
            <a:r>
              <a:rPr lang="en-US" sz="1500" dirty="0">
                <a:solidFill>
                  <a:srgbClr val="1A202C"/>
                </a:solidFill>
                <a:latin typeface="Times New Roman" pitchFamily="34" charset="0"/>
                <a:ea typeface="Times New Roman" pitchFamily="34" charset="-122"/>
                <a:cs typeface="Times New Roman" pitchFamily="34" charset="-120"/>
              </a:rPr>
              <a:t>Access Modifiers and Encapsulation</a:t>
            </a:r>
            <a:endParaRPr lang="en-US" sz="1500" dirty="0"/>
          </a:p>
        </p:txBody>
      </p:sp>
      <p:sp>
        <p:nvSpPr>
          <p:cNvPr id="14" name="Text 12"/>
          <p:cNvSpPr/>
          <p:nvPr/>
        </p:nvSpPr>
        <p:spPr>
          <a:xfrm>
            <a:off x="6263640" y="1719072"/>
            <a:ext cx="502920" cy="457200"/>
          </a:xfrm>
          <a:prstGeom prst="rect">
            <a:avLst/>
          </a:prstGeom>
          <a:noFill/>
          <a:ln/>
        </p:spPr>
        <p:txBody>
          <a:bodyPr wrap="square" lIns="0" tIns="0" rIns="0" bIns="0" rtlCol="0" anchor="ctr"/>
          <a:lstStyle/>
          <a:p>
            <a:pPr marL="0" indent="0">
              <a:buNone/>
            </a:pPr>
            <a:r>
              <a:rPr lang="en-US" sz="1500" b="1" dirty="0">
                <a:solidFill>
                  <a:srgbClr val="E8590C"/>
                </a:solidFill>
                <a:latin typeface="Times New Roman" pitchFamily="34" charset="0"/>
                <a:ea typeface="Times New Roman" pitchFamily="34" charset="-122"/>
                <a:cs typeface="Times New Roman" pitchFamily="34" charset="-120"/>
              </a:rPr>
              <a:t>06</a:t>
            </a:r>
            <a:endParaRPr lang="en-US" sz="1500" dirty="0"/>
          </a:p>
        </p:txBody>
      </p:sp>
      <p:sp>
        <p:nvSpPr>
          <p:cNvPr id="15" name="Text 13"/>
          <p:cNvSpPr/>
          <p:nvPr/>
        </p:nvSpPr>
        <p:spPr>
          <a:xfrm>
            <a:off x="6766560" y="1719072"/>
            <a:ext cx="4892040" cy="457200"/>
          </a:xfrm>
          <a:prstGeom prst="rect">
            <a:avLst/>
          </a:prstGeom>
          <a:noFill/>
          <a:ln/>
        </p:spPr>
        <p:txBody>
          <a:bodyPr wrap="square" lIns="0" tIns="0" rIns="0" bIns="0" rtlCol="0" anchor="ctr"/>
          <a:lstStyle/>
          <a:p>
            <a:pPr marL="0" indent="0">
              <a:buNone/>
            </a:pPr>
            <a:r>
              <a:rPr lang="en-US" sz="1500" dirty="0">
                <a:solidFill>
                  <a:srgbClr val="1A202C"/>
                </a:solidFill>
                <a:latin typeface="Times New Roman" pitchFamily="34" charset="0"/>
                <a:ea typeface="Times New Roman" pitchFamily="34" charset="-122"/>
                <a:cs typeface="Times New Roman" pitchFamily="34" charset="-120"/>
              </a:rPr>
              <a:t>Inheritance</a:t>
            </a:r>
            <a:endParaRPr lang="en-US" sz="1500" dirty="0"/>
          </a:p>
        </p:txBody>
      </p:sp>
      <p:sp>
        <p:nvSpPr>
          <p:cNvPr id="16" name="Text 14"/>
          <p:cNvSpPr/>
          <p:nvPr/>
        </p:nvSpPr>
        <p:spPr>
          <a:xfrm>
            <a:off x="6263640" y="2267712"/>
            <a:ext cx="502920" cy="457200"/>
          </a:xfrm>
          <a:prstGeom prst="rect">
            <a:avLst/>
          </a:prstGeom>
          <a:noFill/>
          <a:ln/>
        </p:spPr>
        <p:txBody>
          <a:bodyPr wrap="square" lIns="0" tIns="0" rIns="0" bIns="0" rtlCol="0" anchor="ctr"/>
          <a:lstStyle/>
          <a:p>
            <a:pPr marL="0" indent="0">
              <a:buNone/>
            </a:pPr>
            <a:r>
              <a:rPr lang="en-US" sz="1500" b="1" dirty="0">
                <a:solidFill>
                  <a:srgbClr val="E8590C"/>
                </a:solidFill>
                <a:latin typeface="Times New Roman" pitchFamily="34" charset="0"/>
                <a:ea typeface="Times New Roman" pitchFamily="34" charset="-122"/>
                <a:cs typeface="Times New Roman" pitchFamily="34" charset="-120"/>
              </a:rPr>
              <a:t>07</a:t>
            </a:r>
            <a:endParaRPr lang="en-US" sz="1500" dirty="0"/>
          </a:p>
        </p:txBody>
      </p:sp>
      <p:sp>
        <p:nvSpPr>
          <p:cNvPr id="17" name="Text 15"/>
          <p:cNvSpPr/>
          <p:nvPr/>
        </p:nvSpPr>
        <p:spPr>
          <a:xfrm>
            <a:off x="6766560" y="2267712"/>
            <a:ext cx="4892040" cy="457200"/>
          </a:xfrm>
          <a:prstGeom prst="rect">
            <a:avLst/>
          </a:prstGeom>
          <a:noFill/>
          <a:ln/>
        </p:spPr>
        <p:txBody>
          <a:bodyPr wrap="square" lIns="0" tIns="0" rIns="0" bIns="0" rtlCol="0" anchor="ctr"/>
          <a:lstStyle/>
          <a:p>
            <a:pPr marL="0" indent="0">
              <a:buNone/>
            </a:pPr>
            <a:r>
              <a:rPr lang="en-US" sz="1500" dirty="0">
                <a:solidFill>
                  <a:srgbClr val="1A202C"/>
                </a:solidFill>
                <a:latin typeface="Times New Roman" pitchFamily="34" charset="0"/>
                <a:ea typeface="Times New Roman" pitchFamily="34" charset="-122"/>
                <a:cs typeface="Times New Roman" pitchFamily="34" charset="-120"/>
              </a:rPr>
              <a:t>Polymorphism</a:t>
            </a:r>
            <a:endParaRPr lang="en-US" sz="1500" dirty="0"/>
          </a:p>
        </p:txBody>
      </p:sp>
      <p:sp>
        <p:nvSpPr>
          <p:cNvPr id="18" name="Text 16"/>
          <p:cNvSpPr/>
          <p:nvPr/>
        </p:nvSpPr>
        <p:spPr>
          <a:xfrm>
            <a:off x="6263640" y="2816352"/>
            <a:ext cx="502920" cy="457200"/>
          </a:xfrm>
          <a:prstGeom prst="rect">
            <a:avLst/>
          </a:prstGeom>
          <a:noFill/>
          <a:ln/>
        </p:spPr>
        <p:txBody>
          <a:bodyPr wrap="square" lIns="0" tIns="0" rIns="0" bIns="0" rtlCol="0" anchor="ctr"/>
          <a:lstStyle/>
          <a:p>
            <a:pPr marL="0" indent="0">
              <a:buNone/>
            </a:pPr>
            <a:r>
              <a:rPr lang="en-US" sz="1500" b="1" dirty="0">
                <a:solidFill>
                  <a:srgbClr val="E8590C"/>
                </a:solidFill>
                <a:latin typeface="Times New Roman" pitchFamily="34" charset="0"/>
                <a:ea typeface="Times New Roman" pitchFamily="34" charset="-122"/>
                <a:cs typeface="Times New Roman" pitchFamily="34" charset="-120"/>
              </a:rPr>
              <a:t>08</a:t>
            </a:r>
            <a:endParaRPr lang="en-US" sz="1500" dirty="0"/>
          </a:p>
        </p:txBody>
      </p:sp>
      <p:sp>
        <p:nvSpPr>
          <p:cNvPr id="19" name="Text 17"/>
          <p:cNvSpPr/>
          <p:nvPr/>
        </p:nvSpPr>
        <p:spPr>
          <a:xfrm>
            <a:off x="6766560" y="2816352"/>
            <a:ext cx="4892040" cy="457200"/>
          </a:xfrm>
          <a:prstGeom prst="rect">
            <a:avLst/>
          </a:prstGeom>
          <a:noFill/>
          <a:ln/>
        </p:spPr>
        <p:txBody>
          <a:bodyPr wrap="square" lIns="0" tIns="0" rIns="0" bIns="0" rtlCol="0" anchor="ctr"/>
          <a:lstStyle/>
          <a:p>
            <a:pPr marL="0" indent="0">
              <a:buNone/>
            </a:pPr>
            <a:r>
              <a:rPr lang="en-US" sz="1500" dirty="0">
                <a:solidFill>
                  <a:srgbClr val="1A202C"/>
                </a:solidFill>
                <a:latin typeface="Times New Roman" pitchFamily="34" charset="0"/>
                <a:ea typeface="Times New Roman" pitchFamily="34" charset="-122"/>
                <a:cs typeface="Times New Roman" pitchFamily="34" charset="-120"/>
              </a:rPr>
              <a:t>Abstraction and Interfaces</a:t>
            </a:r>
            <a:endParaRPr lang="en-US" sz="1500" dirty="0"/>
          </a:p>
        </p:txBody>
      </p:sp>
      <p:sp>
        <p:nvSpPr>
          <p:cNvPr id="20" name="Text 18"/>
          <p:cNvSpPr/>
          <p:nvPr/>
        </p:nvSpPr>
        <p:spPr>
          <a:xfrm>
            <a:off x="6263640" y="3364992"/>
            <a:ext cx="502920" cy="457200"/>
          </a:xfrm>
          <a:prstGeom prst="rect">
            <a:avLst/>
          </a:prstGeom>
          <a:noFill/>
          <a:ln/>
        </p:spPr>
        <p:txBody>
          <a:bodyPr wrap="square" lIns="0" tIns="0" rIns="0" bIns="0" rtlCol="0" anchor="ctr"/>
          <a:lstStyle/>
          <a:p>
            <a:pPr marL="0" indent="0">
              <a:buNone/>
            </a:pPr>
            <a:r>
              <a:rPr lang="en-US" sz="1500" b="1" dirty="0">
                <a:solidFill>
                  <a:srgbClr val="E8590C"/>
                </a:solidFill>
                <a:latin typeface="Times New Roman" pitchFamily="34" charset="0"/>
                <a:ea typeface="Times New Roman" pitchFamily="34" charset="-122"/>
                <a:cs typeface="Times New Roman" pitchFamily="34" charset="-120"/>
              </a:rPr>
              <a:t>09</a:t>
            </a:r>
            <a:endParaRPr lang="en-US" sz="1500" dirty="0"/>
          </a:p>
        </p:txBody>
      </p:sp>
      <p:sp>
        <p:nvSpPr>
          <p:cNvPr id="21" name="Text 19"/>
          <p:cNvSpPr/>
          <p:nvPr/>
        </p:nvSpPr>
        <p:spPr>
          <a:xfrm>
            <a:off x="6766560" y="3364992"/>
            <a:ext cx="4892040" cy="457200"/>
          </a:xfrm>
          <a:prstGeom prst="rect">
            <a:avLst/>
          </a:prstGeom>
          <a:noFill/>
          <a:ln/>
        </p:spPr>
        <p:txBody>
          <a:bodyPr wrap="square" lIns="0" tIns="0" rIns="0" bIns="0" rtlCol="0" anchor="ctr"/>
          <a:lstStyle/>
          <a:p>
            <a:pPr marL="0" indent="0">
              <a:buNone/>
            </a:pPr>
            <a:r>
              <a:rPr lang="en-US" sz="1500" dirty="0">
                <a:solidFill>
                  <a:srgbClr val="1A202C"/>
                </a:solidFill>
                <a:latin typeface="Times New Roman" pitchFamily="34" charset="0"/>
                <a:ea typeface="Times New Roman" pitchFamily="34" charset="-122"/>
                <a:cs typeface="Times New Roman" pitchFamily="34" charset="-120"/>
              </a:rPr>
              <a:t>Packages</a:t>
            </a:r>
            <a:endParaRPr lang="en-US" sz="1500" dirty="0"/>
          </a:p>
        </p:txBody>
      </p:sp>
      <p:sp>
        <p:nvSpPr>
          <p:cNvPr id="22" name="Text 20"/>
          <p:cNvSpPr/>
          <p:nvPr/>
        </p:nvSpPr>
        <p:spPr>
          <a:xfrm>
            <a:off x="6263640" y="3913632"/>
            <a:ext cx="502920" cy="457200"/>
          </a:xfrm>
          <a:prstGeom prst="rect">
            <a:avLst/>
          </a:prstGeom>
          <a:noFill/>
          <a:ln/>
        </p:spPr>
        <p:txBody>
          <a:bodyPr wrap="square" lIns="0" tIns="0" rIns="0" bIns="0" rtlCol="0" anchor="ctr"/>
          <a:lstStyle/>
          <a:p>
            <a:pPr marL="0" indent="0">
              <a:buNone/>
            </a:pPr>
            <a:r>
              <a:rPr lang="en-US" sz="1500" b="1" dirty="0">
                <a:solidFill>
                  <a:srgbClr val="E8590C"/>
                </a:solidFill>
                <a:latin typeface="Times New Roman" pitchFamily="34" charset="0"/>
                <a:ea typeface="Times New Roman" pitchFamily="34" charset="-122"/>
                <a:cs typeface="Times New Roman" pitchFamily="34" charset="-120"/>
              </a:rPr>
              <a:t>10</a:t>
            </a:r>
            <a:endParaRPr lang="en-US" sz="1500" dirty="0"/>
          </a:p>
        </p:txBody>
      </p:sp>
      <p:sp>
        <p:nvSpPr>
          <p:cNvPr id="23" name="Text 21"/>
          <p:cNvSpPr/>
          <p:nvPr/>
        </p:nvSpPr>
        <p:spPr>
          <a:xfrm>
            <a:off x="6766560" y="3913632"/>
            <a:ext cx="4892040" cy="457200"/>
          </a:xfrm>
          <a:prstGeom prst="rect">
            <a:avLst/>
          </a:prstGeom>
          <a:noFill/>
          <a:ln/>
        </p:spPr>
        <p:txBody>
          <a:bodyPr wrap="square" lIns="0" tIns="0" rIns="0" bIns="0" rtlCol="0" anchor="ctr"/>
          <a:lstStyle/>
          <a:p>
            <a:pPr marL="0" indent="0">
              <a:buNone/>
            </a:pPr>
            <a:r>
              <a:rPr lang="en-US" sz="1500" dirty="0">
                <a:solidFill>
                  <a:srgbClr val="1A202C"/>
                </a:solidFill>
                <a:latin typeface="Times New Roman" pitchFamily="34" charset="0"/>
                <a:ea typeface="Times New Roman" pitchFamily="34" charset="-122"/>
                <a:cs typeface="Times New Roman" pitchFamily="34" charset="-120"/>
              </a:rPr>
              <a:t>Exception Handling and Custom Exceptions</a:t>
            </a:r>
            <a:endParaRPr lang="en-US" sz="1500" dirty="0"/>
          </a:p>
        </p:txBody>
      </p:sp>
      <p:sp>
        <p:nvSpPr>
          <p:cNvPr id="24" name="Shape 22"/>
          <p:cNvSpPr/>
          <p:nvPr/>
        </p:nvSpPr>
        <p:spPr>
          <a:xfrm>
            <a:off x="0" y="0"/>
            <a:ext cx="12191695" cy="384048"/>
          </a:xfrm>
          <a:prstGeom prst="rect">
            <a:avLst/>
          </a:prstGeom>
          <a:solidFill>
            <a:srgbClr val="1B2A4A"/>
          </a:solidFill>
          <a:ln w="12700">
            <a:solidFill>
              <a:srgbClr val="1B2A4A"/>
            </a:solidFill>
            <a:prstDash val="solid"/>
          </a:ln>
        </p:spPr>
      </p:sp>
      <p:sp>
        <p:nvSpPr>
          <p:cNvPr id="25" name="Text 23"/>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26" name="Shape 24"/>
          <p:cNvSpPr/>
          <p:nvPr/>
        </p:nvSpPr>
        <p:spPr>
          <a:xfrm>
            <a:off x="219456" y="301752"/>
            <a:ext cx="960120" cy="0"/>
          </a:xfrm>
          <a:prstGeom prst="line">
            <a:avLst/>
          </a:prstGeom>
          <a:noFill/>
          <a:ln w="9525">
            <a:solidFill>
              <a:srgbClr val="4A5570"/>
            </a:solidFill>
            <a:prstDash val="solid"/>
          </a:ln>
        </p:spPr>
      </p:sp>
      <p:sp>
        <p:nvSpPr>
          <p:cNvPr id="27" name="Text 25"/>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8" name="Text 26"/>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9" name="Text 27"/>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30" name="Shape 28"/>
          <p:cNvSpPr/>
          <p:nvPr/>
        </p:nvSpPr>
        <p:spPr>
          <a:xfrm>
            <a:off x="0" y="6291072"/>
            <a:ext cx="12191695" cy="566928"/>
          </a:xfrm>
          <a:prstGeom prst="rect">
            <a:avLst/>
          </a:prstGeom>
          <a:solidFill>
            <a:srgbClr val="1B2A4A"/>
          </a:solidFill>
          <a:ln w="12700">
            <a:solidFill>
              <a:srgbClr val="1B2A4A"/>
            </a:solidFill>
            <a:prstDash val="solid"/>
          </a:ln>
        </p:spPr>
      </p:sp>
      <p:sp>
        <p:nvSpPr>
          <p:cNvPr id="31" name="Text 29"/>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32" name="Text 30"/>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PREREQUISITES</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Before Day Two</a:t>
            </a:r>
            <a:endParaRPr lang="en-US" sz="2700" dirty="0"/>
          </a:p>
        </p:txBody>
      </p:sp>
      <p:sp>
        <p:nvSpPr>
          <p:cNvPr id="4" name="Text 2"/>
          <p:cNvSpPr/>
          <p:nvPr/>
        </p:nvSpPr>
        <p:spPr>
          <a:xfrm>
            <a:off x="548640" y="1554480"/>
            <a:ext cx="10789920" cy="365760"/>
          </a:xfrm>
          <a:prstGeom prst="rect">
            <a:avLst/>
          </a:prstGeom>
          <a:noFill/>
          <a:ln/>
        </p:spPr>
        <p:txBody>
          <a:bodyPr wrap="square" lIns="0" tIns="0" rIns="0" bIns="0" rtlCol="0" anchor="ctr"/>
          <a:lstStyle/>
          <a:p>
            <a:pPr marL="0" indent="0">
              <a:buNone/>
            </a:pPr>
            <a:r>
              <a:rPr lang="en-US" sz="1300" i="1" dirty="0">
                <a:solidFill>
                  <a:srgbClr val="5A6472"/>
                </a:solidFill>
                <a:latin typeface="Times New Roman" pitchFamily="34" charset="0"/>
                <a:ea typeface="Times New Roman" pitchFamily="34" charset="-122"/>
                <a:cs typeface="Times New Roman" pitchFamily="34" charset="-120"/>
              </a:rPr>
              <a:t>This session builds directly on Session 1 (Java Programming Fundamentals).</a:t>
            </a:r>
            <a:endParaRPr lang="en-US" sz="1300" dirty="0"/>
          </a:p>
        </p:txBody>
      </p:sp>
      <p:sp>
        <p:nvSpPr>
          <p:cNvPr id="5" name="Shape 3"/>
          <p:cNvSpPr/>
          <p:nvPr/>
        </p:nvSpPr>
        <p:spPr>
          <a:xfrm>
            <a:off x="594360" y="2011680"/>
            <a:ext cx="10607040" cy="702259"/>
          </a:xfrm>
          <a:prstGeom prst="roundRect">
            <a:avLst>
              <a:gd name="adj" fmla="val 7813"/>
            </a:avLst>
          </a:prstGeom>
          <a:solidFill>
            <a:srgbClr val="F5F6FA"/>
          </a:solidFill>
          <a:ln w="9525">
            <a:solidFill>
              <a:srgbClr val="E4E7EE"/>
            </a:solidFill>
            <a:prstDash val="solid"/>
          </a:ln>
        </p:spPr>
      </p:sp>
      <p:sp>
        <p:nvSpPr>
          <p:cNvPr id="6" name="Text 4"/>
          <p:cNvSpPr/>
          <p:nvPr/>
        </p:nvSpPr>
        <p:spPr>
          <a:xfrm>
            <a:off x="777240" y="2011680"/>
            <a:ext cx="457200" cy="702259"/>
          </a:xfrm>
          <a:prstGeom prst="rect">
            <a:avLst/>
          </a:prstGeom>
          <a:noFill/>
          <a:ln/>
        </p:spPr>
        <p:txBody>
          <a:bodyPr wrap="square" lIns="0" tIns="0" rIns="0" bIns="0" rtlCol="0" anchor="ctr"/>
          <a:lstStyle/>
          <a:p>
            <a:pPr marL="0" indent="0">
              <a:buNone/>
            </a:pPr>
            <a:r>
              <a:rPr lang="en-US" sz="1500" b="1" dirty="0">
                <a:solidFill>
                  <a:srgbClr val="E8590C"/>
                </a:solidFill>
                <a:latin typeface="Times New Roman" pitchFamily="34" charset="0"/>
                <a:ea typeface="Times New Roman" pitchFamily="34" charset="-122"/>
                <a:cs typeface="Times New Roman" pitchFamily="34" charset="-120"/>
              </a:rPr>
              <a:t>1.</a:t>
            </a:r>
            <a:endParaRPr lang="en-US" sz="1500" dirty="0"/>
          </a:p>
        </p:txBody>
      </p:sp>
      <p:sp>
        <p:nvSpPr>
          <p:cNvPr id="7" name="Text 5"/>
          <p:cNvSpPr/>
          <p:nvPr/>
        </p:nvSpPr>
        <p:spPr>
          <a:xfrm>
            <a:off x="1234440" y="2011680"/>
            <a:ext cx="9784080" cy="702259"/>
          </a:xfrm>
          <a:prstGeom prst="rect">
            <a:avLst/>
          </a:prstGeom>
          <a:noFill/>
          <a:ln/>
        </p:spPr>
        <p:txBody>
          <a:bodyPr wrap="square" lIns="0" tIns="0" rIns="0" bIns="0" rtlCol="0" anchor="ctr"/>
          <a:lstStyle/>
          <a:p>
            <a:pPr marL="0" indent="0">
              <a:buNone/>
            </a:pPr>
            <a:r>
              <a:rPr lang="en-US" sz="1400" dirty="0">
                <a:solidFill>
                  <a:srgbClr val="1A202C"/>
                </a:solidFill>
                <a:latin typeface="Times New Roman" pitchFamily="34" charset="0"/>
                <a:ea typeface="Times New Roman" pitchFamily="34" charset="-122"/>
                <a:cs typeface="Times New Roman" pitchFamily="34" charset="-120"/>
              </a:rPr>
              <a:t>Completion of Session 1, or equivalent comfort with Java fundamentals</a:t>
            </a:r>
            <a:endParaRPr lang="en-US" sz="1400" dirty="0"/>
          </a:p>
        </p:txBody>
      </p:sp>
      <p:sp>
        <p:nvSpPr>
          <p:cNvPr id="8" name="Shape 6"/>
          <p:cNvSpPr/>
          <p:nvPr/>
        </p:nvSpPr>
        <p:spPr>
          <a:xfrm>
            <a:off x="594360" y="2841955"/>
            <a:ext cx="10607040" cy="702259"/>
          </a:xfrm>
          <a:prstGeom prst="roundRect">
            <a:avLst>
              <a:gd name="adj" fmla="val 7813"/>
            </a:avLst>
          </a:prstGeom>
          <a:solidFill>
            <a:srgbClr val="F5F6FA"/>
          </a:solidFill>
          <a:ln w="9525">
            <a:solidFill>
              <a:srgbClr val="E4E7EE"/>
            </a:solidFill>
            <a:prstDash val="solid"/>
          </a:ln>
        </p:spPr>
      </p:sp>
      <p:sp>
        <p:nvSpPr>
          <p:cNvPr id="9" name="Text 7"/>
          <p:cNvSpPr/>
          <p:nvPr/>
        </p:nvSpPr>
        <p:spPr>
          <a:xfrm>
            <a:off x="777240" y="2841955"/>
            <a:ext cx="457200" cy="702259"/>
          </a:xfrm>
          <a:prstGeom prst="rect">
            <a:avLst/>
          </a:prstGeom>
          <a:noFill/>
          <a:ln/>
        </p:spPr>
        <p:txBody>
          <a:bodyPr wrap="square" lIns="0" tIns="0" rIns="0" bIns="0" rtlCol="0" anchor="ctr"/>
          <a:lstStyle/>
          <a:p>
            <a:pPr marL="0" indent="0">
              <a:buNone/>
            </a:pPr>
            <a:r>
              <a:rPr lang="en-US" sz="1500" b="1" dirty="0">
                <a:solidFill>
                  <a:srgbClr val="E8590C"/>
                </a:solidFill>
                <a:latin typeface="Times New Roman" pitchFamily="34" charset="0"/>
                <a:ea typeface="Times New Roman" pitchFamily="34" charset="-122"/>
                <a:cs typeface="Times New Roman" pitchFamily="34" charset="-120"/>
              </a:rPr>
              <a:t>2.</a:t>
            </a:r>
            <a:endParaRPr lang="en-US" sz="1500" dirty="0"/>
          </a:p>
        </p:txBody>
      </p:sp>
      <p:sp>
        <p:nvSpPr>
          <p:cNvPr id="10" name="Text 8"/>
          <p:cNvSpPr/>
          <p:nvPr/>
        </p:nvSpPr>
        <p:spPr>
          <a:xfrm>
            <a:off x="1234440" y="2841955"/>
            <a:ext cx="9784080" cy="702259"/>
          </a:xfrm>
          <a:prstGeom prst="rect">
            <a:avLst/>
          </a:prstGeom>
          <a:noFill/>
          <a:ln/>
        </p:spPr>
        <p:txBody>
          <a:bodyPr wrap="square" lIns="0" tIns="0" rIns="0" bIns="0" rtlCol="0" anchor="ctr"/>
          <a:lstStyle/>
          <a:p>
            <a:pPr marL="0" indent="0">
              <a:buNone/>
            </a:pPr>
            <a:r>
              <a:rPr lang="en-US" sz="1400" dirty="0">
                <a:solidFill>
                  <a:srgbClr val="1A202C"/>
                </a:solidFill>
                <a:latin typeface="Times New Roman" pitchFamily="34" charset="0"/>
                <a:ea typeface="Times New Roman" pitchFamily="34" charset="-122"/>
                <a:cs typeface="Times New Roman" pitchFamily="34" charset="-120"/>
              </a:rPr>
              <a:t>Comfortable with variables, data types, operators, conditional statements, and loops</a:t>
            </a:r>
            <a:endParaRPr lang="en-US" sz="1400" dirty="0"/>
          </a:p>
        </p:txBody>
      </p:sp>
      <p:sp>
        <p:nvSpPr>
          <p:cNvPr id="11" name="Shape 9"/>
          <p:cNvSpPr/>
          <p:nvPr/>
        </p:nvSpPr>
        <p:spPr>
          <a:xfrm>
            <a:off x="594360" y="3672230"/>
            <a:ext cx="10607040" cy="702259"/>
          </a:xfrm>
          <a:prstGeom prst="roundRect">
            <a:avLst>
              <a:gd name="adj" fmla="val 7813"/>
            </a:avLst>
          </a:prstGeom>
          <a:solidFill>
            <a:srgbClr val="F5F6FA"/>
          </a:solidFill>
          <a:ln w="9525">
            <a:solidFill>
              <a:srgbClr val="E4E7EE"/>
            </a:solidFill>
            <a:prstDash val="solid"/>
          </a:ln>
        </p:spPr>
      </p:sp>
      <p:sp>
        <p:nvSpPr>
          <p:cNvPr id="12" name="Text 10"/>
          <p:cNvSpPr/>
          <p:nvPr/>
        </p:nvSpPr>
        <p:spPr>
          <a:xfrm>
            <a:off x="777240" y="3672230"/>
            <a:ext cx="457200" cy="702259"/>
          </a:xfrm>
          <a:prstGeom prst="rect">
            <a:avLst/>
          </a:prstGeom>
          <a:noFill/>
          <a:ln/>
        </p:spPr>
        <p:txBody>
          <a:bodyPr wrap="square" lIns="0" tIns="0" rIns="0" bIns="0" rtlCol="0" anchor="ctr"/>
          <a:lstStyle/>
          <a:p>
            <a:pPr marL="0" indent="0">
              <a:buNone/>
            </a:pPr>
            <a:r>
              <a:rPr lang="en-US" sz="1500" b="1" dirty="0">
                <a:solidFill>
                  <a:srgbClr val="E8590C"/>
                </a:solidFill>
                <a:latin typeface="Times New Roman" pitchFamily="34" charset="0"/>
                <a:ea typeface="Times New Roman" pitchFamily="34" charset="-122"/>
                <a:cs typeface="Times New Roman" pitchFamily="34" charset="-120"/>
              </a:rPr>
              <a:t>3.</a:t>
            </a:r>
            <a:endParaRPr lang="en-US" sz="1500" dirty="0"/>
          </a:p>
        </p:txBody>
      </p:sp>
      <p:sp>
        <p:nvSpPr>
          <p:cNvPr id="13" name="Text 11"/>
          <p:cNvSpPr/>
          <p:nvPr/>
        </p:nvSpPr>
        <p:spPr>
          <a:xfrm>
            <a:off x="1234440" y="3672230"/>
            <a:ext cx="9784080" cy="702259"/>
          </a:xfrm>
          <a:prstGeom prst="rect">
            <a:avLst/>
          </a:prstGeom>
          <a:noFill/>
          <a:ln/>
        </p:spPr>
        <p:txBody>
          <a:bodyPr wrap="square" lIns="0" tIns="0" rIns="0" bIns="0" rtlCol="0" anchor="ctr"/>
          <a:lstStyle/>
          <a:p>
            <a:pPr marL="0" indent="0">
              <a:buNone/>
            </a:pPr>
            <a:r>
              <a:rPr lang="en-US" sz="1400" dirty="0">
                <a:solidFill>
                  <a:srgbClr val="1A202C"/>
                </a:solidFill>
                <a:latin typeface="Times New Roman" pitchFamily="34" charset="0"/>
                <a:ea typeface="Times New Roman" pitchFamily="34" charset="-122"/>
                <a:cs typeface="Times New Roman" pitchFamily="34" charset="-120"/>
              </a:rPr>
              <a:t>Able to write and run a program using arrays and simple methods</a:t>
            </a:r>
            <a:endParaRPr lang="en-US" sz="1400" dirty="0"/>
          </a:p>
        </p:txBody>
      </p:sp>
      <p:sp>
        <p:nvSpPr>
          <p:cNvPr id="14" name="Shape 12"/>
          <p:cNvSpPr/>
          <p:nvPr/>
        </p:nvSpPr>
        <p:spPr>
          <a:xfrm>
            <a:off x="594360" y="4502506"/>
            <a:ext cx="10607040" cy="702259"/>
          </a:xfrm>
          <a:prstGeom prst="roundRect">
            <a:avLst>
              <a:gd name="adj" fmla="val 7813"/>
            </a:avLst>
          </a:prstGeom>
          <a:solidFill>
            <a:srgbClr val="F5F6FA"/>
          </a:solidFill>
          <a:ln w="9525">
            <a:solidFill>
              <a:srgbClr val="E4E7EE"/>
            </a:solidFill>
            <a:prstDash val="solid"/>
          </a:ln>
        </p:spPr>
      </p:sp>
      <p:sp>
        <p:nvSpPr>
          <p:cNvPr id="15" name="Text 13"/>
          <p:cNvSpPr/>
          <p:nvPr/>
        </p:nvSpPr>
        <p:spPr>
          <a:xfrm>
            <a:off x="777240" y="4502506"/>
            <a:ext cx="457200" cy="702259"/>
          </a:xfrm>
          <a:prstGeom prst="rect">
            <a:avLst/>
          </a:prstGeom>
          <a:noFill/>
          <a:ln/>
        </p:spPr>
        <p:txBody>
          <a:bodyPr wrap="square" lIns="0" tIns="0" rIns="0" bIns="0" rtlCol="0" anchor="ctr"/>
          <a:lstStyle/>
          <a:p>
            <a:pPr marL="0" indent="0">
              <a:buNone/>
            </a:pPr>
            <a:r>
              <a:rPr lang="en-US" sz="1500" b="1" dirty="0">
                <a:solidFill>
                  <a:srgbClr val="E8590C"/>
                </a:solidFill>
                <a:latin typeface="Times New Roman" pitchFamily="34" charset="0"/>
                <a:ea typeface="Times New Roman" pitchFamily="34" charset="-122"/>
                <a:cs typeface="Times New Roman" pitchFamily="34" charset="-120"/>
              </a:rPr>
              <a:t>4.</a:t>
            </a:r>
            <a:endParaRPr lang="en-US" sz="1500" dirty="0"/>
          </a:p>
        </p:txBody>
      </p:sp>
      <p:sp>
        <p:nvSpPr>
          <p:cNvPr id="16" name="Text 14"/>
          <p:cNvSpPr/>
          <p:nvPr/>
        </p:nvSpPr>
        <p:spPr>
          <a:xfrm>
            <a:off x="1234440" y="4502506"/>
            <a:ext cx="9784080" cy="702259"/>
          </a:xfrm>
          <a:prstGeom prst="rect">
            <a:avLst/>
          </a:prstGeom>
          <a:noFill/>
          <a:ln/>
        </p:spPr>
        <p:txBody>
          <a:bodyPr wrap="square" lIns="0" tIns="0" rIns="0" bIns="0" rtlCol="0" anchor="ctr"/>
          <a:lstStyle/>
          <a:p>
            <a:pPr marL="0" indent="0">
              <a:buNone/>
            </a:pPr>
            <a:r>
              <a:rPr lang="en-US" sz="1400" dirty="0">
                <a:solidFill>
                  <a:srgbClr val="1A202C"/>
                </a:solidFill>
                <a:latin typeface="Times New Roman" pitchFamily="34" charset="0"/>
                <a:ea typeface="Times New Roman" pitchFamily="34" charset="-122"/>
                <a:cs typeface="Times New Roman" pitchFamily="34" charset="-120"/>
              </a:rPr>
              <a:t>JDK 17 or later and an IDE installed and verified, as set up in Session 1</a:t>
            </a:r>
            <a:endParaRPr lang="en-US" sz="1400" dirty="0"/>
          </a:p>
        </p:txBody>
      </p:sp>
      <p:sp>
        <p:nvSpPr>
          <p:cNvPr id="17" name="Shape 15"/>
          <p:cNvSpPr/>
          <p:nvPr/>
        </p:nvSpPr>
        <p:spPr>
          <a:xfrm>
            <a:off x="594360" y="5332781"/>
            <a:ext cx="10607040" cy="702259"/>
          </a:xfrm>
          <a:prstGeom prst="roundRect">
            <a:avLst>
              <a:gd name="adj" fmla="val 7813"/>
            </a:avLst>
          </a:prstGeom>
          <a:solidFill>
            <a:srgbClr val="F5F6FA"/>
          </a:solidFill>
          <a:ln w="9525">
            <a:solidFill>
              <a:srgbClr val="E4E7EE"/>
            </a:solidFill>
            <a:prstDash val="solid"/>
          </a:ln>
        </p:spPr>
      </p:sp>
      <p:sp>
        <p:nvSpPr>
          <p:cNvPr id="18" name="Text 16"/>
          <p:cNvSpPr/>
          <p:nvPr/>
        </p:nvSpPr>
        <p:spPr>
          <a:xfrm>
            <a:off x="777240" y="5332781"/>
            <a:ext cx="457200" cy="702259"/>
          </a:xfrm>
          <a:prstGeom prst="rect">
            <a:avLst/>
          </a:prstGeom>
          <a:noFill/>
          <a:ln/>
        </p:spPr>
        <p:txBody>
          <a:bodyPr wrap="square" lIns="0" tIns="0" rIns="0" bIns="0" rtlCol="0" anchor="ctr"/>
          <a:lstStyle/>
          <a:p>
            <a:pPr marL="0" indent="0">
              <a:buNone/>
            </a:pPr>
            <a:r>
              <a:rPr lang="en-US" sz="1500" b="1" dirty="0">
                <a:solidFill>
                  <a:srgbClr val="E8590C"/>
                </a:solidFill>
                <a:latin typeface="Times New Roman" pitchFamily="34" charset="0"/>
                <a:ea typeface="Times New Roman" pitchFamily="34" charset="-122"/>
                <a:cs typeface="Times New Roman" pitchFamily="34" charset="-120"/>
              </a:rPr>
              <a:t>5.</a:t>
            </a:r>
            <a:endParaRPr lang="en-US" sz="1500" dirty="0"/>
          </a:p>
        </p:txBody>
      </p:sp>
      <p:sp>
        <p:nvSpPr>
          <p:cNvPr id="19" name="Text 17"/>
          <p:cNvSpPr/>
          <p:nvPr/>
        </p:nvSpPr>
        <p:spPr>
          <a:xfrm>
            <a:off x="1234440" y="5332781"/>
            <a:ext cx="9784080" cy="702259"/>
          </a:xfrm>
          <a:prstGeom prst="rect">
            <a:avLst/>
          </a:prstGeom>
          <a:noFill/>
          <a:ln/>
        </p:spPr>
        <p:txBody>
          <a:bodyPr wrap="square" lIns="0" tIns="0" rIns="0" bIns="0" rtlCol="0" anchor="ctr"/>
          <a:lstStyle/>
          <a:p>
            <a:pPr marL="0" indent="0">
              <a:buNone/>
            </a:pPr>
            <a:r>
              <a:rPr lang="en-US" sz="1400" dirty="0">
                <a:solidFill>
                  <a:srgbClr val="1A202C"/>
                </a:solidFill>
                <a:latin typeface="Times New Roman" pitchFamily="34" charset="0"/>
                <a:ea typeface="Times New Roman" pitchFamily="34" charset="-122"/>
                <a:cs typeface="Times New Roman" pitchFamily="34" charset="-120"/>
              </a:rPr>
              <a:t>A genuine willingness to work through multi-class programs throughout the session</a:t>
            </a:r>
            <a:endParaRPr lang="en-US" sz="1400" dirty="0"/>
          </a:p>
        </p:txBody>
      </p:sp>
      <p:sp>
        <p:nvSpPr>
          <p:cNvPr id="20" name="Shape 18"/>
          <p:cNvSpPr/>
          <p:nvPr/>
        </p:nvSpPr>
        <p:spPr>
          <a:xfrm>
            <a:off x="0" y="0"/>
            <a:ext cx="12191695" cy="384048"/>
          </a:xfrm>
          <a:prstGeom prst="rect">
            <a:avLst/>
          </a:prstGeom>
          <a:solidFill>
            <a:srgbClr val="1B2A4A"/>
          </a:solidFill>
          <a:ln w="12700">
            <a:solidFill>
              <a:srgbClr val="1B2A4A"/>
            </a:solidFill>
            <a:prstDash val="solid"/>
          </a:ln>
        </p:spPr>
      </p:sp>
      <p:sp>
        <p:nvSpPr>
          <p:cNvPr id="21" name="Text 19"/>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22" name="Shape 20"/>
          <p:cNvSpPr/>
          <p:nvPr/>
        </p:nvSpPr>
        <p:spPr>
          <a:xfrm>
            <a:off x="219456" y="301752"/>
            <a:ext cx="960120" cy="0"/>
          </a:xfrm>
          <a:prstGeom prst="line">
            <a:avLst/>
          </a:prstGeom>
          <a:noFill/>
          <a:ln w="9525">
            <a:solidFill>
              <a:srgbClr val="4A5570"/>
            </a:solidFill>
            <a:prstDash val="solid"/>
          </a:ln>
        </p:spPr>
      </p:sp>
      <p:sp>
        <p:nvSpPr>
          <p:cNvPr id="23" name="Text 21"/>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4" name="Text 22"/>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5" name="Text 23"/>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6" name="Shape 24"/>
          <p:cNvSpPr/>
          <p:nvPr/>
        </p:nvSpPr>
        <p:spPr>
          <a:xfrm>
            <a:off x="0" y="6291072"/>
            <a:ext cx="12191695" cy="566928"/>
          </a:xfrm>
          <a:prstGeom prst="rect">
            <a:avLst/>
          </a:prstGeom>
          <a:solidFill>
            <a:srgbClr val="1B2A4A"/>
          </a:solidFill>
          <a:ln w="12700">
            <a:solidFill>
              <a:srgbClr val="1B2A4A"/>
            </a:solidFill>
            <a:prstDash val="solid"/>
          </a:ln>
        </p:spPr>
      </p:sp>
      <p:sp>
        <p:nvSpPr>
          <p:cNvPr id="27" name="Text 25"/>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8" name="Text 26"/>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MODULE OBJECTIVE</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By the End of This Session</a:t>
            </a:r>
            <a:endParaRPr lang="en-US" sz="2700" dirty="0"/>
          </a:p>
        </p:txBody>
      </p:sp>
      <p:sp>
        <p:nvSpPr>
          <p:cNvPr id="4" name="Shape 2"/>
          <p:cNvSpPr/>
          <p:nvPr/>
        </p:nvSpPr>
        <p:spPr>
          <a:xfrm>
            <a:off x="594360" y="1554480"/>
            <a:ext cx="10607040" cy="448056"/>
          </a:xfrm>
          <a:prstGeom prst="roundRect">
            <a:avLst>
              <a:gd name="adj" fmla="val 12245"/>
            </a:avLst>
          </a:prstGeom>
          <a:solidFill>
            <a:srgbClr val="F5F6FA"/>
          </a:solidFill>
          <a:ln w="9525">
            <a:solidFill>
              <a:srgbClr val="E4E7EE"/>
            </a:solidFill>
            <a:prstDash val="solid"/>
          </a:ln>
        </p:spPr>
      </p:sp>
      <p:sp>
        <p:nvSpPr>
          <p:cNvPr id="5" name="Text 3"/>
          <p:cNvSpPr/>
          <p:nvPr/>
        </p:nvSpPr>
        <p:spPr>
          <a:xfrm>
            <a:off x="777240" y="1554480"/>
            <a:ext cx="457200" cy="448056"/>
          </a:xfrm>
          <a:prstGeom prst="rect">
            <a:avLst/>
          </a:prstGeom>
          <a:noFill/>
          <a:ln/>
        </p:spPr>
        <p:txBody>
          <a:bodyPr wrap="square" lIns="0" tIns="0" rIns="0" bIns="0" rtlCol="0" anchor="ctr"/>
          <a:lstStyle/>
          <a:p>
            <a:pPr marL="0" indent="0">
              <a:buNone/>
            </a:pPr>
            <a:r>
              <a:rPr lang="en-US" sz="1500" b="1" dirty="0">
                <a:solidFill>
                  <a:srgbClr val="E8590C"/>
                </a:solidFill>
                <a:latin typeface="Times New Roman" pitchFamily="34" charset="0"/>
                <a:ea typeface="Times New Roman" pitchFamily="34" charset="-122"/>
                <a:cs typeface="Times New Roman" pitchFamily="34" charset="-120"/>
              </a:rPr>
              <a:t>1.</a:t>
            </a:r>
            <a:endParaRPr lang="en-US" sz="1500" dirty="0"/>
          </a:p>
        </p:txBody>
      </p:sp>
      <p:sp>
        <p:nvSpPr>
          <p:cNvPr id="6" name="Text 4"/>
          <p:cNvSpPr/>
          <p:nvPr/>
        </p:nvSpPr>
        <p:spPr>
          <a:xfrm>
            <a:off x="1234440" y="1554480"/>
            <a:ext cx="9784080" cy="448056"/>
          </a:xfrm>
          <a:prstGeom prst="rect">
            <a:avLst/>
          </a:prstGeom>
          <a:noFill/>
          <a:ln/>
        </p:spPr>
        <p:txBody>
          <a:bodyPr wrap="square" lIns="0" tIns="0" rIns="0" bIns="0" rtlCol="0" anchor="ctr"/>
          <a:lstStyle/>
          <a:p>
            <a:pPr marL="0" indent="0">
              <a:buNone/>
            </a:pPr>
            <a:r>
              <a:rPr lang="en-US" sz="1400" dirty="0">
                <a:solidFill>
                  <a:srgbClr val="1A202C"/>
                </a:solidFill>
                <a:latin typeface="Times New Roman" pitchFamily="34" charset="0"/>
                <a:ea typeface="Times New Roman" pitchFamily="34" charset="-122"/>
                <a:cs typeface="Times New Roman" pitchFamily="34" charset="-120"/>
              </a:rPr>
              <a:t>Design classes with fields, methods, and constructors, applying encapsulation from the start</a:t>
            </a:r>
            <a:endParaRPr lang="en-US" sz="1400" dirty="0"/>
          </a:p>
        </p:txBody>
      </p:sp>
      <p:sp>
        <p:nvSpPr>
          <p:cNvPr id="7" name="Shape 5"/>
          <p:cNvSpPr/>
          <p:nvPr/>
        </p:nvSpPr>
        <p:spPr>
          <a:xfrm>
            <a:off x="594360" y="2130552"/>
            <a:ext cx="10607040" cy="448056"/>
          </a:xfrm>
          <a:prstGeom prst="roundRect">
            <a:avLst>
              <a:gd name="adj" fmla="val 12245"/>
            </a:avLst>
          </a:prstGeom>
          <a:solidFill>
            <a:srgbClr val="F5F6FA"/>
          </a:solidFill>
          <a:ln w="9525">
            <a:solidFill>
              <a:srgbClr val="E4E7EE"/>
            </a:solidFill>
            <a:prstDash val="solid"/>
          </a:ln>
        </p:spPr>
      </p:sp>
      <p:sp>
        <p:nvSpPr>
          <p:cNvPr id="8" name="Text 6"/>
          <p:cNvSpPr/>
          <p:nvPr/>
        </p:nvSpPr>
        <p:spPr>
          <a:xfrm>
            <a:off x="777240" y="2130552"/>
            <a:ext cx="457200" cy="448056"/>
          </a:xfrm>
          <a:prstGeom prst="rect">
            <a:avLst/>
          </a:prstGeom>
          <a:noFill/>
          <a:ln/>
        </p:spPr>
        <p:txBody>
          <a:bodyPr wrap="square" lIns="0" tIns="0" rIns="0" bIns="0" rtlCol="0" anchor="ctr"/>
          <a:lstStyle/>
          <a:p>
            <a:pPr marL="0" indent="0">
              <a:buNone/>
            </a:pPr>
            <a:r>
              <a:rPr lang="en-US" sz="1500" b="1" dirty="0">
                <a:solidFill>
                  <a:srgbClr val="E8590C"/>
                </a:solidFill>
                <a:latin typeface="Times New Roman" pitchFamily="34" charset="0"/>
                <a:ea typeface="Times New Roman" pitchFamily="34" charset="-122"/>
                <a:cs typeface="Times New Roman" pitchFamily="34" charset="-120"/>
              </a:rPr>
              <a:t>2.</a:t>
            </a:r>
            <a:endParaRPr lang="en-US" sz="1500" dirty="0"/>
          </a:p>
        </p:txBody>
      </p:sp>
      <p:sp>
        <p:nvSpPr>
          <p:cNvPr id="9" name="Text 7"/>
          <p:cNvSpPr/>
          <p:nvPr/>
        </p:nvSpPr>
        <p:spPr>
          <a:xfrm>
            <a:off x="1234440" y="2130552"/>
            <a:ext cx="9784080" cy="448056"/>
          </a:xfrm>
          <a:prstGeom prst="rect">
            <a:avLst/>
          </a:prstGeom>
          <a:noFill/>
          <a:ln/>
        </p:spPr>
        <p:txBody>
          <a:bodyPr wrap="square" lIns="0" tIns="0" rIns="0" bIns="0" rtlCol="0" anchor="ctr"/>
          <a:lstStyle/>
          <a:p>
            <a:pPr marL="0" indent="0">
              <a:buNone/>
            </a:pPr>
            <a:r>
              <a:rPr lang="en-US" sz="1400" dirty="0">
                <a:solidFill>
                  <a:srgbClr val="1A202C"/>
                </a:solidFill>
                <a:latin typeface="Times New Roman" pitchFamily="34" charset="0"/>
                <a:ea typeface="Times New Roman" pitchFamily="34" charset="-122"/>
                <a:cs typeface="Times New Roman" pitchFamily="34" charset="-120"/>
              </a:rPr>
              <a:t>Use the this and static keywords correctly within a class</a:t>
            </a:r>
            <a:endParaRPr lang="en-US" sz="1400" dirty="0"/>
          </a:p>
        </p:txBody>
      </p:sp>
      <p:sp>
        <p:nvSpPr>
          <p:cNvPr id="10" name="Shape 8"/>
          <p:cNvSpPr/>
          <p:nvPr/>
        </p:nvSpPr>
        <p:spPr>
          <a:xfrm>
            <a:off x="594360" y="2706624"/>
            <a:ext cx="10607040" cy="448056"/>
          </a:xfrm>
          <a:prstGeom prst="roundRect">
            <a:avLst>
              <a:gd name="adj" fmla="val 12245"/>
            </a:avLst>
          </a:prstGeom>
          <a:solidFill>
            <a:srgbClr val="F5F6FA"/>
          </a:solidFill>
          <a:ln w="9525">
            <a:solidFill>
              <a:srgbClr val="E4E7EE"/>
            </a:solidFill>
            <a:prstDash val="solid"/>
          </a:ln>
        </p:spPr>
      </p:sp>
      <p:sp>
        <p:nvSpPr>
          <p:cNvPr id="11" name="Text 9"/>
          <p:cNvSpPr/>
          <p:nvPr/>
        </p:nvSpPr>
        <p:spPr>
          <a:xfrm>
            <a:off x="777240" y="2706624"/>
            <a:ext cx="457200" cy="448056"/>
          </a:xfrm>
          <a:prstGeom prst="rect">
            <a:avLst/>
          </a:prstGeom>
          <a:noFill/>
          <a:ln/>
        </p:spPr>
        <p:txBody>
          <a:bodyPr wrap="square" lIns="0" tIns="0" rIns="0" bIns="0" rtlCol="0" anchor="ctr"/>
          <a:lstStyle/>
          <a:p>
            <a:pPr marL="0" indent="0">
              <a:buNone/>
            </a:pPr>
            <a:r>
              <a:rPr lang="en-US" sz="1500" b="1" dirty="0">
                <a:solidFill>
                  <a:srgbClr val="E8590C"/>
                </a:solidFill>
                <a:latin typeface="Times New Roman" pitchFamily="34" charset="0"/>
                <a:ea typeface="Times New Roman" pitchFamily="34" charset="-122"/>
                <a:cs typeface="Times New Roman" pitchFamily="34" charset="-120"/>
              </a:rPr>
              <a:t>3.</a:t>
            </a:r>
            <a:endParaRPr lang="en-US" sz="1500" dirty="0"/>
          </a:p>
        </p:txBody>
      </p:sp>
      <p:sp>
        <p:nvSpPr>
          <p:cNvPr id="12" name="Text 10"/>
          <p:cNvSpPr/>
          <p:nvPr/>
        </p:nvSpPr>
        <p:spPr>
          <a:xfrm>
            <a:off x="1234440" y="2706624"/>
            <a:ext cx="9784080" cy="448056"/>
          </a:xfrm>
          <a:prstGeom prst="rect">
            <a:avLst/>
          </a:prstGeom>
          <a:noFill/>
          <a:ln/>
        </p:spPr>
        <p:txBody>
          <a:bodyPr wrap="square" lIns="0" tIns="0" rIns="0" bIns="0" rtlCol="0" anchor="ctr"/>
          <a:lstStyle/>
          <a:p>
            <a:pPr marL="0" indent="0">
              <a:buNone/>
            </a:pPr>
            <a:r>
              <a:rPr lang="en-US" sz="1400" dirty="0">
                <a:solidFill>
                  <a:srgbClr val="1A202C"/>
                </a:solidFill>
                <a:latin typeface="Times New Roman" pitchFamily="34" charset="0"/>
                <a:ea typeface="Times New Roman" pitchFamily="34" charset="-122"/>
                <a:cs typeface="Times New Roman" pitchFamily="34" charset="-120"/>
              </a:rPr>
              <a:t>Apply access modifiers to control the visibility of class members</a:t>
            </a:r>
            <a:endParaRPr lang="en-US" sz="1400" dirty="0"/>
          </a:p>
        </p:txBody>
      </p:sp>
      <p:sp>
        <p:nvSpPr>
          <p:cNvPr id="13" name="Shape 11"/>
          <p:cNvSpPr/>
          <p:nvPr/>
        </p:nvSpPr>
        <p:spPr>
          <a:xfrm>
            <a:off x="594360" y="3282696"/>
            <a:ext cx="10607040" cy="448056"/>
          </a:xfrm>
          <a:prstGeom prst="roundRect">
            <a:avLst>
              <a:gd name="adj" fmla="val 12245"/>
            </a:avLst>
          </a:prstGeom>
          <a:solidFill>
            <a:srgbClr val="F5F6FA"/>
          </a:solidFill>
          <a:ln w="9525">
            <a:solidFill>
              <a:srgbClr val="E4E7EE"/>
            </a:solidFill>
            <a:prstDash val="solid"/>
          </a:ln>
        </p:spPr>
      </p:sp>
      <p:sp>
        <p:nvSpPr>
          <p:cNvPr id="14" name="Text 12"/>
          <p:cNvSpPr/>
          <p:nvPr/>
        </p:nvSpPr>
        <p:spPr>
          <a:xfrm>
            <a:off x="777240" y="3282696"/>
            <a:ext cx="457200" cy="448056"/>
          </a:xfrm>
          <a:prstGeom prst="rect">
            <a:avLst/>
          </a:prstGeom>
          <a:noFill/>
          <a:ln/>
        </p:spPr>
        <p:txBody>
          <a:bodyPr wrap="square" lIns="0" tIns="0" rIns="0" bIns="0" rtlCol="0" anchor="ctr"/>
          <a:lstStyle/>
          <a:p>
            <a:pPr marL="0" indent="0">
              <a:buNone/>
            </a:pPr>
            <a:r>
              <a:rPr lang="en-US" sz="1500" b="1" dirty="0">
                <a:solidFill>
                  <a:srgbClr val="E8590C"/>
                </a:solidFill>
                <a:latin typeface="Times New Roman" pitchFamily="34" charset="0"/>
                <a:ea typeface="Times New Roman" pitchFamily="34" charset="-122"/>
                <a:cs typeface="Times New Roman" pitchFamily="34" charset="-120"/>
              </a:rPr>
              <a:t>4.</a:t>
            </a:r>
            <a:endParaRPr lang="en-US" sz="1500" dirty="0"/>
          </a:p>
        </p:txBody>
      </p:sp>
      <p:sp>
        <p:nvSpPr>
          <p:cNvPr id="15" name="Text 13"/>
          <p:cNvSpPr/>
          <p:nvPr/>
        </p:nvSpPr>
        <p:spPr>
          <a:xfrm>
            <a:off x="1234440" y="3282696"/>
            <a:ext cx="9784080" cy="448056"/>
          </a:xfrm>
          <a:prstGeom prst="rect">
            <a:avLst/>
          </a:prstGeom>
          <a:noFill/>
          <a:ln/>
        </p:spPr>
        <p:txBody>
          <a:bodyPr wrap="square" lIns="0" tIns="0" rIns="0" bIns="0" rtlCol="0" anchor="ctr"/>
          <a:lstStyle/>
          <a:p>
            <a:pPr marL="0" indent="0">
              <a:buNone/>
            </a:pPr>
            <a:r>
              <a:rPr lang="en-US" sz="1400" dirty="0">
                <a:solidFill>
                  <a:srgbClr val="1A202C"/>
                </a:solidFill>
                <a:latin typeface="Times New Roman" pitchFamily="34" charset="0"/>
                <a:ea typeface="Times New Roman" pitchFamily="34" charset="-122"/>
                <a:cs typeface="Times New Roman" pitchFamily="34" charset="-120"/>
              </a:rPr>
              <a:t>Build class hierarchies using inheritance and method overriding</a:t>
            </a:r>
            <a:endParaRPr lang="en-US" sz="1400" dirty="0"/>
          </a:p>
        </p:txBody>
      </p:sp>
      <p:sp>
        <p:nvSpPr>
          <p:cNvPr id="16" name="Shape 14"/>
          <p:cNvSpPr/>
          <p:nvPr/>
        </p:nvSpPr>
        <p:spPr>
          <a:xfrm>
            <a:off x="594360" y="3858768"/>
            <a:ext cx="10607040" cy="448056"/>
          </a:xfrm>
          <a:prstGeom prst="roundRect">
            <a:avLst>
              <a:gd name="adj" fmla="val 12245"/>
            </a:avLst>
          </a:prstGeom>
          <a:solidFill>
            <a:srgbClr val="F5F6FA"/>
          </a:solidFill>
          <a:ln w="9525">
            <a:solidFill>
              <a:srgbClr val="E4E7EE"/>
            </a:solidFill>
            <a:prstDash val="solid"/>
          </a:ln>
        </p:spPr>
      </p:sp>
      <p:sp>
        <p:nvSpPr>
          <p:cNvPr id="17" name="Text 15"/>
          <p:cNvSpPr/>
          <p:nvPr/>
        </p:nvSpPr>
        <p:spPr>
          <a:xfrm>
            <a:off x="777240" y="3858768"/>
            <a:ext cx="457200" cy="448056"/>
          </a:xfrm>
          <a:prstGeom prst="rect">
            <a:avLst/>
          </a:prstGeom>
          <a:noFill/>
          <a:ln/>
        </p:spPr>
        <p:txBody>
          <a:bodyPr wrap="square" lIns="0" tIns="0" rIns="0" bIns="0" rtlCol="0" anchor="ctr"/>
          <a:lstStyle/>
          <a:p>
            <a:pPr marL="0" indent="0">
              <a:buNone/>
            </a:pPr>
            <a:r>
              <a:rPr lang="en-US" sz="1500" b="1" dirty="0">
                <a:solidFill>
                  <a:srgbClr val="E8590C"/>
                </a:solidFill>
                <a:latin typeface="Times New Roman" pitchFamily="34" charset="0"/>
                <a:ea typeface="Times New Roman" pitchFamily="34" charset="-122"/>
                <a:cs typeface="Times New Roman" pitchFamily="34" charset="-120"/>
              </a:rPr>
              <a:t>5.</a:t>
            </a:r>
            <a:endParaRPr lang="en-US" sz="1500" dirty="0"/>
          </a:p>
        </p:txBody>
      </p:sp>
      <p:sp>
        <p:nvSpPr>
          <p:cNvPr id="18" name="Text 16"/>
          <p:cNvSpPr/>
          <p:nvPr/>
        </p:nvSpPr>
        <p:spPr>
          <a:xfrm>
            <a:off x="1234440" y="3858768"/>
            <a:ext cx="9784080" cy="448056"/>
          </a:xfrm>
          <a:prstGeom prst="rect">
            <a:avLst/>
          </a:prstGeom>
          <a:noFill/>
          <a:ln/>
        </p:spPr>
        <p:txBody>
          <a:bodyPr wrap="square" lIns="0" tIns="0" rIns="0" bIns="0" rtlCol="0" anchor="ctr"/>
          <a:lstStyle/>
          <a:p>
            <a:pPr marL="0" indent="0">
              <a:buNone/>
            </a:pPr>
            <a:r>
              <a:rPr lang="en-US" sz="1400" dirty="0">
                <a:solidFill>
                  <a:srgbClr val="1A202C"/>
                </a:solidFill>
                <a:latin typeface="Times New Roman" pitchFamily="34" charset="0"/>
                <a:ea typeface="Times New Roman" pitchFamily="34" charset="-122"/>
                <a:cs typeface="Times New Roman" pitchFamily="34" charset="-120"/>
              </a:rPr>
              <a:t>Apply polymorphism through upcasting, downcasting, and dynamic method dispatch</a:t>
            </a:r>
            <a:endParaRPr lang="en-US" sz="1400" dirty="0"/>
          </a:p>
        </p:txBody>
      </p:sp>
      <p:sp>
        <p:nvSpPr>
          <p:cNvPr id="19" name="Shape 17"/>
          <p:cNvSpPr/>
          <p:nvPr/>
        </p:nvSpPr>
        <p:spPr>
          <a:xfrm>
            <a:off x="594360" y="4434840"/>
            <a:ext cx="10607040" cy="448056"/>
          </a:xfrm>
          <a:prstGeom prst="roundRect">
            <a:avLst>
              <a:gd name="adj" fmla="val 12245"/>
            </a:avLst>
          </a:prstGeom>
          <a:solidFill>
            <a:srgbClr val="F5F6FA"/>
          </a:solidFill>
          <a:ln w="9525">
            <a:solidFill>
              <a:srgbClr val="E4E7EE"/>
            </a:solidFill>
            <a:prstDash val="solid"/>
          </a:ln>
        </p:spPr>
      </p:sp>
      <p:sp>
        <p:nvSpPr>
          <p:cNvPr id="20" name="Text 18"/>
          <p:cNvSpPr/>
          <p:nvPr/>
        </p:nvSpPr>
        <p:spPr>
          <a:xfrm>
            <a:off x="777240" y="4434840"/>
            <a:ext cx="457200" cy="448056"/>
          </a:xfrm>
          <a:prstGeom prst="rect">
            <a:avLst/>
          </a:prstGeom>
          <a:noFill/>
          <a:ln/>
        </p:spPr>
        <p:txBody>
          <a:bodyPr wrap="square" lIns="0" tIns="0" rIns="0" bIns="0" rtlCol="0" anchor="ctr"/>
          <a:lstStyle/>
          <a:p>
            <a:pPr marL="0" indent="0">
              <a:buNone/>
            </a:pPr>
            <a:r>
              <a:rPr lang="en-US" sz="1500" b="1" dirty="0">
                <a:solidFill>
                  <a:srgbClr val="E8590C"/>
                </a:solidFill>
                <a:latin typeface="Times New Roman" pitchFamily="34" charset="0"/>
                <a:ea typeface="Times New Roman" pitchFamily="34" charset="-122"/>
                <a:cs typeface="Times New Roman" pitchFamily="34" charset="-120"/>
              </a:rPr>
              <a:t>6.</a:t>
            </a:r>
            <a:endParaRPr lang="en-US" sz="1500" dirty="0"/>
          </a:p>
        </p:txBody>
      </p:sp>
      <p:sp>
        <p:nvSpPr>
          <p:cNvPr id="21" name="Text 19"/>
          <p:cNvSpPr/>
          <p:nvPr/>
        </p:nvSpPr>
        <p:spPr>
          <a:xfrm>
            <a:off x="1234440" y="4434840"/>
            <a:ext cx="9784080" cy="448056"/>
          </a:xfrm>
          <a:prstGeom prst="rect">
            <a:avLst/>
          </a:prstGeom>
          <a:noFill/>
          <a:ln/>
        </p:spPr>
        <p:txBody>
          <a:bodyPr wrap="square" lIns="0" tIns="0" rIns="0" bIns="0" rtlCol="0" anchor="ctr"/>
          <a:lstStyle/>
          <a:p>
            <a:pPr marL="0" indent="0">
              <a:buNone/>
            </a:pPr>
            <a:r>
              <a:rPr lang="en-US" sz="1400" dirty="0">
                <a:solidFill>
                  <a:srgbClr val="1A202C"/>
                </a:solidFill>
                <a:latin typeface="Times New Roman" pitchFamily="34" charset="0"/>
                <a:ea typeface="Times New Roman" pitchFamily="34" charset="-122"/>
                <a:cs typeface="Times New Roman" pitchFamily="34" charset="-120"/>
              </a:rPr>
              <a:t>Design abstract classes and interfaces to define shared contracts</a:t>
            </a:r>
            <a:endParaRPr lang="en-US" sz="1400" dirty="0"/>
          </a:p>
        </p:txBody>
      </p:sp>
      <p:sp>
        <p:nvSpPr>
          <p:cNvPr id="22" name="Shape 20"/>
          <p:cNvSpPr/>
          <p:nvPr/>
        </p:nvSpPr>
        <p:spPr>
          <a:xfrm>
            <a:off x="594360" y="5010912"/>
            <a:ext cx="10607040" cy="448056"/>
          </a:xfrm>
          <a:prstGeom prst="roundRect">
            <a:avLst>
              <a:gd name="adj" fmla="val 12245"/>
            </a:avLst>
          </a:prstGeom>
          <a:solidFill>
            <a:srgbClr val="F5F6FA"/>
          </a:solidFill>
          <a:ln w="9525">
            <a:solidFill>
              <a:srgbClr val="E4E7EE"/>
            </a:solidFill>
            <a:prstDash val="solid"/>
          </a:ln>
        </p:spPr>
      </p:sp>
      <p:sp>
        <p:nvSpPr>
          <p:cNvPr id="23" name="Text 21"/>
          <p:cNvSpPr/>
          <p:nvPr/>
        </p:nvSpPr>
        <p:spPr>
          <a:xfrm>
            <a:off x="777240" y="5010912"/>
            <a:ext cx="457200" cy="448056"/>
          </a:xfrm>
          <a:prstGeom prst="rect">
            <a:avLst/>
          </a:prstGeom>
          <a:noFill/>
          <a:ln/>
        </p:spPr>
        <p:txBody>
          <a:bodyPr wrap="square" lIns="0" tIns="0" rIns="0" bIns="0" rtlCol="0" anchor="ctr"/>
          <a:lstStyle/>
          <a:p>
            <a:pPr marL="0" indent="0">
              <a:buNone/>
            </a:pPr>
            <a:r>
              <a:rPr lang="en-US" sz="1500" b="1" dirty="0">
                <a:solidFill>
                  <a:srgbClr val="E8590C"/>
                </a:solidFill>
                <a:latin typeface="Times New Roman" pitchFamily="34" charset="0"/>
                <a:ea typeface="Times New Roman" pitchFamily="34" charset="-122"/>
                <a:cs typeface="Times New Roman" pitchFamily="34" charset="-120"/>
              </a:rPr>
              <a:t>7.</a:t>
            </a:r>
            <a:endParaRPr lang="en-US" sz="1500" dirty="0"/>
          </a:p>
        </p:txBody>
      </p:sp>
      <p:sp>
        <p:nvSpPr>
          <p:cNvPr id="24" name="Text 22"/>
          <p:cNvSpPr/>
          <p:nvPr/>
        </p:nvSpPr>
        <p:spPr>
          <a:xfrm>
            <a:off x="1234440" y="5010912"/>
            <a:ext cx="9784080" cy="448056"/>
          </a:xfrm>
          <a:prstGeom prst="rect">
            <a:avLst/>
          </a:prstGeom>
          <a:noFill/>
          <a:ln/>
        </p:spPr>
        <p:txBody>
          <a:bodyPr wrap="square" lIns="0" tIns="0" rIns="0" bIns="0" rtlCol="0" anchor="ctr"/>
          <a:lstStyle/>
          <a:p>
            <a:pPr marL="0" indent="0">
              <a:buNone/>
            </a:pPr>
            <a:r>
              <a:rPr lang="en-US" sz="1400" dirty="0">
                <a:solidFill>
                  <a:srgbClr val="1A202C"/>
                </a:solidFill>
                <a:latin typeface="Times New Roman" pitchFamily="34" charset="0"/>
                <a:ea typeface="Times New Roman" pitchFamily="34" charset="-122"/>
                <a:cs typeface="Times New Roman" pitchFamily="34" charset="-120"/>
              </a:rPr>
              <a:t>Organize related classes into packages</a:t>
            </a:r>
            <a:endParaRPr lang="en-US" sz="1400" dirty="0"/>
          </a:p>
        </p:txBody>
      </p:sp>
      <p:sp>
        <p:nvSpPr>
          <p:cNvPr id="25" name="Shape 23"/>
          <p:cNvSpPr/>
          <p:nvPr/>
        </p:nvSpPr>
        <p:spPr>
          <a:xfrm>
            <a:off x="594360" y="5586984"/>
            <a:ext cx="10607040" cy="448056"/>
          </a:xfrm>
          <a:prstGeom prst="roundRect">
            <a:avLst>
              <a:gd name="adj" fmla="val 12245"/>
            </a:avLst>
          </a:prstGeom>
          <a:solidFill>
            <a:srgbClr val="F5F6FA"/>
          </a:solidFill>
          <a:ln w="9525">
            <a:solidFill>
              <a:srgbClr val="E4E7EE"/>
            </a:solidFill>
            <a:prstDash val="solid"/>
          </a:ln>
        </p:spPr>
      </p:sp>
      <p:sp>
        <p:nvSpPr>
          <p:cNvPr id="26" name="Text 24"/>
          <p:cNvSpPr/>
          <p:nvPr/>
        </p:nvSpPr>
        <p:spPr>
          <a:xfrm>
            <a:off x="777240" y="5586984"/>
            <a:ext cx="457200" cy="448056"/>
          </a:xfrm>
          <a:prstGeom prst="rect">
            <a:avLst/>
          </a:prstGeom>
          <a:noFill/>
          <a:ln/>
        </p:spPr>
        <p:txBody>
          <a:bodyPr wrap="square" lIns="0" tIns="0" rIns="0" bIns="0" rtlCol="0" anchor="ctr"/>
          <a:lstStyle/>
          <a:p>
            <a:pPr marL="0" indent="0">
              <a:buNone/>
            </a:pPr>
            <a:r>
              <a:rPr lang="en-US" sz="1500" b="1" dirty="0">
                <a:solidFill>
                  <a:srgbClr val="E8590C"/>
                </a:solidFill>
                <a:latin typeface="Times New Roman" pitchFamily="34" charset="0"/>
                <a:ea typeface="Times New Roman" pitchFamily="34" charset="-122"/>
                <a:cs typeface="Times New Roman" pitchFamily="34" charset="-120"/>
              </a:rPr>
              <a:t>8.</a:t>
            </a:r>
            <a:endParaRPr lang="en-US" sz="1500" dirty="0"/>
          </a:p>
        </p:txBody>
      </p:sp>
      <p:sp>
        <p:nvSpPr>
          <p:cNvPr id="27" name="Text 25"/>
          <p:cNvSpPr/>
          <p:nvPr/>
        </p:nvSpPr>
        <p:spPr>
          <a:xfrm>
            <a:off x="1234440" y="5586984"/>
            <a:ext cx="9784080" cy="448056"/>
          </a:xfrm>
          <a:prstGeom prst="rect">
            <a:avLst/>
          </a:prstGeom>
          <a:noFill/>
          <a:ln/>
        </p:spPr>
        <p:txBody>
          <a:bodyPr wrap="square" lIns="0" tIns="0" rIns="0" bIns="0" rtlCol="0" anchor="ctr"/>
          <a:lstStyle/>
          <a:p>
            <a:pPr marL="0" indent="0">
              <a:buNone/>
            </a:pPr>
            <a:r>
              <a:rPr lang="en-US" sz="1400" dirty="0">
                <a:solidFill>
                  <a:srgbClr val="1A202C"/>
                </a:solidFill>
                <a:latin typeface="Times New Roman" pitchFamily="34" charset="0"/>
                <a:ea typeface="Times New Roman" pitchFamily="34" charset="-122"/>
                <a:cs typeface="Times New Roman" pitchFamily="34" charset="-120"/>
              </a:rPr>
              <a:t>Handle exceptions robustly, including designing custom exception types</a:t>
            </a:r>
            <a:endParaRPr lang="en-US" sz="1400" dirty="0"/>
          </a:p>
        </p:txBody>
      </p:sp>
      <p:sp>
        <p:nvSpPr>
          <p:cNvPr id="28" name="Shape 26"/>
          <p:cNvSpPr/>
          <p:nvPr/>
        </p:nvSpPr>
        <p:spPr>
          <a:xfrm>
            <a:off x="0" y="0"/>
            <a:ext cx="12191695" cy="384048"/>
          </a:xfrm>
          <a:prstGeom prst="rect">
            <a:avLst/>
          </a:prstGeom>
          <a:solidFill>
            <a:srgbClr val="1B2A4A"/>
          </a:solidFill>
          <a:ln w="12700">
            <a:solidFill>
              <a:srgbClr val="1B2A4A"/>
            </a:solidFill>
            <a:prstDash val="solid"/>
          </a:ln>
        </p:spPr>
      </p:sp>
      <p:sp>
        <p:nvSpPr>
          <p:cNvPr id="29" name="Text 27"/>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30" name="Shape 28"/>
          <p:cNvSpPr/>
          <p:nvPr/>
        </p:nvSpPr>
        <p:spPr>
          <a:xfrm>
            <a:off x="219456" y="301752"/>
            <a:ext cx="960120" cy="0"/>
          </a:xfrm>
          <a:prstGeom prst="line">
            <a:avLst/>
          </a:prstGeom>
          <a:noFill/>
          <a:ln w="9525">
            <a:solidFill>
              <a:srgbClr val="4A5570"/>
            </a:solidFill>
            <a:prstDash val="solid"/>
          </a:ln>
        </p:spPr>
      </p:sp>
      <p:sp>
        <p:nvSpPr>
          <p:cNvPr id="31" name="Text 29"/>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32" name="Text 30"/>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33" name="Text 31"/>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34" name="Shape 32"/>
          <p:cNvSpPr/>
          <p:nvPr/>
        </p:nvSpPr>
        <p:spPr>
          <a:xfrm>
            <a:off x="0" y="6291072"/>
            <a:ext cx="12191695" cy="566928"/>
          </a:xfrm>
          <a:prstGeom prst="rect">
            <a:avLst/>
          </a:prstGeom>
          <a:solidFill>
            <a:srgbClr val="1B2A4A"/>
          </a:solidFill>
          <a:ln w="12700">
            <a:solidFill>
              <a:srgbClr val="1B2A4A"/>
            </a:solidFill>
            <a:prstDash val="solid"/>
          </a:ln>
        </p:spPr>
      </p:sp>
      <p:sp>
        <p:nvSpPr>
          <p:cNvPr id="35" name="Text 33"/>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36" name="Text 34"/>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81C24"/>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81C24"/>
          </a:solidFill>
          <a:ln w="12700">
            <a:solidFill>
              <a:srgbClr val="181C24"/>
            </a:solidFill>
            <a:prstDash val="solid"/>
          </a:ln>
        </p:spPr>
      </p:sp>
      <p:sp>
        <p:nvSpPr>
          <p:cNvPr id="3" name="Shape 1"/>
          <p:cNvSpPr/>
          <p:nvPr/>
        </p:nvSpPr>
        <p:spPr>
          <a:xfrm>
            <a:off x="0" y="3246120"/>
            <a:ext cx="12191695" cy="18288"/>
          </a:xfrm>
          <a:prstGeom prst="rect">
            <a:avLst/>
          </a:prstGeom>
          <a:solidFill>
            <a:srgbClr val="2A2F3B"/>
          </a:solidFill>
          <a:ln w="12700">
            <a:solidFill>
              <a:srgbClr val="000000"/>
            </a:solidFill>
            <a:prstDash val="solid"/>
          </a:ln>
        </p:spPr>
      </p:sp>
      <p:sp>
        <p:nvSpPr>
          <p:cNvPr id="4" name="Text 2"/>
          <p:cNvSpPr/>
          <p:nvPr/>
        </p:nvSpPr>
        <p:spPr>
          <a:xfrm>
            <a:off x="640080" y="2651760"/>
            <a:ext cx="5486400" cy="365760"/>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SECTION 1 / 10</a:t>
            </a:r>
            <a:endParaRPr lang="en-US" sz="1300" dirty="0"/>
          </a:p>
        </p:txBody>
      </p:sp>
      <p:sp>
        <p:nvSpPr>
          <p:cNvPr id="5" name="Text 3"/>
          <p:cNvSpPr/>
          <p:nvPr/>
        </p:nvSpPr>
        <p:spPr>
          <a:xfrm>
            <a:off x="594360" y="2971800"/>
            <a:ext cx="10515600" cy="1005840"/>
          </a:xfrm>
          <a:prstGeom prst="rect">
            <a:avLst/>
          </a:prstGeom>
          <a:noFill/>
          <a:ln/>
        </p:spPr>
        <p:txBody>
          <a:bodyPr wrap="square" lIns="0" tIns="0" rIns="0" bIns="0" rtlCol="0" anchor="ctr"/>
          <a:lstStyle/>
          <a:p>
            <a:pPr marL="0" indent="0">
              <a:buNone/>
            </a:pPr>
            <a:r>
              <a:rPr lang="en-US" sz="3400" b="1" dirty="0">
                <a:solidFill>
                  <a:srgbClr val="FFFFFF"/>
                </a:solidFill>
                <a:latin typeface="Times New Roman" pitchFamily="34" charset="0"/>
                <a:ea typeface="Times New Roman" pitchFamily="34" charset="-122"/>
                <a:cs typeface="Times New Roman" pitchFamily="34" charset="-120"/>
              </a:rPr>
              <a:t>Classes and Objects</a:t>
            </a:r>
            <a:endParaRPr lang="en-US" sz="3400" dirty="0"/>
          </a:p>
        </p:txBody>
      </p:sp>
      <p:sp>
        <p:nvSpPr>
          <p:cNvPr id="6" name="Text 4"/>
          <p:cNvSpPr/>
          <p:nvPr/>
        </p:nvSpPr>
        <p:spPr>
          <a:xfrm>
            <a:off x="640080" y="3977640"/>
            <a:ext cx="9144000" cy="548640"/>
          </a:xfrm>
          <a:prstGeom prst="rect">
            <a:avLst/>
          </a:prstGeom>
          <a:noFill/>
          <a:ln/>
        </p:spPr>
        <p:txBody>
          <a:bodyPr wrap="square" lIns="0" tIns="0" rIns="0" bIns="0" rtlCol="0" anchor="t"/>
          <a:lstStyle/>
          <a:p>
            <a:pPr marL="0" indent="0">
              <a:buNone/>
            </a:pPr>
            <a:r>
              <a:rPr lang="en-US" sz="1500" dirty="0">
                <a:solidFill>
                  <a:srgbClr val="8C93A0"/>
                </a:solidFill>
                <a:latin typeface="Times New Roman" pitchFamily="34" charset="0"/>
                <a:ea typeface="Times New Roman" pitchFamily="34" charset="-122"/>
                <a:cs typeface="Times New Roman" pitchFamily="34" charset="-120"/>
              </a:rPr>
              <a:t>Blueprints that describe the shape of an object, and real instances of it</a:t>
            </a:r>
            <a:endParaRPr lang="en-US" sz="1500" dirty="0"/>
          </a:p>
        </p:txBody>
      </p:sp>
      <p:sp>
        <p:nvSpPr>
          <p:cNvPr id="7" name="Shape 5"/>
          <p:cNvSpPr/>
          <p:nvPr/>
        </p:nvSpPr>
        <p:spPr>
          <a:xfrm>
            <a:off x="0" y="0"/>
            <a:ext cx="12191695" cy="384048"/>
          </a:xfrm>
          <a:prstGeom prst="rect">
            <a:avLst/>
          </a:prstGeom>
          <a:solidFill>
            <a:srgbClr val="1B2A4A"/>
          </a:solidFill>
          <a:ln w="12700">
            <a:solidFill>
              <a:srgbClr val="1B2A4A"/>
            </a:solidFill>
            <a:prstDash val="solid"/>
          </a:ln>
        </p:spPr>
      </p:sp>
      <p:sp>
        <p:nvSpPr>
          <p:cNvPr id="8" name="Text 6"/>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9" name="Shape 7"/>
          <p:cNvSpPr/>
          <p:nvPr/>
        </p:nvSpPr>
        <p:spPr>
          <a:xfrm>
            <a:off x="219456" y="301752"/>
            <a:ext cx="960120" cy="0"/>
          </a:xfrm>
          <a:prstGeom prst="line">
            <a:avLst/>
          </a:prstGeom>
          <a:noFill/>
          <a:ln w="9525">
            <a:solidFill>
              <a:srgbClr val="4A5570"/>
            </a:solidFill>
            <a:prstDash val="solid"/>
          </a:ln>
        </p:spPr>
      </p:sp>
      <p:sp>
        <p:nvSpPr>
          <p:cNvPr id="10" name="Text 8"/>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11" name="Text 9"/>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12" name="Text 10"/>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13" name="Shape 11"/>
          <p:cNvSpPr/>
          <p:nvPr/>
        </p:nvSpPr>
        <p:spPr>
          <a:xfrm>
            <a:off x="0" y="6291072"/>
            <a:ext cx="12191695" cy="566928"/>
          </a:xfrm>
          <a:prstGeom prst="rect">
            <a:avLst/>
          </a:prstGeom>
          <a:solidFill>
            <a:srgbClr val="1B2A4A"/>
          </a:solidFill>
          <a:ln w="12700">
            <a:solidFill>
              <a:srgbClr val="1B2A4A"/>
            </a:solidFill>
            <a:prstDash val="solid"/>
          </a:ln>
        </p:spPr>
      </p:sp>
      <p:sp>
        <p:nvSpPr>
          <p:cNvPr id="14" name="Text 12"/>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15" name="Text 13"/>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CONCEPT</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What Is a Class?</a:t>
            </a:r>
            <a:endParaRPr lang="en-US" sz="2700" dirty="0"/>
          </a:p>
        </p:txBody>
      </p:sp>
      <p:sp>
        <p:nvSpPr>
          <p:cNvPr id="4" name="Shape 2"/>
          <p:cNvSpPr/>
          <p:nvPr/>
        </p:nvSpPr>
        <p:spPr>
          <a:xfrm>
            <a:off x="594360" y="1691640"/>
            <a:ext cx="10607040" cy="1338072"/>
          </a:xfrm>
          <a:prstGeom prst="roundRect">
            <a:avLst>
              <a:gd name="adj" fmla="val 4100"/>
            </a:avLst>
          </a:prstGeom>
          <a:solidFill>
            <a:srgbClr val="F5F6FA"/>
          </a:solidFill>
          <a:ln w="9525">
            <a:solidFill>
              <a:srgbClr val="E4E7EE"/>
            </a:solidFill>
            <a:prstDash val="solid"/>
          </a:ln>
        </p:spPr>
      </p:sp>
      <p:sp>
        <p:nvSpPr>
          <p:cNvPr id="5" name="Shape 3"/>
          <p:cNvSpPr/>
          <p:nvPr/>
        </p:nvSpPr>
        <p:spPr>
          <a:xfrm>
            <a:off x="777240" y="1874520"/>
            <a:ext cx="109728" cy="109728"/>
          </a:xfrm>
          <a:prstGeom prst="ellipse">
            <a:avLst/>
          </a:prstGeom>
          <a:solidFill>
            <a:srgbClr val="E8590C"/>
          </a:solidFill>
          <a:ln w="12700">
            <a:solidFill>
              <a:srgbClr val="000000"/>
            </a:solidFill>
            <a:prstDash val="solid"/>
          </a:ln>
        </p:spPr>
      </p:sp>
      <p:sp>
        <p:nvSpPr>
          <p:cNvPr id="6" name="Text 4"/>
          <p:cNvSpPr/>
          <p:nvPr/>
        </p:nvSpPr>
        <p:spPr>
          <a:xfrm>
            <a:off x="1051560" y="1764792"/>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A blueprint for creating objects</a:t>
            </a:r>
            <a:endParaRPr lang="en-US" sz="1500" dirty="0"/>
          </a:p>
        </p:txBody>
      </p:sp>
      <p:sp>
        <p:nvSpPr>
          <p:cNvPr id="7" name="Text 5"/>
          <p:cNvSpPr/>
          <p:nvPr/>
        </p:nvSpPr>
        <p:spPr>
          <a:xfrm>
            <a:off x="1051560" y="2057400"/>
            <a:ext cx="9966960" cy="917448"/>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A class defines what data an object will hold and what actions it can perform, without being an object itself.</a:t>
            </a:r>
            <a:endParaRPr lang="en-US" sz="1250" dirty="0"/>
          </a:p>
        </p:txBody>
      </p:sp>
      <p:sp>
        <p:nvSpPr>
          <p:cNvPr id="8" name="Shape 6"/>
          <p:cNvSpPr/>
          <p:nvPr/>
        </p:nvSpPr>
        <p:spPr>
          <a:xfrm>
            <a:off x="594360" y="3194304"/>
            <a:ext cx="10607040" cy="1338072"/>
          </a:xfrm>
          <a:prstGeom prst="roundRect">
            <a:avLst>
              <a:gd name="adj" fmla="val 4100"/>
            </a:avLst>
          </a:prstGeom>
          <a:solidFill>
            <a:srgbClr val="F5F6FA"/>
          </a:solidFill>
          <a:ln w="9525">
            <a:solidFill>
              <a:srgbClr val="E4E7EE"/>
            </a:solidFill>
            <a:prstDash val="solid"/>
          </a:ln>
        </p:spPr>
      </p:sp>
      <p:sp>
        <p:nvSpPr>
          <p:cNvPr id="9" name="Shape 7"/>
          <p:cNvSpPr/>
          <p:nvPr/>
        </p:nvSpPr>
        <p:spPr>
          <a:xfrm>
            <a:off x="777240" y="3377184"/>
            <a:ext cx="109728" cy="109728"/>
          </a:xfrm>
          <a:prstGeom prst="ellipse">
            <a:avLst/>
          </a:prstGeom>
          <a:solidFill>
            <a:srgbClr val="E8590C"/>
          </a:solidFill>
          <a:ln w="12700">
            <a:solidFill>
              <a:srgbClr val="000000"/>
            </a:solidFill>
            <a:prstDash val="solid"/>
          </a:ln>
        </p:spPr>
      </p:sp>
      <p:sp>
        <p:nvSpPr>
          <p:cNvPr id="10" name="Text 8"/>
          <p:cNvSpPr/>
          <p:nvPr/>
        </p:nvSpPr>
        <p:spPr>
          <a:xfrm>
            <a:off x="1051560" y="3267456"/>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Groups related data and behavior together</a:t>
            </a:r>
            <a:endParaRPr lang="en-US" sz="1500" dirty="0"/>
          </a:p>
        </p:txBody>
      </p:sp>
      <p:sp>
        <p:nvSpPr>
          <p:cNvPr id="11" name="Text 9"/>
          <p:cNvSpPr/>
          <p:nvPr/>
        </p:nvSpPr>
        <p:spPr>
          <a:xfrm>
            <a:off x="1051560" y="3560064"/>
            <a:ext cx="9966960" cy="917448"/>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Fields describe an object's state, and methods describe what it can do.</a:t>
            </a:r>
            <a:endParaRPr lang="en-US" sz="1250" dirty="0"/>
          </a:p>
        </p:txBody>
      </p:sp>
      <p:sp>
        <p:nvSpPr>
          <p:cNvPr id="12" name="Shape 10"/>
          <p:cNvSpPr/>
          <p:nvPr/>
        </p:nvSpPr>
        <p:spPr>
          <a:xfrm>
            <a:off x="594360" y="4696968"/>
            <a:ext cx="10607040" cy="1338072"/>
          </a:xfrm>
          <a:prstGeom prst="roundRect">
            <a:avLst>
              <a:gd name="adj" fmla="val 4100"/>
            </a:avLst>
          </a:prstGeom>
          <a:solidFill>
            <a:srgbClr val="F5F6FA"/>
          </a:solidFill>
          <a:ln w="9525">
            <a:solidFill>
              <a:srgbClr val="E4E7EE"/>
            </a:solidFill>
            <a:prstDash val="solid"/>
          </a:ln>
        </p:spPr>
      </p:sp>
      <p:sp>
        <p:nvSpPr>
          <p:cNvPr id="13" name="Shape 11"/>
          <p:cNvSpPr/>
          <p:nvPr/>
        </p:nvSpPr>
        <p:spPr>
          <a:xfrm>
            <a:off x="777240" y="4879848"/>
            <a:ext cx="109728" cy="109728"/>
          </a:xfrm>
          <a:prstGeom prst="ellipse">
            <a:avLst/>
          </a:prstGeom>
          <a:solidFill>
            <a:srgbClr val="E8590C"/>
          </a:solidFill>
          <a:ln w="12700">
            <a:solidFill>
              <a:srgbClr val="000000"/>
            </a:solidFill>
            <a:prstDash val="solid"/>
          </a:ln>
        </p:spPr>
      </p:sp>
      <p:sp>
        <p:nvSpPr>
          <p:cNvPr id="14" name="Text 12"/>
          <p:cNvSpPr/>
          <p:nvPr/>
        </p:nvSpPr>
        <p:spPr>
          <a:xfrm>
            <a:off x="1051560" y="4770120"/>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The foundation of object-oriented programming</a:t>
            </a:r>
            <a:endParaRPr lang="en-US" sz="1500" dirty="0"/>
          </a:p>
        </p:txBody>
      </p:sp>
      <p:sp>
        <p:nvSpPr>
          <p:cNvPr id="15" name="Text 13"/>
          <p:cNvSpPr/>
          <p:nvPr/>
        </p:nvSpPr>
        <p:spPr>
          <a:xfrm>
            <a:off x="1051560" y="5062728"/>
            <a:ext cx="9966960" cy="917448"/>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Almost everything in a Java program is written inside a class.</a:t>
            </a:r>
            <a:endParaRPr lang="en-US" sz="1250" dirty="0"/>
          </a:p>
        </p:txBody>
      </p:sp>
      <p:sp>
        <p:nvSpPr>
          <p:cNvPr id="16" name="Shape 14"/>
          <p:cNvSpPr/>
          <p:nvPr/>
        </p:nvSpPr>
        <p:spPr>
          <a:xfrm>
            <a:off x="0" y="0"/>
            <a:ext cx="12191695" cy="384048"/>
          </a:xfrm>
          <a:prstGeom prst="rect">
            <a:avLst/>
          </a:prstGeom>
          <a:solidFill>
            <a:srgbClr val="1B2A4A"/>
          </a:solidFill>
          <a:ln w="12700">
            <a:solidFill>
              <a:srgbClr val="1B2A4A"/>
            </a:solidFill>
            <a:prstDash val="solid"/>
          </a:ln>
        </p:spPr>
      </p:sp>
      <p:sp>
        <p:nvSpPr>
          <p:cNvPr id="17" name="Text 15"/>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8" name="Shape 16"/>
          <p:cNvSpPr/>
          <p:nvPr/>
        </p:nvSpPr>
        <p:spPr>
          <a:xfrm>
            <a:off x="219456" y="301752"/>
            <a:ext cx="960120" cy="0"/>
          </a:xfrm>
          <a:prstGeom prst="line">
            <a:avLst/>
          </a:prstGeom>
          <a:noFill/>
          <a:ln w="9525">
            <a:solidFill>
              <a:srgbClr val="4A5570"/>
            </a:solidFill>
            <a:prstDash val="solid"/>
          </a:ln>
        </p:spPr>
      </p:sp>
      <p:sp>
        <p:nvSpPr>
          <p:cNvPr id="19" name="Text 17"/>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0" name="Text 18"/>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1" name="Text 19"/>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2" name="Shape 20"/>
          <p:cNvSpPr/>
          <p:nvPr/>
        </p:nvSpPr>
        <p:spPr>
          <a:xfrm>
            <a:off x="0" y="6291072"/>
            <a:ext cx="12191695" cy="566928"/>
          </a:xfrm>
          <a:prstGeom prst="rect">
            <a:avLst/>
          </a:prstGeom>
          <a:solidFill>
            <a:srgbClr val="1B2A4A"/>
          </a:solidFill>
          <a:ln w="12700">
            <a:solidFill>
              <a:srgbClr val="1B2A4A"/>
            </a:solidFill>
            <a:prstDash val="solid"/>
          </a:ln>
        </p:spPr>
      </p:sp>
      <p:sp>
        <p:nvSpPr>
          <p:cNvPr id="23" name="Text 21"/>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4" name="Text 22"/>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CONCEPT</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What Is an Object?</a:t>
            </a:r>
            <a:endParaRPr lang="en-US" sz="2700" dirty="0"/>
          </a:p>
        </p:txBody>
      </p:sp>
      <p:sp>
        <p:nvSpPr>
          <p:cNvPr id="4" name="Shape 2"/>
          <p:cNvSpPr/>
          <p:nvPr/>
        </p:nvSpPr>
        <p:spPr>
          <a:xfrm>
            <a:off x="594360" y="1691640"/>
            <a:ext cx="10607040" cy="1338072"/>
          </a:xfrm>
          <a:prstGeom prst="roundRect">
            <a:avLst>
              <a:gd name="adj" fmla="val 4100"/>
            </a:avLst>
          </a:prstGeom>
          <a:solidFill>
            <a:srgbClr val="F5F6FA"/>
          </a:solidFill>
          <a:ln w="9525">
            <a:solidFill>
              <a:srgbClr val="E4E7EE"/>
            </a:solidFill>
            <a:prstDash val="solid"/>
          </a:ln>
        </p:spPr>
      </p:sp>
      <p:sp>
        <p:nvSpPr>
          <p:cNvPr id="5" name="Shape 3"/>
          <p:cNvSpPr/>
          <p:nvPr/>
        </p:nvSpPr>
        <p:spPr>
          <a:xfrm>
            <a:off x="777240" y="1874520"/>
            <a:ext cx="109728" cy="109728"/>
          </a:xfrm>
          <a:prstGeom prst="ellipse">
            <a:avLst/>
          </a:prstGeom>
          <a:solidFill>
            <a:srgbClr val="E8590C"/>
          </a:solidFill>
          <a:ln w="12700">
            <a:solidFill>
              <a:srgbClr val="000000"/>
            </a:solidFill>
            <a:prstDash val="solid"/>
          </a:ln>
        </p:spPr>
      </p:sp>
      <p:sp>
        <p:nvSpPr>
          <p:cNvPr id="6" name="Text 4"/>
          <p:cNvSpPr/>
          <p:nvPr/>
        </p:nvSpPr>
        <p:spPr>
          <a:xfrm>
            <a:off x="1051560" y="1764792"/>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A concrete instance of a class</a:t>
            </a:r>
            <a:endParaRPr lang="en-US" sz="1500" dirty="0"/>
          </a:p>
        </p:txBody>
      </p:sp>
      <p:sp>
        <p:nvSpPr>
          <p:cNvPr id="7" name="Text 5"/>
          <p:cNvSpPr/>
          <p:nvPr/>
        </p:nvSpPr>
        <p:spPr>
          <a:xfrm>
            <a:off x="1051560" y="2057400"/>
            <a:ext cx="9966960" cy="917448"/>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An object is a real, usable value created from a class, with its own copy of every field.</a:t>
            </a:r>
            <a:endParaRPr lang="en-US" sz="1250" dirty="0"/>
          </a:p>
        </p:txBody>
      </p:sp>
      <p:sp>
        <p:nvSpPr>
          <p:cNvPr id="8" name="Shape 6"/>
          <p:cNvSpPr/>
          <p:nvPr/>
        </p:nvSpPr>
        <p:spPr>
          <a:xfrm>
            <a:off x="594360" y="3194304"/>
            <a:ext cx="10607040" cy="1338072"/>
          </a:xfrm>
          <a:prstGeom prst="roundRect">
            <a:avLst>
              <a:gd name="adj" fmla="val 4100"/>
            </a:avLst>
          </a:prstGeom>
          <a:solidFill>
            <a:srgbClr val="F5F6FA"/>
          </a:solidFill>
          <a:ln w="9525">
            <a:solidFill>
              <a:srgbClr val="E4E7EE"/>
            </a:solidFill>
            <a:prstDash val="solid"/>
          </a:ln>
        </p:spPr>
      </p:sp>
      <p:sp>
        <p:nvSpPr>
          <p:cNvPr id="9" name="Shape 7"/>
          <p:cNvSpPr/>
          <p:nvPr/>
        </p:nvSpPr>
        <p:spPr>
          <a:xfrm>
            <a:off x="777240" y="3377184"/>
            <a:ext cx="109728" cy="109728"/>
          </a:xfrm>
          <a:prstGeom prst="ellipse">
            <a:avLst/>
          </a:prstGeom>
          <a:solidFill>
            <a:srgbClr val="E8590C"/>
          </a:solidFill>
          <a:ln w="12700">
            <a:solidFill>
              <a:srgbClr val="000000"/>
            </a:solidFill>
            <a:prstDash val="solid"/>
          </a:ln>
        </p:spPr>
      </p:sp>
      <p:sp>
        <p:nvSpPr>
          <p:cNvPr id="10" name="Text 8"/>
          <p:cNvSpPr/>
          <p:nvPr/>
        </p:nvSpPr>
        <p:spPr>
          <a:xfrm>
            <a:off x="1051560" y="3267456"/>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Also called an instance</a:t>
            </a:r>
            <a:endParaRPr lang="en-US" sz="1500" dirty="0"/>
          </a:p>
        </p:txBody>
      </p:sp>
      <p:sp>
        <p:nvSpPr>
          <p:cNvPr id="11" name="Text 9"/>
          <p:cNvSpPr/>
          <p:nvPr/>
        </p:nvSpPr>
        <p:spPr>
          <a:xfrm>
            <a:off x="1051560" y="3560064"/>
            <a:ext cx="9966960" cy="917448"/>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Creating an object is often described as instantiating a class.</a:t>
            </a:r>
            <a:endParaRPr lang="en-US" sz="1250" dirty="0"/>
          </a:p>
        </p:txBody>
      </p:sp>
      <p:sp>
        <p:nvSpPr>
          <p:cNvPr id="12" name="Shape 10"/>
          <p:cNvSpPr/>
          <p:nvPr/>
        </p:nvSpPr>
        <p:spPr>
          <a:xfrm>
            <a:off x="594360" y="4696968"/>
            <a:ext cx="10607040" cy="1338072"/>
          </a:xfrm>
          <a:prstGeom prst="roundRect">
            <a:avLst>
              <a:gd name="adj" fmla="val 4100"/>
            </a:avLst>
          </a:prstGeom>
          <a:solidFill>
            <a:srgbClr val="F5F6FA"/>
          </a:solidFill>
          <a:ln w="9525">
            <a:solidFill>
              <a:srgbClr val="E4E7EE"/>
            </a:solidFill>
            <a:prstDash val="solid"/>
          </a:ln>
        </p:spPr>
      </p:sp>
      <p:sp>
        <p:nvSpPr>
          <p:cNvPr id="13" name="Shape 11"/>
          <p:cNvSpPr/>
          <p:nvPr/>
        </p:nvSpPr>
        <p:spPr>
          <a:xfrm>
            <a:off x="777240" y="4879848"/>
            <a:ext cx="109728" cy="109728"/>
          </a:xfrm>
          <a:prstGeom prst="ellipse">
            <a:avLst/>
          </a:prstGeom>
          <a:solidFill>
            <a:srgbClr val="E8590C"/>
          </a:solidFill>
          <a:ln w="12700">
            <a:solidFill>
              <a:srgbClr val="000000"/>
            </a:solidFill>
            <a:prstDash val="solid"/>
          </a:ln>
        </p:spPr>
      </p:sp>
      <p:sp>
        <p:nvSpPr>
          <p:cNvPr id="14" name="Text 12"/>
          <p:cNvSpPr/>
          <p:nvPr/>
        </p:nvSpPr>
        <p:spPr>
          <a:xfrm>
            <a:off x="1051560" y="4770120"/>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Many objects can share one class</a:t>
            </a:r>
            <a:endParaRPr lang="en-US" sz="1500" dirty="0"/>
          </a:p>
        </p:txBody>
      </p:sp>
      <p:sp>
        <p:nvSpPr>
          <p:cNvPr id="15" name="Text 13"/>
          <p:cNvSpPr/>
          <p:nvPr/>
        </p:nvSpPr>
        <p:spPr>
          <a:xfrm>
            <a:off x="1051560" y="5062728"/>
            <a:ext cx="9966960" cy="917448"/>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The same class can be used to create any number of individual objects, each with its own data.</a:t>
            </a:r>
            <a:endParaRPr lang="en-US" sz="1250" dirty="0"/>
          </a:p>
        </p:txBody>
      </p:sp>
      <p:sp>
        <p:nvSpPr>
          <p:cNvPr id="16" name="Shape 14"/>
          <p:cNvSpPr/>
          <p:nvPr/>
        </p:nvSpPr>
        <p:spPr>
          <a:xfrm>
            <a:off x="0" y="0"/>
            <a:ext cx="12191695" cy="384048"/>
          </a:xfrm>
          <a:prstGeom prst="rect">
            <a:avLst/>
          </a:prstGeom>
          <a:solidFill>
            <a:srgbClr val="1B2A4A"/>
          </a:solidFill>
          <a:ln w="12700">
            <a:solidFill>
              <a:srgbClr val="1B2A4A"/>
            </a:solidFill>
            <a:prstDash val="solid"/>
          </a:ln>
        </p:spPr>
      </p:sp>
      <p:sp>
        <p:nvSpPr>
          <p:cNvPr id="17" name="Text 15"/>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8" name="Shape 16"/>
          <p:cNvSpPr/>
          <p:nvPr/>
        </p:nvSpPr>
        <p:spPr>
          <a:xfrm>
            <a:off x="219456" y="301752"/>
            <a:ext cx="960120" cy="0"/>
          </a:xfrm>
          <a:prstGeom prst="line">
            <a:avLst/>
          </a:prstGeom>
          <a:noFill/>
          <a:ln w="9525">
            <a:solidFill>
              <a:srgbClr val="4A5570"/>
            </a:solidFill>
            <a:prstDash val="solid"/>
          </a:ln>
        </p:spPr>
      </p:sp>
      <p:sp>
        <p:nvSpPr>
          <p:cNvPr id="19" name="Text 17"/>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0" name="Text 18"/>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1" name="Text 19"/>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2" name="Shape 20"/>
          <p:cNvSpPr/>
          <p:nvPr/>
        </p:nvSpPr>
        <p:spPr>
          <a:xfrm>
            <a:off x="0" y="6291072"/>
            <a:ext cx="12191695" cy="566928"/>
          </a:xfrm>
          <a:prstGeom prst="rect">
            <a:avLst/>
          </a:prstGeom>
          <a:solidFill>
            <a:srgbClr val="1B2A4A"/>
          </a:solidFill>
          <a:ln w="12700">
            <a:solidFill>
              <a:srgbClr val="1B2A4A"/>
            </a:solidFill>
            <a:prstDash val="solid"/>
          </a:ln>
        </p:spPr>
      </p:sp>
      <p:sp>
        <p:nvSpPr>
          <p:cNvPr id="23" name="Text 21"/>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4" name="Text 22"/>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SYNTAX</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Class Declaration Syntax</a:t>
            </a:r>
            <a:endParaRPr lang="en-US" sz="2700" dirty="0"/>
          </a:p>
        </p:txBody>
      </p:sp>
      <p:sp>
        <p:nvSpPr>
          <p:cNvPr id="4" name="Shape 2"/>
          <p:cNvSpPr/>
          <p:nvPr/>
        </p:nvSpPr>
        <p:spPr>
          <a:xfrm>
            <a:off x="594360" y="1600200"/>
            <a:ext cx="10607040" cy="896112"/>
          </a:xfrm>
          <a:prstGeom prst="roundRect">
            <a:avLst>
              <a:gd name="adj" fmla="val 6122"/>
            </a:avLst>
          </a:prstGeom>
          <a:solidFill>
            <a:srgbClr val="F5F6FA"/>
          </a:solidFill>
          <a:ln w="9525">
            <a:solidFill>
              <a:srgbClr val="E4E7EE"/>
            </a:solidFill>
            <a:prstDash val="solid"/>
          </a:ln>
        </p:spPr>
      </p:sp>
      <p:sp>
        <p:nvSpPr>
          <p:cNvPr id="5" name="Shape 3"/>
          <p:cNvSpPr/>
          <p:nvPr/>
        </p:nvSpPr>
        <p:spPr>
          <a:xfrm>
            <a:off x="804672" y="1755648"/>
            <a:ext cx="100584" cy="100584"/>
          </a:xfrm>
          <a:prstGeom prst="ellipse">
            <a:avLst/>
          </a:prstGeom>
          <a:solidFill>
            <a:srgbClr val="E8590C"/>
          </a:solidFill>
          <a:ln w="12700">
            <a:solidFill>
              <a:srgbClr val="000000"/>
            </a:solidFill>
            <a:prstDash val="solid"/>
          </a:ln>
        </p:spPr>
      </p:sp>
      <p:sp>
        <p:nvSpPr>
          <p:cNvPr id="6" name="Text 4"/>
          <p:cNvSpPr/>
          <p:nvPr/>
        </p:nvSpPr>
        <p:spPr>
          <a:xfrm>
            <a:off x="1051560" y="1655064"/>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The class keyword introduces a new class, followed by its name.</a:t>
            </a:r>
            <a:endParaRPr lang="en-US" sz="1250" dirty="0"/>
          </a:p>
        </p:txBody>
      </p:sp>
      <p:sp>
        <p:nvSpPr>
          <p:cNvPr id="7" name="Shape 5"/>
          <p:cNvSpPr/>
          <p:nvPr/>
        </p:nvSpPr>
        <p:spPr>
          <a:xfrm>
            <a:off x="804672" y="2103120"/>
            <a:ext cx="100584" cy="100584"/>
          </a:xfrm>
          <a:prstGeom prst="ellipse">
            <a:avLst/>
          </a:prstGeom>
          <a:solidFill>
            <a:srgbClr val="E8590C"/>
          </a:solidFill>
          <a:ln w="12700">
            <a:solidFill>
              <a:srgbClr val="000000"/>
            </a:solidFill>
            <a:prstDash val="solid"/>
          </a:ln>
        </p:spPr>
      </p:sp>
      <p:sp>
        <p:nvSpPr>
          <p:cNvPr id="8" name="Text 6"/>
          <p:cNvSpPr/>
          <p:nvPr/>
        </p:nvSpPr>
        <p:spPr>
          <a:xfrm>
            <a:off x="1051560" y="2002536"/>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Everything that belongs to the class is written inside its curly braces.</a:t>
            </a:r>
            <a:endParaRPr lang="en-US" sz="1250" dirty="0"/>
          </a:p>
        </p:txBody>
      </p:sp>
      <p:sp>
        <p:nvSpPr>
          <p:cNvPr id="9" name="Shape 7"/>
          <p:cNvSpPr/>
          <p:nvPr/>
        </p:nvSpPr>
        <p:spPr>
          <a:xfrm>
            <a:off x="594360" y="2642616"/>
            <a:ext cx="10607040" cy="3392424"/>
          </a:xfrm>
          <a:prstGeom prst="roundRect">
            <a:avLst>
              <a:gd name="adj" fmla="val 2156"/>
            </a:avLst>
          </a:prstGeom>
          <a:solidFill>
            <a:srgbClr val="1E1E2E"/>
          </a:solidFill>
          <a:ln w="12700">
            <a:solidFill>
              <a:srgbClr val="000000"/>
            </a:solidFill>
            <a:prstDash val="solid"/>
          </a:ln>
        </p:spPr>
      </p:sp>
      <p:sp>
        <p:nvSpPr>
          <p:cNvPr id="10" name="Shape 8"/>
          <p:cNvSpPr/>
          <p:nvPr/>
        </p:nvSpPr>
        <p:spPr>
          <a:xfrm>
            <a:off x="594360" y="2642616"/>
            <a:ext cx="10607040" cy="274320"/>
          </a:xfrm>
          <a:prstGeom prst="roundRect">
            <a:avLst>
              <a:gd name="adj" fmla="val 26667"/>
            </a:avLst>
          </a:prstGeom>
          <a:solidFill>
            <a:srgbClr val="17172A"/>
          </a:solidFill>
          <a:ln w="12700">
            <a:solidFill>
              <a:srgbClr val="000000"/>
            </a:solidFill>
            <a:prstDash val="solid"/>
          </a:ln>
        </p:spPr>
      </p:sp>
      <p:sp>
        <p:nvSpPr>
          <p:cNvPr id="11" name="Shape 9"/>
          <p:cNvSpPr/>
          <p:nvPr/>
        </p:nvSpPr>
        <p:spPr>
          <a:xfrm>
            <a:off x="594360" y="2843784"/>
            <a:ext cx="10607040" cy="73152"/>
          </a:xfrm>
          <a:prstGeom prst="rect">
            <a:avLst/>
          </a:prstGeom>
          <a:solidFill>
            <a:srgbClr val="17172A"/>
          </a:solidFill>
          <a:ln w="12700">
            <a:solidFill>
              <a:srgbClr val="000000"/>
            </a:solidFill>
            <a:prstDash val="solid"/>
          </a:ln>
        </p:spPr>
      </p:sp>
      <p:sp>
        <p:nvSpPr>
          <p:cNvPr id="12" name="Shape 10"/>
          <p:cNvSpPr/>
          <p:nvPr/>
        </p:nvSpPr>
        <p:spPr>
          <a:xfrm>
            <a:off x="722376" y="2741371"/>
            <a:ext cx="76810" cy="76810"/>
          </a:xfrm>
          <a:prstGeom prst="ellipse">
            <a:avLst/>
          </a:prstGeom>
          <a:solidFill>
            <a:srgbClr val="FF5F56"/>
          </a:solidFill>
          <a:ln w="12700">
            <a:solidFill>
              <a:srgbClr val="000000"/>
            </a:solidFill>
            <a:prstDash val="solid"/>
          </a:ln>
        </p:spPr>
      </p:sp>
      <p:sp>
        <p:nvSpPr>
          <p:cNvPr id="13" name="Shape 11"/>
          <p:cNvSpPr/>
          <p:nvPr/>
        </p:nvSpPr>
        <p:spPr>
          <a:xfrm>
            <a:off x="886968" y="2741371"/>
            <a:ext cx="76810" cy="76810"/>
          </a:xfrm>
          <a:prstGeom prst="ellipse">
            <a:avLst/>
          </a:prstGeom>
          <a:solidFill>
            <a:srgbClr val="FFBD2E"/>
          </a:solidFill>
          <a:ln w="12700">
            <a:solidFill>
              <a:srgbClr val="000000"/>
            </a:solidFill>
            <a:prstDash val="solid"/>
          </a:ln>
        </p:spPr>
      </p:sp>
      <p:sp>
        <p:nvSpPr>
          <p:cNvPr id="14" name="Shape 12"/>
          <p:cNvSpPr/>
          <p:nvPr/>
        </p:nvSpPr>
        <p:spPr>
          <a:xfrm>
            <a:off x="1051560" y="2741371"/>
            <a:ext cx="76810" cy="76810"/>
          </a:xfrm>
          <a:prstGeom prst="ellipse">
            <a:avLst/>
          </a:prstGeom>
          <a:solidFill>
            <a:srgbClr val="27C93F"/>
          </a:solidFill>
          <a:ln w="12700">
            <a:solidFill>
              <a:srgbClr val="000000"/>
            </a:solidFill>
            <a:prstDash val="solid"/>
          </a:ln>
        </p:spPr>
      </p:sp>
      <p:sp>
        <p:nvSpPr>
          <p:cNvPr id="15" name="Text 13"/>
          <p:cNvSpPr/>
          <p:nvPr/>
        </p:nvSpPr>
        <p:spPr>
          <a:xfrm>
            <a:off x="1371600" y="2642616"/>
            <a:ext cx="9692640" cy="274320"/>
          </a:xfrm>
          <a:prstGeom prst="rect">
            <a:avLst/>
          </a:prstGeom>
          <a:noFill/>
          <a:ln/>
        </p:spPr>
        <p:txBody>
          <a:bodyPr wrap="square" lIns="0" tIns="0" rIns="0" bIns="0" rtlCol="0" anchor="ctr"/>
          <a:lstStyle/>
          <a:p>
            <a:pPr marL="0" indent="0" algn="l">
              <a:buNone/>
            </a:pPr>
            <a:r>
              <a:rPr lang="en-US" sz="1000" dirty="0">
                <a:solidFill>
                  <a:srgbClr val="8A8FA3"/>
                </a:solidFill>
                <a:latin typeface="Courier New" pitchFamily="34" charset="0"/>
                <a:ea typeface="Courier New" pitchFamily="34" charset="-122"/>
                <a:cs typeface="Courier New" pitchFamily="34" charset="-120"/>
              </a:rPr>
              <a:t>Main.java</a:t>
            </a:r>
            <a:endParaRPr lang="en-US" sz="1000" dirty="0"/>
          </a:p>
        </p:txBody>
      </p:sp>
      <p:sp>
        <p:nvSpPr>
          <p:cNvPr id="16" name="Text 14"/>
          <p:cNvSpPr/>
          <p:nvPr/>
        </p:nvSpPr>
        <p:spPr>
          <a:xfrm>
            <a:off x="777240" y="2990088"/>
            <a:ext cx="10241280" cy="2971800"/>
          </a:xfrm>
          <a:prstGeom prst="rect">
            <a:avLst/>
          </a:prstGeom>
          <a:noFill/>
          <a:ln/>
        </p:spPr>
        <p:txBody>
          <a:bodyPr wrap="square" lIns="0" tIns="0" rIns="0" bIns="0" rtlCol="0" anchor="t"/>
          <a:lstStyle/>
          <a:p>
            <a:pPr marL="0" indent="0" algn="l">
              <a:lnSpc>
                <a:spcPct val="118000"/>
              </a:lnSpc>
              <a:buNone/>
            </a:pPr>
            <a:r>
              <a:rPr lang="en-US" sz="1500" b="1" dirty="0">
                <a:solidFill>
                  <a:srgbClr val="569CD6"/>
                </a:solidFill>
                <a:latin typeface="Courier New" pitchFamily="34" charset="0"/>
                <a:ea typeface="Courier New" pitchFamily="34" charset="-122"/>
                <a:cs typeface="Courier New" pitchFamily="34" charset="-120"/>
              </a:rPr>
              <a:t>public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class</a:t>
            </a:r>
            <a:r>
              <a:rPr lang="en-US" sz="1500" dirty="0">
                <a:solidFill>
                  <a:srgbClr val="D4D4D4"/>
                </a:solidFill>
                <a:latin typeface="Courier New" pitchFamily="34" charset="0"/>
                <a:ea typeface="Courier New" pitchFamily="34" charset="-122"/>
                <a:cs typeface="Courier New" pitchFamily="34" charset="-120"/>
              </a:rPr>
              <a:t> Car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i="1" dirty="0">
                <a:solidFill>
                  <a:srgbClr val="6A9955"/>
                </a:solidFill>
                <a:latin typeface="Courier New" pitchFamily="34" charset="0"/>
                <a:ea typeface="Courier New" pitchFamily="34" charset="-122"/>
                <a:cs typeface="Courier New" pitchFamily="34" charset="-120"/>
              </a:rPr>
              <a:t>// fields and methods will go here</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a:t>
            </a:r>
            <a:endParaRPr lang="en-US" sz="1500" dirty="0"/>
          </a:p>
        </p:txBody>
      </p:sp>
      <p:sp>
        <p:nvSpPr>
          <p:cNvPr id="17" name="Shape 15"/>
          <p:cNvSpPr/>
          <p:nvPr/>
        </p:nvSpPr>
        <p:spPr>
          <a:xfrm>
            <a:off x="0" y="0"/>
            <a:ext cx="12191695" cy="384048"/>
          </a:xfrm>
          <a:prstGeom prst="rect">
            <a:avLst/>
          </a:prstGeom>
          <a:solidFill>
            <a:srgbClr val="1B2A4A"/>
          </a:solidFill>
          <a:ln w="12700">
            <a:solidFill>
              <a:srgbClr val="1B2A4A"/>
            </a:solidFill>
            <a:prstDash val="solid"/>
          </a:ln>
        </p:spPr>
      </p:sp>
      <p:sp>
        <p:nvSpPr>
          <p:cNvPr id="18" name="Text 16"/>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9" name="Shape 17"/>
          <p:cNvSpPr/>
          <p:nvPr/>
        </p:nvSpPr>
        <p:spPr>
          <a:xfrm>
            <a:off x="219456" y="301752"/>
            <a:ext cx="960120" cy="0"/>
          </a:xfrm>
          <a:prstGeom prst="line">
            <a:avLst/>
          </a:prstGeom>
          <a:noFill/>
          <a:ln w="9525">
            <a:solidFill>
              <a:srgbClr val="4A5570"/>
            </a:solidFill>
            <a:prstDash val="solid"/>
          </a:ln>
        </p:spPr>
      </p:sp>
      <p:sp>
        <p:nvSpPr>
          <p:cNvPr id="20" name="Text 18"/>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1" name="Text 19"/>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2" name="Text 20"/>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3" name="Shape 21"/>
          <p:cNvSpPr/>
          <p:nvPr/>
        </p:nvSpPr>
        <p:spPr>
          <a:xfrm>
            <a:off x="0" y="6291072"/>
            <a:ext cx="12191695" cy="566928"/>
          </a:xfrm>
          <a:prstGeom prst="rect">
            <a:avLst/>
          </a:prstGeom>
          <a:solidFill>
            <a:srgbClr val="1B2A4A"/>
          </a:solidFill>
          <a:ln w="12700">
            <a:solidFill>
              <a:srgbClr val="1B2A4A"/>
            </a:solidFill>
            <a:prstDash val="solid"/>
          </a:ln>
        </p:spPr>
      </p:sp>
      <p:sp>
        <p:nvSpPr>
          <p:cNvPr id="24" name="Text 22"/>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5" name="Text 23"/>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STATE</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Fields (Instance Variables)</a:t>
            </a:r>
            <a:endParaRPr lang="en-US" sz="2700" dirty="0"/>
          </a:p>
        </p:txBody>
      </p:sp>
      <p:sp>
        <p:nvSpPr>
          <p:cNvPr id="4" name="Shape 2"/>
          <p:cNvSpPr/>
          <p:nvPr/>
        </p:nvSpPr>
        <p:spPr>
          <a:xfrm>
            <a:off x="594360" y="1600200"/>
            <a:ext cx="10607040" cy="896112"/>
          </a:xfrm>
          <a:prstGeom prst="roundRect">
            <a:avLst>
              <a:gd name="adj" fmla="val 6122"/>
            </a:avLst>
          </a:prstGeom>
          <a:solidFill>
            <a:srgbClr val="F5F6FA"/>
          </a:solidFill>
          <a:ln w="9525">
            <a:solidFill>
              <a:srgbClr val="E4E7EE"/>
            </a:solidFill>
            <a:prstDash val="solid"/>
          </a:ln>
        </p:spPr>
      </p:sp>
      <p:sp>
        <p:nvSpPr>
          <p:cNvPr id="5" name="Shape 3"/>
          <p:cNvSpPr/>
          <p:nvPr/>
        </p:nvSpPr>
        <p:spPr>
          <a:xfrm>
            <a:off x="804672" y="1755648"/>
            <a:ext cx="100584" cy="100584"/>
          </a:xfrm>
          <a:prstGeom prst="ellipse">
            <a:avLst/>
          </a:prstGeom>
          <a:solidFill>
            <a:srgbClr val="E8590C"/>
          </a:solidFill>
          <a:ln w="12700">
            <a:solidFill>
              <a:srgbClr val="000000"/>
            </a:solidFill>
            <a:prstDash val="solid"/>
          </a:ln>
        </p:spPr>
      </p:sp>
      <p:sp>
        <p:nvSpPr>
          <p:cNvPr id="6" name="Text 4"/>
          <p:cNvSpPr/>
          <p:nvPr/>
        </p:nvSpPr>
        <p:spPr>
          <a:xfrm>
            <a:off x="1051560" y="1655064"/>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Fields are variables declared directly inside a class, outside any method.</a:t>
            </a:r>
            <a:endParaRPr lang="en-US" sz="1250" dirty="0"/>
          </a:p>
        </p:txBody>
      </p:sp>
      <p:sp>
        <p:nvSpPr>
          <p:cNvPr id="7" name="Shape 5"/>
          <p:cNvSpPr/>
          <p:nvPr/>
        </p:nvSpPr>
        <p:spPr>
          <a:xfrm>
            <a:off x="804672" y="2103120"/>
            <a:ext cx="100584" cy="100584"/>
          </a:xfrm>
          <a:prstGeom prst="ellipse">
            <a:avLst/>
          </a:prstGeom>
          <a:solidFill>
            <a:srgbClr val="E8590C"/>
          </a:solidFill>
          <a:ln w="12700">
            <a:solidFill>
              <a:srgbClr val="000000"/>
            </a:solidFill>
            <a:prstDash val="solid"/>
          </a:ln>
        </p:spPr>
      </p:sp>
      <p:sp>
        <p:nvSpPr>
          <p:cNvPr id="8" name="Text 6"/>
          <p:cNvSpPr/>
          <p:nvPr/>
        </p:nvSpPr>
        <p:spPr>
          <a:xfrm>
            <a:off x="1051560" y="2002536"/>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They describe the data every object created from the class will hold.</a:t>
            </a:r>
            <a:endParaRPr lang="en-US" sz="1250" dirty="0"/>
          </a:p>
        </p:txBody>
      </p:sp>
      <p:sp>
        <p:nvSpPr>
          <p:cNvPr id="9" name="Shape 7"/>
          <p:cNvSpPr/>
          <p:nvPr/>
        </p:nvSpPr>
        <p:spPr>
          <a:xfrm>
            <a:off x="594360" y="2642616"/>
            <a:ext cx="10607040" cy="3392424"/>
          </a:xfrm>
          <a:prstGeom prst="roundRect">
            <a:avLst>
              <a:gd name="adj" fmla="val 2156"/>
            </a:avLst>
          </a:prstGeom>
          <a:solidFill>
            <a:srgbClr val="1E1E2E"/>
          </a:solidFill>
          <a:ln w="12700">
            <a:solidFill>
              <a:srgbClr val="000000"/>
            </a:solidFill>
            <a:prstDash val="solid"/>
          </a:ln>
        </p:spPr>
      </p:sp>
      <p:sp>
        <p:nvSpPr>
          <p:cNvPr id="10" name="Shape 8"/>
          <p:cNvSpPr/>
          <p:nvPr/>
        </p:nvSpPr>
        <p:spPr>
          <a:xfrm>
            <a:off x="594360" y="2642616"/>
            <a:ext cx="10607040" cy="274320"/>
          </a:xfrm>
          <a:prstGeom prst="roundRect">
            <a:avLst>
              <a:gd name="adj" fmla="val 26667"/>
            </a:avLst>
          </a:prstGeom>
          <a:solidFill>
            <a:srgbClr val="17172A"/>
          </a:solidFill>
          <a:ln w="12700">
            <a:solidFill>
              <a:srgbClr val="000000"/>
            </a:solidFill>
            <a:prstDash val="solid"/>
          </a:ln>
        </p:spPr>
      </p:sp>
      <p:sp>
        <p:nvSpPr>
          <p:cNvPr id="11" name="Shape 9"/>
          <p:cNvSpPr/>
          <p:nvPr/>
        </p:nvSpPr>
        <p:spPr>
          <a:xfrm>
            <a:off x="594360" y="2843784"/>
            <a:ext cx="10607040" cy="73152"/>
          </a:xfrm>
          <a:prstGeom prst="rect">
            <a:avLst/>
          </a:prstGeom>
          <a:solidFill>
            <a:srgbClr val="17172A"/>
          </a:solidFill>
          <a:ln w="12700">
            <a:solidFill>
              <a:srgbClr val="000000"/>
            </a:solidFill>
            <a:prstDash val="solid"/>
          </a:ln>
        </p:spPr>
      </p:sp>
      <p:sp>
        <p:nvSpPr>
          <p:cNvPr id="12" name="Shape 10"/>
          <p:cNvSpPr/>
          <p:nvPr/>
        </p:nvSpPr>
        <p:spPr>
          <a:xfrm>
            <a:off x="722376" y="2741371"/>
            <a:ext cx="76810" cy="76810"/>
          </a:xfrm>
          <a:prstGeom prst="ellipse">
            <a:avLst/>
          </a:prstGeom>
          <a:solidFill>
            <a:srgbClr val="FF5F56"/>
          </a:solidFill>
          <a:ln w="12700">
            <a:solidFill>
              <a:srgbClr val="000000"/>
            </a:solidFill>
            <a:prstDash val="solid"/>
          </a:ln>
        </p:spPr>
      </p:sp>
      <p:sp>
        <p:nvSpPr>
          <p:cNvPr id="13" name="Shape 11"/>
          <p:cNvSpPr/>
          <p:nvPr/>
        </p:nvSpPr>
        <p:spPr>
          <a:xfrm>
            <a:off x="886968" y="2741371"/>
            <a:ext cx="76810" cy="76810"/>
          </a:xfrm>
          <a:prstGeom prst="ellipse">
            <a:avLst/>
          </a:prstGeom>
          <a:solidFill>
            <a:srgbClr val="FFBD2E"/>
          </a:solidFill>
          <a:ln w="12700">
            <a:solidFill>
              <a:srgbClr val="000000"/>
            </a:solidFill>
            <a:prstDash val="solid"/>
          </a:ln>
        </p:spPr>
      </p:sp>
      <p:sp>
        <p:nvSpPr>
          <p:cNvPr id="14" name="Shape 12"/>
          <p:cNvSpPr/>
          <p:nvPr/>
        </p:nvSpPr>
        <p:spPr>
          <a:xfrm>
            <a:off x="1051560" y="2741371"/>
            <a:ext cx="76810" cy="76810"/>
          </a:xfrm>
          <a:prstGeom prst="ellipse">
            <a:avLst/>
          </a:prstGeom>
          <a:solidFill>
            <a:srgbClr val="27C93F"/>
          </a:solidFill>
          <a:ln w="12700">
            <a:solidFill>
              <a:srgbClr val="000000"/>
            </a:solidFill>
            <a:prstDash val="solid"/>
          </a:ln>
        </p:spPr>
      </p:sp>
      <p:sp>
        <p:nvSpPr>
          <p:cNvPr id="15" name="Text 13"/>
          <p:cNvSpPr/>
          <p:nvPr/>
        </p:nvSpPr>
        <p:spPr>
          <a:xfrm>
            <a:off x="1371600" y="2642616"/>
            <a:ext cx="9692640" cy="274320"/>
          </a:xfrm>
          <a:prstGeom prst="rect">
            <a:avLst/>
          </a:prstGeom>
          <a:noFill/>
          <a:ln/>
        </p:spPr>
        <p:txBody>
          <a:bodyPr wrap="square" lIns="0" tIns="0" rIns="0" bIns="0" rtlCol="0" anchor="ctr"/>
          <a:lstStyle/>
          <a:p>
            <a:pPr marL="0" indent="0" algn="l">
              <a:buNone/>
            </a:pPr>
            <a:r>
              <a:rPr lang="en-US" sz="1000" dirty="0">
                <a:solidFill>
                  <a:srgbClr val="8A8FA3"/>
                </a:solidFill>
                <a:latin typeface="Courier New" pitchFamily="34" charset="0"/>
                <a:ea typeface="Courier New" pitchFamily="34" charset="-122"/>
                <a:cs typeface="Courier New" pitchFamily="34" charset="-120"/>
              </a:rPr>
              <a:t>Main.java</a:t>
            </a:r>
            <a:endParaRPr lang="en-US" sz="1000" dirty="0"/>
          </a:p>
        </p:txBody>
      </p:sp>
      <p:sp>
        <p:nvSpPr>
          <p:cNvPr id="16" name="Text 14"/>
          <p:cNvSpPr/>
          <p:nvPr/>
        </p:nvSpPr>
        <p:spPr>
          <a:xfrm>
            <a:off x="777240" y="2990088"/>
            <a:ext cx="10241280" cy="2971800"/>
          </a:xfrm>
          <a:prstGeom prst="rect">
            <a:avLst/>
          </a:prstGeom>
          <a:noFill/>
          <a:ln/>
        </p:spPr>
        <p:txBody>
          <a:bodyPr wrap="square" lIns="0" tIns="0" rIns="0" bIns="0" rtlCol="0" anchor="t"/>
          <a:lstStyle/>
          <a:p>
            <a:pPr marL="0" indent="0" algn="l">
              <a:lnSpc>
                <a:spcPct val="118000"/>
              </a:lnSpc>
              <a:buNone/>
            </a:pPr>
            <a:r>
              <a:rPr lang="en-US" sz="1500" b="1" dirty="0">
                <a:solidFill>
                  <a:srgbClr val="569CD6"/>
                </a:solidFill>
                <a:latin typeface="Courier New" pitchFamily="34" charset="0"/>
                <a:ea typeface="Courier New" pitchFamily="34" charset="-122"/>
                <a:cs typeface="Courier New" pitchFamily="34" charset="-120"/>
              </a:rPr>
              <a:t>public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class</a:t>
            </a:r>
            <a:r>
              <a:rPr lang="en-US" sz="1500" dirty="0">
                <a:solidFill>
                  <a:srgbClr val="D4D4D4"/>
                </a:solidFill>
                <a:latin typeface="Courier New" pitchFamily="34" charset="0"/>
                <a:ea typeface="Courier New" pitchFamily="34" charset="-122"/>
                <a:cs typeface="Courier New" pitchFamily="34" charset="-120"/>
              </a:rPr>
              <a:t> Car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4EC9B0"/>
                </a:solidFill>
                <a:latin typeface="Courier New" pitchFamily="34" charset="0"/>
                <a:ea typeface="Courier New" pitchFamily="34" charset="-122"/>
                <a:cs typeface="Courier New" pitchFamily="34" charset="-120"/>
              </a:rPr>
              <a:t>String</a:t>
            </a:r>
            <a:r>
              <a:rPr lang="en-US" sz="1500" dirty="0">
                <a:solidFill>
                  <a:srgbClr val="D4D4D4"/>
                </a:solidFill>
                <a:latin typeface="Courier New" pitchFamily="34" charset="0"/>
                <a:ea typeface="Courier New" pitchFamily="34" charset="-122"/>
                <a:cs typeface="Courier New" pitchFamily="34" charset="-120"/>
              </a:rPr>
              <a:t> brand;</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4EC9B0"/>
                </a:solidFill>
                <a:latin typeface="Courier New" pitchFamily="34" charset="0"/>
                <a:ea typeface="Courier New" pitchFamily="34" charset="-122"/>
                <a:cs typeface="Courier New" pitchFamily="34" charset="-120"/>
              </a:rPr>
              <a:t>String</a:t>
            </a:r>
            <a:r>
              <a:rPr lang="en-US" sz="1500" dirty="0">
                <a:solidFill>
                  <a:srgbClr val="D4D4D4"/>
                </a:solidFill>
                <a:latin typeface="Courier New" pitchFamily="34" charset="0"/>
                <a:ea typeface="Courier New" pitchFamily="34" charset="-122"/>
                <a:cs typeface="Courier New" pitchFamily="34" charset="-120"/>
              </a:rPr>
              <a:t> color;</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int</a:t>
            </a:r>
            <a:r>
              <a:rPr lang="en-US" sz="1500" dirty="0">
                <a:solidFill>
                  <a:srgbClr val="D4D4D4"/>
                </a:solidFill>
                <a:latin typeface="Courier New" pitchFamily="34" charset="0"/>
                <a:ea typeface="Courier New" pitchFamily="34" charset="-122"/>
                <a:cs typeface="Courier New" pitchFamily="34" charset="-120"/>
              </a:rPr>
              <a:t> speed;</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a:t>
            </a:r>
            <a:endParaRPr lang="en-US" sz="1500" dirty="0"/>
          </a:p>
        </p:txBody>
      </p:sp>
      <p:sp>
        <p:nvSpPr>
          <p:cNvPr id="17" name="Shape 15"/>
          <p:cNvSpPr/>
          <p:nvPr/>
        </p:nvSpPr>
        <p:spPr>
          <a:xfrm>
            <a:off x="0" y="0"/>
            <a:ext cx="12191695" cy="384048"/>
          </a:xfrm>
          <a:prstGeom prst="rect">
            <a:avLst/>
          </a:prstGeom>
          <a:solidFill>
            <a:srgbClr val="1B2A4A"/>
          </a:solidFill>
          <a:ln w="12700">
            <a:solidFill>
              <a:srgbClr val="1B2A4A"/>
            </a:solidFill>
            <a:prstDash val="solid"/>
          </a:ln>
        </p:spPr>
      </p:sp>
      <p:sp>
        <p:nvSpPr>
          <p:cNvPr id="18" name="Text 16"/>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9" name="Shape 17"/>
          <p:cNvSpPr/>
          <p:nvPr/>
        </p:nvSpPr>
        <p:spPr>
          <a:xfrm>
            <a:off x="219456" y="301752"/>
            <a:ext cx="960120" cy="0"/>
          </a:xfrm>
          <a:prstGeom prst="line">
            <a:avLst/>
          </a:prstGeom>
          <a:noFill/>
          <a:ln w="9525">
            <a:solidFill>
              <a:srgbClr val="4A5570"/>
            </a:solidFill>
            <a:prstDash val="solid"/>
          </a:ln>
        </p:spPr>
      </p:sp>
      <p:sp>
        <p:nvSpPr>
          <p:cNvPr id="20" name="Text 18"/>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1" name="Text 19"/>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2" name="Text 20"/>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3" name="Shape 21"/>
          <p:cNvSpPr/>
          <p:nvPr/>
        </p:nvSpPr>
        <p:spPr>
          <a:xfrm>
            <a:off x="0" y="6291072"/>
            <a:ext cx="12191695" cy="566928"/>
          </a:xfrm>
          <a:prstGeom prst="rect">
            <a:avLst/>
          </a:prstGeom>
          <a:solidFill>
            <a:srgbClr val="1B2A4A"/>
          </a:solidFill>
          <a:ln w="12700">
            <a:solidFill>
              <a:srgbClr val="1B2A4A"/>
            </a:solidFill>
            <a:prstDash val="solid"/>
          </a:ln>
        </p:spPr>
      </p:sp>
      <p:sp>
        <p:nvSpPr>
          <p:cNvPr id="24" name="Text 22"/>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5" name="Text 23"/>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BEHAVIOR</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Methods Inside a Class</a:t>
            </a:r>
            <a:endParaRPr lang="en-US" sz="2700" dirty="0"/>
          </a:p>
        </p:txBody>
      </p:sp>
      <p:sp>
        <p:nvSpPr>
          <p:cNvPr id="4" name="Shape 2"/>
          <p:cNvSpPr/>
          <p:nvPr/>
        </p:nvSpPr>
        <p:spPr>
          <a:xfrm>
            <a:off x="594360" y="1600200"/>
            <a:ext cx="10607040" cy="896112"/>
          </a:xfrm>
          <a:prstGeom prst="roundRect">
            <a:avLst>
              <a:gd name="adj" fmla="val 6122"/>
            </a:avLst>
          </a:prstGeom>
          <a:solidFill>
            <a:srgbClr val="F5F6FA"/>
          </a:solidFill>
          <a:ln w="9525">
            <a:solidFill>
              <a:srgbClr val="E4E7EE"/>
            </a:solidFill>
            <a:prstDash val="solid"/>
          </a:ln>
        </p:spPr>
      </p:sp>
      <p:sp>
        <p:nvSpPr>
          <p:cNvPr id="5" name="Shape 3"/>
          <p:cNvSpPr/>
          <p:nvPr/>
        </p:nvSpPr>
        <p:spPr>
          <a:xfrm>
            <a:off x="804672" y="1755648"/>
            <a:ext cx="100584" cy="100584"/>
          </a:xfrm>
          <a:prstGeom prst="ellipse">
            <a:avLst/>
          </a:prstGeom>
          <a:solidFill>
            <a:srgbClr val="E8590C"/>
          </a:solidFill>
          <a:ln w="12700">
            <a:solidFill>
              <a:srgbClr val="000000"/>
            </a:solidFill>
            <a:prstDash val="solid"/>
          </a:ln>
        </p:spPr>
      </p:sp>
      <p:sp>
        <p:nvSpPr>
          <p:cNvPr id="6" name="Text 4"/>
          <p:cNvSpPr/>
          <p:nvPr/>
        </p:nvSpPr>
        <p:spPr>
          <a:xfrm>
            <a:off x="1051560" y="1655064"/>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Methods describe the actions an object can perform, often using its own fields.</a:t>
            </a:r>
            <a:endParaRPr lang="en-US" sz="1250" dirty="0"/>
          </a:p>
        </p:txBody>
      </p:sp>
      <p:sp>
        <p:nvSpPr>
          <p:cNvPr id="7" name="Shape 5"/>
          <p:cNvSpPr/>
          <p:nvPr/>
        </p:nvSpPr>
        <p:spPr>
          <a:xfrm>
            <a:off x="804672" y="2103120"/>
            <a:ext cx="100584" cy="100584"/>
          </a:xfrm>
          <a:prstGeom prst="ellipse">
            <a:avLst/>
          </a:prstGeom>
          <a:solidFill>
            <a:srgbClr val="E8590C"/>
          </a:solidFill>
          <a:ln w="12700">
            <a:solidFill>
              <a:srgbClr val="000000"/>
            </a:solidFill>
            <a:prstDash val="solid"/>
          </a:ln>
        </p:spPr>
      </p:sp>
      <p:sp>
        <p:nvSpPr>
          <p:cNvPr id="8" name="Text 6"/>
          <p:cNvSpPr/>
          <p:nvPr/>
        </p:nvSpPr>
        <p:spPr>
          <a:xfrm>
            <a:off x="1051560" y="2002536"/>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A class can contain any number of fields and methods.</a:t>
            </a:r>
            <a:endParaRPr lang="en-US" sz="1250" dirty="0"/>
          </a:p>
        </p:txBody>
      </p:sp>
      <p:sp>
        <p:nvSpPr>
          <p:cNvPr id="9" name="Shape 7"/>
          <p:cNvSpPr/>
          <p:nvPr/>
        </p:nvSpPr>
        <p:spPr>
          <a:xfrm>
            <a:off x="594360" y="2642616"/>
            <a:ext cx="10607040" cy="3392424"/>
          </a:xfrm>
          <a:prstGeom prst="roundRect">
            <a:avLst>
              <a:gd name="adj" fmla="val 2156"/>
            </a:avLst>
          </a:prstGeom>
          <a:solidFill>
            <a:srgbClr val="1E1E2E"/>
          </a:solidFill>
          <a:ln w="12700">
            <a:solidFill>
              <a:srgbClr val="000000"/>
            </a:solidFill>
            <a:prstDash val="solid"/>
          </a:ln>
        </p:spPr>
      </p:sp>
      <p:sp>
        <p:nvSpPr>
          <p:cNvPr id="10" name="Shape 8"/>
          <p:cNvSpPr/>
          <p:nvPr/>
        </p:nvSpPr>
        <p:spPr>
          <a:xfrm>
            <a:off x="594360" y="2642616"/>
            <a:ext cx="10607040" cy="274320"/>
          </a:xfrm>
          <a:prstGeom prst="roundRect">
            <a:avLst>
              <a:gd name="adj" fmla="val 26667"/>
            </a:avLst>
          </a:prstGeom>
          <a:solidFill>
            <a:srgbClr val="17172A"/>
          </a:solidFill>
          <a:ln w="12700">
            <a:solidFill>
              <a:srgbClr val="000000"/>
            </a:solidFill>
            <a:prstDash val="solid"/>
          </a:ln>
        </p:spPr>
      </p:sp>
      <p:sp>
        <p:nvSpPr>
          <p:cNvPr id="11" name="Shape 9"/>
          <p:cNvSpPr/>
          <p:nvPr/>
        </p:nvSpPr>
        <p:spPr>
          <a:xfrm>
            <a:off x="594360" y="2843784"/>
            <a:ext cx="10607040" cy="73152"/>
          </a:xfrm>
          <a:prstGeom prst="rect">
            <a:avLst/>
          </a:prstGeom>
          <a:solidFill>
            <a:srgbClr val="17172A"/>
          </a:solidFill>
          <a:ln w="12700">
            <a:solidFill>
              <a:srgbClr val="000000"/>
            </a:solidFill>
            <a:prstDash val="solid"/>
          </a:ln>
        </p:spPr>
      </p:sp>
      <p:sp>
        <p:nvSpPr>
          <p:cNvPr id="12" name="Shape 10"/>
          <p:cNvSpPr/>
          <p:nvPr/>
        </p:nvSpPr>
        <p:spPr>
          <a:xfrm>
            <a:off x="722376" y="2741371"/>
            <a:ext cx="76810" cy="76810"/>
          </a:xfrm>
          <a:prstGeom prst="ellipse">
            <a:avLst/>
          </a:prstGeom>
          <a:solidFill>
            <a:srgbClr val="FF5F56"/>
          </a:solidFill>
          <a:ln w="12700">
            <a:solidFill>
              <a:srgbClr val="000000"/>
            </a:solidFill>
            <a:prstDash val="solid"/>
          </a:ln>
        </p:spPr>
      </p:sp>
      <p:sp>
        <p:nvSpPr>
          <p:cNvPr id="13" name="Shape 11"/>
          <p:cNvSpPr/>
          <p:nvPr/>
        </p:nvSpPr>
        <p:spPr>
          <a:xfrm>
            <a:off x="886968" y="2741371"/>
            <a:ext cx="76810" cy="76810"/>
          </a:xfrm>
          <a:prstGeom prst="ellipse">
            <a:avLst/>
          </a:prstGeom>
          <a:solidFill>
            <a:srgbClr val="FFBD2E"/>
          </a:solidFill>
          <a:ln w="12700">
            <a:solidFill>
              <a:srgbClr val="000000"/>
            </a:solidFill>
            <a:prstDash val="solid"/>
          </a:ln>
        </p:spPr>
      </p:sp>
      <p:sp>
        <p:nvSpPr>
          <p:cNvPr id="14" name="Shape 12"/>
          <p:cNvSpPr/>
          <p:nvPr/>
        </p:nvSpPr>
        <p:spPr>
          <a:xfrm>
            <a:off x="1051560" y="2741371"/>
            <a:ext cx="76810" cy="76810"/>
          </a:xfrm>
          <a:prstGeom prst="ellipse">
            <a:avLst/>
          </a:prstGeom>
          <a:solidFill>
            <a:srgbClr val="27C93F"/>
          </a:solidFill>
          <a:ln w="12700">
            <a:solidFill>
              <a:srgbClr val="000000"/>
            </a:solidFill>
            <a:prstDash val="solid"/>
          </a:ln>
        </p:spPr>
      </p:sp>
      <p:sp>
        <p:nvSpPr>
          <p:cNvPr id="15" name="Text 13"/>
          <p:cNvSpPr/>
          <p:nvPr/>
        </p:nvSpPr>
        <p:spPr>
          <a:xfrm>
            <a:off x="1371600" y="2642616"/>
            <a:ext cx="9692640" cy="274320"/>
          </a:xfrm>
          <a:prstGeom prst="rect">
            <a:avLst/>
          </a:prstGeom>
          <a:noFill/>
          <a:ln/>
        </p:spPr>
        <p:txBody>
          <a:bodyPr wrap="square" lIns="0" tIns="0" rIns="0" bIns="0" rtlCol="0" anchor="ctr"/>
          <a:lstStyle/>
          <a:p>
            <a:pPr marL="0" indent="0" algn="l">
              <a:buNone/>
            </a:pPr>
            <a:r>
              <a:rPr lang="en-US" sz="1000" dirty="0">
                <a:solidFill>
                  <a:srgbClr val="8A8FA3"/>
                </a:solidFill>
                <a:latin typeface="Courier New" pitchFamily="34" charset="0"/>
                <a:ea typeface="Courier New" pitchFamily="34" charset="-122"/>
                <a:cs typeface="Courier New" pitchFamily="34" charset="-120"/>
              </a:rPr>
              <a:t>Main.java</a:t>
            </a:r>
            <a:endParaRPr lang="en-US" sz="1000" dirty="0"/>
          </a:p>
        </p:txBody>
      </p:sp>
      <p:sp>
        <p:nvSpPr>
          <p:cNvPr id="16" name="Text 14"/>
          <p:cNvSpPr/>
          <p:nvPr/>
        </p:nvSpPr>
        <p:spPr>
          <a:xfrm>
            <a:off x="777240" y="2990088"/>
            <a:ext cx="10241280" cy="2971800"/>
          </a:xfrm>
          <a:prstGeom prst="rect">
            <a:avLst/>
          </a:prstGeom>
          <a:noFill/>
          <a:ln/>
        </p:spPr>
        <p:txBody>
          <a:bodyPr wrap="square" lIns="0" tIns="0" rIns="0" bIns="0" rtlCol="0" anchor="t"/>
          <a:lstStyle/>
          <a:p>
            <a:pPr marL="0" indent="0" algn="l">
              <a:lnSpc>
                <a:spcPct val="118000"/>
              </a:lnSpc>
              <a:buNone/>
            </a:pPr>
            <a:r>
              <a:rPr lang="en-US" sz="1400" b="1" dirty="0">
                <a:solidFill>
                  <a:srgbClr val="569CD6"/>
                </a:solidFill>
                <a:latin typeface="Courier New" pitchFamily="34" charset="0"/>
                <a:ea typeface="Courier New" pitchFamily="34" charset="-122"/>
                <a:cs typeface="Courier New" pitchFamily="34" charset="-120"/>
              </a:rPr>
              <a:t>public</a:t>
            </a:r>
            <a:r>
              <a:rPr lang="en-US" sz="1400" dirty="0">
                <a:solidFill>
                  <a:srgbClr val="D4D4D4"/>
                </a:solidFill>
                <a:latin typeface="Courier New" pitchFamily="34" charset="0"/>
                <a:ea typeface="Courier New" pitchFamily="34" charset="-122"/>
                <a:cs typeface="Courier New" pitchFamily="34" charset="-120"/>
              </a:rPr>
              <a:t> </a:t>
            </a:r>
            <a:r>
              <a:rPr lang="en-US" sz="1400" b="1" dirty="0">
                <a:solidFill>
                  <a:srgbClr val="569CD6"/>
                </a:solidFill>
                <a:latin typeface="Courier New" pitchFamily="34" charset="0"/>
                <a:ea typeface="Courier New" pitchFamily="34" charset="-122"/>
                <a:cs typeface="Courier New" pitchFamily="34" charset="-120"/>
              </a:rPr>
              <a:t>class</a:t>
            </a:r>
            <a:r>
              <a:rPr lang="en-US" sz="1400" dirty="0">
                <a:solidFill>
                  <a:srgbClr val="D4D4D4"/>
                </a:solidFill>
                <a:latin typeface="Courier New" pitchFamily="34" charset="0"/>
                <a:ea typeface="Courier New" pitchFamily="34" charset="-122"/>
                <a:cs typeface="Courier New" pitchFamily="34" charset="-120"/>
              </a:rPr>
              <a:t> Car {</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a:t>
            </a:r>
            <a:r>
              <a:rPr lang="en-US" sz="1400" dirty="0">
                <a:solidFill>
                  <a:srgbClr val="4EC9B0"/>
                </a:solidFill>
                <a:latin typeface="Courier New" pitchFamily="34" charset="0"/>
                <a:ea typeface="Courier New" pitchFamily="34" charset="-122"/>
                <a:cs typeface="Courier New" pitchFamily="34" charset="-120"/>
              </a:rPr>
              <a:t>String</a:t>
            </a:r>
            <a:r>
              <a:rPr lang="en-US" sz="1400" dirty="0">
                <a:solidFill>
                  <a:srgbClr val="D4D4D4"/>
                </a:solidFill>
                <a:latin typeface="Courier New" pitchFamily="34" charset="0"/>
                <a:ea typeface="Courier New" pitchFamily="34" charset="-122"/>
                <a:cs typeface="Courier New" pitchFamily="34" charset="-120"/>
              </a:rPr>
              <a:t> brand;</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a:t>
            </a:r>
            <a:r>
              <a:rPr lang="en-US" sz="1400" b="1" dirty="0">
                <a:solidFill>
                  <a:srgbClr val="569CD6"/>
                </a:solidFill>
                <a:latin typeface="Courier New" pitchFamily="34" charset="0"/>
                <a:ea typeface="Courier New" pitchFamily="34" charset="-122"/>
                <a:cs typeface="Courier New" pitchFamily="34" charset="-120"/>
              </a:rPr>
              <a:t>int</a:t>
            </a:r>
            <a:r>
              <a:rPr lang="en-US" sz="1400" dirty="0">
                <a:solidFill>
                  <a:srgbClr val="D4D4D4"/>
                </a:solidFill>
                <a:latin typeface="Courier New" pitchFamily="34" charset="0"/>
                <a:ea typeface="Courier New" pitchFamily="34" charset="-122"/>
                <a:cs typeface="Courier New" pitchFamily="34" charset="-120"/>
              </a:rPr>
              <a:t> speed;</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a:t>
            </a:r>
            <a:r>
              <a:rPr lang="en-US" sz="1400" b="1" dirty="0">
                <a:solidFill>
                  <a:srgbClr val="569CD6"/>
                </a:solidFill>
                <a:latin typeface="Courier New" pitchFamily="34" charset="0"/>
                <a:ea typeface="Courier New" pitchFamily="34" charset="-122"/>
                <a:cs typeface="Courier New" pitchFamily="34" charset="-120"/>
              </a:rPr>
              <a:t>void</a:t>
            </a:r>
            <a:r>
              <a:rPr lang="en-US" sz="1400" dirty="0">
                <a:solidFill>
                  <a:srgbClr val="D4D4D4"/>
                </a:solidFill>
                <a:latin typeface="Courier New" pitchFamily="34" charset="0"/>
                <a:ea typeface="Courier New" pitchFamily="34" charset="-122"/>
                <a:cs typeface="Courier New" pitchFamily="34" charset="-120"/>
              </a:rPr>
              <a:t> </a:t>
            </a:r>
            <a:r>
              <a:rPr lang="en-US" sz="1400" dirty="0">
                <a:solidFill>
                  <a:srgbClr val="DCDCAA"/>
                </a:solidFill>
                <a:latin typeface="Courier New" pitchFamily="34" charset="0"/>
                <a:ea typeface="Courier New" pitchFamily="34" charset="-122"/>
                <a:cs typeface="Courier New" pitchFamily="34" charset="-120"/>
              </a:rPr>
              <a:t>accelerate</a:t>
            </a:r>
            <a:r>
              <a:rPr lang="en-US" sz="1400" dirty="0">
                <a:solidFill>
                  <a:srgbClr val="D4D4D4"/>
                </a:solidFill>
                <a:latin typeface="Courier New" pitchFamily="34" charset="0"/>
                <a:ea typeface="Courier New" pitchFamily="34" charset="-122"/>
                <a:cs typeface="Courier New" pitchFamily="34" charset="-120"/>
              </a:rPr>
              <a:t>() {</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speed = speed + </a:t>
            </a:r>
            <a:r>
              <a:rPr lang="en-US" sz="1400" dirty="0">
                <a:solidFill>
                  <a:srgbClr val="B5CEA8"/>
                </a:solidFill>
                <a:latin typeface="Courier New" pitchFamily="34" charset="0"/>
                <a:ea typeface="Courier New" pitchFamily="34" charset="-122"/>
                <a:cs typeface="Courier New" pitchFamily="34" charset="-120"/>
              </a:rPr>
              <a:t>10</a:t>
            </a:r>
            <a:r>
              <a:rPr lang="en-US" sz="1400" dirty="0">
                <a:solidFill>
                  <a:srgbClr val="D4D4D4"/>
                </a:solidFill>
                <a:latin typeface="Courier New" pitchFamily="34" charset="0"/>
                <a:ea typeface="Courier New" pitchFamily="34" charset="-122"/>
                <a:cs typeface="Courier New" pitchFamily="34" charset="-120"/>
              </a:rPr>
              <a:t>;</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a:t>
            </a:r>
            <a:r>
              <a:rPr lang="en-US" sz="1400" b="1" dirty="0">
                <a:solidFill>
                  <a:srgbClr val="569CD6"/>
                </a:solidFill>
                <a:latin typeface="Courier New" pitchFamily="34" charset="0"/>
                <a:ea typeface="Courier New" pitchFamily="34" charset="-122"/>
                <a:cs typeface="Courier New" pitchFamily="34" charset="-120"/>
              </a:rPr>
              <a:t>void</a:t>
            </a:r>
            <a:r>
              <a:rPr lang="en-US" sz="1400" dirty="0">
                <a:solidFill>
                  <a:srgbClr val="D4D4D4"/>
                </a:solidFill>
                <a:latin typeface="Courier New" pitchFamily="34" charset="0"/>
                <a:ea typeface="Courier New" pitchFamily="34" charset="-122"/>
                <a:cs typeface="Courier New" pitchFamily="34" charset="-120"/>
              </a:rPr>
              <a:t> </a:t>
            </a:r>
            <a:r>
              <a:rPr lang="en-US" sz="1400" dirty="0">
                <a:solidFill>
                  <a:srgbClr val="DCDCAA"/>
                </a:solidFill>
                <a:latin typeface="Courier New" pitchFamily="34" charset="0"/>
                <a:ea typeface="Courier New" pitchFamily="34" charset="-122"/>
                <a:cs typeface="Courier New" pitchFamily="34" charset="-120"/>
              </a:rPr>
              <a:t>printStatus</a:t>
            </a:r>
            <a:r>
              <a:rPr lang="en-US" sz="1400" dirty="0">
                <a:solidFill>
                  <a:srgbClr val="D4D4D4"/>
                </a:solidFill>
                <a:latin typeface="Courier New" pitchFamily="34" charset="0"/>
                <a:ea typeface="Courier New" pitchFamily="34" charset="-122"/>
                <a:cs typeface="Courier New" pitchFamily="34" charset="-120"/>
              </a:rPr>
              <a:t>() {</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a:t>
            </a:r>
            <a:r>
              <a:rPr lang="en-US" sz="1400" dirty="0">
                <a:solidFill>
                  <a:srgbClr val="4EC9B0"/>
                </a:solidFill>
                <a:latin typeface="Courier New" pitchFamily="34" charset="0"/>
                <a:ea typeface="Courier New" pitchFamily="34" charset="-122"/>
                <a:cs typeface="Courier New" pitchFamily="34" charset="-120"/>
              </a:rPr>
              <a:t>System</a:t>
            </a:r>
            <a:r>
              <a:rPr lang="en-US" sz="1400" dirty="0">
                <a:solidFill>
                  <a:srgbClr val="D4D4D4"/>
                </a:solidFill>
                <a:latin typeface="Courier New" pitchFamily="34" charset="0"/>
                <a:ea typeface="Courier New" pitchFamily="34" charset="-122"/>
                <a:cs typeface="Courier New" pitchFamily="34" charset="-120"/>
              </a:rPr>
              <a:t>.out.</a:t>
            </a:r>
            <a:r>
              <a:rPr lang="en-US" sz="1400" dirty="0">
                <a:solidFill>
                  <a:srgbClr val="DCDCAA"/>
                </a:solidFill>
                <a:latin typeface="Courier New" pitchFamily="34" charset="0"/>
                <a:ea typeface="Courier New" pitchFamily="34" charset="-122"/>
                <a:cs typeface="Courier New" pitchFamily="34" charset="-120"/>
              </a:rPr>
              <a:t>println</a:t>
            </a:r>
            <a:r>
              <a:rPr lang="en-US" sz="1400" dirty="0">
                <a:solidFill>
                  <a:srgbClr val="D4D4D4"/>
                </a:solidFill>
                <a:latin typeface="Courier New" pitchFamily="34" charset="0"/>
                <a:ea typeface="Courier New" pitchFamily="34" charset="-122"/>
                <a:cs typeface="Courier New" pitchFamily="34" charset="-120"/>
              </a:rPr>
              <a:t>(brand + </a:t>
            </a:r>
            <a:r>
              <a:rPr lang="en-US" sz="1400" dirty="0">
                <a:solidFill>
                  <a:srgbClr val="CE9178"/>
                </a:solidFill>
                <a:latin typeface="Courier New" pitchFamily="34" charset="0"/>
                <a:ea typeface="Courier New" pitchFamily="34" charset="-122"/>
                <a:cs typeface="Courier New" pitchFamily="34" charset="-120"/>
              </a:rPr>
              <a:t>" is at "</a:t>
            </a:r>
            <a:r>
              <a:rPr lang="en-US" sz="1400" dirty="0">
                <a:solidFill>
                  <a:srgbClr val="D4D4D4"/>
                </a:solidFill>
                <a:latin typeface="Courier New" pitchFamily="34" charset="0"/>
                <a:ea typeface="Courier New" pitchFamily="34" charset="-122"/>
                <a:cs typeface="Courier New" pitchFamily="34" charset="-120"/>
              </a:rPr>
              <a:t> + speed + </a:t>
            </a:r>
            <a:r>
              <a:rPr lang="en-US" sz="1400" dirty="0">
                <a:solidFill>
                  <a:srgbClr val="CE9178"/>
                </a:solidFill>
                <a:latin typeface="Courier New" pitchFamily="34" charset="0"/>
                <a:ea typeface="Courier New" pitchFamily="34" charset="-122"/>
                <a:cs typeface="Courier New" pitchFamily="34" charset="-120"/>
              </a:rPr>
              <a:t>" km/h"</a:t>
            </a:r>
            <a:r>
              <a:rPr lang="en-US" sz="1400" dirty="0">
                <a:solidFill>
                  <a:srgbClr val="D4D4D4"/>
                </a:solidFill>
                <a:latin typeface="Courier New" pitchFamily="34" charset="0"/>
                <a:ea typeface="Courier New" pitchFamily="34" charset="-122"/>
                <a:cs typeface="Courier New" pitchFamily="34" charset="-120"/>
              </a:rPr>
              <a:t>);</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a:t>
            </a:r>
            <a:endParaRPr lang="en-US" sz="1400" dirty="0"/>
          </a:p>
        </p:txBody>
      </p:sp>
      <p:sp>
        <p:nvSpPr>
          <p:cNvPr id="17" name="Shape 15"/>
          <p:cNvSpPr/>
          <p:nvPr/>
        </p:nvSpPr>
        <p:spPr>
          <a:xfrm>
            <a:off x="0" y="0"/>
            <a:ext cx="12191695" cy="384048"/>
          </a:xfrm>
          <a:prstGeom prst="rect">
            <a:avLst/>
          </a:prstGeom>
          <a:solidFill>
            <a:srgbClr val="1B2A4A"/>
          </a:solidFill>
          <a:ln w="12700">
            <a:solidFill>
              <a:srgbClr val="1B2A4A"/>
            </a:solidFill>
            <a:prstDash val="solid"/>
          </a:ln>
        </p:spPr>
      </p:sp>
      <p:sp>
        <p:nvSpPr>
          <p:cNvPr id="18" name="Text 16"/>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9" name="Shape 17"/>
          <p:cNvSpPr/>
          <p:nvPr/>
        </p:nvSpPr>
        <p:spPr>
          <a:xfrm>
            <a:off x="219456" y="301752"/>
            <a:ext cx="960120" cy="0"/>
          </a:xfrm>
          <a:prstGeom prst="line">
            <a:avLst/>
          </a:prstGeom>
          <a:noFill/>
          <a:ln w="9525">
            <a:solidFill>
              <a:srgbClr val="4A5570"/>
            </a:solidFill>
            <a:prstDash val="solid"/>
          </a:ln>
        </p:spPr>
      </p:sp>
      <p:sp>
        <p:nvSpPr>
          <p:cNvPr id="20" name="Text 18"/>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1" name="Text 19"/>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2" name="Text 20"/>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3" name="Shape 21"/>
          <p:cNvSpPr/>
          <p:nvPr/>
        </p:nvSpPr>
        <p:spPr>
          <a:xfrm>
            <a:off x="0" y="6291072"/>
            <a:ext cx="12191695" cy="566928"/>
          </a:xfrm>
          <a:prstGeom prst="rect">
            <a:avLst/>
          </a:prstGeom>
          <a:solidFill>
            <a:srgbClr val="1B2A4A"/>
          </a:solidFill>
          <a:ln w="12700">
            <a:solidFill>
              <a:srgbClr val="1B2A4A"/>
            </a:solidFill>
            <a:prstDash val="solid"/>
          </a:ln>
        </p:spPr>
      </p:sp>
      <p:sp>
        <p:nvSpPr>
          <p:cNvPr id="24" name="Text 22"/>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5" name="Text 23"/>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CREATION</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Creating an Object with new</a:t>
            </a:r>
            <a:endParaRPr lang="en-US" sz="2700" dirty="0"/>
          </a:p>
        </p:txBody>
      </p:sp>
      <p:sp>
        <p:nvSpPr>
          <p:cNvPr id="4" name="Shape 2"/>
          <p:cNvSpPr/>
          <p:nvPr/>
        </p:nvSpPr>
        <p:spPr>
          <a:xfrm>
            <a:off x="594360" y="1600200"/>
            <a:ext cx="10607040" cy="896112"/>
          </a:xfrm>
          <a:prstGeom prst="roundRect">
            <a:avLst>
              <a:gd name="adj" fmla="val 6122"/>
            </a:avLst>
          </a:prstGeom>
          <a:solidFill>
            <a:srgbClr val="F5F6FA"/>
          </a:solidFill>
          <a:ln w="9525">
            <a:solidFill>
              <a:srgbClr val="E4E7EE"/>
            </a:solidFill>
            <a:prstDash val="solid"/>
          </a:ln>
        </p:spPr>
      </p:sp>
      <p:sp>
        <p:nvSpPr>
          <p:cNvPr id="5" name="Shape 3"/>
          <p:cNvSpPr/>
          <p:nvPr/>
        </p:nvSpPr>
        <p:spPr>
          <a:xfrm>
            <a:off x="804672" y="1755648"/>
            <a:ext cx="100584" cy="100584"/>
          </a:xfrm>
          <a:prstGeom prst="ellipse">
            <a:avLst/>
          </a:prstGeom>
          <a:solidFill>
            <a:srgbClr val="E8590C"/>
          </a:solidFill>
          <a:ln w="12700">
            <a:solidFill>
              <a:srgbClr val="000000"/>
            </a:solidFill>
            <a:prstDash val="solid"/>
          </a:ln>
        </p:spPr>
      </p:sp>
      <p:sp>
        <p:nvSpPr>
          <p:cNvPr id="6" name="Text 4"/>
          <p:cNvSpPr/>
          <p:nvPr/>
        </p:nvSpPr>
        <p:spPr>
          <a:xfrm>
            <a:off x="1051560" y="1655064"/>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The new keyword allocates memory for a new object and calls its constructor.</a:t>
            </a:r>
            <a:endParaRPr lang="en-US" sz="1250" dirty="0"/>
          </a:p>
        </p:txBody>
      </p:sp>
      <p:sp>
        <p:nvSpPr>
          <p:cNvPr id="7" name="Shape 5"/>
          <p:cNvSpPr/>
          <p:nvPr/>
        </p:nvSpPr>
        <p:spPr>
          <a:xfrm>
            <a:off x="804672" y="2103120"/>
            <a:ext cx="100584" cy="100584"/>
          </a:xfrm>
          <a:prstGeom prst="ellipse">
            <a:avLst/>
          </a:prstGeom>
          <a:solidFill>
            <a:srgbClr val="E8590C"/>
          </a:solidFill>
          <a:ln w="12700">
            <a:solidFill>
              <a:srgbClr val="000000"/>
            </a:solidFill>
            <a:prstDash val="solid"/>
          </a:ln>
        </p:spPr>
      </p:sp>
      <p:sp>
        <p:nvSpPr>
          <p:cNvPr id="8" name="Text 6"/>
          <p:cNvSpPr/>
          <p:nvPr/>
        </p:nvSpPr>
        <p:spPr>
          <a:xfrm>
            <a:off x="1051560" y="2002536"/>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The result is stored in a variable whose type matches the class.</a:t>
            </a:r>
            <a:endParaRPr lang="en-US" sz="1250" dirty="0"/>
          </a:p>
        </p:txBody>
      </p:sp>
      <p:sp>
        <p:nvSpPr>
          <p:cNvPr id="9" name="Shape 7"/>
          <p:cNvSpPr/>
          <p:nvPr/>
        </p:nvSpPr>
        <p:spPr>
          <a:xfrm>
            <a:off x="594360" y="2642616"/>
            <a:ext cx="10607040" cy="3392424"/>
          </a:xfrm>
          <a:prstGeom prst="roundRect">
            <a:avLst>
              <a:gd name="adj" fmla="val 2156"/>
            </a:avLst>
          </a:prstGeom>
          <a:solidFill>
            <a:srgbClr val="1E1E2E"/>
          </a:solidFill>
          <a:ln w="12700">
            <a:solidFill>
              <a:srgbClr val="000000"/>
            </a:solidFill>
            <a:prstDash val="solid"/>
          </a:ln>
        </p:spPr>
      </p:sp>
      <p:sp>
        <p:nvSpPr>
          <p:cNvPr id="10" name="Shape 8"/>
          <p:cNvSpPr/>
          <p:nvPr/>
        </p:nvSpPr>
        <p:spPr>
          <a:xfrm>
            <a:off x="594360" y="2642616"/>
            <a:ext cx="10607040" cy="274320"/>
          </a:xfrm>
          <a:prstGeom prst="roundRect">
            <a:avLst>
              <a:gd name="adj" fmla="val 26667"/>
            </a:avLst>
          </a:prstGeom>
          <a:solidFill>
            <a:srgbClr val="17172A"/>
          </a:solidFill>
          <a:ln w="12700">
            <a:solidFill>
              <a:srgbClr val="000000"/>
            </a:solidFill>
            <a:prstDash val="solid"/>
          </a:ln>
        </p:spPr>
      </p:sp>
      <p:sp>
        <p:nvSpPr>
          <p:cNvPr id="11" name="Shape 9"/>
          <p:cNvSpPr/>
          <p:nvPr/>
        </p:nvSpPr>
        <p:spPr>
          <a:xfrm>
            <a:off x="594360" y="2843784"/>
            <a:ext cx="10607040" cy="73152"/>
          </a:xfrm>
          <a:prstGeom prst="rect">
            <a:avLst/>
          </a:prstGeom>
          <a:solidFill>
            <a:srgbClr val="17172A"/>
          </a:solidFill>
          <a:ln w="12700">
            <a:solidFill>
              <a:srgbClr val="000000"/>
            </a:solidFill>
            <a:prstDash val="solid"/>
          </a:ln>
        </p:spPr>
      </p:sp>
      <p:sp>
        <p:nvSpPr>
          <p:cNvPr id="12" name="Shape 10"/>
          <p:cNvSpPr/>
          <p:nvPr/>
        </p:nvSpPr>
        <p:spPr>
          <a:xfrm>
            <a:off x="722376" y="2741371"/>
            <a:ext cx="76810" cy="76810"/>
          </a:xfrm>
          <a:prstGeom prst="ellipse">
            <a:avLst/>
          </a:prstGeom>
          <a:solidFill>
            <a:srgbClr val="FF5F56"/>
          </a:solidFill>
          <a:ln w="12700">
            <a:solidFill>
              <a:srgbClr val="000000"/>
            </a:solidFill>
            <a:prstDash val="solid"/>
          </a:ln>
        </p:spPr>
      </p:sp>
      <p:sp>
        <p:nvSpPr>
          <p:cNvPr id="13" name="Shape 11"/>
          <p:cNvSpPr/>
          <p:nvPr/>
        </p:nvSpPr>
        <p:spPr>
          <a:xfrm>
            <a:off x="886968" y="2741371"/>
            <a:ext cx="76810" cy="76810"/>
          </a:xfrm>
          <a:prstGeom prst="ellipse">
            <a:avLst/>
          </a:prstGeom>
          <a:solidFill>
            <a:srgbClr val="FFBD2E"/>
          </a:solidFill>
          <a:ln w="12700">
            <a:solidFill>
              <a:srgbClr val="000000"/>
            </a:solidFill>
            <a:prstDash val="solid"/>
          </a:ln>
        </p:spPr>
      </p:sp>
      <p:sp>
        <p:nvSpPr>
          <p:cNvPr id="14" name="Shape 12"/>
          <p:cNvSpPr/>
          <p:nvPr/>
        </p:nvSpPr>
        <p:spPr>
          <a:xfrm>
            <a:off x="1051560" y="2741371"/>
            <a:ext cx="76810" cy="76810"/>
          </a:xfrm>
          <a:prstGeom prst="ellipse">
            <a:avLst/>
          </a:prstGeom>
          <a:solidFill>
            <a:srgbClr val="27C93F"/>
          </a:solidFill>
          <a:ln w="12700">
            <a:solidFill>
              <a:srgbClr val="000000"/>
            </a:solidFill>
            <a:prstDash val="solid"/>
          </a:ln>
        </p:spPr>
      </p:sp>
      <p:sp>
        <p:nvSpPr>
          <p:cNvPr id="15" name="Text 13"/>
          <p:cNvSpPr/>
          <p:nvPr/>
        </p:nvSpPr>
        <p:spPr>
          <a:xfrm>
            <a:off x="1371600" y="2642616"/>
            <a:ext cx="9692640" cy="274320"/>
          </a:xfrm>
          <a:prstGeom prst="rect">
            <a:avLst/>
          </a:prstGeom>
          <a:noFill/>
          <a:ln/>
        </p:spPr>
        <p:txBody>
          <a:bodyPr wrap="square" lIns="0" tIns="0" rIns="0" bIns="0" rtlCol="0" anchor="ctr"/>
          <a:lstStyle/>
          <a:p>
            <a:pPr marL="0" indent="0" algn="l">
              <a:buNone/>
            </a:pPr>
            <a:r>
              <a:rPr lang="en-US" sz="1000" dirty="0">
                <a:solidFill>
                  <a:srgbClr val="8A8FA3"/>
                </a:solidFill>
                <a:latin typeface="Courier New" pitchFamily="34" charset="0"/>
                <a:ea typeface="Courier New" pitchFamily="34" charset="-122"/>
                <a:cs typeface="Courier New" pitchFamily="34" charset="-120"/>
              </a:rPr>
              <a:t>Main.java</a:t>
            </a:r>
            <a:endParaRPr lang="en-US" sz="1000" dirty="0"/>
          </a:p>
        </p:txBody>
      </p:sp>
      <p:sp>
        <p:nvSpPr>
          <p:cNvPr id="16" name="Text 14"/>
          <p:cNvSpPr/>
          <p:nvPr/>
        </p:nvSpPr>
        <p:spPr>
          <a:xfrm>
            <a:off x="777240" y="2990088"/>
            <a:ext cx="10241280" cy="2971800"/>
          </a:xfrm>
          <a:prstGeom prst="rect">
            <a:avLst/>
          </a:prstGeom>
          <a:noFill/>
          <a:ln/>
        </p:spPr>
        <p:txBody>
          <a:bodyPr wrap="square" lIns="0" tIns="0" rIns="0" bIns="0" rtlCol="0" anchor="t"/>
          <a:lstStyle/>
          <a:p>
            <a:pPr marL="0" indent="0" algn="l">
              <a:lnSpc>
                <a:spcPct val="118000"/>
              </a:lnSpc>
              <a:buNone/>
            </a:pPr>
            <a:r>
              <a:rPr lang="en-US" sz="1500" b="1" dirty="0">
                <a:solidFill>
                  <a:srgbClr val="569CD6"/>
                </a:solidFill>
                <a:latin typeface="Courier New" pitchFamily="34" charset="0"/>
                <a:ea typeface="Courier New" pitchFamily="34" charset="-122"/>
                <a:cs typeface="Courier New" pitchFamily="34" charset="-120"/>
              </a:rPr>
              <a:t>public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class</a:t>
            </a:r>
            <a:r>
              <a:rPr lang="en-US" sz="1500" dirty="0">
                <a:solidFill>
                  <a:srgbClr val="D4D4D4"/>
                </a:solidFill>
                <a:latin typeface="Courier New" pitchFamily="34" charset="0"/>
                <a:ea typeface="Courier New" pitchFamily="34" charset="-122"/>
                <a:cs typeface="Courier New" pitchFamily="34" charset="-120"/>
              </a:rPr>
              <a:t> ObjectDemo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public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static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void</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DCDCAA"/>
                </a:solidFill>
                <a:latin typeface="Courier New" pitchFamily="34" charset="0"/>
                <a:ea typeface="Courier New" pitchFamily="34" charset="-122"/>
                <a:cs typeface="Courier New" pitchFamily="34" charset="-120"/>
              </a:rPr>
              <a:t>main</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4EC9B0"/>
                </a:solidFill>
                <a:latin typeface="Courier New" pitchFamily="34" charset="0"/>
                <a:ea typeface="Courier New" pitchFamily="34" charset="-122"/>
                <a:cs typeface="Courier New" pitchFamily="34" charset="-120"/>
              </a:rPr>
              <a:t>String</a:t>
            </a:r>
            <a:r>
              <a:rPr lang="en-US" sz="1500" dirty="0">
                <a:solidFill>
                  <a:srgbClr val="D4D4D4"/>
                </a:solidFill>
                <a:latin typeface="Courier New" pitchFamily="34" charset="0"/>
                <a:ea typeface="Courier New" pitchFamily="34" charset="-122"/>
                <a:cs typeface="Courier New" pitchFamily="34" charset="-120"/>
              </a:rPr>
              <a:t>[] args)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Car myCar = </a:t>
            </a:r>
            <a:r>
              <a:rPr lang="en-US" sz="1500" b="1" dirty="0">
                <a:solidFill>
                  <a:srgbClr val="569CD6"/>
                </a:solidFill>
                <a:latin typeface="Courier New" pitchFamily="34" charset="0"/>
                <a:ea typeface="Courier New" pitchFamily="34" charset="-122"/>
                <a:cs typeface="Courier New" pitchFamily="34" charset="-120"/>
              </a:rPr>
              <a:t>new</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DCDCAA"/>
                </a:solidFill>
                <a:latin typeface="Courier New" pitchFamily="34" charset="0"/>
                <a:ea typeface="Courier New" pitchFamily="34" charset="-122"/>
                <a:cs typeface="Courier New" pitchFamily="34" charset="-120"/>
              </a:rPr>
              <a:t>Car</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4EC9B0"/>
                </a:solidFill>
                <a:latin typeface="Courier New" pitchFamily="34" charset="0"/>
                <a:ea typeface="Courier New" pitchFamily="34" charset="-122"/>
                <a:cs typeface="Courier New" pitchFamily="34" charset="-120"/>
              </a:rPr>
              <a:t>System</a:t>
            </a:r>
            <a:r>
              <a:rPr lang="en-US" sz="1500" dirty="0">
                <a:solidFill>
                  <a:srgbClr val="D4D4D4"/>
                </a:solidFill>
                <a:latin typeface="Courier New" pitchFamily="34" charset="0"/>
                <a:ea typeface="Courier New" pitchFamily="34" charset="-122"/>
                <a:cs typeface="Courier New" pitchFamily="34" charset="-120"/>
              </a:rPr>
              <a:t>.out.</a:t>
            </a:r>
            <a:r>
              <a:rPr lang="en-US" sz="1500" dirty="0">
                <a:solidFill>
                  <a:srgbClr val="DCDCAA"/>
                </a:solidFill>
                <a:latin typeface="Courier New" pitchFamily="34" charset="0"/>
                <a:ea typeface="Courier New" pitchFamily="34" charset="-122"/>
                <a:cs typeface="Courier New" pitchFamily="34" charset="-120"/>
              </a:rPr>
              <a:t>println</a:t>
            </a:r>
            <a:r>
              <a:rPr lang="en-US" sz="1500" dirty="0">
                <a:solidFill>
                  <a:srgbClr val="D4D4D4"/>
                </a:solidFill>
                <a:latin typeface="Courier New" pitchFamily="34" charset="0"/>
                <a:ea typeface="Courier New" pitchFamily="34" charset="-122"/>
                <a:cs typeface="Courier New" pitchFamily="34" charset="-120"/>
              </a:rPr>
              <a:t>(myCar);</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a:t>
            </a:r>
            <a:endParaRPr lang="en-US" sz="1500" dirty="0"/>
          </a:p>
        </p:txBody>
      </p:sp>
      <p:sp>
        <p:nvSpPr>
          <p:cNvPr id="17" name="Shape 15"/>
          <p:cNvSpPr/>
          <p:nvPr/>
        </p:nvSpPr>
        <p:spPr>
          <a:xfrm>
            <a:off x="0" y="0"/>
            <a:ext cx="12191695" cy="384048"/>
          </a:xfrm>
          <a:prstGeom prst="rect">
            <a:avLst/>
          </a:prstGeom>
          <a:solidFill>
            <a:srgbClr val="1B2A4A"/>
          </a:solidFill>
          <a:ln w="12700">
            <a:solidFill>
              <a:srgbClr val="1B2A4A"/>
            </a:solidFill>
            <a:prstDash val="solid"/>
          </a:ln>
        </p:spPr>
      </p:sp>
      <p:sp>
        <p:nvSpPr>
          <p:cNvPr id="18" name="Text 16"/>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9" name="Shape 17"/>
          <p:cNvSpPr/>
          <p:nvPr/>
        </p:nvSpPr>
        <p:spPr>
          <a:xfrm>
            <a:off x="219456" y="301752"/>
            <a:ext cx="960120" cy="0"/>
          </a:xfrm>
          <a:prstGeom prst="line">
            <a:avLst/>
          </a:prstGeom>
          <a:noFill/>
          <a:ln w="9525">
            <a:solidFill>
              <a:srgbClr val="4A5570"/>
            </a:solidFill>
            <a:prstDash val="solid"/>
          </a:ln>
        </p:spPr>
      </p:sp>
      <p:sp>
        <p:nvSpPr>
          <p:cNvPr id="20" name="Text 18"/>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1" name="Text 19"/>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2" name="Text 20"/>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3" name="Shape 21"/>
          <p:cNvSpPr/>
          <p:nvPr/>
        </p:nvSpPr>
        <p:spPr>
          <a:xfrm>
            <a:off x="0" y="6291072"/>
            <a:ext cx="12191695" cy="566928"/>
          </a:xfrm>
          <a:prstGeom prst="rect">
            <a:avLst/>
          </a:prstGeom>
          <a:solidFill>
            <a:srgbClr val="1B2A4A"/>
          </a:solidFill>
          <a:ln w="12700">
            <a:solidFill>
              <a:srgbClr val="1B2A4A"/>
            </a:solidFill>
            <a:prstDash val="solid"/>
          </a:ln>
        </p:spPr>
      </p:sp>
      <p:sp>
        <p:nvSpPr>
          <p:cNvPr id="24" name="Text 22"/>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5" name="Text 23"/>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READING AND WRITING</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Accessing Fields and Methods via an Object</a:t>
            </a:r>
            <a:endParaRPr lang="en-US" sz="2700" dirty="0"/>
          </a:p>
        </p:txBody>
      </p:sp>
      <p:sp>
        <p:nvSpPr>
          <p:cNvPr id="4" name="Shape 2"/>
          <p:cNvSpPr/>
          <p:nvPr/>
        </p:nvSpPr>
        <p:spPr>
          <a:xfrm>
            <a:off x="594360" y="1600200"/>
            <a:ext cx="10607040" cy="896112"/>
          </a:xfrm>
          <a:prstGeom prst="roundRect">
            <a:avLst>
              <a:gd name="adj" fmla="val 6122"/>
            </a:avLst>
          </a:prstGeom>
          <a:solidFill>
            <a:srgbClr val="F5F6FA"/>
          </a:solidFill>
          <a:ln w="9525">
            <a:solidFill>
              <a:srgbClr val="E4E7EE"/>
            </a:solidFill>
            <a:prstDash val="solid"/>
          </a:ln>
        </p:spPr>
      </p:sp>
      <p:sp>
        <p:nvSpPr>
          <p:cNvPr id="5" name="Shape 3"/>
          <p:cNvSpPr/>
          <p:nvPr/>
        </p:nvSpPr>
        <p:spPr>
          <a:xfrm>
            <a:off x="804672" y="1755648"/>
            <a:ext cx="100584" cy="100584"/>
          </a:xfrm>
          <a:prstGeom prst="ellipse">
            <a:avLst/>
          </a:prstGeom>
          <a:solidFill>
            <a:srgbClr val="E8590C"/>
          </a:solidFill>
          <a:ln w="12700">
            <a:solidFill>
              <a:srgbClr val="000000"/>
            </a:solidFill>
            <a:prstDash val="solid"/>
          </a:ln>
        </p:spPr>
      </p:sp>
      <p:sp>
        <p:nvSpPr>
          <p:cNvPr id="6" name="Text 4"/>
          <p:cNvSpPr/>
          <p:nvPr/>
        </p:nvSpPr>
        <p:spPr>
          <a:xfrm>
            <a:off x="1051560" y="1655064"/>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The dot operator reaches into an object to read or change a field, or to call a method.</a:t>
            </a:r>
            <a:endParaRPr lang="en-US" sz="1250" dirty="0"/>
          </a:p>
        </p:txBody>
      </p:sp>
      <p:sp>
        <p:nvSpPr>
          <p:cNvPr id="7" name="Shape 5"/>
          <p:cNvSpPr/>
          <p:nvPr/>
        </p:nvSpPr>
        <p:spPr>
          <a:xfrm>
            <a:off x="804672" y="2103120"/>
            <a:ext cx="100584" cy="100584"/>
          </a:xfrm>
          <a:prstGeom prst="ellipse">
            <a:avLst/>
          </a:prstGeom>
          <a:solidFill>
            <a:srgbClr val="E8590C"/>
          </a:solidFill>
          <a:ln w="12700">
            <a:solidFill>
              <a:srgbClr val="000000"/>
            </a:solidFill>
            <a:prstDash val="solid"/>
          </a:ln>
        </p:spPr>
      </p:sp>
      <p:sp>
        <p:nvSpPr>
          <p:cNvPr id="8" name="Text 6"/>
          <p:cNvSpPr/>
          <p:nvPr/>
        </p:nvSpPr>
        <p:spPr>
          <a:xfrm>
            <a:off x="1051560" y="2002536"/>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Each object keeps its own independent copy of every field.</a:t>
            </a:r>
            <a:endParaRPr lang="en-US" sz="1250" dirty="0"/>
          </a:p>
        </p:txBody>
      </p:sp>
      <p:sp>
        <p:nvSpPr>
          <p:cNvPr id="9" name="Shape 7"/>
          <p:cNvSpPr/>
          <p:nvPr/>
        </p:nvSpPr>
        <p:spPr>
          <a:xfrm>
            <a:off x="594360" y="2642616"/>
            <a:ext cx="10607040" cy="3392424"/>
          </a:xfrm>
          <a:prstGeom prst="roundRect">
            <a:avLst>
              <a:gd name="adj" fmla="val 2156"/>
            </a:avLst>
          </a:prstGeom>
          <a:solidFill>
            <a:srgbClr val="1E1E2E"/>
          </a:solidFill>
          <a:ln w="12700">
            <a:solidFill>
              <a:srgbClr val="000000"/>
            </a:solidFill>
            <a:prstDash val="solid"/>
          </a:ln>
        </p:spPr>
      </p:sp>
      <p:sp>
        <p:nvSpPr>
          <p:cNvPr id="10" name="Shape 8"/>
          <p:cNvSpPr/>
          <p:nvPr/>
        </p:nvSpPr>
        <p:spPr>
          <a:xfrm>
            <a:off x="594360" y="2642616"/>
            <a:ext cx="10607040" cy="274320"/>
          </a:xfrm>
          <a:prstGeom prst="roundRect">
            <a:avLst>
              <a:gd name="adj" fmla="val 26667"/>
            </a:avLst>
          </a:prstGeom>
          <a:solidFill>
            <a:srgbClr val="17172A"/>
          </a:solidFill>
          <a:ln w="12700">
            <a:solidFill>
              <a:srgbClr val="000000"/>
            </a:solidFill>
            <a:prstDash val="solid"/>
          </a:ln>
        </p:spPr>
      </p:sp>
      <p:sp>
        <p:nvSpPr>
          <p:cNvPr id="11" name="Shape 9"/>
          <p:cNvSpPr/>
          <p:nvPr/>
        </p:nvSpPr>
        <p:spPr>
          <a:xfrm>
            <a:off x="594360" y="2843784"/>
            <a:ext cx="10607040" cy="73152"/>
          </a:xfrm>
          <a:prstGeom prst="rect">
            <a:avLst/>
          </a:prstGeom>
          <a:solidFill>
            <a:srgbClr val="17172A"/>
          </a:solidFill>
          <a:ln w="12700">
            <a:solidFill>
              <a:srgbClr val="000000"/>
            </a:solidFill>
            <a:prstDash val="solid"/>
          </a:ln>
        </p:spPr>
      </p:sp>
      <p:sp>
        <p:nvSpPr>
          <p:cNvPr id="12" name="Shape 10"/>
          <p:cNvSpPr/>
          <p:nvPr/>
        </p:nvSpPr>
        <p:spPr>
          <a:xfrm>
            <a:off x="722376" y="2741371"/>
            <a:ext cx="76810" cy="76810"/>
          </a:xfrm>
          <a:prstGeom prst="ellipse">
            <a:avLst/>
          </a:prstGeom>
          <a:solidFill>
            <a:srgbClr val="FF5F56"/>
          </a:solidFill>
          <a:ln w="12700">
            <a:solidFill>
              <a:srgbClr val="000000"/>
            </a:solidFill>
            <a:prstDash val="solid"/>
          </a:ln>
        </p:spPr>
      </p:sp>
      <p:sp>
        <p:nvSpPr>
          <p:cNvPr id="13" name="Shape 11"/>
          <p:cNvSpPr/>
          <p:nvPr/>
        </p:nvSpPr>
        <p:spPr>
          <a:xfrm>
            <a:off x="886968" y="2741371"/>
            <a:ext cx="76810" cy="76810"/>
          </a:xfrm>
          <a:prstGeom prst="ellipse">
            <a:avLst/>
          </a:prstGeom>
          <a:solidFill>
            <a:srgbClr val="FFBD2E"/>
          </a:solidFill>
          <a:ln w="12700">
            <a:solidFill>
              <a:srgbClr val="000000"/>
            </a:solidFill>
            <a:prstDash val="solid"/>
          </a:ln>
        </p:spPr>
      </p:sp>
      <p:sp>
        <p:nvSpPr>
          <p:cNvPr id="14" name="Shape 12"/>
          <p:cNvSpPr/>
          <p:nvPr/>
        </p:nvSpPr>
        <p:spPr>
          <a:xfrm>
            <a:off x="1051560" y="2741371"/>
            <a:ext cx="76810" cy="76810"/>
          </a:xfrm>
          <a:prstGeom prst="ellipse">
            <a:avLst/>
          </a:prstGeom>
          <a:solidFill>
            <a:srgbClr val="27C93F"/>
          </a:solidFill>
          <a:ln w="12700">
            <a:solidFill>
              <a:srgbClr val="000000"/>
            </a:solidFill>
            <a:prstDash val="solid"/>
          </a:ln>
        </p:spPr>
      </p:sp>
      <p:sp>
        <p:nvSpPr>
          <p:cNvPr id="15" name="Text 13"/>
          <p:cNvSpPr/>
          <p:nvPr/>
        </p:nvSpPr>
        <p:spPr>
          <a:xfrm>
            <a:off x="1371600" y="2642616"/>
            <a:ext cx="9692640" cy="274320"/>
          </a:xfrm>
          <a:prstGeom prst="rect">
            <a:avLst/>
          </a:prstGeom>
          <a:noFill/>
          <a:ln/>
        </p:spPr>
        <p:txBody>
          <a:bodyPr wrap="square" lIns="0" tIns="0" rIns="0" bIns="0" rtlCol="0" anchor="ctr"/>
          <a:lstStyle/>
          <a:p>
            <a:pPr marL="0" indent="0" algn="l">
              <a:buNone/>
            </a:pPr>
            <a:r>
              <a:rPr lang="en-US" sz="1000" dirty="0">
                <a:solidFill>
                  <a:srgbClr val="8A8FA3"/>
                </a:solidFill>
                <a:latin typeface="Courier New" pitchFamily="34" charset="0"/>
                <a:ea typeface="Courier New" pitchFamily="34" charset="-122"/>
                <a:cs typeface="Courier New" pitchFamily="34" charset="-120"/>
              </a:rPr>
              <a:t>Main.java</a:t>
            </a:r>
            <a:endParaRPr lang="en-US" sz="1000" dirty="0"/>
          </a:p>
        </p:txBody>
      </p:sp>
      <p:sp>
        <p:nvSpPr>
          <p:cNvPr id="16" name="Text 14"/>
          <p:cNvSpPr/>
          <p:nvPr/>
        </p:nvSpPr>
        <p:spPr>
          <a:xfrm>
            <a:off x="777240" y="2990088"/>
            <a:ext cx="10241280" cy="2971800"/>
          </a:xfrm>
          <a:prstGeom prst="rect">
            <a:avLst/>
          </a:prstGeom>
          <a:noFill/>
          <a:ln/>
        </p:spPr>
        <p:txBody>
          <a:bodyPr wrap="square" lIns="0" tIns="0" rIns="0" bIns="0" rtlCol="0" anchor="t"/>
          <a:lstStyle/>
          <a:p>
            <a:pPr marL="0" indent="0" algn="l">
              <a:lnSpc>
                <a:spcPct val="118000"/>
              </a:lnSpc>
              <a:buNone/>
            </a:pPr>
            <a:r>
              <a:rPr lang="en-US" sz="1500" b="1" dirty="0">
                <a:solidFill>
                  <a:srgbClr val="569CD6"/>
                </a:solidFill>
                <a:latin typeface="Courier New" pitchFamily="34" charset="0"/>
                <a:ea typeface="Courier New" pitchFamily="34" charset="-122"/>
                <a:cs typeface="Courier New" pitchFamily="34" charset="-120"/>
              </a:rPr>
              <a:t>public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class</a:t>
            </a:r>
            <a:r>
              <a:rPr lang="en-US" sz="1500" dirty="0">
                <a:solidFill>
                  <a:srgbClr val="D4D4D4"/>
                </a:solidFill>
                <a:latin typeface="Courier New" pitchFamily="34" charset="0"/>
                <a:ea typeface="Courier New" pitchFamily="34" charset="-122"/>
                <a:cs typeface="Courier New" pitchFamily="34" charset="-120"/>
              </a:rPr>
              <a:t> FieldDemo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public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static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void</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DCDCAA"/>
                </a:solidFill>
                <a:latin typeface="Courier New" pitchFamily="34" charset="0"/>
                <a:ea typeface="Courier New" pitchFamily="34" charset="-122"/>
                <a:cs typeface="Courier New" pitchFamily="34" charset="-120"/>
              </a:rPr>
              <a:t>main</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4EC9B0"/>
                </a:solidFill>
                <a:latin typeface="Courier New" pitchFamily="34" charset="0"/>
                <a:ea typeface="Courier New" pitchFamily="34" charset="-122"/>
                <a:cs typeface="Courier New" pitchFamily="34" charset="-120"/>
              </a:rPr>
              <a:t>String</a:t>
            </a:r>
            <a:r>
              <a:rPr lang="en-US" sz="1500" dirty="0">
                <a:solidFill>
                  <a:srgbClr val="D4D4D4"/>
                </a:solidFill>
                <a:latin typeface="Courier New" pitchFamily="34" charset="0"/>
                <a:ea typeface="Courier New" pitchFamily="34" charset="-122"/>
                <a:cs typeface="Courier New" pitchFamily="34" charset="-120"/>
              </a:rPr>
              <a:t>[] args)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Car myCar = </a:t>
            </a:r>
            <a:r>
              <a:rPr lang="en-US" sz="1500" b="1" dirty="0">
                <a:solidFill>
                  <a:srgbClr val="569CD6"/>
                </a:solidFill>
                <a:latin typeface="Courier New" pitchFamily="34" charset="0"/>
                <a:ea typeface="Courier New" pitchFamily="34" charset="-122"/>
                <a:cs typeface="Courier New" pitchFamily="34" charset="-120"/>
              </a:rPr>
              <a:t>new</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DCDCAA"/>
                </a:solidFill>
                <a:latin typeface="Courier New" pitchFamily="34" charset="0"/>
                <a:ea typeface="Courier New" pitchFamily="34" charset="-122"/>
                <a:cs typeface="Courier New" pitchFamily="34" charset="-120"/>
              </a:rPr>
              <a:t>Car</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myCar.brand = </a:t>
            </a:r>
            <a:r>
              <a:rPr lang="en-US" sz="1500" dirty="0">
                <a:solidFill>
                  <a:srgbClr val="CE9178"/>
                </a:solidFill>
                <a:latin typeface="Courier New" pitchFamily="34" charset="0"/>
                <a:ea typeface="Courier New" pitchFamily="34" charset="-122"/>
                <a:cs typeface="Courier New" pitchFamily="34" charset="-120"/>
              </a:rPr>
              <a:t>"Toyota"</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myCar.speed = </a:t>
            </a:r>
            <a:r>
              <a:rPr lang="en-US" sz="1500" dirty="0">
                <a:solidFill>
                  <a:srgbClr val="B5CEA8"/>
                </a:solidFill>
                <a:latin typeface="Courier New" pitchFamily="34" charset="0"/>
                <a:ea typeface="Courier New" pitchFamily="34" charset="-122"/>
                <a:cs typeface="Courier New" pitchFamily="34" charset="-120"/>
              </a:rPr>
              <a:t>60</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myCar.</a:t>
            </a:r>
            <a:r>
              <a:rPr lang="en-US" sz="1500" dirty="0">
                <a:solidFill>
                  <a:srgbClr val="DCDCAA"/>
                </a:solidFill>
                <a:latin typeface="Courier New" pitchFamily="34" charset="0"/>
                <a:ea typeface="Courier New" pitchFamily="34" charset="-122"/>
                <a:cs typeface="Courier New" pitchFamily="34" charset="-120"/>
              </a:rPr>
              <a:t>accelerate</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4EC9B0"/>
                </a:solidFill>
                <a:latin typeface="Courier New" pitchFamily="34" charset="0"/>
                <a:ea typeface="Courier New" pitchFamily="34" charset="-122"/>
                <a:cs typeface="Courier New" pitchFamily="34" charset="-120"/>
              </a:rPr>
              <a:t>System</a:t>
            </a:r>
            <a:r>
              <a:rPr lang="en-US" sz="1500" dirty="0">
                <a:solidFill>
                  <a:srgbClr val="D4D4D4"/>
                </a:solidFill>
                <a:latin typeface="Courier New" pitchFamily="34" charset="0"/>
                <a:ea typeface="Courier New" pitchFamily="34" charset="-122"/>
                <a:cs typeface="Courier New" pitchFamily="34" charset="-120"/>
              </a:rPr>
              <a:t>.out.</a:t>
            </a:r>
            <a:r>
              <a:rPr lang="en-US" sz="1500" dirty="0">
                <a:solidFill>
                  <a:srgbClr val="DCDCAA"/>
                </a:solidFill>
                <a:latin typeface="Courier New" pitchFamily="34" charset="0"/>
                <a:ea typeface="Courier New" pitchFamily="34" charset="-122"/>
                <a:cs typeface="Courier New" pitchFamily="34" charset="-120"/>
              </a:rPr>
              <a:t>println</a:t>
            </a:r>
            <a:r>
              <a:rPr lang="en-US" sz="1500" dirty="0">
                <a:solidFill>
                  <a:srgbClr val="D4D4D4"/>
                </a:solidFill>
                <a:latin typeface="Courier New" pitchFamily="34" charset="0"/>
                <a:ea typeface="Courier New" pitchFamily="34" charset="-122"/>
                <a:cs typeface="Courier New" pitchFamily="34" charset="-120"/>
              </a:rPr>
              <a:t>(myCar.brand + </a:t>
            </a:r>
            <a:r>
              <a:rPr lang="en-US" sz="1500" dirty="0">
                <a:solidFill>
                  <a:srgbClr val="CE9178"/>
                </a:solidFill>
                <a:latin typeface="Courier New" pitchFamily="34" charset="0"/>
                <a:ea typeface="Courier New" pitchFamily="34" charset="-122"/>
                <a:cs typeface="Courier New" pitchFamily="34" charset="-120"/>
              </a:rPr>
              <a:t>" "</a:t>
            </a:r>
            <a:r>
              <a:rPr lang="en-US" sz="1500" dirty="0">
                <a:solidFill>
                  <a:srgbClr val="D4D4D4"/>
                </a:solidFill>
                <a:latin typeface="Courier New" pitchFamily="34" charset="0"/>
                <a:ea typeface="Courier New" pitchFamily="34" charset="-122"/>
                <a:cs typeface="Courier New" pitchFamily="34" charset="-120"/>
              </a:rPr>
              <a:t> + myCar.speed);</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a:t>
            </a:r>
            <a:endParaRPr lang="en-US" sz="1500" dirty="0"/>
          </a:p>
        </p:txBody>
      </p:sp>
      <p:sp>
        <p:nvSpPr>
          <p:cNvPr id="17" name="Shape 15"/>
          <p:cNvSpPr/>
          <p:nvPr/>
        </p:nvSpPr>
        <p:spPr>
          <a:xfrm>
            <a:off x="0" y="0"/>
            <a:ext cx="12191695" cy="384048"/>
          </a:xfrm>
          <a:prstGeom prst="rect">
            <a:avLst/>
          </a:prstGeom>
          <a:solidFill>
            <a:srgbClr val="1B2A4A"/>
          </a:solidFill>
          <a:ln w="12700">
            <a:solidFill>
              <a:srgbClr val="1B2A4A"/>
            </a:solidFill>
            <a:prstDash val="solid"/>
          </a:ln>
        </p:spPr>
      </p:sp>
      <p:sp>
        <p:nvSpPr>
          <p:cNvPr id="18" name="Text 16"/>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9" name="Shape 17"/>
          <p:cNvSpPr/>
          <p:nvPr/>
        </p:nvSpPr>
        <p:spPr>
          <a:xfrm>
            <a:off x="219456" y="301752"/>
            <a:ext cx="960120" cy="0"/>
          </a:xfrm>
          <a:prstGeom prst="line">
            <a:avLst/>
          </a:prstGeom>
          <a:noFill/>
          <a:ln w="9525">
            <a:solidFill>
              <a:srgbClr val="4A5570"/>
            </a:solidFill>
            <a:prstDash val="solid"/>
          </a:ln>
        </p:spPr>
      </p:sp>
      <p:sp>
        <p:nvSpPr>
          <p:cNvPr id="20" name="Text 18"/>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1" name="Text 19"/>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2" name="Text 20"/>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3" name="Shape 21"/>
          <p:cNvSpPr/>
          <p:nvPr/>
        </p:nvSpPr>
        <p:spPr>
          <a:xfrm>
            <a:off x="0" y="6291072"/>
            <a:ext cx="12191695" cy="566928"/>
          </a:xfrm>
          <a:prstGeom prst="rect">
            <a:avLst/>
          </a:prstGeom>
          <a:solidFill>
            <a:srgbClr val="1B2A4A"/>
          </a:solidFill>
          <a:ln w="12700">
            <a:solidFill>
              <a:srgbClr val="1B2A4A"/>
            </a:solidFill>
            <a:prstDash val="solid"/>
          </a:ln>
        </p:spPr>
      </p:sp>
      <p:sp>
        <p:nvSpPr>
          <p:cNvPr id="24" name="Text 22"/>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5" name="Text 23"/>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INDEPENDENCE</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Multiple Objects from One Class</a:t>
            </a:r>
            <a:endParaRPr lang="en-US" sz="2700" dirty="0"/>
          </a:p>
        </p:txBody>
      </p:sp>
      <p:sp>
        <p:nvSpPr>
          <p:cNvPr id="4" name="Shape 2"/>
          <p:cNvSpPr/>
          <p:nvPr/>
        </p:nvSpPr>
        <p:spPr>
          <a:xfrm>
            <a:off x="594360" y="1600200"/>
            <a:ext cx="10607040" cy="896112"/>
          </a:xfrm>
          <a:prstGeom prst="roundRect">
            <a:avLst>
              <a:gd name="adj" fmla="val 6122"/>
            </a:avLst>
          </a:prstGeom>
          <a:solidFill>
            <a:srgbClr val="F5F6FA"/>
          </a:solidFill>
          <a:ln w="9525">
            <a:solidFill>
              <a:srgbClr val="E4E7EE"/>
            </a:solidFill>
            <a:prstDash val="solid"/>
          </a:ln>
        </p:spPr>
      </p:sp>
      <p:sp>
        <p:nvSpPr>
          <p:cNvPr id="5" name="Shape 3"/>
          <p:cNvSpPr/>
          <p:nvPr/>
        </p:nvSpPr>
        <p:spPr>
          <a:xfrm>
            <a:off x="804672" y="1755648"/>
            <a:ext cx="100584" cy="100584"/>
          </a:xfrm>
          <a:prstGeom prst="ellipse">
            <a:avLst/>
          </a:prstGeom>
          <a:solidFill>
            <a:srgbClr val="E8590C"/>
          </a:solidFill>
          <a:ln w="12700">
            <a:solidFill>
              <a:srgbClr val="000000"/>
            </a:solidFill>
            <a:prstDash val="solid"/>
          </a:ln>
        </p:spPr>
      </p:sp>
      <p:sp>
        <p:nvSpPr>
          <p:cNvPr id="6" name="Text 4"/>
          <p:cNvSpPr/>
          <p:nvPr/>
        </p:nvSpPr>
        <p:spPr>
          <a:xfrm>
            <a:off x="1051560" y="1655064"/>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Each call to new produces a separate object with its own field values.</a:t>
            </a:r>
            <a:endParaRPr lang="en-US" sz="1250" dirty="0"/>
          </a:p>
        </p:txBody>
      </p:sp>
      <p:sp>
        <p:nvSpPr>
          <p:cNvPr id="7" name="Shape 5"/>
          <p:cNvSpPr/>
          <p:nvPr/>
        </p:nvSpPr>
        <p:spPr>
          <a:xfrm>
            <a:off x="804672" y="2103120"/>
            <a:ext cx="100584" cy="100584"/>
          </a:xfrm>
          <a:prstGeom prst="ellipse">
            <a:avLst/>
          </a:prstGeom>
          <a:solidFill>
            <a:srgbClr val="E8590C"/>
          </a:solidFill>
          <a:ln w="12700">
            <a:solidFill>
              <a:srgbClr val="000000"/>
            </a:solidFill>
            <a:prstDash val="solid"/>
          </a:ln>
        </p:spPr>
      </p:sp>
      <p:sp>
        <p:nvSpPr>
          <p:cNvPr id="8" name="Text 6"/>
          <p:cNvSpPr/>
          <p:nvPr/>
        </p:nvSpPr>
        <p:spPr>
          <a:xfrm>
            <a:off x="1051560" y="2002536"/>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Changing one object never affects any other object created from the same class.</a:t>
            </a:r>
            <a:endParaRPr lang="en-US" sz="1250" dirty="0"/>
          </a:p>
        </p:txBody>
      </p:sp>
      <p:sp>
        <p:nvSpPr>
          <p:cNvPr id="9" name="Shape 7"/>
          <p:cNvSpPr/>
          <p:nvPr/>
        </p:nvSpPr>
        <p:spPr>
          <a:xfrm>
            <a:off x="594360" y="2642616"/>
            <a:ext cx="10607040" cy="3392424"/>
          </a:xfrm>
          <a:prstGeom prst="roundRect">
            <a:avLst>
              <a:gd name="adj" fmla="val 2156"/>
            </a:avLst>
          </a:prstGeom>
          <a:solidFill>
            <a:srgbClr val="1E1E2E"/>
          </a:solidFill>
          <a:ln w="12700">
            <a:solidFill>
              <a:srgbClr val="000000"/>
            </a:solidFill>
            <a:prstDash val="solid"/>
          </a:ln>
        </p:spPr>
      </p:sp>
      <p:sp>
        <p:nvSpPr>
          <p:cNvPr id="10" name="Shape 8"/>
          <p:cNvSpPr/>
          <p:nvPr/>
        </p:nvSpPr>
        <p:spPr>
          <a:xfrm>
            <a:off x="594360" y="2642616"/>
            <a:ext cx="10607040" cy="274320"/>
          </a:xfrm>
          <a:prstGeom prst="roundRect">
            <a:avLst>
              <a:gd name="adj" fmla="val 26667"/>
            </a:avLst>
          </a:prstGeom>
          <a:solidFill>
            <a:srgbClr val="17172A"/>
          </a:solidFill>
          <a:ln w="12700">
            <a:solidFill>
              <a:srgbClr val="000000"/>
            </a:solidFill>
            <a:prstDash val="solid"/>
          </a:ln>
        </p:spPr>
      </p:sp>
      <p:sp>
        <p:nvSpPr>
          <p:cNvPr id="11" name="Shape 9"/>
          <p:cNvSpPr/>
          <p:nvPr/>
        </p:nvSpPr>
        <p:spPr>
          <a:xfrm>
            <a:off x="594360" y="2843784"/>
            <a:ext cx="10607040" cy="73152"/>
          </a:xfrm>
          <a:prstGeom prst="rect">
            <a:avLst/>
          </a:prstGeom>
          <a:solidFill>
            <a:srgbClr val="17172A"/>
          </a:solidFill>
          <a:ln w="12700">
            <a:solidFill>
              <a:srgbClr val="000000"/>
            </a:solidFill>
            <a:prstDash val="solid"/>
          </a:ln>
        </p:spPr>
      </p:sp>
      <p:sp>
        <p:nvSpPr>
          <p:cNvPr id="12" name="Shape 10"/>
          <p:cNvSpPr/>
          <p:nvPr/>
        </p:nvSpPr>
        <p:spPr>
          <a:xfrm>
            <a:off x="722376" y="2741371"/>
            <a:ext cx="76810" cy="76810"/>
          </a:xfrm>
          <a:prstGeom prst="ellipse">
            <a:avLst/>
          </a:prstGeom>
          <a:solidFill>
            <a:srgbClr val="FF5F56"/>
          </a:solidFill>
          <a:ln w="12700">
            <a:solidFill>
              <a:srgbClr val="000000"/>
            </a:solidFill>
            <a:prstDash val="solid"/>
          </a:ln>
        </p:spPr>
      </p:sp>
      <p:sp>
        <p:nvSpPr>
          <p:cNvPr id="13" name="Shape 11"/>
          <p:cNvSpPr/>
          <p:nvPr/>
        </p:nvSpPr>
        <p:spPr>
          <a:xfrm>
            <a:off x="886968" y="2741371"/>
            <a:ext cx="76810" cy="76810"/>
          </a:xfrm>
          <a:prstGeom prst="ellipse">
            <a:avLst/>
          </a:prstGeom>
          <a:solidFill>
            <a:srgbClr val="FFBD2E"/>
          </a:solidFill>
          <a:ln w="12700">
            <a:solidFill>
              <a:srgbClr val="000000"/>
            </a:solidFill>
            <a:prstDash val="solid"/>
          </a:ln>
        </p:spPr>
      </p:sp>
      <p:sp>
        <p:nvSpPr>
          <p:cNvPr id="14" name="Shape 12"/>
          <p:cNvSpPr/>
          <p:nvPr/>
        </p:nvSpPr>
        <p:spPr>
          <a:xfrm>
            <a:off x="1051560" y="2741371"/>
            <a:ext cx="76810" cy="76810"/>
          </a:xfrm>
          <a:prstGeom prst="ellipse">
            <a:avLst/>
          </a:prstGeom>
          <a:solidFill>
            <a:srgbClr val="27C93F"/>
          </a:solidFill>
          <a:ln w="12700">
            <a:solidFill>
              <a:srgbClr val="000000"/>
            </a:solidFill>
            <a:prstDash val="solid"/>
          </a:ln>
        </p:spPr>
      </p:sp>
      <p:sp>
        <p:nvSpPr>
          <p:cNvPr id="15" name="Text 13"/>
          <p:cNvSpPr/>
          <p:nvPr/>
        </p:nvSpPr>
        <p:spPr>
          <a:xfrm>
            <a:off x="1371600" y="2642616"/>
            <a:ext cx="9692640" cy="274320"/>
          </a:xfrm>
          <a:prstGeom prst="rect">
            <a:avLst/>
          </a:prstGeom>
          <a:noFill/>
          <a:ln/>
        </p:spPr>
        <p:txBody>
          <a:bodyPr wrap="square" lIns="0" tIns="0" rIns="0" bIns="0" rtlCol="0" anchor="ctr"/>
          <a:lstStyle/>
          <a:p>
            <a:pPr marL="0" indent="0" algn="l">
              <a:buNone/>
            </a:pPr>
            <a:r>
              <a:rPr lang="en-US" sz="1000" dirty="0">
                <a:solidFill>
                  <a:srgbClr val="8A8FA3"/>
                </a:solidFill>
                <a:latin typeface="Courier New" pitchFamily="34" charset="0"/>
                <a:ea typeface="Courier New" pitchFamily="34" charset="-122"/>
                <a:cs typeface="Courier New" pitchFamily="34" charset="-120"/>
              </a:rPr>
              <a:t>Main.java</a:t>
            </a:r>
            <a:endParaRPr lang="en-US" sz="1000" dirty="0"/>
          </a:p>
        </p:txBody>
      </p:sp>
      <p:sp>
        <p:nvSpPr>
          <p:cNvPr id="16" name="Text 14"/>
          <p:cNvSpPr/>
          <p:nvPr/>
        </p:nvSpPr>
        <p:spPr>
          <a:xfrm>
            <a:off x="777240" y="2990088"/>
            <a:ext cx="10241280" cy="2971800"/>
          </a:xfrm>
          <a:prstGeom prst="rect">
            <a:avLst/>
          </a:prstGeom>
          <a:noFill/>
          <a:ln/>
        </p:spPr>
        <p:txBody>
          <a:bodyPr wrap="square" lIns="0" tIns="0" rIns="0" bIns="0" rtlCol="0" anchor="t"/>
          <a:lstStyle/>
          <a:p>
            <a:pPr marL="0" indent="0" algn="l">
              <a:lnSpc>
                <a:spcPct val="118000"/>
              </a:lnSpc>
              <a:buNone/>
            </a:pPr>
            <a:r>
              <a:rPr lang="en-US" sz="1400" b="1" dirty="0">
                <a:solidFill>
                  <a:srgbClr val="569CD6"/>
                </a:solidFill>
                <a:latin typeface="Courier New" pitchFamily="34" charset="0"/>
                <a:ea typeface="Courier New" pitchFamily="34" charset="-122"/>
                <a:cs typeface="Courier New" pitchFamily="34" charset="-120"/>
              </a:rPr>
              <a:t>public</a:t>
            </a:r>
            <a:r>
              <a:rPr lang="en-US" sz="1400" dirty="0">
                <a:solidFill>
                  <a:srgbClr val="D4D4D4"/>
                </a:solidFill>
                <a:latin typeface="Courier New" pitchFamily="34" charset="0"/>
                <a:ea typeface="Courier New" pitchFamily="34" charset="-122"/>
                <a:cs typeface="Courier New" pitchFamily="34" charset="-120"/>
              </a:rPr>
              <a:t> </a:t>
            </a:r>
            <a:r>
              <a:rPr lang="en-US" sz="1400" b="1" dirty="0">
                <a:solidFill>
                  <a:srgbClr val="569CD6"/>
                </a:solidFill>
                <a:latin typeface="Courier New" pitchFamily="34" charset="0"/>
                <a:ea typeface="Courier New" pitchFamily="34" charset="-122"/>
                <a:cs typeface="Courier New" pitchFamily="34" charset="-120"/>
              </a:rPr>
              <a:t>class</a:t>
            </a:r>
            <a:r>
              <a:rPr lang="en-US" sz="1400" dirty="0">
                <a:solidFill>
                  <a:srgbClr val="D4D4D4"/>
                </a:solidFill>
                <a:latin typeface="Courier New" pitchFamily="34" charset="0"/>
                <a:ea typeface="Courier New" pitchFamily="34" charset="-122"/>
                <a:cs typeface="Courier New" pitchFamily="34" charset="-120"/>
              </a:rPr>
              <a:t> MultipleObjects {</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a:t>
            </a:r>
            <a:r>
              <a:rPr lang="en-US" sz="1400" b="1" dirty="0">
                <a:solidFill>
                  <a:srgbClr val="569CD6"/>
                </a:solidFill>
                <a:latin typeface="Courier New" pitchFamily="34" charset="0"/>
                <a:ea typeface="Courier New" pitchFamily="34" charset="-122"/>
                <a:cs typeface="Courier New" pitchFamily="34" charset="-120"/>
              </a:rPr>
              <a:t>public</a:t>
            </a:r>
            <a:r>
              <a:rPr lang="en-US" sz="1400" dirty="0">
                <a:solidFill>
                  <a:srgbClr val="D4D4D4"/>
                </a:solidFill>
                <a:latin typeface="Courier New" pitchFamily="34" charset="0"/>
                <a:ea typeface="Courier New" pitchFamily="34" charset="-122"/>
                <a:cs typeface="Courier New" pitchFamily="34" charset="-120"/>
              </a:rPr>
              <a:t> </a:t>
            </a:r>
            <a:r>
              <a:rPr lang="en-US" sz="1400" b="1" dirty="0">
                <a:solidFill>
                  <a:srgbClr val="569CD6"/>
                </a:solidFill>
                <a:latin typeface="Courier New" pitchFamily="34" charset="0"/>
                <a:ea typeface="Courier New" pitchFamily="34" charset="-122"/>
                <a:cs typeface="Courier New" pitchFamily="34" charset="-120"/>
              </a:rPr>
              <a:t>static</a:t>
            </a:r>
            <a:r>
              <a:rPr lang="en-US" sz="1400" dirty="0">
                <a:solidFill>
                  <a:srgbClr val="D4D4D4"/>
                </a:solidFill>
                <a:latin typeface="Courier New" pitchFamily="34" charset="0"/>
                <a:ea typeface="Courier New" pitchFamily="34" charset="-122"/>
                <a:cs typeface="Courier New" pitchFamily="34" charset="-120"/>
              </a:rPr>
              <a:t> </a:t>
            </a:r>
            <a:r>
              <a:rPr lang="en-US" sz="1400" b="1" dirty="0">
                <a:solidFill>
                  <a:srgbClr val="569CD6"/>
                </a:solidFill>
                <a:latin typeface="Courier New" pitchFamily="34" charset="0"/>
                <a:ea typeface="Courier New" pitchFamily="34" charset="-122"/>
                <a:cs typeface="Courier New" pitchFamily="34" charset="-120"/>
              </a:rPr>
              <a:t>void</a:t>
            </a:r>
            <a:r>
              <a:rPr lang="en-US" sz="1400" dirty="0">
                <a:solidFill>
                  <a:srgbClr val="D4D4D4"/>
                </a:solidFill>
                <a:latin typeface="Courier New" pitchFamily="34" charset="0"/>
                <a:ea typeface="Courier New" pitchFamily="34" charset="-122"/>
                <a:cs typeface="Courier New" pitchFamily="34" charset="-120"/>
              </a:rPr>
              <a:t> </a:t>
            </a:r>
            <a:r>
              <a:rPr lang="en-US" sz="1400" dirty="0">
                <a:solidFill>
                  <a:srgbClr val="DCDCAA"/>
                </a:solidFill>
                <a:latin typeface="Courier New" pitchFamily="34" charset="0"/>
                <a:ea typeface="Courier New" pitchFamily="34" charset="-122"/>
                <a:cs typeface="Courier New" pitchFamily="34" charset="-120"/>
              </a:rPr>
              <a:t>main</a:t>
            </a:r>
            <a:r>
              <a:rPr lang="en-US" sz="1400" dirty="0">
                <a:solidFill>
                  <a:srgbClr val="D4D4D4"/>
                </a:solidFill>
                <a:latin typeface="Courier New" pitchFamily="34" charset="0"/>
                <a:ea typeface="Courier New" pitchFamily="34" charset="-122"/>
                <a:cs typeface="Courier New" pitchFamily="34" charset="-120"/>
              </a:rPr>
              <a:t>(</a:t>
            </a:r>
            <a:r>
              <a:rPr lang="en-US" sz="1400" dirty="0">
                <a:solidFill>
                  <a:srgbClr val="4EC9B0"/>
                </a:solidFill>
                <a:latin typeface="Courier New" pitchFamily="34" charset="0"/>
                <a:ea typeface="Courier New" pitchFamily="34" charset="-122"/>
                <a:cs typeface="Courier New" pitchFamily="34" charset="-120"/>
              </a:rPr>
              <a:t>String</a:t>
            </a:r>
            <a:r>
              <a:rPr lang="en-US" sz="1400" dirty="0">
                <a:solidFill>
                  <a:srgbClr val="D4D4D4"/>
                </a:solidFill>
                <a:latin typeface="Courier New" pitchFamily="34" charset="0"/>
                <a:ea typeface="Courier New" pitchFamily="34" charset="-122"/>
                <a:cs typeface="Courier New" pitchFamily="34" charset="-120"/>
              </a:rPr>
              <a:t>[] args) {</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Car car1 = </a:t>
            </a:r>
            <a:r>
              <a:rPr lang="en-US" sz="1400" b="1" dirty="0">
                <a:solidFill>
                  <a:srgbClr val="569CD6"/>
                </a:solidFill>
                <a:latin typeface="Courier New" pitchFamily="34" charset="0"/>
                <a:ea typeface="Courier New" pitchFamily="34" charset="-122"/>
                <a:cs typeface="Courier New" pitchFamily="34" charset="-120"/>
              </a:rPr>
              <a:t>new</a:t>
            </a:r>
            <a:r>
              <a:rPr lang="en-US" sz="1400" dirty="0">
                <a:solidFill>
                  <a:srgbClr val="D4D4D4"/>
                </a:solidFill>
                <a:latin typeface="Courier New" pitchFamily="34" charset="0"/>
                <a:ea typeface="Courier New" pitchFamily="34" charset="-122"/>
                <a:cs typeface="Courier New" pitchFamily="34" charset="-120"/>
              </a:rPr>
              <a:t> </a:t>
            </a:r>
            <a:r>
              <a:rPr lang="en-US" sz="1400" dirty="0">
                <a:solidFill>
                  <a:srgbClr val="DCDCAA"/>
                </a:solidFill>
                <a:latin typeface="Courier New" pitchFamily="34" charset="0"/>
                <a:ea typeface="Courier New" pitchFamily="34" charset="-122"/>
                <a:cs typeface="Courier New" pitchFamily="34" charset="-120"/>
              </a:rPr>
              <a:t>Car</a:t>
            </a:r>
            <a:r>
              <a:rPr lang="en-US" sz="1400" dirty="0">
                <a:solidFill>
                  <a:srgbClr val="D4D4D4"/>
                </a:solidFill>
                <a:latin typeface="Courier New" pitchFamily="34" charset="0"/>
                <a:ea typeface="Courier New" pitchFamily="34" charset="-122"/>
                <a:cs typeface="Courier New" pitchFamily="34" charset="-120"/>
              </a:rPr>
              <a:t>();</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Car car2 = </a:t>
            </a:r>
            <a:r>
              <a:rPr lang="en-US" sz="1400" b="1" dirty="0">
                <a:solidFill>
                  <a:srgbClr val="569CD6"/>
                </a:solidFill>
                <a:latin typeface="Courier New" pitchFamily="34" charset="0"/>
                <a:ea typeface="Courier New" pitchFamily="34" charset="-122"/>
                <a:cs typeface="Courier New" pitchFamily="34" charset="-120"/>
              </a:rPr>
              <a:t>new</a:t>
            </a:r>
            <a:r>
              <a:rPr lang="en-US" sz="1400" dirty="0">
                <a:solidFill>
                  <a:srgbClr val="D4D4D4"/>
                </a:solidFill>
                <a:latin typeface="Courier New" pitchFamily="34" charset="0"/>
                <a:ea typeface="Courier New" pitchFamily="34" charset="-122"/>
                <a:cs typeface="Courier New" pitchFamily="34" charset="-120"/>
              </a:rPr>
              <a:t> </a:t>
            </a:r>
            <a:r>
              <a:rPr lang="en-US" sz="1400" dirty="0">
                <a:solidFill>
                  <a:srgbClr val="DCDCAA"/>
                </a:solidFill>
                <a:latin typeface="Courier New" pitchFamily="34" charset="0"/>
                <a:ea typeface="Courier New" pitchFamily="34" charset="-122"/>
                <a:cs typeface="Courier New" pitchFamily="34" charset="-120"/>
              </a:rPr>
              <a:t>Car</a:t>
            </a:r>
            <a:r>
              <a:rPr lang="en-US" sz="1400" dirty="0">
                <a:solidFill>
                  <a:srgbClr val="D4D4D4"/>
                </a:solidFill>
                <a:latin typeface="Courier New" pitchFamily="34" charset="0"/>
                <a:ea typeface="Courier New" pitchFamily="34" charset="-122"/>
                <a:cs typeface="Courier New" pitchFamily="34" charset="-120"/>
              </a:rPr>
              <a:t>();</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car1.brand = </a:t>
            </a:r>
            <a:r>
              <a:rPr lang="en-US" sz="1400" dirty="0">
                <a:solidFill>
                  <a:srgbClr val="CE9178"/>
                </a:solidFill>
                <a:latin typeface="Courier New" pitchFamily="34" charset="0"/>
                <a:ea typeface="Courier New" pitchFamily="34" charset="-122"/>
                <a:cs typeface="Courier New" pitchFamily="34" charset="-120"/>
              </a:rPr>
              <a:t>"Toyota"</a:t>
            </a:r>
            <a:r>
              <a:rPr lang="en-US" sz="1400" dirty="0">
                <a:solidFill>
                  <a:srgbClr val="D4D4D4"/>
                </a:solidFill>
                <a:latin typeface="Courier New" pitchFamily="34" charset="0"/>
                <a:ea typeface="Courier New" pitchFamily="34" charset="-122"/>
                <a:cs typeface="Courier New" pitchFamily="34" charset="-120"/>
              </a:rPr>
              <a:t>;</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car2.brand = </a:t>
            </a:r>
            <a:r>
              <a:rPr lang="en-US" sz="1400" dirty="0">
                <a:solidFill>
                  <a:srgbClr val="CE9178"/>
                </a:solidFill>
                <a:latin typeface="Courier New" pitchFamily="34" charset="0"/>
                <a:ea typeface="Courier New" pitchFamily="34" charset="-122"/>
                <a:cs typeface="Courier New" pitchFamily="34" charset="-120"/>
              </a:rPr>
              <a:t>"Honda"</a:t>
            </a:r>
            <a:r>
              <a:rPr lang="en-US" sz="1400" dirty="0">
                <a:solidFill>
                  <a:srgbClr val="D4D4D4"/>
                </a:solidFill>
                <a:latin typeface="Courier New" pitchFamily="34" charset="0"/>
                <a:ea typeface="Courier New" pitchFamily="34" charset="-122"/>
                <a:cs typeface="Courier New" pitchFamily="34" charset="-120"/>
              </a:rPr>
              <a:t>;</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a:t>
            </a:r>
            <a:r>
              <a:rPr lang="en-US" sz="1400" dirty="0">
                <a:solidFill>
                  <a:srgbClr val="4EC9B0"/>
                </a:solidFill>
                <a:latin typeface="Courier New" pitchFamily="34" charset="0"/>
                <a:ea typeface="Courier New" pitchFamily="34" charset="-122"/>
                <a:cs typeface="Courier New" pitchFamily="34" charset="-120"/>
              </a:rPr>
              <a:t>System</a:t>
            </a:r>
            <a:r>
              <a:rPr lang="en-US" sz="1400" dirty="0">
                <a:solidFill>
                  <a:srgbClr val="D4D4D4"/>
                </a:solidFill>
                <a:latin typeface="Courier New" pitchFamily="34" charset="0"/>
                <a:ea typeface="Courier New" pitchFamily="34" charset="-122"/>
                <a:cs typeface="Courier New" pitchFamily="34" charset="-120"/>
              </a:rPr>
              <a:t>.out.</a:t>
            </a:r>
            <a:r>
              <a:rPr lang="en-US" sz="1400" dirty="0">
                <a:solidFill>
                  <a:srgbClr val="DCDCAA"/>
                </a:solidFill>
                <a:latin typeface="Courier New" pitchFamily="34" charset="0"/>
                <a:ea typeface="Courier New" pitchFamily="34" charset="-122"/>
                <a:cs typeface="Courier New" pitchFamily="34" charset="-120"/>
              </a:rPr>
              <a:t>println</a:t>
            </a:r>
            <a:r>
              <a:rPr lang="en-US" sz="1400" dirty="0">
                <a:solidFill>
                  <a:srgbClr val="D4D4D4"/>
                </a:solidFill>
                <a:latin typeface="Courier New" pitchFamily="34" charset="0"/>
                <a:ea typeface="Courier New" pitchFamily="34" charset="-122"/>
                <a:cs typeface="Courier New" pitchFamily="34" charset="-120"/>
              </a:rPr>
              <a:t>(car1.brand);</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a:t>
            </a:r>
            <a:r>
              <a:rPr lang="en-US" sz="1400" dirty="0">
                <a:solidFill>
                  <a:srgbClr val="4EC9B0"/>
                </a:solidFill>
                <a:latin typeface="Courier New" pitchFamily="34" charset="0"/>
                <a:ea typeface="Courier New" pitchFamily="34" charset="-122"/>
                <a:cs typeface="Courier New" pitchFamily="34" charset="-120"/>
              </a:rPr>
              <a:t>System</a:t>
            </a:r>
            <a:r>
              <a:rPr lang="en-US" sz="1400" dirty="0">
                <a:solidFill>
                  <a:srgbClr val="D4D4D4"/>
                </a:solidFill>
                <a:latin typeface="Courier New" pitchFamily="34" charset="0"/>
                <a:ea typeface="Courier New" pitchFamily="34" charset="-122"/>
                <a:cs typeface="Courier New" pitchFamily="34" charset="-120"/>
              </a:rPr>
              <a:t>.out.</a:t>
            </a:r>
            <a:r>
              <a:rPr lang="en-US" sz="1400" dirty="0">
                <a:solidFill>
                  <a:srgbClr val="DCDCAA"/>
                </a:solidFill>
                <a:latin typeface="Courier New" pitchFamily="34" charset="0"/>
                <a:ea typeface="Courier New" pitchFamily="34" charset="-122"/>
                <a:cs typeface="Courier New" pitchFamily="34" charset="-120"/>
              </a:rPr>
              <a:t>println</a:t>
            </a:r>
            <a:r>
              <a:rPr lang="en-US" sz="1400" dirty="0">
                <a:solidFill>
                  <a:srgbClr val="D4D4D4"/>
                </a:solidFill>
                <a:latin typeface="Courier New" pitchFamily="34" charset="0"/>
                <a:ea typeface="Courier New" pitchFamily="34" charset="-122"/>
                <a:cs typeface="Courier New" pitchFamily="34" charset="-120"/>
              </a:rPr>
              <a:t>(car2.brand);</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a:t>
            </a:r>
            <a:endParaRPr lang="en-US" sz="1400" dirty="0"/>
          </a:p>
        </p:txBody>
      </p:sp>
      <p:sp>
        <p:nvSpPr>
          <p:cNvPr id="17" name="Shape 15"/>
          <p:cNvSpPr/>
          <p:nvPr/>
        </p:nvSpPr>
        <p:spPr>
          <a:xfrm>
            <a:off x="0" y="0"/>
            <a:ext cx="12191695" cy="384048"/>
          </a:xfrm>
          <a:prstGeom prst="rect">
            <a:avLst/>
          </a:prstGeom>
          <a:solidFill>
            <a:srgbClr val="1B2A4A"/>
          </a:solidFill>
          <a:ln w="12700">
            <a:solidFill>
              <a:srgbClr val="1B2A4A"/>
            </a:solidFill>
            <a:prstDash val="solid"/>
          </a:ln>
        </p:spPr>
      </p:sp>
      <p:sp>
        <p:nvSpPr>
          <p:cNvPr id="18" name="Text 16"/>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9" name="Shape 17"/>
          <p:cNvSpPr/>
          <p:nvPr/>
        </p:nvSpPr>
        <p:spPr>
          <a:xfrm>
            <a:off x="219456" y="301752"/>
            <a:ext cx="960120" cy="0"/>
          </a:xfrm>
          <a:prstGeom prst="line">
            <a:avLst/>
          </a:prstGeom>
          <a:noFill/>
          <a:ln w="9525">
            <a:solidFill>
              <a:srgbClr val="4A5570"/>
            </a:solidFill>
            <a:prstDash val="solid"/>
          </a:ln>
        </p:spPr>
      </p:sp>
      <p:sp>
        <p:nvSpPr>
          <p:cNvPr id="20" name="Text 18"/>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1" name="Text 19"/>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2" name="Text 20"/>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3" name="Shape 21"/>
          <p:cNvSpPr/>
          <p:nvPr/>
        </p:nvSpPr>
        <p:spPr>
          <a:xfrm>
            <a:off x="0" y="6291072"/>
            <a:ext cx="12191695" cy="566928"/>
          </a:xfrm>
          <a:prstGeom prst="rect">
            <a:avLst/>
          </a:prstGeom>
          <a:solidFill>
            <a:srgbClr val="1B2A4A"/>
          </a:solidFill>
          <a:ln w="12700">
            <a:solidFill>
              <a:srgbClr val="1B2A4A"/>
            </a:solidFill>
            <a:prstDash val="solid"/>
          </a:ln>
        </p:spPr>
      </p:sp>
      <p:sp>
        <p:nvSpPr>
          <p:cNvPr id="24" name="Text 22"/>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5" name="Text 23"/>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UNDER THE HOOD</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Object References</a:t>
            </a:r>
            <a:endParaRPr lang="en-US" sz="2700" dirty="0"/>
          </a:p>
        </p:txBody>
      </p:sp>
      <p:sp>
        <p:nvSpPr>
          <p:cNvPr id="4" name="Shape 2"/>
          <p:cNvSpPr/>
          <p:nvPr/>
        </p:nvSpPr>
        <p:spPr>
          <a:xfrm>
            <a:off x="594360" y="1691640"/>
            <a:ext cx="10607040" cy="1338072"/>
          </a:xfrm>
          <a:prstGeom prst="roundRect">
            <a:avLst>
              <a:gd name="adj" fmla="val 4100"/>
            </a:avLst>
          </a:prstGeom>
          <a:solidFill>
            <a:srgbClr val="F5F6FA"/>
          </a:solidFill>
          <a:ln w="9525">
            <a:solidFill>
              <a:srgbClr val="E4E7EE"/>
            </a:solidFill>
            <a:prstDash val="solid"/>
          </a:ln>
        </p:spPr>
      </p:sp>
      <p:sp>
        <p:nvSpPr>
          <p:cNvPr id="5" name="Shape 3"/>
          <p:cNvSpPr/>
          <p:nvPr/>
        </p:nvSpPr>
        <p:spPr>
          <a:xfrm>
            <a:off x="777240" y="1874520"/>
            <a:ext cx="109728" cy="109728"/>
          </a:xfrm>
          <a:prstGeom prst="ellipse">
            <a:avLst/>
          </a:prstGeom>
          <a:solidFill>
            <a:srgbClr val="E8590C"/>
          </a:solidFill>
          <a:ln w="12700">
            <a:solidFill>
              <a:srgbClr val="000000"/>
            </a:solidFill>
            <a:prstDash val="solid"/>
          </a:ln>
        </p:spPr>
      </p:sp>
      <p:sp>
        <p:nvSpPr>
          <p:cNvPr id="6" name="Text 4"/>
          <p:cNvSpPr/>
          <p:nvPr/>
        </p:nvSpPr>
        <p:spPr>
          <a:xfrm>
            <a:off x="1051560" y="1764792"/>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A variable holds a reference, not the object itself</a:t>
            </a:r>
            <a:endParaRPr lang="en-US" sz="1500" dirty="0"/>
          </a:p>
        </p:txBody>
      </p:sp>
      <p:sp>
        <p:nvSpPr>
          <p:cNvPr id="7" name="Text 5"/>
          <p:cNvSpPr/>
          <p:nvPr/>
        </p:nvSpPr>
        <p:spPr>
          <a:xfrm>
            <a:off x="1051560" y="2057400"/>
            <a:ext cx="9966960" cy="917448"/>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The variable stores the location of the object in memory, similar to an address.</a:t>
            </a:r>
            <a:endParaRPr lang="en-US" sz="1250" dirty="0"/>
          </a:p>
        </p:txBody>
      </p:sp>
      <p:sp>
        <p:nvSpPr>
          <p:cNvPr id="8" name="Shape 6"/>
          <p:cNvSpPr/>
          <p:nvPr/>
        </p:nvSpPr>
        <p:spPr>
          <a:xfrm>
            <a:off x="594360" y="3194304"/>
            <a:ext cx="10607040" cy="1338072"/>
          </a:xfrm>
          <a:prstGeom prst="roundRect">
            <a:avLst>
              <a:gd name="adj" fmla="val 4100"/>
            </a:avLst>
          </a:prstGeom>
          <a:solidFill>
            <a:srgbClr val="F5F6FA"/>
          </a:solidFill>
          <a:ln w="9525">
            <a:solidFill>
              <a:srgbClr val="E4E7EE"/>
            </a:solidFill>
            <a:prstDash val="solid"/>
          </a:ln>
        </p:spPr>
      </p:sp>
      <p:sp>
        <p:nvSpPr>
          <p:cNvPr id="9" name="Shape 7"/>
          <p:cNvSpPr/>
          <p:nvPr/>
        </p:nvSpPr>
        <p:spPr>
          <a:xfrm>
            <a:off x="777240" y="3377184"/>
            <a:ext cx="109728" cy="109728"/>
          </a:xfrm>
          <a:prstGeom prst="ellipse">
            <a:avLst/>
          </a:prstGeom>
          <a:solidFill>
            <a:srgbClr val="E8590C"/>
          </a:solidFill>
          <a:ln w="12700">
            <a:solidFill>
              <a:srgbClr val="000000"/>
            </a:solidFill>
            <a:prstDash val="solid"/>
          </a:ln>
        </p:spPr>
      </p:sp>
      <p:sp>
        <p:nvSpPr>
          <p:cNvPr id="10" name="Text 8"/>
          <p:cNvSpPr/>
          <p:nvPr/>
        </p:nvSpPr>
        <p:spPr>
          <a:xfrm>
            <a:off x="1051560" y="3267456"/>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Assigning one reference to another shares the object</a:t>
            </a:r>
            <a:endParaRPr lang="en-US" sz="1500" dirty="0"/>
          </a:p>
        </p:txBody>
      </p:sp>
      <p:sp>
        <p:nvSpPr>
          <p:cNvPr id="11" name="Text 9"/>
          <p:cNvSpPr/>
          <p:nvPr/>
        </p:nvSpPr>
        <p:spPr>
          <a:xfrm>
            <a:off x="1051560" y="3560064"/>
            <a:ext cx="9966960" cy="917448"/>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Copying a reference does not copy the object; both variables end up pointing to the same one.</a:t>
            </a:r>
            <a:endParaRPr lang="en-US" sz="1250" dirty="0"/>
          </a:p>
        </p:txBody>
      </p:sp>
      <p:sp>
        <p:nvSpPr>
          <p:cNvPr id="12" name="Shape 10"/>
          <p:cNvSpPr/>
          <p:nvPr/>
        </p:nvSpPr>
        <p:spPr>
          <a:xfrm>
            <a:off x="594360" y="4696968"/>
            <a:ext cx="10607040" cy="1338072"/>
          </a:xfrm>
          <a:prstGeom prst="roundRect">
            <a:avLst>
              <a:gd name="adj" fmla="val 4100"/>
            </a:avLst>
          </a:prstGeom>
          <a:solidFill>
            <a:srgbClr val="F5F6FA"/>
          </a:solidFill>
          <a:ln w="9525">
            <a:solidFill>
              <a:srgbClr val="E4E7EE"/>
            </a:solidFill>
            <a:prstDash val="solid"/>
          </a:ln>
        </p:spPr>
      </p:sp>
      <p:sp>
        <p:nvSpPr>
          <p:cNvPr id="13" name="Shape 11"/>
          <p:cNvSpPr/>
          <p:nvPr/>
        </p:nvSpPr>
        <p:spPr>
          <a:xfrm>
            <a:off x="777240" y="4879848"/>
            <a:ext cx="109728" cy="109728"/>
          </a:xfrm>
          <a:prstGeom prst="ellipse">
            <a:avLst/>
          </a:prstGeom>
          <a:solidFill>
            <a:srgbClr val="E8590C"/>
          </a:solidFill>
          <a:ln w="12700">
            <a:solidFill>
              <a:srgbClr val="000000"/>
            </a:solidFill>
            <a:prstDash val="solid"/>
          </a:ln>
        </p:spPr>
      </p:sp>
      <p:sp>
        <p:nvSpPr>
          <p:cNvPr id="14" name="Text 12"/>
          <p:cNvSpPr/>
          <p:nvPr/>
        </p:nvSpPr>
        <p:spPr>
          <a:xfrm>
            <a:off x="1051560" y="4770120"/>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Objects live on the heap</a:t>
            </a:r>
            <a:endParaRPr lang="en-US" sz="1500" dirty="0"/>
          </a:p>
        </p:txBody>
      </p:sp>
      <p:sp>
        <p:nvSpPr>
          <p:cNvPr id="15" name="Text 13"/>
          <p:cNvSpPr/>
          <p:nvPr/>
        </p:nvSpPr>
        <p:spPr>
          <a:xfrm>
            <a:off x="1051560" y="5062728"/>
            <a:ext cx="9966960" cy="917448"/>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The heap is a shared memory area where every object created with new is stored.</a:t>
            </a:r>
            <a:endParaRPr lang="en-US" sz="1250" dirty="0"/>
          </a:p>
        </p:txBody>
      </p:sp>
      <p:sp>
        <p:nvSpPr>
          <p:cNvPr id="16" name="Shape 14"/>
          <p:cNvSpPr/>
          <p:nvPr/>
        </p:nvSpPr>
        <p:spPr>
          <a:xfrm>
            <a:off x="0" y="0"/>
            <a:ext cx="12191695" cy="384048"/>
          </a:xfrm>
          <a:prstGeom prst="rect">
            <a:avLst/>
          </a:prstGeom>
          <a:solidFill>
            <a:srgbClr val="1B2A4A"/>
          </a:solidFill>
          <a:ln w="12700">
            <a:solidFill>
              <a:srgbClr val="1B2A4A"/>
            </a:solidFill>
            <a:prstDash val="solid"/>
          </a:ln>
        </p:spPr>
      </p:sp>
      <p:sp>
        <p:nvSpPr>
          <p:cNvPr id="17" name="Text 15"/>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8" name="Shape 16"/>
          <p:cNvSpPr/>
          <p:nvPr/>
        </p:nvSpPr>
        <p:spPr>
          <a:xfrm>
            <a:off x="219456" y="301752"/>
            <a:ext cx="960120" cy="0"/>
          </a:xfrm>
          <a:prstGeom prst="line">
            <a:avLst/>
          </a:prstGeom>
          <a:noFill/>
          <a:ln w="9525">
            <a:solidFill>
              <a:srgbClr val="4A5570"/>
            </a:solidFill>
            <a:prstDash val="solid"/>
          </a:ln>
        </p:spPr>
      </p:sp>
      <p:sp>
        <p:nvSpPr>
          <p:cNvPr id="19" name="Text 17"/>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0" name="Text 18"/>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1" name="Text 19"/>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2" name="Shape 20"/>
          <p:cNvSpPr/>
          <p:nvPr/>
        </p:nvSpPr>
        <p:spPr>
          <a:xfrm>
            <a:off x="0" y="6291072"/>
            <a:ext cx="12191695" cy="566928"/>
          </a:xfrm>
          <a:prstGeom prst="rect">
            <a:avLst/>
          </a:prstGeom>
          <a:solidFill>
            <a:srgbClr val="1B2A4A"/>
          </a:solidFill>
          <a:ln w="12700">
            <a:solidFill>
              <a:srgbClr val="1B2A4A"/>
            </a:solidFill>
            <a:prstDash val="solid"/>
          </a:ln>
        </p:spPr>
      </p:sp>
      <p:sp>
        <p:nvSpPr>
          <p:cNvPr id="23" name="Text 21"/>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4" name="Text 22"/>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RELATIONSHIP</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Class vs. Object</a:t>
            </a:r>
            <a:endParaRPr lang="en-US" sz="27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94360" y="1691640"/>
          <a:ext cx="10607040" cy="4343400"/>
        </p:xfrm>
        <a:graphic>
          <a:graphicData uri="http://schemas.openxmlformats.org/drawingml/2006/table">
            <a:tbl>
              <a:tblPr/>
              <a:tblGrid>
                <a:gridCol w="3535680">
                  <a:extLst>
                    <a:ext uri="{9D8B030D-6E8A-4147-A177-3AD203B41FA5}">
                      <a16:colId xmlns:a16="http://schemas.microsoft.com/office/drawing/2014/main" val="20000"/>
                    </a:ext>
                  </a:extLst>
                </a:gridCol>
                <a:gridCol w="3535680">
                  <a:extLst>
                    <a:ext uri="{9D8B030D-6E8A-4147-A177-3AD203B41FA5}">
                      <a16:colId xmlns:a16="http://schemas.microsoft.com/office/drawing/2014/main" val="20001"/>
                    </a:ext>
                  </a:extLst>
                </a:gridCol>
                <a:gridCol w="3535680">
                  <a:extLst>
                    <a:ext uri="{9D8B030D-6E8A-4147-A177-3AD203B41FA5}">
                      <a16:colId xmlns:a16="http://schemas.microsoft.com/office/drawing/2014/main" val="20002"/>
                    </a:ext>
                  </a:extLst>
                </a:gridCol>
              </a:tblGrid>
              <a:tr h="868680">
                <a:tc>
                  <a:txBody>
                    <a:bodyPr/>
                    <a:lstStyle/>
                    <a:p>
                      <a:pPr marL="0" indent="0" algn="l">
                        <a:buNone/>
                      </a:pPr>
                      <a:r>
                        <a:rPr lang="en-US" sz="1300" b="1" dirty="0">
                          <a:solidFill>
                            <a:srgbClr val="FFFFFF"/>
                          </a:solidFill>
                          <a:latin typeface="Times New Roman" pitchFamily="34" charset="0"/>
                          <a:ea typeface="Times New Roman" pitchFamily="34" charset="-122"/>
                          <a:cs typeface="Times New Roman" pitchFamily="34" charset="-120"/>
                        </a:rPr>
                        <a:t>Aspect</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1B2A4A"/>
                    </a:solidFill>
                  </a:tcPr>
                </a:tc>
                <a:tc>
                  <a:txBody>
                    <a:bodyPr/>
                    <a:lstStyle/>
                    <a:p>
                      <a:pPr marL="0" indent="0" algn="l">
                        <a:buNone/>
                      </a:pPr>
                      <a:r>
                        <a:rPr lang="en-US" sz="1300" b="1" dirty="0">
                          <a:solidFill>
                            <a:srgbClr val="FFFFFF"/>
                          </a:solidFill>
                          <a:latin typeface="Times New Roman" pitchFamily="34" charset="0"/>
                          <a:ea typeface="Times New Roman" pitchFamily="34" charset="-122"/>
                          <a:cs typeface="Times New Roman" pitchFamily="34" charset="-120"/>
                        </a:rPr>
                        <a:t>Class</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1B2A4A"/>
                    </a:solidFill>
                  </a:tcPr>
                </a:tc>
                <a:tc>
                  <a:txBody>
                    <a:bodyPr/>
                    <a:lstStyle/>
                    <a:p>
                      <a:pPr marL="0" indent="0" algn="l">
                        <a:buNone/>
                      </a:pPr>
                      <a:r>
                        <a:rPr lang="en-US" sz="1300" b="1" dirty="0">
                          <a:solidFill>
                            <a:srgbClr val="FFFFFF"/>
                          </a:solidFill>
                          <a:latin typeface="Times New Roman" pitchFamily="34" charset="0"/>
                          <a:ea typeface="Times New Roman" pitchFamily="34" charset="-122"/>
                          <a:cs typeface="Times New Roman" pitchFamily="34" charset="-120"/>
                        </a:rPr>
                        <a:t>Object</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868680">
                <a:tc>
                  <a:txBody>
                    <a:bodyPr/>
                    <a:lstStyle/>
                    <a:p>
                      <a:pPr marL="0" indent="0" algn="l">
                        <a:buNone/>
                      </a:pPr>
                      <a:r>
                        <a:rPr lang="en-US" sz="1300" b="1" dirty="0">
                          <a:solidFill>
                            <a:srgbClr val="1A202C"/>
                          </a:solidFill>
                          <a:latin typeface="Times New Roman" pitchFamily="34" charset="0"/>
                          <a:ea typeface="Times New Roman" pitchFamily="34" charset="-122"/>
                          <a:cs typeface="Times New Roman" pitchFamily="34" charset="-120"/>
                        </a:rPr>
                        <a:t>What it is</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FFFFF"/>
                    </a:solidFill>
                  </a:tcPr>
                </a:tc>
                <a:tc>
                  <a:txBody>
                    <a:bodyPr/>
                    <a:lstStyle/>
                    <a:p>
                      <a:pPr marL="0" indent="0" algn="l">
                        <a:buNone/>
                      </a:pPr>
                      <a:r>
                        <a:rPr lang="en-US" sz="1300" dirty="0">
                          <a:solidFill>
                            <a:srgbClr val="3D4759"/>
                          </a:solidFill>
                          <a:latin typeface="Times New Roman" pitchFamily="34" charset="0"/>
                          <a:ea typeface="Times New Roman" pitchFamily="34" charset="-122"/>
                          <a:cs typeface="Times New Roman" pitchFamily="34" charset="-120"/>
                        </a:rPr>
                        <a:t>A blueprint or template</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FFFFF"/>
                    </a:solidFill>
                  </a:tcPr>
                </a:tc>
                <a:tc>
                  <a:txBody>
                    <a:bodyPr/>
                    <a:lstStyle/>
                    <a:p>
                      <a:pPr marL="0" indent="0" algn="l">
                        <a:buNone/>
                      </a:pPr>
                      <a:r>
                        <a:rPr lang="en-US" sz="1300" dirty="0">
                          <a:solidFill>
                            <a:srgbClr val="3D4759"/>
                          </a:solidFill>
                          <a:latin typeface="Times New Roman" pitchFamily="34" charset="0"/>
                          <a:ea typeface="Times New Roman" pitchFamily="34" charset="-122"/>
                          <a:cs typeface="Times New Roman" pitchFamily="34" charset="-120"/>
                        </a:rPr>
                        <a:t>A specific instance built from the blueprint</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868680">
                <a:tc>
                  <a:txBody>
                    <a:bodyPr/>
                    <a:lstStyle/>
                    <a:p>
                      <a:pPr marL="0" indent="0" algn="l">
                        <a:buNone/>
                      </a:pPr>
                      <a:r>
                        <a:rPr lang="en-US" sz="1300" b="1" dirty="0">
                          <a:solidFill>
                            <a:srgbClr val="1A202C"/>
                          </a:solidFill>
                          <a:latin typeface="Times New Roman" pitchFamily="34" charset="0"/>
                          <a:ea typeface="Times New Roman" pitchFamily="34" charset="-122"/>
                          <a:cs typeface="Times New Roman" pitchFamily="34" charset="-120"/>
                        </a:rPr>
                        <a:t>Created with</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5F6FA"/>
                    </a:solidFill>
                  </a:tcPr>
                </a:tc>
                <a:tc>
                  <a:txBody>
                    <a:bodyPr/>
                    <a:lstStyle/>
                    <a:p>
                      <a:pPr marL="0" indent="0" algn="l">
                        <a:buNone/>
                      </a:pPr>
                      <a:r>
                        <a:rPr lang="en-US" sz="1300" dirty="0">
                          <a:solidFill>
                            <a:srgbClr val="3D4759"/>
                          </a:solidFill>
                          <a:latin typeface="Times New Roman" pitchFamily="34" charset="0"/>
                          <a:ea typeface="Times New Roman" pitchFamily="34" charset="-122"/>
                          <a:cs typeface="Times New Roman" pitchFamily="34" charset="-120"/>
                        </a:rPr>
                        <a:t>The class keyword</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5F6FA"/>
                    </a:solidFill>
                  </a:tcPr>
                </a:tc>
                <a:tc>
                  <a:txBody>
                    <a:bodyPr/>
                    <a:lstStyle/>
                    <a:p>
                      <a:pPr marL="0" indent="0" algn="l">
                        <a:buNone/>
                      </a:pPr>
                      <a:r>
                        <a:rPr lang="en-US" sz="1300" dirty="0">
                          <a:solidFill>
                            <a:srgbClr val="3D4759"/>
                          </a:solidFill>
                          <a:latin typeface="Times New Roman" pitchFamily="34" charset="0"/>
                          <a:ea typeface="Times New Roman" pitchFamily="34" charset="-122"/>
                          <a:cs typeface="Times New Roman" pitchFamily="34" charset="-120"/>
                        </a:rPr>
                        <a:t>The new keyword</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5F6FA"/>
                    </a:solidFill>
                  </a:tcPr>
                </a:tc>
                <a:extLst>
                  <a:ext uri="{0D108BD9-81ED-4DB2-BD59-A6C34878D82A}">
                    <a16:rowId xmlns:a16="http://schemas.microsoft.com/office/drawing/2014/main" val="10002"/>
                  </a:ext>
                </a:extLst>
              </a:tr>
              <a:tr h="868680">
                <a:tc>
                  <a:txBody>
                    <a:bodyPr/>
                    <a:lstStyle/>
                    <a:p>
                      <a:pPr marL="0" indent="0" algn="l">
                        <a:buNone/>
                      </a:pPr>
                      <a:r>
                        <a:rPr lang="en-US" sz="1300" b="1" dirty="0">
                          <a:solidFill>
                            <a:srgbClr val="1A202C"/>
                          </a:solidFill>
                          <a:latin typeface="Times New Roman" pitchFamily="34" charset="0"/>
                          <a:ea typeface="Times New Roman" pitchFamily="34" charset="-122"/>
                          <a:cs typeface="Times New Roman" pitchFamily="34" charset="-120"/>
                        </a:rPr>
                        <a:t>Memory used</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FFFFF"/>
                    </a:solidFill>
                  </a:tcPr>
                </a:tc>
                <a:tc>
                  <a:txBody>
                    <a:bodyPr/>
                    <a:lstStyle/>
                    <a:p>
                      <a:pPr marL="0" indent="0" algn="l">
                        <a:buNone/>
                      </a:pPr>
                      <a:r>
                        <a:rPr lang="en-US" sz="1300" dirty="0">
                          <a:solidFill>
                            <a:srgbClr val="3D4759"/>
                          </a:solidFill>
                          <a:latin typeface="Times New Roman" pitchFamily="34" charset="0"/>
                          <a:ea typeface="Times New Roman" pitchFamily="34" charset="-122"/>
                          <a:cs typeface="Times New Roman" pitchFamily="34" charset="-120"/>
                        </a:rPr>
                        <a:t>None by itself</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FFFFF"/>
                    </a:solidFill>
                  </a:tcPr>
                </a:tc>
                <a:tc>
                  <a:txBody>
                    <a:bodyPr/>
                    <a:lstStyle/>
                    <a:p>
                      <a:pPr marL="0" indent="0" algn="l">
                        <a:buNone/>
                      </a:pPr>
                      <a:r>
                        <a:rPr lang="en-US" sz="1300" dirty="0">
                          <a:solidFill>
                            <a:srgbClr val="3D4759"/>
                          </a:solidFill>
                          <a:latin typeface="Times New Roman" pitchFamily="34" charset="0"/>
                          <a:ea typeface="Times New Roman" pitchFamily="34" charset="-122"/>
                          <a:cs typeface="Times New Roman" pitchFamily="34" charset="-120"/>
                        </a:rPr>
                        <a:t>Allocated on the heap when created</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868680">
                <a:tc>
                  <a:txBody>
                    <a:bodyPr/>
                    <a:lstStyle/>
                    <a:p>
                      <a:pPr marL="0" indent="0" algn="l">
                        <a:buNone/>
                      </a:pPr>
                      <a:r>
                        <a:rPr lang="en-US" sz="1300" b="1" dirty="0">
                          <a:solidFill>
                            <a:srgbClr val="1A202C"/>
                          </a:solidFill>
                          <a:latin typeface="Times New Roman" pitchFamily="34" charset="0"/>
                          <a:ea typeface="Times New Roman" pitchFamily="34" charset="-122"/>
                          <a:cs typeface="Times New Roman" pitchFamily="34" charset="-120"/>
                        </a:rPr>
                        <a:t>Example</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5F6FA"/>
                    </a:solidFill>
                  </a:tcPr>
                </a:tc>
                <a:tc>
                  <a:txBody>
                    <a:bodyPr/>
                    <a:lstStyle/>
                    <a:p>
                      <a:pPr marL="0" indent="0" algn="l">
                        <a:buNone/>
                      </a:pPr>
                      <a:r>
                        <a:rPr lang="en-US" sz="1300" dirty="0">
                          <a:solidFill>
                            <a:srgbClr val="3D4759"/>
                          </a:solidFill>
                          <a:latin typeface="Times New Roman" pitchFamily="34" charset="0"/>
                          <a:ea typeface="Times New Roman" pitchFamily="34" charset="-122"/>
                          <a:cs typeface="Times New Roman" pitchFamily="34" charset="-120"/>
                        </a:rPr>
                        <a:t>Car</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5F6FA"/>
                    </a:solidFill>
                  </a:tcPr>
                </a:tc>
                <a:tc>
                  <a:txBody>
                    <a:bodyPr/>
                    <a:lstStyle/>
                    <a:p>
                      <a:pPr marL="0" indent="0" algn="l">
                        <a:buNone/>
                      </a:pPr>
                      <a:r>
                        <a:rPr lang="en-US" sz="1300" dirty="0">
                          <a:solidFill>
                            <a:srgbClr val="3D4759"/>
                          </a:solidFill>
                          <a:latin typeface="Times New Roman" pitchFamily="34" charset="0"/>
                          <a:ea typeface="Times New Roman" pitchFamily="34" charset="-122"/>
                          <a:cs typeface="Times New Roman" pitchFamily="34" charset="-120"/>
                        </a:rPr>
                        <a:t>myCar, yourCar</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5F6FA"/>
                    </a:solidFill>
                  </a:tcPr>
                </a:tc>
                <a:extLst>
                  <a:ext uri="{0D108BD9-81ED-4DB2-BD59-A6C34878D82A}">
                    <a16:rowId xmlns:a16="http://schemas.microsoft.com/office/drawing/2014/main" val="10004"/>
                  </a:ext>
                </a:extLst>
              </a:tr>
            </a:tbl>
          </a:graphicData>
        </a:graphic>
      </p:graphicFrame>
      <p:sp>
        <p:nvSpPr>
          <p:cNvPr id="5" name="Shape 2"/>
          <p:cNvSpPr/>
          <p:nvPr/>
        </p:nvSpPr>
        <p:spPr>
          <a:xfrm>
            <a:off x="0" y="0"/>
            <a:ext cx="12191695" cy="384048"/>
          </a:xfrm>
          <a:prstGeom prst="rect">
            <a:avLst/>
          </a:prstGeom>
          <a:solidFill>
            <a:srgbClr val="1B2A4A"/>
          </a:solidFill>
          <a:ln w="12700">
            <a:solidFill>
              <a:srgbClr val="1B2A4A"/>
            </a:solidFill>
            <a:prstDash val="solid"/>
          </a:ln>
        </p:spPr>
      </p:sp>
      <p:sp>
        <p:nvSpPr>
          <p:cNvPr id="6" name="Text 3"/>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7" name="Shape 4"/>
          <p:cNvSpPr/>
          <p:nvPr/>
        </p:nvSpPr>
        <p:spPr>
          <a:xfrm>
            <a:off x="219456" y="301752"/>
            <a:ext cx="960120" cy="0"/>
          </a:xfrm>
          <a:prstGeom prst="line">
            <a:avLst/>
          </a:prstGeom>
          <a:noFill/>
          <a:ln w="9525">
            <a:solidFill>
              <a:srgbClr val="4A5570"/>
            </a:solidFill>
            <a:prstDash val="solid"/>
          </a:ln>
        </p:spPr>
      </p:sp>
      <p:sp>
        <p:nvSpPr>
          <p:cNvPr id="8" name="Text 5"/>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9" name="Text 6"/>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10" name="Text 7"/>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11" name="Shape 8"/>
          <p:cNvSpPr/>
          <p:nvPr/>
        </p:nvSpPr>
        <p:spPr>
          <a:xfrm>
            <a:off x="0" y="6291072"/>
            <a:ext cx="12191695" cy="566928"/>
          </a:xfrm>
          <a:prstGeom prst="rect">
            <a:avLst/>
          </a:prstGeom>
          <a:solidFill>
            <a:srgbClr val="1B2A4A"/>
          </a:solidFill>
          <a:ln w="12700">
            <a:solidFill>
              <a:srgbClr val="1B2A4A"/>
            </a:solidFill>
            <a:prstDash val="solid"/>
          </a:ln>
        </p:spPr>
      </p:sp>
      <p:sp>
        <p:nvSpPr>
          <p:cNvPr id="12" name="Text 9"/>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13" name="Text 10"/>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PRACTICE</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Practice: Designing a Simple Class</a:t>
            </a:r>
            <a:endParaRPr lang="en-US" sz="2700" dirty="0"/>
          </a:p>
        </p:txBody>
      </p:sp>
      <p:sp>
        <p:nvSpPr>
          <p:cNvPr id="4" name="Text 2"/>
          <p:cNvSpPr/>
          <p:nvPr/>
        </p:nvSpPr>
        <p:spPr>
          <a:xfrm>
            <a:off x="594360" y="1600200"/>
            <a:ext cx="10607040" cy="365760"/>
          </a:xfrm>
          <a:prstGeom prst="rect">
            <a:avLst/>
          </a:prstGeom>
          <a:noFill/>
          <a:ln/>
        </p:spPr>
        <p:txBody>
          <a:bodyPr wrap="square" lIns="0" tIns="0" rIns="0" bIns="0" rtlCol="0" anchor="ctr"/>
          <a:lstStyle/>
          <a:p>
            <a:pPr marL="0" indent="0">
              <a:buNone/>
            </a:pPr>
            <a:r>
              <a:rPr lang="en-US" sz="1250" i="1" dirty="0">
                <a:solidFill>
                  <a:srgbClr val="5A6472"/>
                </a:solidFill>
                <a:latin typeface="Times New Roman" pitchFamily="34" charset="0"/>
                <a:ea typeface="Times New Roman" pitchFamily="34" charset="-122"/>
                <a:cs typeface="Times New Roman" pitchFamily="34" charset="-120"/>
              </a:rPr>
              <a:t>A small Student class with fields and a method that uses them.</a:t>
            </a:r>
            <a:endParaRPr lang="en-US" sz="1250" dirty="0"/>
          </a:p>
        </p:txBody>
      </p:sp>
      <p:sp>
        <p:nvSpPr>
          <p:cNvPr id="5" name="Shape 3"/>
          <p:cNvSpPr/>
          <p:nvPr/>
        </p:nvSpPr>
        <p:spPr>
          <a:xfrm>
            <a:off x="594360" y="2002536"/>
            <a:ext cx="7040880" cy="4032504"/>
          </a:xfrm>
          <a:prstGeom prst="roundRect">
            <a:avLst>
              <a:gd name="adj" fmla="val 1814"/>
            </a:avLst>
          </a:prstGeom>
          <a:solidFill>
            <a:srgbClr val="1E1E2E"/>
          </a:solidFill>
          <a:ln w="12700">
            <a:solidFill>
              <a:srgbClr val="000000"/>
            </a:solidFill>
            <a:prstDash val="solid"/>
          </a:ln>
        </p:spPr>
      </p:sp>
      <p:sp>
        <p:nvSpPr>
          <p:cNvPr id="6" name="Shape 4"/>
          <p:cNvSpPr/>
          <p:nvPr/>
        </p:nvSpPr>
        <p:spPr>
          <a:xfrm>
            <a:off x="594360" y="2002536"/>
            <a:ext cx="7040880" cy="274320"/>
          </a:xfrm>
          <a:prstGeom prst="roundRect">
            <a:avLst>
              <a:gd name="adj" fmla="val 26667"/>
            </a:avLst>
          </a:prstGeom>
          <a:solidFill>
            <a:srgbClr val="17172A"/>
          </a:solidFill>
          <a:ln w="12700">
            <a:solidFill>
              <a:srgbClr val="000000"/>
            </a:solidFill>
            <a:prstDash val="solid"/>
          </a:ln>
        </p:spPr>
      </p:sp>
      <p:sp>
        <p:nvSpPr>
          <p:cNvPr id="7" name="Shape 5"/>
          <p:cNvSpPr/>
          <p:nvPr/>
        </p:nvSpPr>
        <p:spPr>
          <a:xfrm>
            <a:off x="594360" y="2203704"/>
            <a:ext cx="7040880" cy="73152"/>
          </a:xfrm>
          <a:prstGeom prst="rect">
            <a:avLst/>
          </a:prstGeom>
          <a:solidFill>
            <a:srgbClr val="17172A"/>
          </a:solidFill>
          <a:ln w="12700">
            <a:solidFill>
              <a:srgbClr val="000000"/>
            </a:solidFill>
            <a:prstDash val="solid"/>
          </a:ln>
        </p:spPr>
      </p:sp>
      <p:sp>
        <p:nvSpPr>
          <p:cNvPr id="8" name="Shape 6"/>
          <p:cNvSpPr/>
          <p:nvPr/>
        </p:nvSpPr>
        <p:spPr>
          <a:xfrm>
            <a:off x="722376" y="2101291"/>
            <a:ext cx="76810" cy="76810"/>
          </a:xfrm>
          <a:prstGeom prst="ellipse">
            <a:avLst/>
          </a:prstGeom>
          <a:solidFill>
            <a:srgbClr val="FF5F56"/>
          </a:solidFill>
          <a:ln w="12700">
            <a:solidFill>
              <a:srgbClr val="000000"/>
            </a:solidFill>
            <a:prstDash val="solid"/>
          </a:ln>
        </p:spPr>
      </p:sp>
      <p:sp>
        <p:nvSpPr>
          <p:cNvPr id="9" name="Shape 7"/>
          <p:cNvSpPr/>
          <p:nvPr/>
        </p:nvSpPr>
        <p:spPr>
          <a:xfrm>
            <a:off x="886968" y="2101291"/>
            <a:ext cx="76810" cy="76810"/>
          </a:xfrm>
          <a:prstGeom prst="ellipse">
            <a:avLst/>
          </a:prstGeom>
          <a:solidFill>
            <a:srgbClr val="FFBD2E"/>
          </a:solidFill>
          <a:ln w="12700">
            <a:solidFill>
              <a:srgbClr val="000000"/>
            </a:solidFill>
            <a:prstDash val="solid"/>
          </a:ln>
        </p:spPr>
      </p:sp>
      <p:sp>
        <p:nvSpPr>
          <p:cNvPr id="10" name="Shape 8"/>
          <p:cNvSpPr/>
          <p:nvPr/>
        </p:nvSpPr>
        <p:spPr>
          <a:xfrm>
            <a:off x="1051560" y="2101291"/>
            <a:ext cx="76810" cy="76810"/>
          </a:xfrm>
          <a:prstGeom prst="ellipse">
            <a:avLst/>
          </a:prstGeom>
          <a:solidFill>
            <a:srgbClr val="27C93F"/>
          </a:solidFill>
          <a:ln w="12700">
            <a:solidFill>
              <a:srgbClr val="000000"/>
            </a:solidFill>
            <a:prstDash val="solid"/>
          </a:ln>
        </p:spPr>
      </p:sp>
      <p:sp>
        <p:nvSpPr>
          <p:cNvPr id="11" name="Text 9"/>
          <p:cNvSpPr/>
          <p:nvPr/>
        </p:nvSpPr>
        <p:spPr>
          <a:xfrm>
            <a:off x="1371600" y="2002536"/>
            <a:ext cx="6126480" cy="274320"/>
          </a:xfrm>
          <a:prstGeom prst="rect">
            <a:avLst/>
          </a:prstGeom>
          <a:noFill/>
          <a:ln/>
        </p:spPr>
        <p:txBody>
          <a:bodyPr wrap="square" lIns="0" tIns="0" rIns="0" bIns="0" rtlCol="0" anchor="ctr"/>
          <a:lstStyle/>
          <a:p>
            <a:pPr marL="0" indent="0" algn="l">
              <a:buNone/>
            </a:pPr>
            <a:r>
              <a:rPr lang="en-US" sz="1000" dirty="0">
                <a:solidFill>
                  <a:srgbClr val="8A8FA3"/>
                </a:solidFill>
                <a:latin typeface="Courier New" pitchFamily="34" charset="0"/>
                <a:ea typeface="Courier New" pitchFamily="34" charset="-122"/>
                <a:cs typeface="Courier New" pitchFamily="34" charset="-120"/>
              </a:rPr>
              <a:t>Main.java</a:t>
            </a:r>
            <a:endParaRPr lang="en-US" sz="1000" dirty="0"/>
          </a:p>
        </p:txBody>
      </p:sp>
      <p:sp>
        <p:nvSpPr>
          <p:cNvPr id="12" name="Text 10"/>
          <p:cNvSpPr/>
          <p:nvPr/>
        </p:nvSpPr>
        <p:spPr>
          <a:xfrm>
            <a:off x="777240" y="2350008"/>
            <a:ext cx="6675120" cy="3611880"/>
          </a:xfrm>
          <a:prstGeom prst="rect">
            <a:avLst/>
          </a:prstGeom>
          <a:noFill/>
          <a:ln/>
        </p:spPr>
        <p:txBody>
          <a:bodyPr wrap="square" lIns="0" tIns="0" rIns="0" bIns="0" rtlCol="0" anchor="t"/>
          <a:lstStyle/>
          <a:p>
            <a:pPr marL="0" indent="0" algn="l">
              <a:lnSpc>
                <a:spcPct val="118000"/>
              </a:lnSpc>
              <a:buNone/>
            </a:pPr>
            <a:r>
              <a:rPr lang="en-US" sz="1300" b="1" dirty="0">
                <a:solidFill>
                  <a:srgbClr val="569CD6"/>
                </a:solidFill>
                <a:latin typeface="Courier New" pitchFamily="34" charset="0"/>
                <a:ea typeface="Courier New" pitchFamily="34" charset="-122"/>
                <a:cs typeface="Courier New" pitchFamily="34" charset="-120"/>
              </a:rPr>
              <a:t>public</a:t>
            </a:r>
            <a:r>
              <a:rPr lang="en-US" sz="1300" dirty="0">
                <a:solidFill>
                  <a:srgbClr val="D4D4D4"/>
                </a:solidFill>
                <a:latin typeface="Courier New" pitchFamily="34" charset="0"/>
                <a:ea typeface="Courier New" pitchFamily="34" charset="-122"/>
                <a:cs typeface="Courier New" pitchFamily="34" charset="-120"/>
              </a:rPr>
              <a:t> </a:t>
            </a:r>
            <a:r>
              <a:rPr lang="en-US" sz="1300" b="1" dirty="0">
                <a:solidFill>
                  <a:srgbClr val="569CD6"/>
                </a:solidFill>
                <a:latin typeface="Courier New" pitchFamily="34" charset="0"/>
                <a:ea typeface="Courier New" pitchFamily="34" charset="-122"/>
                <a:cs typeface="Courier New" pitchFamily="34" charset="-120"/>
              </a:rPr>
              <a:t>class</a:t>
            </a:r>
            <a:r>
              <a:rPr lang="en-US" sz="1300" dirty="0">
                <a:solidFill>
                  <a:srgbClr val="D4D4D4"/>
                </a:solidFill>
                <a:latin typeface="Courier New" pitchFamily="34" charset="0"/>
                <a:ea typeface="Courier New" pitchFamily="34" charset="-122"/>
                <a:cs typeface="Courier New" pitchFamily="34" charset="-120"/>
              </a:rPr>
              <a:t> Student {</a:t>
            </a:r>
            <a:endParaRPr lang="en-US" sz="1300" dirty="0"/>
          </a:p>
          <a:p>
            <a:pPr marL="0" indent="0" algn="l">
              <a:lnSpc>
                <a:spcPct val="118000"/>
              </a:lnSpc>
              <a:buNone/>
            </a:pPr>
            <a:r>
              <a:rPr lang="en-US" sz="1300" dirty="0">
                <a:solidFill>
                  <a:srgbClr val="D4D4D4"/>
                </a:solidFill>
                <a:latin typeface="Courier New" pitchFamily="34" charset="0"/>
                <a:ea typeface="Courier New" pitchFamily="34" charset="-122"/>
                <a:cs typeface="Courier New" pitchFamily="34" charset="-120"/>
              </a:rPr>
              <a:t>    </a:t>
            </a:r>
            <a:r>
              <a:rPr lang="en-US" sz="1300" dirty="0">
                <a:solidFill>
                  <a:srgbClr val="4EC9B0"/>
                </a:solidFill>
                <a:latin typeface="Courier New" pitchFamily="34" charset="0"/>
                <a:ea typeface="Courier New" pitchFamily="34" charset="-122"/>
                <a:cs typeface="Courier New" pitchFamily="34" charset="-120"/>
              </a:rPr>
              <a:t>String</a:t>
            </a:r>
            <a:r>
              <a:rPr lang="en-US" sz="1300" dirty="0">
                <a:solidFill>
                  <a:srgbClr val="D4D4D4"/>
                </a:solidFill>
                <a:latin typeface="Courier New" pitchFamily="34" charset="0"/>
                <a:ea typeface="Courier New" pitchFamily="34" charset="-122"/>
                <a:cs typeface="Courier New" pitchFamily="34" charset="-120"/>
              </a:rPr>
              <a:t> name;</a:t>
            </a:r>
            <a:endParaRPr lang="en-US" sz="1300" dirty="0"/>
          </a:p>
          <a:p>
            <a:pPr marL="0" indent="0" algn="l">
              <a:lnSpc>
                <a:spcPct val="118000"/>
              </a:lnSpc>
              <a:buNone/>
            </a:pPr>
            <a:r>
              <a:rPr lang="en-US" sz="1300" dirty="0">
                <a:solidFill>
                  <a:srgbClr val="D4D4D4"/>
                </a:solidFill>
                <a:latin typeface="Courier New" pitchFamily="34" charset="0"/>
                <a:ea typeface="Courier New" pitchFamily="34" charset="-122"/>
                <a:cs typeface="Courier New" pitchFamily="34" charset="-120"/>
              </a:rPr>
              <a:t>    </a:t>
            </a:r>
            <a:r>
              <a:rPr lang="en-US" sz="1300" b="1" dirty="0">
                <a:solidFill>
                  <a:srgbClr val="569CD6"/>
                </a:solidFill>
                <a:latin typeface="Courier New" pitchFamily="34" charset="0"/>
                <a:ea typeface="Courier New" pitchFamily="34" charset="-122"/>
                <a:cs typeface="Courier New" pitchFamily="34" charset="-120"/>
              </a:rPr>
              <a:t>int</a:t>
            </a:r>
            <a:r>
              <a:rPr lang="en-US" sz="1300" dirty="0">
                <a:solidFill>
                  <a:srgbClr val="D4D4D4"/>
                </a:solidFill>
                <a:latin typeface="Courier New" pitchFamily="34" charset="0"/>
                <a:ea typeface="Courier New" pitchFamily="34" charset="-122"/>
                <a:cs typeface="Courier New" pitchFamily="34" charset="-120"/>
              </a:rPr>
              <a:t> marks;</a:t>
            </a:r>
            <a:endParaRPr lang="en-US" sz="1300" dirty="0"/>
          </a:p>
          <a:p>
            <a:pPr marL="0" indent="0" algn="l">
              <a:lnSpc>
                <a:spcPct val="118000"/>
              </a:lnSpc>
              <a:buNone/>
            </a:pPr>
            <a:r>
              <a:rPr lang="en-US" sz="1300" dirty="0">
                <a:solidFill>
                  <a:srgbClr val="D4D4D4"/>
                </a:solidFill>
                <a:latin typeface="Courier New" pitchFamily="34" charset="0"/>
                <a:ea typeface="Courier New" pitchFamily="34" charset="-122"/>
                <a:cs typeface="Courier New" pitchFamily="34" charset="-120"/>
              </a:rPr>
              <a:t> </a:t>
            </a:r>
            <a:endParaRPr lang="en-US" sz="1300" dirty="0"/>
          </a:p>
          <a:p>
            <a:pPr marL="0" indent="0" algn="l">
              <a:lnSpc>
                <a:spcPct val="118000"/>
              </a:lnSpc>
              <a:buNone/>
            </a:pPr>
            <a:r>
              <a:rPr lang="en-US" sz="1300" dirty="0">
                <a:solidFill>
                  <a:srgbClr val="D4D4D4"/>
                </a:solidFill>
                <a:latin typeface="Courier New" pitchFamily="34" charset="0"/>
                <a:ea typeface="Courier New" pitchFamily="34" charset="-122"/>
                <a:cs typeface="Courier New" pitchFamily="34" charset="-120"/>
              </a:rPr>
              <a:t>    </a:t>
            </a:r>
            <a:r>
              <a:rPr lang="en-US" sz="1300" b="1" dirty="0">
                <a:solidFill>
                  <a:srgbClr val="569CD6"/>
                </a:solidFill>
                <a:latin typeface="Courier New" pitchFamily="34" charset="0"/>
                <a:ea typeface="Courier New" pitchFamily="34" charset="-122"/>
                <a:cs typeface="Courier New" pitchFamily="34" charset="-120"/>
              </a:rPr>
              <a:t>void</a:t>
            </a:r>
            <a:r>
              <a:rPr lang="en-US" sz="1300" dirty="0">
                <a:solidFill>
                  <a:srgbClr val="D4D4D4"/>
                </a:solidFill>
                <a:latin typeface="Courier New" pitchFamily="34" charset="0"/>
                <a:ea typeface="Courier New" pitchFamily="34" charset="-122"/>
                <a:cs typeface="Courier New" pitchFamily="34" charset="-120"/>
              </a:rPr>
              <a:t> </a:t>
            </a:r>
            <a:r>
              <a:rPr lang="en-US" sz="1300" dirty="0">
                <a:solidFill>
                  <a:srgbClr val="DCDCAA"/>
                </a:solidFill>
                <a:latin typeface="Courier New" pitchFamily="34" charset="0"/>
                <a:ea typeface="Courier New" pitchFamily="34" charset="-122"/>
                <a:cs typeface="Courier New" pitchFamily="34" charset="-120"/>
              </a:rPr>
              <a:t>printReport</a:t>
            </a:r>
            <a:r>
              <a:rPr lang="en-US" sz="1300" dirty="0">
                <a:solidFill>
                  <a:srgbClr val="D4D4D4"/>
                </a:solidFill>
                <a:latin typeface="Courier New" pitchFamily="34" charset="0"/>
                <a:ea typeface="Courier New" pitchFamily="34" charset="-122"/>
                <a:cs typeface="Courier New" pitchFamily="34" charset="-120"/>
              </a:rPr>
              <a:t>() {</a:t>
            </a:r>
            <a:endParaRPr lang="en-US" sz="1300" dirty="0"/>
          </a:p>
          <a:p>
            <a:pPr marL="0" indent="0" algn="l">
              <a:lnSpc>
                <a:spcPct val="118000"/>
              </a:lnSpc>
              <a:buNone/>
            </a:pPr>
            <a:r>
              <a:rPr lang="en-US" sz="1300" dirty="0">
                <a:solidFill>
                  <a:srgbClr val="D4D4D4"/>
                </a:solidFill>
                <a:latin typeface="Courier New" pitchFamily="34" charset="0"/>
                <a:ea typeface="Courier New" pitchFamily="34" charset="-122"/>
                <a:cs typeface="Courier New" pitchFamily="34" charset="-120"/>
              </a:rPr>
              <a:t>        </a:t>
            </a:r>
            <a:r>
              <a:rPr lang="en-US" sz="1300" dirty="0">
                <a:solidFill>
                  <a:srgbClr val="4EC9B0"/>
                </a:solidFill>
                <a:latin typeface="Courier New" pitchFamily="34" charset="0"/>
                <a:ea typeface="Courier New" pitchFamily="34" charset="-122"/>
                <a:cs typeface="Courier New" pitchFamily="34" charset="-120"/>
              </a:rPr>
              <a:t>System</a:t>
            </a:r>
            <a:r>
              <a:rPr lang="en-US" sz="1300" dirty="0">
                <a:solidFill>
                  <a:srgbClr val="D4D4D4"/>
                </a:solidFill>
                <a:latin typeface="Courier New" pitchFamily="34" charset="0"/>
                <a:ea typeface="Courier New" pitchFamily="34" charset="-122"/>
                <a:cs typeface="Courier New" pitchFamily="34" charset="-120"/>
              </a:rPr>
              <a:t>.out.</a:t>
            </a:r>
            <a:r>
              <a:rPr lang="en-US" sz="1300" dirty="0">
                <a:solidFill>
                  <a:srgbClr val="DCDCAA"/>
                </a:solidFill>
                <a:latin typeface="Courier New" pitchFamily="34" charset="0"/>
                <a:ea typeface="Courier New" pitchFamily="34" charset="-122"/>
                <a:cs typeface="Courier New" pitchFamily="34" charset="-120"/>
              </a:rPr>
              <a:t>println</a:t>
            </a:r>
            <a:r>
              <a:rPr lang="en-US" sz="1300" dirty="0">
                <a:solidFill>
                  <a:srgbClr val="D4D4D4"/>
                </a:solidFill>
                <a:latin typeface="Courier New" pitchFamily="34" charset="0"/>
                <a:ea typeface="Courier New" pitchFamily="34" charset="-122"/>
                <a:cs typeface="Courier New" pitchFamily="34" charset="-120"/>
              </a:rPr>
              <a:t>(name + </a:t>
            </a:r>
            <a:r>
              <a:rPr lang="en-US" sz="1300" dirty="0">
                <a:solidFill>
                  <a:srgbClr val="CE9178"/>
                </a:solidFill>
                <a:latin typeface="Courier New" pitchFamily="34" charset="0"/>
                <a:ea typeface="Courier New" pitchFamily="34" charset="-122"/>
                <a:cs typeface="Courier New" pitchFamily="34" charset="-120"/>
              </a:rPr>
              <a:t>" scored "</a:t>
            </a:r>
            <a:r>
              <a:rPr lang="en-US" sz="1300" dirty="0">
                <a:solidFill>
                  <a:srgbClr val="D4D4D4"/>
                </a:solidFill>
                <a:latin typeface="Courier New" pitchFamily="34" charset="0"/>
                <a:ea typeface="Courier New" pitchFamily="34" charset="-122"/>
                <a:cs typeface="Courier New" pitchFamily="34" charset="-120"/>
              </a:rPr>
              <a:t> + marks);</a:t>
            </a:r>
            <a:endParaRPr lang="en-US" sz="1300" dirty="0"/>
          </a:p>
          <a:p>
            <a:pPr marL="0" indent="0" algn="l">
              <a:lnSpc>
                <a:spcPct val="118000"/>
              </a:lnSpc>
              <a:buNone/>
            </a:pPr>
            <a:r>
              <a:rPr lang="en-US" sz="1300" dirty="0">
                <a:solidFill>
                  <a:srgbClr val="D4D4D4"/>
                </a:solidFill>
                <a:latin typeface="Courier New" pitchFamily="34" charset="0"/>
                <a:ea typeface="Courier New" pitchFamily="34" charset="-122"/>
                <a:cs typeface="Courier New" pitchFamily="34" charset="-120"/>
              </a:rPr>
              <a:t>    }</a:t>
            </a:r>
            <a:endParaRPr lang="en-US" sz="1300" dirty="0"/>
          </a:p>
          <a:p>
            <a:pPr marL="0" indent="0" algn="l">
              <a:lnSpc>
                <a:spcPct val="118000"/>
              </a:lnSpc>
              <a:buNone/>
            </a:pPr>
            <a:r>
              <a:rPr lang="en-US" sz="1300" dirty="0">
                <a:solidFill>
                  <a:srgbClr val="D4D4D4"/>
                </a:solidFill>
                <a:latin typeface="Courier New" pitchFamily="34" charset="0"/>
                <a:ea typeface="Courier New" pitchFamily="34" charset="-122"/>
                <a:cs typeface="Courier New" pitchFamily="34" charset="-120"/>
              </a:rPr>
              <a:t> </a:t>
            </a:r>
            <a:endParaRPr lang="en-US" sz="1300" dirty="0"/>
          </a:p>
          <a:p>
            <a:pPr marL="0" indent="0" algn="l">
              <a:lnSpc>
                <a:spcPct val="118000"/>
              </a:lnSpc>
              <a:buNone/>
            </a:pPr>
            <a:r>
              <a:rPr lang="en-US" sz="1300" dirty="0">
                <a:solidFill>
                  <a:srgbClr val="D4D4D4"/>
                </a:solidFill>
                <a:latin typeface="Courier New" pitchFamily="34" charset="0"/>
                <a:ea typeface="Courier New" pitchFamily="34" charset="-122"/>
                <a:cs typeface="Courier New" pitchFamily="34" charset="-120"/>
              </a:rPr>
              <a:t>    </a:t>
            </a:r>
            <a:r>
              <a:rPr lang="en-US" sz="1300" b="1" dirty="0">
                <a:solidFill>
                  <a:srgbClr val="569CD6"/>
                </a:solidFill>
                <a:latin typeface="Courier New" pitchFamily="34" charset="0"/>
                <a:ea typeface="Courier New" pitchFamily="34" charset="-122"/>
                <a:cs typeface="Courier New" pitchFamily="34" charset="-120"/>
              </a:rPr>
              <a:t>public</a:t>
            </a:r>
            <a:r>
              <a:rPr lang="en-US" sz="1300" dirty="0">
                <a:solidFill>
                  <a:srgbClr val="D4D4D4"/>
                </a:solidFill>
                <a:latin typeface="Courier New" pitchFamily="34" charset="0"/>
                <a:ea typeface="Courier New" pitchFamily="34" charset="-122"/>
                <a:cs typeface="Courier New" pitchFamily="34" charset="-120"/>
              </a:rPr>
              <a:t> </a:t>
            </a:r>
            <a:r>
              <a:rPr lang="en-US" sz="1300" b="1" dirty="0">
                <a:solidFill>
                  <a:srgbClr val="569CD6"/>
                </a:solidFill>
                <a:latin typeface="Courier New" pitchFamily="34" charset="0"/>
                <a:ea typeface="Courier New" pitchFamily="34" charset="-122"/>
                <a:cs typeface="Courier New" pitchFamily="34" charset="-120"/>
              </a:rPr>
              <a:t>static</a:t>
            </a:r>
            <a:r>
              <a:rPr lang="en-US" sz="1300" dirty="0">
                <a:solidFill>
                  <a:srgbClr val="D4D4D4"/>
                </a:solidFill>
                <a:latin typeface="Courier New" pitchFamily="34" charset="0"/>
                <a:ea typeface="Courier New" pitchFamily="34" charset="-122"/>
                <a:cs typeface="Courier New" pitchFamily="34" charset="-120"/>
              </a:rPr>
              <a:t> </a:t>
            </a:r>
            <a:r>
              <a:rPr lang="en-US" sz="1300" b="1" dirty="0">
                <a:solidFill>
                  <a:srgbClr val="569CD6"/>
                </a:solidFill>
                <a:latin typeface="Courier New" pitchFamily="34" charset="0"/>
                <a:ea typeface="Courier New" pitchFamily="34" charset="-122"/>
                <a:cs typeface="Courier New" pitchFamily="34" charset="-120"/>
              </a:rPr>
              <a:t>void</a:t>
            </a:r>
            <a:r>
              <a:rPr lang="en-US" sz="1300" dirty="0">
                <a:solidFill>
                  <a:srgbClr val="D4D4D4"/>
                </a:solidFill>
                <a:latin typeface="Courier New" pitchFamily="34" charset="0"/>
                <a:ea typeface="Courier New" pitchFamily="34" charset="-122"/>
                <a:cs typeface="Courier New" pitchFamily="34" charset="-120"/>
              </a:rPr>
              <a:t> </a:t>
            </a:r>
            <a:r>
              <a:rPr lang="en-US" sz="1300" dirty="0">
                <a:solidFill>
                  <a:srgbClr val="DCDCAA"/>
                </a:solidFill>
                <a:latin typeface="Courier New" pitchFamily="34" charset="0"/>
                <a:ea typeface="Courier New" pitchFamily="34" charset="-122"/>
                <a:cs typeface="Courier New" pitchFamily="34" charset="-120"/>
              </a:rPr>
              <a:t>main</a:t>
            </a:r>
            <a:r>
              <a:rPr lang="en-US" sz="1300" dirty="0">
                <a:solidFill>
                  <a:srgbClr val="D4D4D4"/>
                </a:solidFill>
                <a:latin typeface="Courier New" pitchFamily="34" charset="0"/>
                <a:ea typeface="Courier New" pitchFamily="34" charset="-122"/>
                <a:cs typeface="Courier New" pitchFamily="34" charset="-120"/>
              </a:rPr>
              <a:t>(</a:t>
            </a:r>
            <a:r>
              <a:rPr lang="en-US" sz="1300" dirty="0">
                <a:solidFill>
                  <a:srgbClr val="4EC9B0"/>
                </a:solidFill>
                <a:latin typeface="Courier New" pitchFamily="34" charset="0"/>
                <a:ea typeface="Courier New" pitchFamily="34" charset="-122"/>
                <a:cs typeface="Courier New" pitchFamily="34" charset="-120"/>
              </a:rPr>
              <a:t>String</a:t>
            </a:r>
            <a:r>
              <a:rPr lang="en-US" sz="1300" dirty="0">
                <a:solidFill>
                  <a:srgbClr val="D4D4D4"/>
                </a:solidFill>
                <a:latin typeface="Courier New" pitchFamily="34" charset="0"/>
                <a:ea typeface="Courier New" pitchFamily="34" charset="-122"/>
                <a:cs typeface="Courier New" pitchFamily="34" charset="-120"/>
              </a:rPr>
              <a:t>[] args) {</a:t>
            </a:r>
            <a:endParaRPr lang="en-US" sz="1300" dirty="0"/>
          </a:p>
          <a:p>
            <a:pPr marL="0" indent="0" algn="l">
              <a:lnSpc>
                <a:spcPct val="118000"/>
              </a:lnSpc>
              <a:buNone/>
            </a:pPr>
            <a:r>
              <a:rPr lang="en-US" sz="1300" dirty="0">
                <a:solidFill>
                  <a:srgbClr val="D4D4D4"/>
                </a:solidFill>
                <a:latin typeface="Courier New" pitchFamily="34" charset="0"/>
                <a:ea typeface="Courier New" pitchFamily="34" charset="-122"/>
                <a:cs typeface="Courier New" pitchFamily="34" charset="-120"/>
              </a:rPr>
              <a:t>        Student s = </a:t>
            </a:r>
            <a:r>
              <a:rPr lang="en-US" sz="1300" b="1" dirty="0">
                <a:solidFill>
                  <a:srgbClr val="569CD6"/>
                </a:solidFill>
                <a:latin typeface="Courier New" pitchFamily="34" charset="0"/>
                <a:ea typeface="Courier New" pitchFamily="34" charset="-122"/>
                <a:cs typeface="Courier New" pitchFamily="34" charset="-120"/>
              </a:rPr>
              <a:t>new</a:t>
            </a:r>
            <a:r>
              <a:rPr lang="en-US" sz="1300" dirty="0">
                <a:solidFill>
                  <a:srgbClr val="D4D4D4"/>
                </a:solidFill>
                <a:latin typeface="Courier New" pitchFamily="34" charset="0"/>
                <a:ea typeface="Courier New" pitchFamily="34" charset="-122"/>
                <a:cs typeface="Courier New" pitchFamily="34" charset="-120"/>
              </a:rPr>
              <a:t> </a:t>
            </a:r>
            <a:r>
              <a:rPr lang="en-US" sz="1300" dirty="0">
                <a:solidFill>
                  <a:srgbClr val="DCDCAA"/>
                </a:solidFill>
                <a:latin typeface="Courier New" pitchFamily="34" charset="0"/>
                <a:ea typeface="Courier New" pitchFamily="34" charset="-122"/>
                <a:cs typeface="Courier New" pitchFamily="34" charset="-120"/>
              </a:rPr>
              <a:t>Student</a:t>
            </a:r>
            <a:r>
              <a:rPr lang="en-US" sz="1300" dirty="0">
                <a:solidFill>
                  <a:srgbClr val="D4D4D4"/>
                </a:solidFill>
                <a:latin typeface="Courier New" pitchFamily="34" charset="0"/>
                <a:ea typeface="Courier New" pitchFamily="34" charset="-122"/>
                <a:cs typeface="Courier New" pitchFamily="34" charset="-120"/>
              </a:rPr>
              <a:t>();</a:t>
            </a:r>
            <a:endParaRPr lang="en-US" sz="1300" dirty="0"/>
          </a:p>
          <a:p>
            <a:pPr marL="0" indent="0" algn="l">
              <a:lnSpc>
                <a:spcPct val="118000"/>
              </a:lnSpc>
              <a:buNone/>
            </a:pPr>
            <a:r>
              <a:rPr lang="en-US" sz="1300" dirty="0">
                <a:solidFill>
                  <a:srgbClr val="D4D4D4"/>
                </a:solidFill>
                <a:latin typeface="Courier New" pitchFamily="34" charset="0"/>
                <a:ea typeface="Courier New" pitchFamily="34" charset="-122"/>
                <a:cs typeface="Courier New" pitchFamily="34" charset="-120"/>
              </a:rPr>
              <a:t>        s.name = </a:t>
            </a:r>
            <a:r>
              <a:rPr lang="en-US" sz="1300" dirty="0">
                <a:solidFill>
                  <a:srgbClr val="CE9178"/>
                </a:solidFill>
                <a:latin typeface="Courier New" pitchFamily="34" charset="0"/>
                <a:ea typeface="Courier New" pitchFamily="34" charset="-122"/>
                <a:cs typeface="Courier New" pitchFamily="34" charset="-120"/>
              </a:rPr>
              <a:t>"Asha"</a:t>
            </a:r>
            <a:r>
              <a:rPr lang="en-US" sz="1300" dirty="0">
                <a:solidFill>
                  <a:srgbClr val="D4D4D4"/>
                </a:solidFill>
                <a:latin typeface="Courier New" pitchFamily="34" charset="0"/>
                <a:ea typeface="Courier New" pitchFamily="34" charset="-122"/>
                <a:cs typeface="Courier New" pitchFamily="34" charset="-120"/>
              </a:rPr>
              <a:t>;</a:t>
            </a:r>
            <a:endParaRPr lang="en-US" sz="1300" dirty="0"/>
          </a:p>
          <a:p>
            <a:pPr marL="0" indent="0" algn="l">
              <a:lnSpc>
                <a:spcPct val="118000"/>
              </a:lnSpc>
              <a:buNone/>
            </a:pPr>
            <a:r>
              <a:rPr lang="en-US" sz="1300" dirty="0">
                <a:solidFill>
                  <a:srgbClr val="D4D4D4"/>
                </a:solidFill>
                <a:latin typeface="Courier New" pitchFamily="34" charset="0"/>
                <a:ea typeface="Courier New" pitchFamily="34" charset="-122"/>
                <a:cs typeface="Courier New" pitchFamily="34" charset="-120"/>
              </a:rPr>
              <a:t>        s.marks = </a:t>
            </a:r>
            <a:r>
              <a:rPr lang="en-US" sz="1300" dirty="0">
                <a:solidFill>
                  <a:srgbClr val="B5CEA8"/>
                </a:solidFill>
                <a:latin typeface="Courier New" pitchFamily="34" charset="0"/>
                <a:ea typeface="Courier New" pitchFamily="34" charset="-122"/>
                <a:cs typeface="Courier New" pitchFamily="34" charset="-120"/>
              </a:rPr>
              <a:t>88</a:t>
            </a:r>
            <a:r>
              <a:rPr lang="en-US" sz="1300" dirty="0">
                <a:solidFill>
                  <a:srgbClr val="D4D4D4"/>
                </a:solidFill>
                <a:latin typeface="Courier New" pitchFamily="34" charset="0"/>
                <a:ea typeface="Courier New" pitchFamily="34" charset="-122"/>
                <a:cs typeface="Courier New" pitchFamily="34" charset="-120"/>
              </a:rPr>
              <a:t>;</a:t>
            </a:r>
            <a:endParaRPr lang="en-US" sz="1300" dirty="0"/>
          </a:p>
          <a:p>
            <a:pPr marL="0" indent="0" algn="l">
              <a:lnSpc>
                <a:spcPct val="118000"/>
              </a:lnSpc>
              <a:buNone/>
            </a:pPr>
            <a:r>
              <a:rPr lang="en-US" sz="1300" dirty="0">
                <a:solidFill>
                  <a:srgbClr val="D4D4D4"/>
                </a:solidFill>
                <a:latin typeface="Courier New" pitchFamily="34" charset="0"/>
                <a:ea typeface="Courier New" pitchFamily="34" charset="-122"/>
                <a:cs typeface="Courier New" pitchFamily="34" charset="-120"/>
              </a:rPr>
              <a:t>        s.</a:t>
            </a:r>
            <a:r>
              <a:rPr lang="en-US" sz="1300" dirty="0">
                <a:solidFill>
                  <a:srgbClr val="DCDCAA"/>
                </a:solidFill>
                <a:latin typeface="Courier New" pitchFamily="34" charset="0"/>
                <a:ea typeface="Courier New" pitchFamily="34" charset="-122"/>
                <a:cs typeface="Courier New" pitchFamily="34" charset="-120"/>
              </a:rPr>
              <a:t>printReport</a:t>
            </a:r>
            <a:r>
              <a:rPr lang="en-US" sz="1300" dirty="0">
                <a:solidFill>
                  <a:srgbClr val="D4D4D4"/>
                </a:solidFill>
                <a:latin typeface="Courier New" pitchFamily="34" charset="0"/>
                <a:ea typeface="Courier New" pitchFamily="34" charset="-122"/>
                <a:cs typeface="Courier New" pitchFamily="34" charset="-120"/>
              </a:rPr>
              <a:t>();</a:t>
            </a:r>
            <a:endParaRPr lang="en-US" sz="1300" dirty="0"/>
          </a:p>
          <a:p>
            <a:pPr marL="0" indent="0" algn="l">
              <a:lnSpc>
                <a:spcPct val="118000"/>
              </a:lnSpc>
              <a:buNone/>
            </a:pPr>
            <a:r>
              <a:rPr lang="en-US" sz="1300" dirty="0">
                <a:solidFill>
                  <a:srgbClr val="D4D4D4"/>
                </a:solidFill>
                <a:latin typeface="Courier New" pitchFamily="34" charset="0"/>
                <a:ea typeface="Courier New" pitchFamily="34" charset="-122"/>
                <a:cs typeface="Courier New" pitchFamily="34" charset="-120"/>
              </a:rPr>
              <a:t>    }</a:t>
            </a:r>
            <a:endParaRPr lang="en-US" sz="1300" dirty="0"/>
          </a:p>
          <a:p>
            <a:pPr marL="0" indent="0" algn="l">
              <a:lnSpc>
                <a:spcPct val="118000"/>
              </a:lnSpc>
              <a:buNone/>
            </a:pPr>
            <a:r>
              <a:rPr lang="en-US" sz="1300" dirty="0">
                <a:solidFill>
                  <a:srgbClr val="D4D4D4"/>
                </a:solidFill>
                <a:latin typeface="Courier New" pitchFamily="34" charset="0"/>
                <a:ea typeface="Courier New" pitchFamily="34" charset="-122"/>
                <a:cs typeface="Courier New" pitchFamily="34" charset="-120"/>
              </a:rPr>
              <a:t>}</a:t>
            </a:r>
            <a:endParaRPr lang="en-US" sz="1300" dirty="0"/>
          </a:p>
        </p:txBody>
      </p:sp>
      <p:sp>
        <p:nvSpPr>
          <p:cNvPr id="13" name="Shape 11"/>
          <p:cNvSpPr/>
          <p:nvPr/>
        </p:nvSpPr>
        <p:spPr>
          <a:xfrm>
            <a:off x="7909560" y="2002536"/>
            <a:ext cx="3886200" cy="4032504"/>
          </a:xfrm>
          <a:prstGeom prst="roundRect">
            <a:avLst>
              <a:gd name="adj" fmla="val 1882"/>
            </a:avLst>
          </a:prstGeom>
          <a:solidFill>
            <a:srgbClr val="181C24"/>
          </a:solidFill>
          <a:ln w="12700">
            <a:solidFill>
              <a:srgbClr val="000000"/>
            </a:solidFill>
            <a:prstDash val="solid"/>
          </a:ln>
        </p:spPr>
      </p:sp>
      <p:sp>
        <p:nvSpPr>
          <p:cNvPr id="14" name="Text 12"/>
          <p:cNvSpPr/>
          <p:nvPr/>
        </p:nvSpPr>
        <p:spPr>
          <a:xfrm>
            <a:off x="8074152" y="2130552"/>
            <a:ext cx="3557016" cy="274320"/>
          </a:xfrm>
          <a:prstGeom prst="rect">
            <a:avLst/>
          </a:prstGeom>
          <a:noFill/>
          <a:ln/>
        </p:spPr>
        <p:txBody>
          <a:bodyPr wrap="square" lIns="0" tIns="0" rIns="0" bIns="0" rtlCol="0" anchor="ctr"/>
          <a:lstStyle/>
          <a:p>
            <a:pPr marL="0" indent="0">
              <a:buNone/>
            </a:pPr>
            <a:r>
              <a:rPr lang="en-US" sz="1000" b="1" kern="0" spc="100" dirty="0">
                <a:solidFill>
                  <a:srgbClr val="E8590C"/>
                </a:solidFill>
                <a:latin typeface="Times New Roman" pitchFamily="34" charset="0"/>
                <a:ea typeface="Times New Roman" pitchFamily="34" charset="-122"/>
                <a:cs typeface="Times New Roman" pitchFamily="34" charset="-120"/>
              </a:rPr>
              <a:t>CONSOLE OUTPUT</a:t>
            </a:r>
            <a:endParaRPr lang="en-US" sz="1000" dirty="0"/>
          </a:p>
        </p:txBody>
      </p:sp>
      <p:sp>
        <p:nvSpPr>
          <p:cNvPr id="15" name="Text 13"/>
          <p:cNvSpPr/>
          <p:nvPr/>
        </p:nvSpPr>
        <p:spPr>
          <a:xfrm>
            <a:off x="8074152" y="2459736"/>
            <a:ext cx="3557016" cy="3429000"/>
          </a:xfrm>
          <a:prstGeom prst="rect">
            <a:avLst/>
          </a:prstGeom>
          <a:noFill/>
          <a:ln/>
        </p:spPr>
        <p:txBody>
          <a:bodyPr wrap="square" lIns="0" tIns="0" rIns="0" bIns="0" rtlCol="0" anchor="t"/>
          <a:lstStyle/>
          <a:p>
            <a:pPr marL="0" indent="0">
              <a:lnSpc>
                <a:spcPct val="130000"/>
              </a:lnSpc>
              <a:buNone/>
            </a:pPr>
            <a:r>
              <a:rPr lang="en-US" sz="1300" dirty="0">
                <a:solidFill>
                  <a:srgbClr val="D8E6D0"/>
                </a:solidFill>
                <a:latin typeface="Courier New" pitchFamily="34" charset="0"/>
                <a:ea typeface="Courier New" pitchFamily="34" charset="-122"/>
                <a:cs typeface="Courier New" pitchFamily="34" charset="-120"/>
              </a:rPr>
              <a:t>Asha scored 88</a:t>
            </a:r>
            <a:endParaRPr lang="en-US" sz="1300" dirty="0"/>
          </a:p>
        </p:txBody>
      </p:sp>
      <p:sp>
        <p:nvSpPr>
          <p:cNvPr id="16" name="Shape 14"/>
          <p:cNvSpPr/>
          <p:nvPr/>
        </p:nvSpPr>
        <p:spPr>
          <a:xfrm>
            <a:off x="0" y="0"/>
            <a:ext cx="12191695" cy="384048"/>
          </a:xfrm>
          <a:prstGeom prst="rect">
            <a:avLst/>
          </a:prstGeom>
          <a:solidFill>
            <a:srgbClr val="1B2A4A"/>
          </a:solidFill>
          <a:ln w="12700">
            <a:solidFill>
              <a:srgbClr val="1B2A4A"/>
            </a:solidFill>
            <a:prstDash val="solid"/>
          </a:ln>
        </p:spPr>
      </p:sp>
      <p:sp>
        <p:nvSpPr>
          <p:cNvPr id="17" name="Text 15"/>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8" name="Shape 16"/>
          <p:cNvSpPr/>
          <p:nvPr/>
        </p:nvSpPr>
        <p:spPr>
          <a:xfrm>
            <a:off x="219456" y="301752"/>
            <a:ext cx="960120" cy="0"/>
          </a:xfrm>
          <a:prstGeom prst="line">
            <a:avLst/>
          </a:prstGeom>
          <a:noFill/>
          <a:ln w="9525">
            <a:solidFill>
              <a:srgbClr val="4A5570"/>
            </a:solidFill>
            <a:prstDash val="solid"/>
          </a:ln>
        </p:spPr>
      </p:sp>
      <p:sp>
        <p:nvSpPr>
          <p:cNvPr id="19" name="Text 17"/>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0" name="Text 18"/>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1" name="Text 19"/>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2" name="Shape 20"/>
          <p:cNvSpPr/>
          <p:nvPr/>
        </p:nvSpPr>
        <p:spPr>
          <a:xfrm>
            <a:off x="0" y="6291072"/>
            <a:ext cx="12191695" cy="566928"/>
          </a:xfrm>
          <a:prstGeom prst="rect">
            <a:avLst/>
          </a:prstGeom>
          <a:solidFill>
            <a:srgbClr val="1B2A4A"/>
          </a:solidFill>
          <a:ln w="12700">
            <a:solidFill>
              <a:srgbClr val="1B2A4A"/>
            </a:solidFill>
            <a:prstDash val="solid"/>
          </a:ln>
        </p:spPr>
      </p:sp>
      <p:sp>
        <p:nvSpPr>
          <p:cNvPr id="23" name="Text 21"/>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4" name="Text 22"/>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81C24"/>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81C24"/>
          </a:solidFill>
          <a:ln w="12700">
            <a:solidFill>
              <a:srgbClr val="181C24"/>
            </a:solidFill>
            <a:prstDash val="solid"/>
          </a:ln>
        </p:spPr>
      </p:sp>
      <p:sp>
        <p:nvSpPr>
          <p:cNvPr id="3" name="Shape 1"/>
          <p:cNvSpPr/>
          <p:nvPr/>
        </p:nvSpPr>
        <p:spPr>
          <a:xfrm>
            <a:off x="0" y="3246120"/>
            <a:ext cx="12191695" cy="18288"/>
          </a:xfrm>
          <a:prstGeom prst="rect">
            <a:avLst/>
          </a:prstGeom>
          <a:solidFill>
            <a:srgbClr val="2A2F3B"/>
          </a:solidFill>
          <a:ln w="12700">
            <a:solidFill>
              <a:srgbClr val="000000"/>
            </a:solidFill>
            <a:prstDash val="solid"/>
          </a:ln>
        </p:spPr>
      </p:sp>
      <p:sp>
        <p:nvSpPr>
          <p:cNvPr id="4" name="Text 2"/>
          <p:cNvSpPr/>
          <p:nvPr/>
        </p:nvSpPr>
        <p:spPr>
          <a:xfrm>
            <a:off x="640080" y="2651760"/>
            <a:ext cx="5486400" cy="365760"/>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SECTION 2 / 10</a:t>
            </a:r>
            <a:endParaRPr lang="en-US" sz="1300" dirty="0"/>
          </a:p>
        </p:txBody>
      </p:sp>
      <p:sp>
        <p:nvSpPr>
          <p:cNvPr id="5" name="Text 3"/>
          <p:cNvSpPr/>
          <p:nvPr/>
        </p:nvSpPr>
        <p:spPr>
          <a:xfrm>
            <a:off x="594360" y="2971800"/>
            <a:ext cx="10515600" cy="1005840"/>
          </a:xfrm>
          <a:prstGeom prst="rect">
            <a:avLst/>
          </a:prstGeom>
          <a:noFill/>
          <a:ln/>
        </p:spPr>
        <p:txBody>
          <a:bodyPr wrap="square" lIns="0" tIns="0" rIns="0" bIns="0" rtlCol="0" anchor="ctr"/>
          <a:lstStyle/>
          <a:p>
            <a:pPr marL="0" indent="0">
              <a:buNone/>
            </a:pPr>
            <a:r>
              <a:rPr lang="en-US" sz="3400" b="1" dirty="0">
                <a:solidFill>
                  <a:srgbClr val="FFFFFF"/>
                </a:solidFill>
                <a:latin typeface="Times New Roman" pitchFamily="34" charset="0"/>
                <a:ea typeface="Times New Roman" pitchFamily="34" charset="-122"/>
                <a:cs typeface="Times New Roman" pitchFamily="34" charset="-120"/>
              </a:rPr>
              <a:t>Constructors</a:t>
            </a:r>
            <a:endParaRPr lang="en-US" sz="3400" dirty="0"/>
          </a:p>
        </p:txBody>
      </p:sp>
      <p:sp>
        <p:nvSpPr>
          <p:cNvPr id="6" name="Text 4"/>
          <p:cNvSpPr/>
          <p:nvPr/>
        </p:nvSpPr>
        <p:spPr>
          <a:xfrm>
            <a:off x="640080" y="3977640"/>
            <a:ext cx="9144000" cy="548640"/>
          </a:xfrm>
          <a:prstGeom prst="rect">
            <a:avLst/>
          </a:prstGeom>
          <a:noFill/>
          <a:ln/>
        </p:spPr>
        <p:txBody>
          <a:bodyPr wrap="square" lIns="0" tIns="0" rIns="0" bIns="0" rtlCol="0" anchor="t"/>
          <a:lstStyle/>
          <a:p>
            <a:pPr marL="0" indent="0">
              <a:buNone/>
            </a:pPr>
            <a:r>
              <a:rPr lang="en-US" sz="1500" dirty="0">
                <a:solidFill>
                  <a:srgbClr val="8C93A0"/>
                </a:solidFill>
                <a:latin typeface="Times New Roman" pitchFamily="34" charset="0"/>
                <a:ea typeface="Times New Roman" pitchFamily="34" charset="-122"/>
                <a:cs typeface="Times New Roman" pitchFamily="34" charset="-120"/>
              </a:rPr>
              <a:t>Setting up a new object at the moment it is created</a:t>
            </a:r>
            <a:endParaRPr lang="en-US" sz="1500" dirty="0"/>
          </a:p>
        </p:txBody>
      </p:sp>
      <p:sp>
        <p:nvSpPr>
          <p:cNvPr id="7" name="Shape 5"/>
          <p:cNvSpPr/>
          <p:nvPr/>
        </p:nvSpPr>
        <p:spPr>
          <a:xfrm>
            <a:off x="0" y="0"/>
            <a:ext cx="12191695" cy="384048"/>
          </a:xfrm>
          <a:prstGeom prst="rect">
            <a:avLst/>
          </a:prstGeom>
          <a:solidFill>
            <a:srgbClr val="1B2A4A"/>
          </a:solidFill>
          <a:ln w="12700">
            <a:solidFill>
              <a:srgbClr val="1B2A4A"/>
            </a:solidFill>
            <a:prstDash val="solid"/>
          </a:ln>
        </p:spPr>
      </p:sp>
      <p:sp>
        <p:nvSpPr>
          <p:cNvPr id="8" name="Text 6"/>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9" name="Shape 7"/>
          <p:cNvSpPr/>
          <p:nvPr/>
        </p:nvSpPr>
        <p:spPr>
          <a:xfrm>
            <a:off x="219456" y="301752"/>
            <a:ext cx="960120" cy="0"/>
          </a:xfrm>
          <a:prstGeom prst="line">
            <a:avLst/>
          </a:prstGeom>
          <a:noFill/>
          <a:ln w="9525">
            <a:solidFill>
              <a:srgbClr val="4A5570"/>
            </a:solidFill>
            <a:prstDash val="solid"/>
          </a:ln>
        </p:spPr>
      </p:sp>
      <p:sp>
        <p:nvSpPr>
          <p:cNvPr id="10" name="Text 8"/>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11" name="Text 9"/>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12" name="Text 10"/>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13" name="Shape 11"/>
          <p:cNvSpPr/>
          <p:nvPr/>
        </p:nvSpPr>
        <p:spPr>
          <a:xfrm>
            <a:off x="0" y="6291072"/>
            <a:ext cx="12191695" cy="566928"/>
          </a:xfrm>
          <a:prstGeom prst="rect">
            <a:avLst/>
          </a:prstGeom>
          <a:solidFill>
            <a:srgbClr val="1B2A4A"/>
          </a:solidFill>
          <a:ln w="12700">
            <a:solidFill>
              <a:srgbClr val="1B2A4A"/>
            </a:solidFill>
            <a:prstDash val="solid"/>
          </a:ln>
        </p:spPr>
      </p:sp>
      <p:sp>
        <p:nvSpPr>
          <p:cNvPr id="14" name="Text 12"/>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15" name="Text 13"/>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CONCEPT</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What Is a Constructor?</a:t>
            </a:r>
            <a:endParaRPr lang="en-US" sz="2700" dirty="0"/>
          </a:p>
        </p:txBody>
      </p:sp>
      <p:sp>
        <p:nvSpPr>
          <p:cNvPr id="4" name="Shape 2"/>
          <p:cNvSpPr/>
          <p:nvPr/>
        </p:nvSpPr>
        <p:spPr>
          <a:xfrm>
            <a:off x="594360" y="1691640"/>
            <a:ext cx="10607040" cy="1338072"/>
          </a:xfrm>
          <a:prstGeom prst="roundRect">
            <a:avLst>
              <a:gd name="adj" fmla="val 4100"/>
            </a:avLst>
          </a:prstGeom>
          <a:solidFill>
            <a:srgbClr val="F5F6FA"/>
          </a:solidFill>
          <a:ln w="9525">
            <a:solidFill>
              <a:srgbClr val="E4E7EE"/>
            </a:solidFill>
            <a:prstDash val="solid"/>
          </a:ln>
        </p:spPr>
      </p:sp>
      <p:sp>
        <p:nvSpPr>
          <p:cNvPr id="5" name="Shape 3"/>
          <p:cNvSpPr/>
          <p:nvPr/>
        </p:nvSpPr>
        <p:spPr>
          <a:xfrm>
            <a:off x="777240" y="1874520"/>
            <a:ext cx="109728" cy="109728"/>
          </a:xfrm>
          <a:prstGeom prst="ellipse">
            <a:avLst/>
          </a:prstGeom>
          <a:solidFill>
            <a:srgbClr val="E8590C"/>
          </a:solidFill>
          <a:ln w="12700">
            <a:solidFill>
              <a:srgbClr val="000000"/>
            </a:solidFill>
            <a:prstDash val="solid"/>
          </a:ln>
        </p:spPr>
      </p:sp>
      <p:sp>
        <p:nvSpPr>
          <p:cNvPr id="6" name="Text 4"/>
          <p:cNvSpPr/>
          <p:nvPr/>
        </p:nvSpPr>
        <p:spPr>
          <a:xfrm>
            <a:off x="1051560" y="1764792"/>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A special method that runs when an object is created</a:t>
            </a:r>
            <a:endParaRPr lang="en-US" sz="1500" dirty="0"/>
          </a:p>
        </p:txBody>
      </p:sp>
      <p:sp>
        <p:nvSpPr>
          <p:cNvPr id="7" name="Text 5"/>
          <p:cNvSpPr/>
          <p:nvPr/>
        </p:nvSpPr>
        <p:spPr>
          <a:xfrm>
            <a:off x="1051560" y="2057400"/>
            <a:ext cx="9966960" cy="917448"/>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A constructor sets up the initial state of an object at the moment new is used.</a:t>
            </a:r>
            <a:endParaRPr lang="en-US" sz="1250" dirty="0"/>
          </a:p>
        </p:txBody>
      </p:sp>
      <p:sp>
        <p:nvSpPr>
          <p:cNvPr id="8" name="Shape 6"/>
          <p:cNvSpPr/>
          <p:nvPr/>
        </p:nvSpPr>
        <p:spPr>
          <a:xfrm>
            <a:off x="594360" y="3194304"/>
            <a:ext cx="10607040" cy="1338072"/>
          </a:xfrm>
          <a:prstGeom prst="roundRect">
            <a:avLst>
              <a:gd name="adj" fmla="val 4100"/>
            </a:avLst>
          </a:prstGeom>
          <a:solidFill>
            <a:srgbClr val="F5F6FA"/>
          </a:solidFill>
          <a:ln w="9525">
            <a:solidFill>
              <a:srgbClr val="E4E7EE"/>
            </a:solidFill>
            <a:prstDash val="solid"/>
          </a:ln>
        </p:spPr>
      </p:sp>
      <p:sp>
        <p:nvSpPr>
          <p:cNvPr id="9" name="Shape 7"/>
          <p:cNvSpPr/>
          <p:nvPr/>
        </p:nvSpPr>
        <p:spPr>
          <a:xfrm>
            <a:off x="777240" y="3377184"/>
            <a:ext cx="109728" cy="109728"/>
          </a:xfrm>
          <a:prstGeom prst="ellipse">
            <a:avLst/>
          </a:prstGeom>
          <a:solidFill>
            <a:srgbClr val="E8590C"/>
          </a:solidFill>
          <a:ln w="12700">
            <a:solidFill>
              <a:srgbClr val="000000"/>
            </a:solidFill>
            <a:prstDash val="solid"/>
          </a:ln>
        </p:spPr>
      </p:sp>
      <p:sp>
        <p:nvSpPr>
          <p:cNvPr id="10" name="Text 8"/>
          <p:cNvSpPr/>
          <p:nvPr/>
        </p:nvSpPr>
        <p:spPr>
          <a:xfrm>
            <a:off x="1051560" y="3267456"/>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Shares its name with the class</a:t>
            </a:r>
            <a:endParaRPr lang="en-US" sz="1500" dirty="0"/>
          </a:p>
        </p:txBody>
      </p:sp>
      <p:sp>
        <p:nvSpPr>
          <p:cNvPr id="11" name="Text 9"/>
          <p:cNvSpPr/>
          <p:nvPr/>
        </p:nvSpPr>
        <p:spPr>
          <a:xfrm>
            <a:off x="1051560" y="3560064"/>
            <a:ext cx="9966960" cy="917448"/>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A constructor has no return type at all, not even void.</a:t>
            </a:r>
            <a:endParaRPr lang="en-US" sz="1250" dirty="0"/>
          </a:p>
        </p:txBody>
      </p:sp>
      <p:sp>
        <p:nvSpPr>
          <p:cNvPr id="12" name="Shape 10"/>
          <p:cNvSpPr/>
          <p:nvPr/>
        </p:nvSpPr>
        <p:spPr>
          <a:xfrm>
            <a:off x="594360" y="4696968"/>
            <a:ext cx="10607040" cy="1338072"/>
          </a:xfrm>
          <a:prstGeom prst="roundRect">
            <a:avLst>
              <a:gd name="adj" fmla="val 4100"/>
            </a:avLst>
          </a:prstGeom>
          <a:solidFill>
            <a:srgbClr val="F5F6FA"/>
          </a:solidFill>
          <a:ln w="9525">
            <a:solidFill>
              <a:srgbClr val="E4E7EE"/>
            </a:solidFill>
            <a:prstDash val="solid"/>
          </a:ln>
        </p:spPr>
      </p:sp>
      <p:sp>
        <p:nvSpPr>
          <p:cNvPr id="13" name="Shape 11"/>
          <p:cNvSpPr/>
          <p:nvPr/>
        </p:nvSpPr>
        <p:spPr>
          <a:xfrm>
            <a:off x="777240" y="4879848"/>
            <a:ext cx="109728" cy="109728"/>
          </a:xfrm>
          <a:prstGeom prst="ellipse">
            <a:avLst/>
          </a:prstGeom>
          <a:solidFill>
            <a:srgbClr val="E8590C"/>
          </a:solidFill>
          <a:ln w="12700">
            <a:solidFill>
              <a:srgbClr val="000000"/>
            </a:solidFill>
            <a:prstDash val="solid"/>
          </a:ln>
        </p:spPr>
      </p:sp>
      <p:sp>
        <p:nvSpPr>
          <p:cNvPr id="14" name="Text 12"/>
          <p:cNvSpPr/>
          <p:nvPr/>
        </p:nvSpPr>
        <p:spPr>
          <a:xfrm>
            <a:off x="1051560" y="4770120"/>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Runs automatically</a:t>
            </a:r>
            <a:endParaRPr lang="en-US" sz="1500" dirty="0"/>
          </a:p>
        </p:txBody>
      </p:sp>
      <p:sp>
        <p:nvSpPr>
          <p:cNvPr id="15" name="Text 13"/>
          <p:cNvSpPr/>
          <p:nvPr/>
        </p:nvSpPr>
        <p:spPr>
          <a:xfrm>
            <a:off x="1051560" y="5062728"/>
            <a:ext cx="9966960" cy="917448"/>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The correct constructor runs every time new is used, without being called by name like an ordinary method.</a:t>
            </a:r>
            <a:endParaRPr lang="en-US" sz="1250" dirty="0"/>
          </a:p>
        </p:txBody>
      </p:sp>
      <p:sp>
        <p:nvSpPr>
          <p:cNvPr id="16" name="Shape 14"/>
          <p:cNvSpPr/>
          <p:nvPr/>
        </p:nvSpPr>
        <p:spPr>
          <a:xfrm>
            <a:off x="0" y="0"/>
            <a:ext cx="12191695" cy="384048"/>
          </a:xfrm>
          <a:prstGeom prst="rect">
            <a:avLst/>
          </a:prstGeom>
          <a:solidFill>
            <a:srgbClr val="1B2A4A"/>
          </a:solidFill>
          <a:ln w="12700">
            <a:solidFill>
              <a:srgbClr val="1B2A4A"/>
            </a:solidFill>
            <a:prstDash val="solid"/>
          </a:ln>
        </p:spPr>
      </p:sp>
      <p:sp>
        <p:nvSpPr>
          <p:cNvPr id="17" name="Text 15"/>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8" name="Shape 16"/>
          <p:cNvSpPr/>
          <p:nvPr/>
        </p:nvSpPr>
        <p:spPr>
          <a:xfrm>
            <a:off x="219456" y="301752"/>
            <a:ext cx="960120" cy="0"/>
          </a:xfrm>
          <a:prstGeom prst="line">
            <a:avLst/>
          </a:prstGeom>
          <a:noFill/>
          <a:ln w="9525">
            <a:solidFill>
              <a:srgbClr val="4A5570"/>
            </a:solidFill>
            <a:prstDash val="solid"/>
          </a:ln>
        </p:spPr>
      </p:sp>
      <p:sp>
        <p:nvSpPr>
          <p:cNvPr id="19" name="Text 17"/>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0" name="Text 18"/>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1" name="Text 19"/>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2" name="Shape 20"/>
          <p:cNvSpPr/>
          <p:nvPr/>
        </p:nvSpPr>
        <p:spPr>
          <a:xfrm>
            <a:off x="0" y="6291072"/>
            <a:ext cx="12191695" cy="566928"/>
          </a:xfrm>
          <a:prstGeom prst="rect">
            <a:avLst/>
          </a:prstGeom>
          <a:solidFill>
            <a:srgbClr val="1B2A4A"/>
          </a:solidFill>
          <a:ln w="12700">
            <a:solidFill>
              <a:srgbClr val="1B2A4A"/>
            </a:solidFill>
            <a:prstDash val="solid"/>
          </a:ln>
        </p:spPr>
      </p:sp>
      <p:sp>
        <p:nvSpPr>
          <p:cNvPr id="23" name="Text 21"/>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4" name="Text 22"/>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AUTOMATIC SETUP</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The Default Constructor</a:t>
            </a:r>
            <a:endParaRPr lang="en-US" sz="2700" dirty="0"/>
          </a:p>
        </p:txBody>
      </p:sp>
      <p:sp>
        <p:nvSpPr>
          <p:cNvPr id="4" name="Shape 2"/>
          <p:cNvSpPr/>
          <p:nvPr/>
        </p:nvSpPr>
        <p:spPr>
          <a:xfrm>
            <a:off x="594360" y="1600200"/>
            <a:ext cx="10607040" cy="896112"/>
          </a:xfrm>
          <a:prstGeom prst="roundRect">
            <a:avLst>
              <a:gd name="adj" fmla="val 6122"/>
            </a:avLst>
          </a:prstGeom>
          <a:solidFill>
            <a:srgbClr val="F5F6FA"/>
          </a:solidFill>
          <a:ln w="9525">
            <a:solidFill>
              <a:srgbClr val="E4E7EE"/>
            </a:solidFill>
            <a:prstDash val="solid"/>
          </a:ln>
        </p:spPr>
      </p:sp>
      <p:sp>
        <p:nvSpPr>
          <p:cNvPr id="5" name="Shape 3"/>
          <p:cNvSpPr/>
          <p:nvPr/>
        </p:nvSpPr>
        <p:spPr>
          <a:xfrm>
            <a:off x="804672" y="1755648"/>
            <a:ext cx="100584" cy="100584"/>
          </a:xfrm>
          <a:prstGeom prst="ellipse">
            <a:avLst/>
          </a:prstGeom>
          <a:solidFill>
            <a:srgbClr val="E8590C"/>
          </a:solidFill>
          <a:ln w="12700">
            <a:solidFill>
              <a:srgbClr val="000000"/>
            </a:solidFill>
            <a:prstDash val="solid"/>
          </a:ln>
        </p:spPr>
      </p:sp>
      <p:sp>
        <p:nvSpPr>
          <p:cNvPr id="6" name="Text 4"/>
          <p:cNvSpPr/>
          <p:nvPr/>
        </p:nvSpPr>
        <p:spPr>
          <a:xfrm>
            <a:off x="1051560" y="1655064"/>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If a class defines no constructor at all, Java supplies an empty one automatically.</a:t>
            </a:r>
            <a:endParaRPr lang="en-US" sz="1250" dirty="0"/>
          </a:p>
        </p:txBody>
      </p:sp>
      <p:sp>
        <p:nvSpPr>
          <p:cNvPr id="7" name="Shape 5"/>
          <p:cNvSpPr/>
          <p:nvPr/>
        </p:nvSpPr>
        <p:spPr>
          <a:xfrm>
            <a:off x="804672" y="2103120"/>
            <a:ext cx="100584" cy="100584"/>
          </a:xfrm>
          <a:prstGeom prst="ellipse">
            <a:avLst/>
          </a:prstGeom>
          <a:solidFill>
            <a:srgbClr val="E8590C"/>
          </a:solidFill>
          <a:ln w="12700">
            <a:solidFill>
              <a:srgbClr val="000000"/>
            </a:solidFill>
            <a:prstDash val="solid"/>
          </a:ln>
        </p:spPr>
      </p:sp>
      <p:sp>
        <p:nvSpPr>
          <p:cNvPr id="8" name="Text 6"/>
          <p:cNvSpPr/>
          <p:nvPr/>
        </p:nvSpPr>
        <p:spPr>
          <a:xfrm>
            <a:off x="1051560" y="2002536"/>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The default constructor takes no parameters and leaves every field at its default value.</a:t>
            </a:r>
            <a:endParaRPr lang="en-US" sz="1250" dirty="0"/>
          </a:p>
        </p:txBody>
      </p:sp>
      <p:sp>
        <p:nvSpPr>
          <p:cNvPr id="9" name="Shape 7"/>
          <p:cNvSpPr/>
          <p:nvPr/>
        </p:nvSpPr>
        <p:spPr>
          <a:xfrm>
            <a:off x="594360" y="2642616"/>
            <a:ext cx="10607040" cy="3392424"/>
          </a:xfrm>
          <a:prstGeom prst="roundRect">
            <a:avLst>
              <a:gd name="adj" fmla="val 2156"/>
            </a:avLst>
          </a:prstGeom>
          <a:solidFill>
            <a:srgbClr val="1E1E2E"/>
          </a:solidFill>
          <a:ln w="12700">
            <a:solidFill>
              <a:srgbClr val="000000"/>
            </a:solidFill>
            <a:prstDash val="solid"/>
          </a:ln>
        </p:spPr>
      </p:sp>
      <p:sp>
        <p:nvSpPr>
          <p:cNvPr id="10" name="Shape 8"/>
          <p:cNvSpPr/>
          <p:nvPr/>
        </p:nvSpPr>
        <p:spPr>
          <a:xfrm>
            <a:off x="594360" y="2642616"/>
            <a:ext cx="10607040" cy="274320"/>
          </a:xfrm>
          <a:prstGeom prst="roundRect">
            <a:avLst>
              <a:gd name="adj" fmla="val 26667"/>
            </a:avLst>
          </a:prstGeom>
          <a:solidFill>
            <a:srgbClr val="17172A"/>
          </a:solidFill>
          <a:ln w="12700">
            <a:solidFill>
              <a:srgbClr val="000000"/>
            </a:solidFill>
            <a:prstDash val="solid"/>
          </a:ln>
        </p:spPr>
      </p:sp>
      <p:sp>
        <p:nvSpPr>
          <p:cNvPr id="11" name="Shape 9"/>
          <p:cNvSpPr/>
          <p:nvPr/>
        </p:nvSpPr>
        <p:spPr>
          <a:xfrm>
            <a:off x="594360" y="2843784"/>
            <a:ext cx="10607040" cy="73152"/>
          </a:xfrm>
          <a:prstGeom prst="rect">
            <a:avLst/>
          </a:prstGeom>
          <a:solidFill>
            <a:srgbClr val="17172A"/>
          </a:solidFill>
          <a:ln w="12700">
            <a:solidFill>
              <a:srgbClr val="000000"/>
            </a:solidFill>
            <a:prstDash val="solid"/>
          </a:ln>
        </p:spPr>
      </p:sp>
      <p:sp>
        <p:nvSpPr>
          <p:cNvPr id="12" name="Shape 10"/>
          <p:cNvSpPr/>
          <p:nvPr/>
        </p:nvSpPr>
        <p:spPr>
          <a:xfrm>
            <a:off x="722376" y="2741371"/>
            <a:ext cx="76810" cy="76810"/>
          </a:xfrm>
          <a:prstGeom prst="ellipse">
            <a:avLst/>
          </a:prstGeom>
          <a:solidFill>
            <a:srgbClr val="FF5F56"/>
          </a:solidFill>
          <a:ln w="12700">
            <a:solidFill>
              <a:srgbClr val="000000"/>
            </a:solidFill>
            <a:prstDash val="solid"/>
          </a:ln>
        </p:spPr>
      </p:sp>
      <p:sp>
        <p:nvSpPr>
          <p:cNvPr id="13" name="Shape 11"/>
          <p:cNvSpPr/>
          <p:nvPr/>
        </p:nvSpPr>
        <p:spPr>
          <a:xfrm>
            <a:off x="886968" y="2741371"/>
            <a:ext cx="76810" cy="76810"/>
          </a:xfrm>
          <a:prstGeom prst="ellipse">
            <a:avLst/>
          </a:prstGeom>
          <a:solidFill>
            <a:srgbClr val="FFBD2E"/>
          </a:solidFill>
          <a:ln w="12700">
            <a:solidFill>
              <a:srgbClr val="000000"/>
            </a:solidFill>
            <a:prstDash val="solid"/>
          </a:ln>
        </p:spPr>
      </p:sp>
      <p:sp>
        <p:nvSpPr>
          <p:cNvPr id="14" name="Shape 12"/>
          <p:cNvSpPr/>
          <p:nvPr/>
        </p:nvSpPr>
        <p:spPr>
          <a:xfrm>
            <a:off x="1051560" y="2741371"/>
            <a:ext cx="76810" cy="76810"/>
          </a:xfrm>
          <a:prstGeom prst="ellipse">
            <a:avLst/>
          </a:prstGeom>
          <a:solidFill>
            <a:srgbClr val="27C93F"/>
          </a:solidFill>
          <a:ln w="12700">
            <a:solidFill>
              <a:srgbClr val="000000"/>
            </a:solidFill>
            <a:prstDash val="solid"/>
          </a:ln>
        </p:spPr>
      </p:sp>
      <p:sp>
        <p:nvSpPr>
          <p:cNvPr id="15" name="Text 13"/>
          <p:cNvSpPr/>
          <p:nvPr/>
        </p:nvSpPr>
        <p:spPr>
          <a:xfrm>
            <a:off x="1371600" y="2642616"/>
            <a:ext cx="9692640" cy="274320"/>
          </a:xfrm>
          <a:prstGeom prst="rect">
            <a:avLst/>
          </a:prstGeom>
          <a:noFill/>
          <a:ln/>
        </p:spPr>
        <p:txBody>
          <a:bodyPr wrap="square" lIns="0" tIns="0" rIns="0" bIns="0" rtlCol="0" anchor="ctr"/>
          <a:lstStyle/>
          <a:p>
            <a:pPr marL="0" indent="0" algn="l">
              <a:buNone/>
            </a:pPr>
            <a:r>
              <a:rPr lang="en-US" sz="1000" dirty="0">
                <a:solidFill>
                  <a:srgbClr val="8A8FA3"/>
                </a:solidFill>
                <a:latin typeface="Courier New" pitchFamily="34" charset="0"/>
                <a:ea typeface="Courier New" pitchFamily="34" charset="-122"/>
                <a:cs typeface="Courier New" pitchFamily="34" charset="-120"/>
              </a:rPr>
              <a:t>Main.java</a:t>
            </a:r>
            <a:endParaRPr lang="en-US" sz="1000" dirty="0"/>
          </a:p>
        </p:txBody>
      </p:sp>
      <p:sp>
        <p:nvSpPr>
          <p:cNvPr id="16" name="Text 14"/>
          <p:cNvSpPr/>
          <p:nvPr/>
        </p:nvSpPr>
        <p:spPr>
          <a:xfrm>
            <a:off x="777240" y="2990088"/>
            <a:ext cx="10241280" cy="2971800"/>
          </a:xfrm>
          <a:prstGeom prst="rect">
            <a:avLst/>
          </a:prstGeom>
          <a:noFill/>
          <a:ln/>
        </p:spPr>
        <p:txBody>
          <a:bodyPr wrap="square" lIns="0" tIns="0" rIns="0" bIns="0" rtlCol="0" anchor="t"/>
          <a:lstStyle/>
          <a:p>
            <a:pPr marL="0" indent="0" algn="l">
              <a:lnSpc>
                <a:spcPct val="118000"/>
              </a:lnSpc>
              <a:buNone/>
            </a:pPr>
            <a:r>
              <a:rPr lang="en-US" sz="1200" b="1" dirty="0">
                <a:solidFill>
                  <a:srgbClr val="569CD6"/>
                </a:solidFill>
                <a:latin typeface="Courier New" pitchFamily="34" charset="0"/>
                <a:ea typeface="Courier New" pitchFamily="34" charset="-122"/>
                <a:cs typeface="Courier New" pitchFamily="34" charset="-120"/>
              </a:rPr>
              <a:t>public</a:t>
            </a:r>
            <a:r>
              <a:rPr lang="en-US" sz="1200" dirty="0">
                <a:solidFill>
                  <a:srgbClr val="D4D4D4"/>
                </a:solidFill>
                <a:latin typeface="Courier New" pitchFamily="34" charset="0"/>
                <a:ea typeface="Courier New" pitchFamily="34" charset="-122"/>
                <a:cs typeface="Courier New" pitchFamily="34" charset="-120"/>
              </a:rPr>
              <a:t> </a:t>
            </a:r>
            <a:r>
              <a:rPr lang="en-US" sz="1200" b="1" dirty="0">
                <a:solidFill>
                  <a:srgbClr val="569CD6"/>
                </a:solidFill>
                <a:latin typeface="Courier New" pitchFamily="34" charset="0"/>
                <a:ea typeface="Courier New" pitchFamily="34" charset="-122"/>
                <a:cs typeface="Courier New" pitchFamily="34" charset="-120"/>
              </a:rPr>
              <a:t>class</a:t>
            </a:r>
            <a:r>
              <a:rPr lang="en-US" sz="1200" dirty="0">
                <a:solidFill>
                  <a:srgbClr val="D4D4D4"/>
                </a:solidFill>
                <a:latin typeface="Courier New" pitchFamily="34" charset="0"/>
                <a:ea typeface="Courier New" pitchFamily="34" charset="-122"/>
                <a:cs typeface="Courier New" pitchFamily="34" charset="-120"/>
              </a:rPr>
              <a:t> Car {</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r>
              <a:rPr lang="en-US" sz="1200" dirty="0">
                <a:solidFill>
                  <a:srgbClr val="4EC9B0"/>
                </a:solidFill>
                <a:latin typeface="Courier New" pitchFamily="34" charset="0"/>
                <a:ea typeface="Courier New" pitchFamily="34" charset="-122"/>
                <a:cs typeface="Courier New" pitchFamily="34" charset="-120"/>
              </a:rPr>
              <a:t>String</a:t>
            </a:r>
            <a:r>
              <a:rPr lang="en-US" sz="1200" dirty="0">
                <a:solidFill>
                  <a:srgbClr val="D4D4D4"/>
                </a:solidFill>
                <a:latin typeface="Courier New" pitchFamily="34" charset="0"/>
                <a:ea typeface="Courier New" pitchFamily="34" charset="-122"/>
                <a:cs typeface="Courier New" pitchFamily="34" charset="-120"/>
              </a:rPr>
              <a:t> brand;</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r>
              <a:rPr lang="en-US" sz="1200" b="1" dirty="0">
                <a:solidFill>
                  <a:srgbClr val="569CD6"/>
                </a:solidFill>
                <a:latin typeface="Courier New" pitchFamily="34" charset="0"/>
                <a:ea typeface="Courier New" pitchFamily="34" charset="-122"/>
                <a:cs typeface="Courier New" pitchFamily="34" charset="-120"/>
              </a:rPr>
              <a:t>int</a:t>
            </a:r>
            <a:r>
              <a:rPr lang="en-US" sz="1200" dirty="0">
                <a:solidFill>
                  <a:srgbClr val="D4D4D4"/>
                </a:solidFill>
                <a:latin typeface="Courier New" pitchFamily="34" charset="0"/>
                <a:ea typeface="Courier New" pitchFamily="34" charset="-122"/>
                <a:cs typeface="Courier New" pitchFamily="34" charset="-120"/>
              </a:rPr>
              <a:t> speed;</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r>
              <a:rPr lang="en-US" sz="1200" i="1" dirty="0">
                <a:solidFill>
                  <a:srgbClr val="6A9955"/>
                </a:solidFill>
                <a:latin typeface="Courier New" pitchFamily="34" charset="0"/>
                <a:ea typeface="Courier New" pitchFamily="34" charset="-122"/>
                <a:cs typeface="Courier New" pitchFamily="34" charset="-120"/>
              </a:rPr>
              <a:t>// no constructor written,</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r>
              <a:rPr lang="en-US" sz="1200" i="1" dirty="0">
                <a:solidFill>
                  <a:srgbClr val="6A9955"/>
                </a:solidFill>
                <a:latin typeface="Courier New" pitchFamily="34" charset="0"/>
                <a:ea typeface="Courier New" pitchFamily="34" charset="-122"/>
                <a:cs typeface="Courier New" pitchFamily="34" charset="-120"/>
              </a:rPr>
              <a:t>// Java supplies an empty one automatically</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endParaRPr lang="en-US" sz="1200" dirty="0"/>
          </a:p>
          <a:p>
            <a:pPr marL="0" indent="0" algn="l">
              <a:lnSpc>
                <a:spcPct val="118000"/>
              </a:lnSpc>
              <a:buNone/>
            </a:pPr>
            <a:r>
              <a:rPr lang="en-US" sz="1200" b="1" dirty="0">
                <a:solidFill>
                  <a:srgbClr val="569CD6"/>
                </a:solidFill>
                <a:latin typeface="Courier New" pitchFamily="34" charset="0"/>
                <a:ea typeface="Courier New" pitchFamily="34" charset="-122"/>
                <a:cs typeface="Courier New" pitchFamily="34" charset="-120"/>
              </a:rPr>
              <a:t>public</a:t>
            </a:r>
            <a:r>
              <a:rPr lang="en-US" sz="1200" dirty="0">
                <a:solidFill>
                  <a:srgbClr val="D4D4D4"/>
                </a:solidFill>
                <a:latin typeface="Courier New" pitchFamily="34" charset="0"/>
                <a:ea typeface="Courier New" pitchFamily="34" charset="-122"/>
                <a:cs typeface="Courier New" pitchFamily="34" charset="-120"/>
              </a:rPr>
              <a:t> </a:t>
            </a:r>
            <a:r>
              <a:rPr lang="en-US" sz="1200" b="1" dirty="0">
                <a:solidFill>
                  <a:srgbClr val="569CD6"/>
                </a:solidFill>
                <a:latin typeface="Courier New" pitchFamily="34" charset="0"/>
                <a:ea typeface="Courier New" pitchFamily="34" charset="-122"/>
                <a:cs typeface="Courier New" pitchFamily="34" charset="-120"/>
              </a:rPr>
              <a:t>class</a:t>
            </a:r>
            <a:r>
              <a:rPr lang="en-US" sz="1200" dirty="0">
                <a:solidFill>
                  <a:srgbClr val="D4D4D4"/>
                </a:solidFill>
                <a:latin typeface="Courier New" pitchFamily="34" charset="0"/>
                <a:ea typeface="Courier New" pitchFamily="34" charset="-122"/>
                <a:cs typeface="Courier New" pitchFamily="34" charset="-120"/>
              </a:rPr>
              <a:t> DefaultDemo {</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r>
              <a:rPr lang="en-US" sz="1200" b="1" dirty="0">
                <a:solidFill>
                  <a:srgbClr val="569CD6"/>
                </a:solidFill>
                <a:latin typeface="Courier New" pitchFamily="34" charset="0"/>
                <a:ea typeface="Courier New" pitchFamily="34" charset="-122"/>
                <a:cs typeface="Courier New" pitchFamily="34" charset="-120"/>
              </a:rPr>
              <a:t>public</a:t>
            </a:r>
            <a:r>
              <a:rPr lang="en-US" sz="1200" dirty="0">
                <a:solidFill>
                  <a:srgbClr val="D4D4D4"/>
                </a:solidFill>
                <a:latin typeface="Courier New" pitchFamily="34" charset="0"/>
                <a:ea typeface="Courier New" pitchFamily="34" charset="-122"/>
                <a:cs typeface="Courier New" pitchFamily="34" charset="-120"/>
              </a:rPr>
              <a:t> </a:t>
            </a:r>
            <a:r>
              <a:rPr lang="en-US" sz="1200" b="1" dirty="0">
                <a:solidFill>
                  <a:srgbClr val="569CD6"/>
                </a:solidFill>
                <a:latin typeface="Courier New" pitchFamily="34" charset="0"/>
                <a:ea typeface="Courier New" pitchFamily="34" charset="-122"/>
                <a:cs typeface="Courier New" pitchFamily="34" charset="-120"/>
              </a:rPr>
              <a:t>static</a:t>
            </a:r>
            <a:r>
              <a:rPr lang="en-US" sz="1200" dirty="0">
                <a:solidFill>
                  <a:srgbClr val="D4D4D4"/>
                </a:solidFill>
                <a:latin typeface="Courier New" pitchFamily="34" charset="0"/>
                <a:ea typeface="Courier New" pitchFamily="34" charset="-122"/>
                <a:cs typeface="Courier New" pitchFamily="34" charset="-120"/>
              </a:rPr>
              <a:t> </a:t>
            </a:r>
            <a:r>
              <a:rPr lang="en-US" sz="1200" b="1" dirty="0">
                <a:solidFill>
                  <a:srgbClr val="569CD6"/>
                </a:solidFill>
                <a:latin typeface="Courier New" pitchFamily="34" charset="0"/>
                <a:ea typeface="Courier New" pitchFamily="34" charset="-122"/>
                <a:cs typeface="Courier New" pitchFamily="34" charset="-120"/>
              </a:rPr>
              <a:t>void</a:t>
            </a:r>
            <a:r>
              <a:rPr lang="en-US" sz="1200" dirty="0">
                <a:solidFill>
                  <a:srgbClr val="D4D4D4"/>
                </a:solidFill>
                <a:latin typeface="Courier New" pitchFamily="34" charset="0"/>
                <a:ea typeface="Courier New" pitchFamily="34" charset="-122"/>
                <a:cs typeface="Courier New" pitchFamily="34" charset="-120"/>
              </a:rPr>
              <a:t> </a:t>
            </a:r>
            <a:r>
              <a:rPr lang="en-US" sz="1200" dirty="0">
                <a:solidFill>
                  <a:srgbClr val="DCDCAA"/>
                </a:solidFill>
                <a:latin typeface="Courier New" pitchFamily="34" charset="0"/>
                <a:ea typeface="Courier New" pitchFamily="34" charset="-122"/>
                <a:cs typeface="Courier New" pitchFamily="34" charset="-120"/>
              </a:rPr>
              <a:t>main</a:t>
            </a:r>
            <a:r>
              <a:rPr lang="en-US" sz="1200" dirty="0">
                <a:solidFill>
                  <a:srgbClr val="D4D4D4"/>
                </a:solidFill>
                <a:latin typeface="Courier New" pitchFamily="34" charset="0"/>
                <a:ea typeface="Courier New" pitchFamily="34" charset="-122"/>
                <a:cs typeface="Courier New" pitchFamily="34" charset="-120"/>
              </a:rPr>
              <a:t>(</a:t>
            </a:r>
            <a:r>
              <a:rPr lang="en-US" sz="1200" dirty="0">
                <a:solidFill>
                  <a:srgbClr val="4EC9B0"/>
                </a:solidFill>
                <a:latin typeface="Courier New" pitchFamily="34" charset="0"/>
                <a:ea typeface="Courier New" pitchFamily="34" charset="-122"/>
                <a:cs typeface="Courier New" pitchFamily="34" charset="-120"/>
              </a:rPr>
              <a:t>String</a:t>
            </a:r>
            <a:r>
              <a:rPr lang="en-US" sz="1200" dirty="0">
                <a:solidFill>
                  <a:srgbClr val="D4D4D4"/>
                </a:solidFill>
                <a:latin typeface="Courier New" pitchFamily="34" charset="0"/>
                <a:ea typeface="Courier New" pitchFamily="34" charset="-122"/>
                <a:cs typeface="Courier New" pitchFamily="34" charset="-120"/>
              </a:rPr>
              <a:t>[] args) {</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Car myCar = </a:t>
            </a:r>
            <a:r>
              <a:rPr lang="en-US" sz="1200" b="1" dirty="0">
                <a:solidFill>
                  <a:srgbClr val="569CD6"/>
                </a:solidFill>
                <a:latin typeface="Courier New" pitchFamily="34" charset="0"/>
                <a:ea typeface="Courier New" pitchFamily="34" charset="-122"/>
                <a:cs typeface="Courier New" pitchFamily="34" charset="-120"/>
              </a:rPr>
              <a:t>new</a:t>
            </a:r>
            <a:r>
              <a:rPr lang="en-US" sz="1200" dirty="0">
                <a:solidFill>
                  <a:srgbClr val="D4D4D4"/>
                </a:solidFill>
                <a:latin typeface="Courier New" pitchFamily="34" charset="0"/>
                <a:ea typeface="Courier New" pitchFamily="34" charset="-122"/>
                <a:cs typeface="Courier New" pitchFamily="34" charset="-120"/>
              </a:rPr>
              <a:t> </a:t>
            </a:r>
            <a:r>
              <a:rPr lang="en-US" sz="1200" dirty="0">
                <a:solidFill>
                  <a:srgbClr val="DCDCAA"/>
                </a:solidFill>
                <a:latin typeface="Courier New" pitchFamily="34" charset="0"/>
                <a:ea typeface="Courier New" pitchFamily="34" charset="-122"/>
                <a:cs typeface="Courier New" pitchFamily="34" charset="-120"/>
              </a:rPr>
              <a:t>Car</a:t>
            </a:r>
            <a:r>
              <a:rPr lang="en-US" sz="1200" dirty="0">
                <a:solidFill>
                  <a:srgbClr val="D4D4D4"/>
                </a:solidFill>
                <a:latin typeface="Courier New" pitchFamily="34" charset="0"/>
                <a:ea typeface="Courier New" pitchFamily="34" charset="-122"/>
                <a:cs typeface="Courier New" pitchFamily="34" charset="-120"/>
              </a:rPr>
              <a:t>();</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r>
              <a:rPr lang="en-US" sz="1200" dirty="0">
                <a:solidFill>
                  <a:srgbClr val="4EC9B0"/>
                </a:solidFill>
                <a:latin typeface="Courier New" pitchFamily="34" charset="0"/>
                <a:ea typeface="Courier New" pitchFamily="34" charset="-122"/>
                <a:cs typeface="Courier New" pitchFamily="34" charset="-120"/>
              </a:rPr>
              <a:t>System</a:t>
            </a:r>
            <a:r>
              <a:rPr lang="en-US" sz="1200" dirty="0">
                <a:solidFill>
                  <a:srgbClr val="D4D4D4"/>
                </a:solidFill>
                <a:latin typeface="Courier New" pitchFamily="34" charset="0"/>
                <a:ea typeface="Courier New" pitchFamily="34" charset="-122"/>
                <a:cs typeface="Courier New" pitchFamily="34" charset="-120"/>
              </a:rPr>
              <a:t>.out.</a:t>
            </a:r>
            <a:r>
              <a:rPr lang="en-US" sz="1200" dirty="0">
                <a:solidFill>
                  <a:srgbClr val="DCDCAA"/>
                </a:solidFill>
                <a:latin typeface="Courier New" pitchFamily="34" charset="0"/>
                <a:ea typeface="Courier New" pitchFamily="34" charset="-122"/>
                <a:cs typeface="Courier New" pitchFamily="34" charset="-120"/>
              </a:rPr>
              <a:t>println</a:t>
            </a:r>
            <a:r>
              <a:rPr lang="en-US" sz="1200" dirty="0">
                <a:solidFill>
                  <a:srgbClr val="D4D4D4"/>
                </a:solidFill>
                <a:latin typeface="Courier New" pitchFamily="34" charset="0"/>
                <a:ea typeface="Courier New" pitchFamily="34" charset="-122"/>
                <a:cs typeface="Courier New" pitchFamily="34" charset="-120"/>
              </a:rPr>
              <a:t>(myCar.brand);   </a:t>
            </a:r>
            <a:r>
              <a:rPr lang="en-US" sz="1200" i="1" dirty="0">
                <a:solidFill>
                  <a:srgbClr val="6A9955"/>
                </a:solidFill>
                <a:latin typeface="Courier New" pitchFamily="34" charset="0"/>
                <a:ea typeface="Courier New" pitchFamily="34" charset="-122"/>
                <a:cs typeface="Courier New" pitchFamily="34" charset="-120"/>
              </a:rPr>
              <a:t>// null</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r>
              <a:rPr lang="en-US" sz="1200" dirty="0">
                <a:solidFill>
                  <a:srgbClr val="4EC9B0"/>
                </a:solidFill>
                <a:latin typeface="Courier New" pitchFamily="34" charset="0"/>
                <a:ea typeface="Courier New" pitchFamily="34" charset="-122"/>
                <a:cs typeface="Courier New" pitchFamily="34" charset="-120"/>
              </a:rPr>
              <a:t>System</a:t>
            </a:r>
            <a:r>
              <a:rPr lang="en-US" sz="1200" dirty="0">
                <a:solidFill>
                  <a:srgbClr val="D4D4D4"/>
                </a:solidFill>
                <a:latin typeface="Courier New" pitchFamily="34" charset="0"/>
                <a:ea typeface="Courier New" pitchFamily="34" charset="-122"/>
                <a:cs typeface="Courier New" pitchFamily="34" charset="-120"/>
              </a:rPr>
              <a:t>.out.</a:t>
            </a:r>
            <a:r>
              <a:rPr lang="en-US" sz="1200" dirty="0">
                <a:solidFill>
                  <a:srgbClr val="DCDCAA"/>
                </a:solidFill>
                <a:latin typeface="Courier New" pitchFamily="34" charset="0"/>
                <a:ea typeface="Courier New" pitchFamily="34" charset="-122"/>
                <a:cs typeface="Courier New" pitchFamily="34" charset="-120"/>
              </a:rPr>
              <a:t>println</a:t>
            </a:r>
            <a:r>
              <a:rPr lang="en-US" sz="1200" dirty="0">
                <a:solidFill>
                  <a:srgbClr val="D4D4D4"/>
                </a:solidFill>
                <a:latin typeface="Courier New" pitchFamily="34" charset="0"/>
                <a:ea typeface="Courier New" pitchFamily="34" charset="-122"/>
                <a:cs typeface="Courier New" pitchFamily="34" charset="-120"/>
              </a:rPr>
              <a:t>(myCar.speed);   </a:t>
            </a:r>
            <a:r>
              <a:rPr lang="en-US" sz="1200" i="1" dirty="0">
                <a:solidFill>
                  <a:srgbClr val="6A9955"/>
                </a:solidFill>
                <a:latin typeface="Courier New" pitchFamily="34" charset="0"/>
                <a:ea typeface="Courier New" pitchFamily="34" charset="-122"/>
                <a:cs typeface="Courier New" pitchFamily="34" charset="-120"/>
              </a:rPr>
              <a:t>// 0</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a:t>
            </a:r>
            <a:endParaRPr lang="en-US" sz="1200" dirty="0"/>
          </a:p>
        </p:txBody>
      </p:sp>
      <p:sp>
        <p:nvSpPr>
          <p:cNvPr id="17" name="Shape 15"/>
          <p:cNvSpPr/>
          <p:nvPr/>
        </p:nvSpPr>
        <p:spPr>
          <a:xfrm>
            <a:off x="0" y="0"/>
            <a:ext cx="12191695" cy="384048"/>
          </a:xfrm>
          <a:prstGeom prst="rect">
            <a:avLst/>
          </a:prstGeom>
          <a:solidFill>
            <a:srgbClr val="1B2A4A"/>
          </a:solidFill>
          <a:ln w="12700">
            <a:solidFill>
              <a:srgbClr val="1B2A4A"/>
            </a:solidFill>
            <a:prstDash val="solid"/>
          </a:ln>
        </p:spPr>
      </p:sp>
      <p:sp>
        <p:nvSpPr>
          <p:cNvPr id="18" name="Text 16"/>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9" name="Shape 17"/>
          <p:cNvSpPr/>
          <p:nvPr/>
        </p:nvSpPr>
        <p:spPr>
          <a:xfrm>
            <a:off x="219456" y="301752"/>
            <a:ext cx="960120" cy="0"/>
          </a:xfrm>
          <a:prstGeom prst="line">
            <a:avLst/>
          </a:prstGeom>
          <a:noFill/>
          <a:ln w="9525">
            <a:solidFill>
              <a:srgbClr val="4A5570"/>
            </a:solidFill>
            <a:prstDash val="solid"/>
          </a:ln>
        </p:spPr>
      </p:sp>
      <p:sp>
        <p:nvSpPr>
          <p:cNvPr id="20" name="Text 18"/>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1" name="Text 19"/>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2" name="Text 20"/>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3" name="Shape 21"/>
          <p:cNvSpPr/>
          <p:nvPr/>
        </p:nvSpPr>
        <p:spPr>
          <a:xfrm>
            <a:off x="0" y="6291072"/>
            <a:ext cx="12191695" cy="566928"/>
          </a:xfrm>
          <a:prstGeom prst="rect">
            <a:avLst/>
          </a:prstGeom>
          <a:solidFill>
            <a:srgbClr val="1B2A4A"/>
          </a:solidFill>
          <a:ln w="12700">
            <a:solidFill>
              <a:srgbClr val="1B2A4A"/>
            </a:solidFill>
            <a:prstDash val="solid"/>
          </a:ln>
        </p:spPr>
      </p:sp>
      <p:sp>
        <p:nvSpPr>
          <p:cNvPr id="24" name="Text 22"/>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5" name="Text 23"/>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CUSTOM SETUP</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The Parameterized Constructor</a:t>
            </a:r>
            <a:endParaRPr lang="en-US" sz="2700" dirty="0"/>
          </a:p>
        </p:txBody>
      </p:sp>
      <p:sp>
        <p:nvSpPr>
          <p:cNvPr id="4" name="Shape 2"/>
          <p:cNvSpPr/>
          <p:nvPr/>
        </p:nvSpPr>
        <p:spPr>
          <a:xfrm>
            <a:off x="594360" y="1600200"/>
            <a:ext cx="10607040" cy="896112"/>
          </a:xfrm>
          <a:prstGeom prst="roundRect">
            <a:avLst>
              <a:gd name="adj" fmla="val 6122"/>
            </a:avLst>
          </a:prstGeom>
          <a:solidFill>
            <a:srgbClr val="F5F6FA"/>
          </a:solidFill>
          <a:ln w="9525">
            <a:solidFill>
              <a:srgbClr val="E4E7EE"/>
            </a:solidFill>
            <a:prstDash val="solid"/>
          </a:ln>
        </p:spPr>
      </p:sp>
      <p:sp>
        <p:nvSpPr>
          <p:cNvPr id="5" name="Shape 3"/>
          <p:cNvSpPr/>
          <p:nvPr/>
        </p:nvSpPr>
        <p:spPr>
          <a:xfrm>
            <a:off x="804672" y="1755648"/>
            <a:ext cx="100584" cy="100584"/>
          </a:xfrm>
          <a:prstGeom prst="ellipse">
            <a:avLst/>
          </a:prstGeom>
          <a:solidFill>
            <a:srgbClr val="E8590C"/>
          </a:solidFill>
          <a:ln w="12700">
            <a:solidFill>
              <a:srgbClr val="000000"/>
            </a:solidFill>
            <a:prstDash val="solid"/>
          </a:ln>
        </p:spPr>
      </p:sp>
      <p:sp>
        <p:nvSpPr>
          <p:cNvPr id="6" name="Text 4"/>
          <p:cNvSpPr/>
          <p:nvPr/>
        </p:nvSpPr>
        <p:spPr>
          <a:xfrm>
            <a:off x="1051560" y="1655064"/>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A parameterized constructor accepts arguments and uses them to set initial field values.</a:t>
            </a:r>
            <a:endParaRPr lang="en-US" sz="1250" dirty="0"/>
          </a:p>
        </p:txBody>
      </p:sp>
      <p:sp>
        <p:nvSpPr>
          <p:cNvPr id="7" name="Shape 5"/>
          <p:cNvSpPr/>
          <p:nvPr/>
        </p:nvSpPr>
        <p:spPr>
          <a:xfrm>
            <a:off x="804672" y="2103120"/>
            <a:ext cx="100584" cy="100584"/>
          </a:xfrm>
          <a:prstGeom prst="ellipse">
            <a:avLst/>
          </a:prstGeom>
          <a:solidFill>
            <a:srgbClr val="E8590C"/>
          </a:solidFill>
          <a:ln w="12700">
            <a:solidFill>
              <a:srgbClr val="000000"/>
            </a:solidFill>
            <a:prstDash val="solid"/>
          </a:ln>
        </p:spPr>
      </p:sp>
      <p:sp>
        <p:nvSpPr>
          <p:cNvPr id="8" name="Text 6"/>
          <p:cNvSpPr/>
          <p:nvPr/>
        </p:nvSpPr>
        <p:spPr>
          <a:xfrm>
            <a:off x="1051560" y="2002536"/>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Once any constructor is written, Java no longer supplies the default one automatically.</a:t>
            </a:r>
            <a:endParaRPr lang="en-US" sz="1250" dirty="0"/>
          </a:p>
        </p:txBody>
      </p:sp>
      <p:sp>
        <p:nvSpPr>
          <p:cNvPr id="9" name="Shape 7"/>
          <p:cNvSpPr/>
          <p:nvPr/>
        </p:nvSpPr>
        <p:spPr>
          <a:xfrm>
            <a:off x="594360" y="2642616"/>
            <a:ext cx="10607040" cy="3392424"/>
          </a:xfrm>
          <a:prstGeom prst="roundRect">
            <a:avLst>
              <a:gd name="adj" fmla="val 2156"/>
            </a:avLst>
          </a:prstGeom>
          <a:solidFill>
            <a:srgbClr val="1E1E2E"/>
          </a:solidFill>
          <a:ln w="12700">
            <a:solidFill>
              <a:srgbClr val="000000"/>
            </a:solidFill>
            <a:prstDash val="solid"/>
          </a:ln>
        </p:spPr>
      </p:sp>
      <p:sp>
        <p:nvSpPr>
          <p:cNvPr id="10" name="Shape 8"/>
          <p:cNvSpPr/>
          <p:nvPr/>
        </p:nvSpPr>
        <p:spPr>
          <a:xfrm>
            <a:off x="594360" y="2642616"/>
            <a:ext cx="10607040" cy="274320"/>
          </a:xfrm>
          <a:prstGeom prst="roundRect">
            <a:avLst>
              <a:gd name="adj" fmla="val 26667"/>
            </a:avLst>
          </a:prstGeom>
          <a:solidFill>
            <a:srgbClr val="17172A"/>
          </a:solidFill>
          <a:ln w="12700">
            <a:solidFill>
              <a:srgbClr val="000000"/>
            </a:solidFill>
            <a:prstDash val="solid"/>
          </a:ln>
        </p:spPr>
      </p:sp>
      <p:sp>
        <p:nvSpPr>
          <p:cNvPr id="11" name="Shape 9"/>
          <p:cNvSpPr/>
          <p:nvPr/>
        </p:nvSpPr>
        <p:spPr>
          <a:xfrm>
            <a:off x="594360" y="2843784"/>
            <a:ext cx="10607040" cy="73152"/>
          </a:xfrm>
          <a:prstGeom prst="rect">
            <a:avLst/>
          </a:prstGeom>
          <a:solidFill>
            <a:srgbClr val="17172A"/>
          </a:solidFill>
          <a:ln w="12700">
            <a:solidFill>
              <a:srgbClr val="000000"/>
            </a:solidFill>
            <a:prstDash val="solid"/>
          </a:ln>
        </p:spPr>
      </p:sp>
      <p:sp>
        <p:nvSpPr>
          <p:cNvPr id="12" name="Shape 10"/>
          <p:cNvSpPr/>
          <p:nvPr/>
        </p:nvSpPr>
        <p:spPr>
          <a:xfrm>
            <a:off x="722376" y="2741371"/>
            <a:ext cx="76810" cy="76810"/>
          </a:xfrm>
          <a:prstGeom prst="ellipse">
            <a:avLst/>
          </a:prstGeom>
          <a:solidFill>
            <a:srgbClr val="FF5F56"/>
          </a:solidFill>
          <a:ln w="12700">
            <a:solidFill>
              <a:srgbClr val="000000"/>
            </a:solidFill>
            <a:prstDash val="solid"/>
          </a:ln>
        </p:spPr>
      </p:sp>
      <p:sp>
        <p:nvSpPr>
          <p:cNvPr id="13" name="Shape 11"/>
          <p:cNvSpPr/>
          <p:nvPr/>
        </p:nvSpPr>
        <p:spPr>
          <a:xfrm>
            <a:off x="886968" y="2741371"/>
            <a:ext cx="76810" cy="76810"/>
          </a:xfrm>
          <a:prstGeom prst="ellipse">
            <a:avLst/>
          </a:prstGeom>
          <a:solidFill>
            <a:srgbClr val="FFBD2E"/>
          </a:solidFill>
          <a:ln w="12700">
            <a:solidFill>
              <a:srgbClr val="000000"/>
            </a:solidFill>
            <a:prstDash val="solid"/>
          </a:ln>
        </p:spPr>
      </p:sp>
      <p:sp>
        <p:nvSpPr>
          <p:cNvPr id="14" name="Shape 12"/>
          <p:cNvSpPr/>
          <p:nvPr/>
        </p:nvSpPr>
        <p:spPr>
          <a:xfrm>
            <a:off x="1051560" y="2741371"/>
            <a:ext cx="76810" cy="76810"/>
          </a:xfrm>
          <a:prstGeom prst="ellipse">
            <a:avLst/>
          </a:prstGeom>
          <a:solidFill>
            <a:srgbClr val="27C93F"/>
          </a:solidFill>
          <a:ln w="12700">
            <a:solidFill>
              <a:srgbClr val="000000"/>
            </a:solidFill>
            <a:prstDash val="solid"/>
          </a:ln>
        </p:spPr>
      </p:sp>
      <p:sp>
        <p:nvSpPr>
          <p:cNvPr id="15" name="Text 13"/>
          <p:cNvSpPr/>
          <p:nvPr/>
        </p:nvSpPr>
        <p:spPr>
          <a:xfrm>
            <a:off x="1371600" y="2642616"/>
            <a:ext cx="9692640" cy="274320"/>
          </a:xfrm>
          <a:prstGeom prst="rect">
            <a:avLst/>
          </a:prstGeom>
          <a:noFill/>
          <a:ln/>
        </p:spPr>
        <p:txBody>
          <a:bodyPr wrap="square" lIns="0" tIns="0" rIns="0" bIns="0" rtlCol="0" anchor="ctr"/>
          <a:lstStyle/>
          <a:p>
            <a:pPr marL="0" indent="0" algn="l">
              <a:buNone/>
            </a:pPr>
            <a:r>
              <a:rPr lang="en-US" sz="1000" dirty="0">
                <a:solidFill>
                  <a:srgbClr val="8A8FA3"/>
                </a:solidFill>
                <a:latin typeface="Courier New" pitchFamily="34" charset="0"/>
                <a:ea typeface="Courier New" pitchFamily="34" charset="-122"/>
                <a:cs typeface="Courier New" pitchFamily="34" charset="-120"/>
              </a:rPr>
              <a:t>Main.java</a:t>
            </a:r>
            <a:endParaRPr lang="en-US" sz="1000" dirty="0"/>
          </a:p>
        </p:txBody>
      </p:sp>
      <p:sp>
        <p:nvSpPr>
          <p:cNvPr id="16" name="Text 14"/>
          <p:cNvSpPr/>
          <p:nvPr/>
        </p:nvSpPr>
        <p:spPr>
          <a:xfrm>
            <a:off x="777240" y="2990088"/>
            <a:ext cx="10241280" cy="2971800"/>
          </a:xfrm>
          <a:prstGeom prst="rect">
            <a:avLst/>
          </a:prstGeom>
          <a:noFill/>
          <a:ln/>
        </p:spPr>
        <p:txBody>
          <a:bodyPr wrap="square" lIns="0" tIns="0" rIns="0" bIns="0" rtlCol="0" anchor="t"/>
          <a:lstStyle/>
          <a:p>
            <a:pPr marL="0" indent="0" algn="l">
              <a:lnSpc>
                <a:spcPct val="118000"/>
              </a:lnSpc>
              <a:buNone/>
            </a:pPr>
            <a:r>
              <a:rPr lang="en-US" sz="1500" b="1" dirty="0">
                <a:solidFill>
                  <a:srgbClr val="569CD6"/>
                </a:solidFill>
                <a:latin typeface="Courier New" pitchFamily="34" charset="0"/>
                <a:ea typeface="Courier New" pitchFamily="34" charset="-122"/>
                <a:cs typeface="Courier New" pitchFamily="34" charset="-120"/>
              </a:rPr>
              <a:t>public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class</a:t>
            </a:r>
            <a:r>
              <a:rPr lang="en-US" sz="1500" dirty="0">
                <a:solidFill>
                  <a:srgbClr val="D4D4D4"/>
                </a:solidFill>
                <a:latin typeface="Courier New" pitchFamily="34" charset="0"/>
                <a:ea typeface="Courier New" pitchFamily="34" charset="-122"/>
                <a:cs typeface="Courier New" pitchFamily="34" charset="-120"/>
              </a:rPr>
              <a:t> Car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4EC9B0"/>
                </a:solidFill>
                <a:latin typeface="Courier New" pitchFamily="34" charset="0"/>
                <a:ea typeface="Courier New" pitchFamily="34" charset="-122"/>
                <a:cs typeface="Courier New" pitchFamily="34" charset="-120"/>
              </a:rPr>
              <a:t>String</a:t>
            </a:r>
            <a:r>
              <a:rPr lang="en-US" sz="1500" dirty="0">
                <a:solidFill>
                  <a:srgbClr val="D4D4D4"/>
                </a:solidFill>
                <a:latin typeface="Courier New" pitchFamily="34" charset="0"/>
                <a:ea typeface="Courier New" pitchFamily="34" charset="-122"/>
                <a:cs typeface="Courier New" pitchFamily="34" charset="-120"/>
              </a:rPr>
              <a:t> brand;</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int</a:t>
            </a:r>
            <a:r>
              <a:rPr lang="en-US" sz="1500" dirty="0">
                <a:solidFill>
                  <a:srgbClr val="D4D4D4"/>
                </a:solidFill>
                <a:latin typeface="Courier New" pitchFamily="34" charset="0"/>
                <a:ea typeface="Courier New" pitchFamily="34" charset="-122"/>
                <a:cs typeface="Courier New" pitchFamily="34" charset="-120"/>
              </a:rPr>
              <a:t> speed;</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DCDCAA"/>
                </a:solidFill>
                <a:latin typeface="Courier New" pitchFamily="34" charset="0"/>
                <a:ea typeface="Courier New" pitchFamily="34" charset="-122"/>
                <a:cs typeface="Courier New" pitchFamily="34" charset="-120"/>
              </a:rPr>
              <a:t>Car</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4EC9B0"/>
                </a:solidFill>
                <a:latin typeface="Courier New" pitchFamily="34" charset="0"/>
                <a:ea typeface="Courier New" pitchFamily="34" charset="-122"/>
                <a:cs typeface="Courier New" pitchFamily="34" charset="-120"/>
              </a:rPr>
              <a:t>String</a:t>
            </a:r>
            <a:r>
              <a:rPr lang="en-US" sz="1500" dirty="0">
                <a:solidFill>
                  <a:srgbClr val="D4D4D4"/>
                </a:solidFill>
                <a:latin typeface="Courier New" pitchFamily="34" charset="0"/>
                <a:ea typeface="Courier New" pitchFamily="34" charset="-122"/>
                <a:cs typeface="Courier New" pitchFamily="34" charset="-120"/>
              </a:rPr>
              <a:t> brand, </a:t>
            </a:r>
            <a:r>
              <a:rPr lang="en-US" sz="1500" b="1" dirty="0">
                <a:solidFill>
                  <a:srgbClr val="569CD6"/>
                </a:solidFill>
                <a:latin typeface="Courier New" pitchFamily="34" charset="0"/>
                <a:ea typeface="Courier New" pitchFamily="34" charset="-122"/>
                <a:cs typeface="Courier New" pitchFamily="34" charset="-120"/>
              </a:rPr>
              <a:t>int</a:t>
            </a:r>
            <a:r>
              <a:rPr lang="en-US" sz="1500" dirty="0">
                <a:solidFill>
                  <a:srgbClr val="D4D4D4"/>
                </a:solidFill>
                <a:latin typeface="Courier New" pitchFamily="34" charset="0"/>
                <a:ea typeface="Courier New" pitchFamily="34" charset="-122"/>
                <a:cs typeface="Courier New" pitchFamily="34" charset="-120"/>
              </a:rPr>
              <a:t> speed)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this</a:t>
            </a:r>
            <a:r>
              <a:rPr lang="en-US" sz="1500" dirty="0">
                <a:solidFill>
                  <a:srgbClr val="D4D4D4"/>
                </a:solidFill>
                <a:latin typeface="Courier New" pitchFamily="34" charset="0"/>
                <a:ea typeface="Courier New" pitchFamily="34" charset="-122"/>
                <a:cs typeface="Courier New" pitchFamily="34" charset="-120"/>
              </a:rPr>
              <a:t>.brand = brand;</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this</a:t>
            </a:r>
            <a:r>
              <a:rPr lang="en-US" sz="1500" dirty="0">
                <a:solidFill>
                  <a:srgbClr val="D4D4D4"/>
                </a:solidFill>
                <a:latin typeface="Courier New" pitchFamily="34" charset="0"/>
                <a:ea typeface="Courier New" pitchFamily="34" charset="-122"/>
                <a:cs typeface="Courier New" pitchFamily="34" charset="-120"/>
              </a:rPr>
              <a:t>.speed = speed;</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a:t>
            </a:r>
            <a:endParaRPr lang="en-US" sz="1500" dirty="0"/>
          </a:p>
        </p:txBody>
      </p:sp>
      <p:sp>
        <p:nvSpPr>
          <p:cNvPr id="17" name="Shape 15"/>
          <p:cNvSpPr/>
          <p:nvPr/>
        </p:nvSpPr>
        <p:spPr>
          <a:xfrm>
            <a:off x="0" y="0"/>
            <a:ext cx="12191695" cy="384048"/>
          </a:xfrm>
          <a:prstGeom prst="rect">
            <a:avLst/>
          </a:prstGeom>
          <a:solidFill>
            <a:srgbClr val="1B2A4A"/>
          </a:solidFill>
          <a:ln w="12700">
            <a:solidFill>
              <a:srgbClr val="1B2A4A"/>
            </a:solidFill>
            <a:prstDash val="solid"/>
          </a:ln>
        </p:spPr>
      </p:sp>
      <p:sp>
        <p:nvSpPr>
          <p:cNvPr id="18" name="Text 16"/>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9" name="Shape 17"/>
          <p:cNvSpPr/>
          <p:nvPr/>
        </p:nvSpPr>
        <p:spPr>
          <a:xfrm>
            <a:off x="219456" y="301752"/>
            <a:ext cx="960120" cy="0"/>
          </a:xfrm>
          <a:prstGeom prst="line">
            <a:avLst/>
          </a:prstGeom>
          <a:noFill/>
          <a:ln w="9525">
            <a:solidFill>
              <a:srgbClr val="4A5570"/>
            </a:solidFill>
            <a:prstDash val="solid"/>
          </a:ln>
        </p:spPr>
      </p:sp>
      <p:sp>
        <p:nvSpPr>
          <p:cNvPr id="20" name="Text 18"/>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1" name="Text 19"/>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2" name="Text 20"/>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3" name="Shape 21"/>
          <p:cNvSpPr/>
          <p:nvPr/>
        </p:nvSpPr>
        <p:spPr>
          <a:xfrm>
            <a:off x="0" y="6291072"/>
            <a:ext cx="12191695" cy="566928"/>
          </a:xfrm>
          <a:prstGeom prst="rect">
            <a:avLst/>
          </a:prstGeom>
          <a:solidFill>
            <a:srgbClr val="1B2A4A"/>
          </a:solidFill>
          <a:ln w="12700">
            <a:solidFill>
              <a:srgbClr val="1B2A4A"/>
            </a:solidFill>
            <a:prstDash val="solid"/>
          </a:ln>
        </p:spPr>
      </p:sp>
      <p:sp>
        <p:nvSpPr>
          <p:cNvPr id="24" name="Text 22"/>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5" name="Text 23"/>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COMPARISON</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Constructor vs. Ordinary Method</a:t>
            </a:r>
            <a:endParaRPr lang="en-US" sz="27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94360" y="1691640"/>
          <a:ext cx="10607040" cy="4343400"/>
        </p:xfrm>
        <a:graphic>
          <a:graphicData uri="http://schemas.openxmlformats.org/drawingml/2006/table">
            <a:tbl>
              <a:tblPr/>
              <a:tblGrid>
                <a:gridCol w="3535680">
                  <a:extLst>
                    <a:ext uri="{9D8B030D-6E8A-4147-A177-3AD203B41FA5}">
                      <a16:colId xmlns:a16="http://schemas.microsoft.com/office/drawing/2014/main" val="20000"/>
                    </a:ext>
                  </a:extLst>
                </a:gridCol>
                <a:gridCol w="3535680">
                  <a:extLst>
                    <a:ext uri="{9D8B030D-6E8A-4147-A177-3AD203B41FA5}">
                      <a16:colId xmlns:a16="http://schemas.microsoft.com/office/drawing/2014/main" val="20001"/>
                    </a:ext>
                  </a:extLst>
                </a:gridCol>
                <a:gridCol w="3535680">
                  <a:extLst>
                    <a:ext uri="{9D8B030D-6E8A-4147-A177-3AD203B41FA5}">
                      <a16:colId xmlns:a16="http://schemas.microsoft.com/office/drawing/2014/main" val="20002"/>
                    </a:ext>
                  </a:extLst>
                </a:gridCol>
              </a:tblGrid>
              <a:tr h="868680">
                <a:tc>
                  <a:txBody>
                    <a:bodyPr/>
                    <a:lstStyle/>
                    <a:p>
                      <a:pPr marL="0" indent="0" algn="l">
                        <a:buNone/>
                      </a:pPr>
                      <a:r>
                        <a:rPr lang="en-US" sz="1300" b="1" dirty="0">
                          <a:solidFill>
                            <a:srgbClr val="FFFFFF"/>
                          </a:solidFill>
                          <a:latin typeface="Times New Roman" pitchFamily="34" charset="0"/>
                          <a:ea typeface="Times New Roman" pitchFamily="34" charset="-122"/>
                          <a:cs typeface="Times New Roman" pitchFamily="34" charset="-120"/>
                        </a:rPr>
                        <a:t>Aspect</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1B2A4A"/>
                    </a:solidFill>
                  </a:tcPr>
                </a:tc>
                <a:tc>
                  <a:txBody>
                    <a:bodyPr/>
                    <a:lstStyle/>
                    <a:p>
                      <a:pPr marL="0" indent="0" algn="l">
                        <a:buNone/>
                      </a:pPr>
                      <a:r>
                        <a:rPr lang="en-US" sz="1300" b="1" dirty="0">
                          <a:solidFill>
                            <a:srgbClr val="FFFFFF"/>
                          </a:solidFill>
                          <a:latin typeface="Times New Roman" pitchFamily="34" charset="0"/>
                          <a:ea typeface="Times New Roman" pitchFamily="34" charset="-122"/>
                          <a:cs typeface="Times New Roman" pitchFamily="34" charset="-120"/>
                        </a:rPr>
                        <a:t>Constructor</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1B2A4A"/>
                    </a:solidFill>
                  </a:tcPr>
                </a:tc>
                <a:tc>
                  <a:txBody>
                    <a:bodyPr/>
                    <a:lstStyle/>
                    <a:p>
                      <a:pPr marL="0" indent="0" algn="l">
                        <a:buNone/>
                      </a:pPr>
                      <a:r>
                        <a:rPr lang="en-US" sz="1300" b="1" dirty="0">
                          <a:solidFill>
                            <a:srgbClr val="FFFFFF"/>
                          </a:solidFill>
                          <a:latin typeface="Times New Roman" pitchFamily="34" charset="0"/>
                          <a:ea typeface="Times New Roman" pitchFamily="34" charset="-122"/>
                          <a:cs typeface="Times New Roman" pitchFamily="34" charset="-120"/>
                        </a:rPr>
                        <a:t>Method</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868680">
                <a:tc>
                  <a:txBody>
                    <a:bodyPr/>
                    <a:lstStyle/>
                    <a:p>
                      <a:pPr marL="0" indent="0" algn="l">
                        <a:buNone/>
                      </a:pPr>
                      <a:r>
                        <a:rPr lang="en-US" sz="1300" b="1" dirty="0">
                          <a:solidFill>
                            <a:srgbClr val="1A202C"/>
                          </a:solidFill>
                          <a:latin typeface="Times New Roman" pitchFamily="34" charset="0"/>
                          <a:ea typeface="Times New Roman" pitchFamily="34" charset="-122"/>
                          <a:cs typeface="Times New Roman" pitchFamily="34" charset="-120"/>
                        </a:rPr>
                        <a:t>Name</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FFFFF"/>
                    </a:solidFill>
                  </a:tcPr>
                </a:tc>
                <a:tc>
                  <a:txBody>
                    <a:bodyPr/>
                    <a:lstStyle/>
                    <a:p>
                      <a:pPr marL="0" indent="0" algn="l">
                        <a:buNone/>
                      </a:pPr>
                      <a:r>
                        <a:rPr lang="en-US" sz="1300" dirty="0">
                          <a:solidFill>
                            <a:srgbClr val="3D4759"/>
                          </a:solidFill>
                          <a:latin typeface="Times New Roman" pitchFamily="34" charset="0"/>
                          <a:ea typeface="Times New Roman" pitchFamily="34" charset="-122"/>
                          <a:cs typeface="Times New Roman" pitchFamily="34" charset="-120"/>
                        </a:rPr>
                        <a:t>Same as the class</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FFFFF"/>
                    </a:solidFill>
                  </a:tcPr>
                </a:tc>
                <a:tc>
                  <a:txBody>
                    <a:bodyPr/>
                    <a:lstStyle/>
                    <a:p>
                      <a:pPr marL="0" indent="0" algn="l">
                        <a:buNone/>
                      </a:pPr>
                      <a:r>
                        <a:rPr lang="en-US" sz="1300" dirty="0">
                          <a:solidFill>
                            <a:srgbClr val="3D4759"/>
                          </a:solidFill>
                          <a:latin typeface="Times New Roman" pitchFamily="34" charset="0"/>
                          <a:ea typeface="Times New Roman" pitchFamily="34" charset="-122"/>
                          <a:cs typeface="Times New Roman" pitchFamily="34" charset="-120"/>
                        </a:rPr>
                        <a:t>Any valid identifier</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868680">
                <a:tc>
                  <a:txBody>
                    <a:bodyPr/>
                    <a:lstStyle/>
                    <a:p>
                      <a:pPr marL="0" indent="0" algn="l">
                        <a:buNone/>
                      </a:pPr>
                      <a:r>
                        <a:rPr lang="en-US" sz="1300" b="1" dirty="0">
                          <a:solidFill>
                            <a:srgbClr val="1A202C"/>
                          </a:solidFill>
                          <a:latin typeface="Times New Roman" pitchFamily="34" charset="0"/>
                          <a:ea typeface="Times New Roman" pitchFamily="34" charset="-122"/>
                          <a:cs typeface="Times New Roman" pitchFamily="34" charset="-120"/>
                        </a:rPr>
                        <a:t>Return type</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5F6FA"/>
                    </a:solidFill>
                  </a:tcPr>
                </a:tc>
                <a:tc>
                  <a:txBody>
                    <a:bodyPr/>
                    <a:lstStyle/>
                    <a:p>
                      <a:pPr marL="0" indent="0" algn="l">
                        <a:buNone/>
                      </a:pPr>
                      <a:r>
                        <a:rPr lang="en-US" sz="1300" dirty="0">
                          <a:solidFill>
                            <a:srgbClr val="3D4759"/>
                          </a:solidFill>
                          <a:latin typeface="Times New Roman" pitchFamily="34" charset="0"/>
                          <a:ea typeface="Times New Roman" pitchFamily="34" charset="-122"/>
                          <a:cs typeface="Times New Roman" pitchFamily="34" charset="-120"/>
                        </a:rPr>
                        <a:t>None, not even void</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5F6FA"/>
                    </a:solidFill>
                  </a:tcPr>
                </a:tc>
                <a:tc>
                  <a:txBody>
                    <a:bodyPr/>
                    <a:lstStyle/>
                    <a:p>
                      <a:pPr marL="0" indent="0" algn="l">
                        <a:buNone/>
                      </a:pPr>
                      <a:r>
                        <a:rPr lang="en-US" sz="1300" dirty="0">
                          <a:solidFill>
                            <a:srgbClr val="3D4759"/>
                          </a:solidFill>
                          <a:latin typeface="Times New Roman" pitchFamily="34" charset="0"/>
                          <a:ea typeface="Times New Roman" pitchFamily="34" charset="-122"/>
                          <a:cs typeface="Times New Roman" pitchFamily="34" charset="-120"/>
                        </a:rPr>
                        <a:t>Required, or void</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5F6FA"/>
                    </a:solidFill>
                  </a:tcPr>
                </a:tc>
                <a:extLst>
                  <a:ext uri="{0D108BD9-81ED-4DB2-BD59-A6C34878D82A}">
                    <a16:rowId xmlns:a16="http://schemas.microsoft.com/office/drawing/2014/main" val="10002"/>
                  </a:ext>
                </a:extLst>
              </a:tr>
              <a:tr h="868680">
                <a:tc>
                  <a:txBody>
                    <a:bodyPr/>
                    <a:lstStyle/>
                    <a:p>
                      <a:pPr marL="0" indent="0" algn="l">
                        <a:buNone/>
                      </a:pPr>
                      <a:r>
                        <a:rPr lang="en-US" sz="1300" b="1" dirty="0">
                          <a:solidFill>
                            <a:srgbClr val="1A202C"/>
                          </a:solidFill>
                          <a:latin typeface="Times New Roman" pitchFamily="34" charset="0"/>
                          <a:ea typeface="Times New Roman" pitchFamily="34" charset="-122"/>
                          <a:cs typeface="Times New Roman" pitchFamily="34" charset="-120"/>
                        </a:rPr>
                        <a:t>Called by</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FFFFF"/>
                    </a:solidFill>
                  </a:tcPr>
                </a:tc>
                <a:tc>
                  <a:txBody>
                    <a:bodyPr/>
                    <a:lstStyle/>
                    <a:p>
                      <a:pPr marL="0" indent="0" algn="l">
                        <a:buNone/>
                      </a:pPr>
                      <a:r>
                        <a:rPr lang="en-US" sz="1300" dirty="0">
                          <a:solidFill>
                            <a:srgbClr val="3D4759"/>
                          </a:solidFill>
                          <a:latin typeface="Times New Roman" pitchFamily="34" charset="0"/>
                          <a:ea typeface="Times New Roman" pitchFamily="34" charset="-122"/>
                          <a:cs typeface="Times New Roman" pitchFamily="34" charset="-120"/>
                        </a:rPr>
                        <a:t>new, automatically</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FFFFF"/>
                    </a:solidFill>
                  </a:tcPr>
                </a:tc>
                <a:tc>
                  <a:txBody>
                    <a:bodyPr/>
                    <a:lstStyle/>
                    <a:p>
                      <a:pPr marL="0" indent="0" algn="l">
                        <a:buNone/>
                      </a:pPr>
                      <a:r>
                        <a:rPr lang="en-US" sz="1300" dirty="0">
                          <a:solidFill>
                            <a:srgbClr val="3D4759"/>
                          </a:solidFill>
                          <a:latin typeface="Times New Roman" pitchFamily="34" charset="0"/>
                          <a:ea typeface="Times New Roman" pitchFamily="34" charset="-122"/>
                          <a:cs typeface="Times New Roman" pitchFamily="34" charset="-120"/>
                        </a:rPr>
                        <a:t>Explicitly, by name</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868680">
                <a:tc>
                  <a:txBody>
                    <a:bodyPr/>
                    <a:lstStyle/>
                    <a:p>
                      <a:pPr marL="0" indent="0" algn="l">
                        <a:buNone/>
                      </a:pPr>
                      <a:r>
                        <a:rPr lang="en-US" sz="1300" b="1" dirty="0">
                          <a:solidFill>
                            <a:srgbClr val="1A202C"/>
                          </a:solidFill>
                          <a:latin typeface="Times New Roman" pitchFamily="34" charset="0"/>
                          <a:ea typeface="Times New Roman" pitchFamily="34" charset="-122"/>
                          <a:cs typeface="Times New Roman" pitchFamily="34" charset="-120"/>
                        </a:rPr>
                        <a:t>Purpose</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5F6FA"/>
                    </a:solidFill>
                  </a:tcPr>
                </a:tc>
                <a:tc>
                  <a:txBody>
                    <a:bodyPr/>
                    <a:lstStyle/>
                    <a:p>
                      <a:pPr marL="0" indent="0" algn="l">
                        <a:buNone/>
                      </a:pPr>
                      <a:r>
                        <a:rPr lang="en-US" sz="1300" dirty="0">
                          <a:solidFill>
                            <a:srgbClr val="3D4759"/>
                          </a:solidFill>
                          <a:latin typeface="Times New Roman" pitchFamily="34" charset="0"/>
                          <a:ea typeface="Times New Roman" pitchFamily="34" charset="-122"/>
                          <a:cs typeface="Times New Roman" pitchFamily="34" charset="-120"/>
                        </a:rPr>
                        <a:t>Set up a new object</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5F6FA"/>
                    </a:solidFill>
                  </a:tcPr>
                </a:tc>
                <a:tc>
                  <a:txBody>
                    <a:bodyPr/>
                    <a:lstStyle/>
                    <a:p>
                      <a:pPr marL="0" indent="0" algn="l">
                        <a:buNone/>
                      </a:pPr>
                      <a:r>
                        <a:rPr lang="en-US" sz="1300" dirty="0">
                          <a:solidFill>
                            <a:srgbClr val="3D4759"/>
                          </a:solidFill>
                          <a:latin typeface="Times New Roman" pitchFamily="34" charset="0"/>
                          <a:ea typeface="Times New Roman" pitchFamily="34" charset="-122"/>
                          <a:cs typeface="Times New Roman" pitchFamily="34" charset="-120"/>
                        </a:rPr>
                        <a:t>Perform an action or computation</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5F6FA"/>
                    </a:solidFill>
                  </a:tcPr>
                </a:tc>
                <a:extLst>
                  <a:ext uri="{0D108BD9-81ED-4DB2-BD59-A6C34878D82A}">
                    <a16:rowId xmlns:a16="http://schemas.microsoft.com/office/drawing/2014/main" val="10004"/>
                  </a:ext>
                </a:extLst>
              </a:tr>
            </a:tbl>
          </a:graphicData>
        </a:graphic>
      </p:graphicFrame>
      <p:sp>
        <p:nvSpPr>
          <p:cNvPr id="5" name="Shape 2"/>
          <p:cNvSpPr/>
          <p:nvPr/>
        </p:nvSpPr>
        <p:spPr>
          <a:xfrm>
            <a:off x="0" y="0"/>
            <a:ext cx="12191695" cy="384048"/>
          </a:xfrm>
          <a:prstGeom prst="rect">
            <a:avLst/>
          </a:prstGeom>
          <a:solidFill>
            <a:srgbClr val="1B2A4A"/>
          </a:solidFill>
          <a:ln w="12700">
            <a:solidFill>
              <a:srgbClr val="1B2A4A"/>
            </a:solidFill>
            <a:prstDash val="solid"/>
          </a:ln>
        </p:spPr>
      </p:sp>
      <p:sp>
        <p:nvSpPr>
          <p:cNvPr id="6" name="Text 3"/>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7" name="Shape 4"/>
          <p:cNvSpPr/>
          <p:nvPr/>
        </p:nvSpPr>
        <p:spPr>
          <a:xfrm>
            <a:off x="219456" y="301752"/>
            <a:ext cx="960120" cy="0"/>
          </a:xfrm>
          <a:prstGeom prst="line">
            <a:avLst/>
          </a:prstGeom>
          <a:noFill/>
          <a:ln w="9525">
            <a:solidFill>
              <a:srgbClr val="4A5570"/>
            </a:solidFill>
            <a:prstDash val="solid"/>
          </a:ln>
        </p:spPr>
      </p:sp>
      <p:sp>
        <p:nvSpPr>
          <p:cNvPr id="8" name="Text 5"/>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9" name="Text 6"/>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10" name="Text 7"/>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11" name="Shape 8"/>
          <p:cNvSpPr/>
          <p:nvPr/>
        </p:nvSpPr>
        <p:spPr>
          <a:xfrm>
            <a:off x="0" y="6291072"/>
            <a:ext cx="12191695" cy="566928"/>
          </a:xfrm>
          <a:prstGeom prst="rect">
            <a:avLst/>
          </a:prstGeom>
          <a:solidFill>
            <a:srgbClr val="1B2A4A"/>
          </a:solidFill>
          <a:ln w="12700">
            <a:solidFill>
              <a:srgbClr val="1B2A4A"/>
            </a:solidFill>
            <a:prstDash val="solid"/>
          </a:ln>
        </p:spPr>
      </p:sp>
      <p:sp>
        <p:nvSpPr>
          <p:cNvPr id="12" name="Text 9"/>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13" name="Text 10"/>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FLEXIBILITY</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Constructor Overloading</a:t>
            </a:r>
            <a:endParaRPr lang="en-US" sz="2700" dirty="0"/>
          </a:p>
        </p:txBody>
      </p:sp>
      <p:sp>
        <p:nvSpPr>
          <p:cNvPr id="4" name="Shape 2"/>
          <p:cNvSpPr/>
          <p:nvPr/>
        </p:nvSpPr>
        <p:spPr>
          <a:xfrm>
            <a:off x="594360" y="1600200"/>
            <a:ext cx="10607040" cy="896112"/>
          </a:xfrm>
          <a:prstGeom prst="roundRect">
            <a:avLst>
              <a:gd name="adj" fmla="val 6122"/>
            </a:avLst>
          </a:prstGeom>
          <a:solidFill>
            <a:srgbClr val="F5F6FA"/>
          </a:solidFill>
          <a:ln w="9525">
            <a:solidFill>
              <a:srgbClr val="E4E7EE"/>
            </a:solidFill>
            <a:prstDash val="solid"/>
          </a:ln>
        </p:spPr>
      </p:sp>
      <p:sp>
        <p:nvSpPr>
          <p:cNvPr id="5" name="Shape 3"/>
          <p:cNvSpPr/>
          <p:nvPr/>
        </p:nvSpPr>
        <p:spPr>
          <a:xfrm>
            <a:off x="804672" y="1755648"/>
            <a:ext cx="100584" cy="100584"/>
          </a:xfrm>
          <a:prstGeom prst="ellipse">
            <a:avLst/>
          </a:prstGeom>
          <a:solidFill>
            <a:srgbClr val="E8590C"/>
          </a:solidFill>
          <a:ln w="12700">
            <a:solidFill>
              <a:srgbClr val="000000"/>
            </a:solidFill>
            <a:prstDash val="solid"/>
          </a:ln>
        </p:spPr>
      </p:sp>
      <p:sp>
        <p:nvSpPr>
          <p:cNvPr id="6" name="Text 4"/>
          <p:cNvSpPr/>
          <p:nvPr/>
        </p:nvSpPr>
        <p:spPr>
          <a:xfrm>
            <a:off x="1051560" y="1655064"/>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A class can define several constructors as long as their parameter lists differ.</a:t>
            </a:r>
            <a:endParaRPr lang="en-US" sz="1250" dirty="0"/>
          </a:p>
        </p:txBody>
      </p:sp>
      <p:sp>
        <p:nvSpPr>
          <p:cNvPr id="7" name="Shape 5"/>
          <p:cNvSpPr/>
          <p:nvPr/>
        </p:nvSpPr>
        <p:spPr>
          <a:xfrm>
            <a:off x="804672" y="2103120"/>
            <a:ext cx="100584" cy="100584"/>
          </a:xfrm>
          <a:prstGeom prst="ellipse">
            <a:avLst/>
          </a:prstGeom>
          <a:solidFill>
            <a:srgbClr val="E8590C"/>
          </a:solidFill>
          <a:ln w="12700">
            <a:solidFill>
              <a:srgbClr val="000000"/>
            </a:solidFill>
            <a:prstDash val="solid"/>
          </a:ln>
        </p:spPr>
      </p:sp>
      <p:sp>
        <p:nvSpPr>
          <p:cNvPr id="8" name="Text 6"/>
          <p:cNvSpPr/>
          <p:nvPr/>
        </p:nvSpPr>
        <p:spPr>
          <a:xfrm>
            <a:off x="1051560" y="2002536"/>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This lets an object be created in more than one way, depending on what data is available.</a:t>
            </a:r>
            <a:endParaRPr lang="en-US" sz="1250" dirty="0"/>
          </a:p>
        </p:txBody>
      </p:sp>
      <p:sp>
        <p:nvSpPr>
          <p:cNvPr id="9" name="Shape 7"/>
          <p:cNvSpPr/>
          <p:nvPr/>
        </p:nvSpPr>
        <p:spPr>
          <a:xfrm>
            <a:off x="594360" y="2642616"/>
            <a:ext cx="10607040" cy="3392424"/>
          </a:xfrm>
          <a:prstGeom prst="roundRect">
            <a:avLst>
              <a:gd name="adj" fmla="val 2156"/>
            </a:avLst>
          </a:prstGeom>
          <a:solidFill>
            <a:srgbClr val="1E1E2E"/>
          </a:solidFill>
          <a:ln w="12700">
            <a:solidFill>
              <a:srgbClr val="000000"/>
            </a:solidFill>
            <a:prstDash val="solid"/>
          </a:ln>
        </p:spPr>
      </p:sp>
      <p:sp>
        <p:nvSpPr>
          <p:cNvPr id="10" name="Shape 8"/>
          <p:cNvSpPr/>
          <p:nvPr/>
        </p:nvSpPr>
        <p:spPr>
          <a:xfrm>
            <a:off x="594360" y="2642616"/>
            <a:ext cx="10607040" cy="274320"/>
          </a:xfrm>
          <a:prstGeom prst="roundRect">
            <a:avLst>
              <a:gd name="adj" fmla="val 26667"/>
            </a:avLst>
          </a:prstGeom>
          <a:solidFill>
            <a:srgbClr val="17172A"/>
          </a:solidFill>
          <a:ln w="12700">
            <a:solidFill>
              <a:srgbClr val="000000"/>
            </a:solidFill>
            <a:prstDash val="solid"/>
          </a:ln>
        </p:spPr>
      </p:sp>
      <p:sp>
        <p:nvSpPr>
          <p:cNvPr id="11" name="Shape 9"/>
          <p:cNvSpPr/>
          <p:nvPr/>
        </p:nvSpPr>
        <p:spPr>
          <a:xfrm>
            <a:off x="594360" y="2843784"/>
            <a:ext cx="10607040" cy="73152"/>
          </a:xfrm>
          <a:prstGeom prst="rect">
            <a:avLst/>
          </a:prstGeom>
          <a:solidFill>
            <a:srgbClr val="17172A"/>
          </a:solidFill>
          <a:ln w="12700">
            <a:solidFill>
              <a:srgbClr val="000000"/>
            </a:solidFill>
            <a:prstDash val="solid"/>
          </a:ln>
        </p:spPr>
      </p:sp>
      <p:sp>
        <p:nvSpPr>
          <p:cNvPr id="12" name="Shape 10"/>
          <p:cNvSpPr/>
          <p:nvPr/>
        </p:nvSpPr>
        <p:spPr>
          <a:xfrm>
            <a:off x="722376" y="2741371"/>
            <a:ext cx="76810" cy="76810"/>
          </a:xfrm>
          <a:prstGeom prst="ellipse">
            <a:avLst/>
          </a:prstGeom>
          <a:solidFill>
            <a:srgbClr val="FF5F56"/>
          </a:solidFill>
          <a:ln w="12700">
            <a:solidFill>
              <a:srgbClr val="000000"/>
            </a:solidFill>
            <a:prstDash val="solid"/>
          </a:ln>
        </p:spPr>
      </p:sp>
      <p:sp>
        <p:nvSpPr>
          <p:cNvPr id="13" name="Shape 11"/>
          <p:cNvSpPr/>
          <p:nvPr/>
        </p:nvSpPr>
        <p:spPr>
          <a:xfrm>
            <a:off x="886968" y="2741371"/>
            <a:ext cx="76810" cy="76810"/>
          </a:xfrm>
          <a:prstGeom prst="ellipse">
            <a:avLst/>
          </a:prstGeom>
          <a:solidFill>
            <a:srgbClr val="FFBD2E"/>
          </a:solidFill>
          <a:ln w="12700">
            <a:solidFill>
              <a:srgbClr val="000000"/>
            </a:solidFill>
            <a:prstDash val="solid"/>
          </a:ln>
        </p:spPr>
      </p:sp>
      <p:sp>
        <p:nvSpPr>
          <p:cNvPr id="14" name="Shape 12"/>
          <p:cNvSpPr/>
          <p:nvPr/>
        </p:nvSpPr>
        <p:spPr>
          <a:xfrm>
            <a:off x="1051560" y="2741371"/>
            <a:ext cx="76810" cy="76810"/>
          </a:xfrm>
          <a:prstGeom prst="ellipse">
            <a:avLst/>
          </a:prstGeom>
          <a:solidFill>
            <a:srgbClr val="27C93F"/>
          </a:solidFill>
          <a:ln w="12700">
            <a:solidFill>
              <a:srgbClr val="000000"/>
            </a:solidFill>
            <a:prstDash val="solid"/>
          </a:ln>
        </p:spPr>
      </p:sp>
      <p:sp>
        <p:nvSpPr>
          <p:cNvPr id="15" name="Text 13"/>
          <p:cNvSpPr/>
          <p:nvPr/>
        </p:nvSpPr>
        <p:spPr>
          <a:xfrm>
            <a:off x="1371600" y="2642616"/>
            <a:ext cx="9692640" cy="274320"/>
          </a:xfrm>
          <a:prstGeom prst="rect">
            <a:avLst/>
          </a:prstGeom>
          <a:noFill/>
          <a:ln/>
        </p:spPr>
        <p:txBody>
          <a:bodyPr wrap="square" lIns="0" tIns="0" rIns="0" bIns="0" rtlCol="0" anchor="ctr"/>
          <a:lstStyle/>
          <a:p>
            <a:pPr marL="0" indent="0" algn="l">
              <a:buNone/>
            </a:pPr>
            <a:r>
              <a:rPr lang="en-US" sz="1000" dirty="0">
                <a:solidFill>
                  <a:srgbClr val="8A8FA3"/>
                </a:solidFill>
                <a:latin typeface="Courier New" pitchFamily="34" charset="0"/>
                <a:ea typeface="Courier New" pitchFamily="34" charset="-122"/>
                <a:cs typeface="Courier New" pitchFamily="34" charset="-120"/>
              </a:rPr>
              <a:t>Main.java</a:t>
            </a:r>
            <a:endParaRPr lang="en-US" sz="1000" dirty="0"/>
          </a:p>
        </p:txBody>
      </p:sp>
      <p:sp>
        <p:nvSpPr>
          <p:cNvPr id="16" name="Text 14"/>
          <p:cNvSpPr/>
          <p:nvPr/>
        </p:nvSpPr>
        <p:spPr>
          <a:xfrm>
            <a:off x="777240" y="2990088"/>
            <a:ext cx="10241280" cy="2971800"/>
          </a:xfrm>
          <a:prstGeom prst="rect">
            <a:avLst/>
          </a:prstGeom>
          <a:noFill/>
          <a:ln/>
        </p:spPr>
        <p:txBody>
          <a:bodyPr wrap="square" lIns="0" tIns="0" rIns="0" bIns="0" rtlCol="0" anchor="t"/>
          <a:lstStyle/>
          <a:p>
            <a:pPr marL="0" indent="0" algn="l">
              <a:lnSpc>
                <a:spcPct val="118000"/>
              </a:lnSpc>
              <a:buNone/>
            </a:pPr>
            <a:r>
              <a:rPr lang="en-US" sz="1200" b="1" dirty="0">
                <a:solidFill>
                  <a:srgbClr val="569CD6"/>
                </a:solidFill>
                <a:latin typeface="Courier New" pitchFamily="34" charset="0"/>
                <a:ea typeface="Courier New" pitchFamily="34" charset="-122"/>
                <a:cs typeface="Courier New" pitchFamily="34" charset="-120"/>
              </a:rPr>
              <a:t>public</a:t>
            </a:r>
            <a:r>
              <a:rPr lang="en-US" sz="1200" dirty="0">
                <a:solidFill>
                  <a:srgbClr val="D4D4D4"/>
                </a:solidFill>
                <a:latin typeface="Courier New" pitchFamily="34" charset="0"/>
                <a:ea typeface="Courier New" pitchFamily="34" charset="-122"/>
                <a:cs typeface="Courier New" pitchFamily="34" charset="-120"/>
              </a:rPr>
              <a:t> </a:t>
            </a:r>
            <a:r>
              <a:rPr lang="en-US" sz="1200" b="1" dirty="0">
                <a:solidFill>
                  <a:srgbClr val="569CD6"/>
                </a:solidFill>
                <a:latin typeface="Courier New" pitchFamily="34" charset="0"/>
                <a:ea typeface="Courier New" pitchFamily="34" charset="-122"/>
                <a:cs typeface="Courier New" pitchFamily="34" charset="-120"/>
              </a:rPr>
              <a:t>class</a:t>
            </a:r>
            <a:r>
              <a:rPr lang="en-US" sz="1200" dirty="0">
                <a:solidFill>
                  <a:srgbClr val="D4D4D4"/>
                </a:solidFill>
                <a:latin typeface="Courier New" pitchFamily="34" charset="0"/>
                <a:ea typeface="Courier New" pitchFamily="34" charset="-122"/>
                <a:cs typeface="Courier New" pitchFamily="34" charset="-120"/>
              </a:rPr>
              <a:t> Car {</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r>
              <a:rPr lang="en-US" sz="1200" dirty="0">
                <a:solidFill>
                  <a:srgbClr val="4EC9B0"/>
                </a:solidFill>
                <a:latin typeface="Courier New" pitchFamily="34" charset="0"/>
                <a:ea typeface="Courier New" pitchFamily="34" charset="-122"/>
                <a:cs typeface="Courier New" pitchFamily="34" charset="-120"/>
              </a:rPr>
              <a:t>String</a:t>
            </a:r>
            <a:r>
              <a:rPr lang="en-US" sz="1200" dirty="0">
                <a:solidFill>
                  <a:srgbClr val="D4D4D4"/>
                </a:solidFill>
                <a:latin typeface="Courier New" pitchFamily="34" charset="0"/>
                <a:ea typeface="Courier New" pitchFamily="34" charset="-122"/>
                <a:cs typeface="Courier New" pitchFamily="34" charset="-120"/>
              </a:rPr>
              <a:t> brand;</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r>
              <a:rPr lang="en-US" sz="1200" b="1" dirty="0">
                <a:solidFill>
                  <a:srgbClr val="569CD6"/>
                </a:solidFill>
                <a:latin typeface="Courier New" pitchFamily="34" charset="0"/>
                <a:ea typeface="Courier New" pitchFamily="34" charset="-122"/>
                <a:cs typeface="Courier New" pitchFamily="34" charset="-120"/>
              </a:rPr>
              <a:t>int</a:t>
            </a:r>
            <a:r>
              <a:rPr lang="en-US" sz="1200" dirty="0">
                <a:solidFill>
                  <a:srgbClr val="D4D4D4"/>
                </a:solidFill>
                <a:latin typeface="Courier New" pitchFamily="34" charset="0"/>
                <a:ea typeface="Courier New" pitchFamily="34" charset="-122"/>
                <a:cs typeface="Courier New" pitchFamily="34" charset="-120"/>
              </a:rPr>
              <a:t> speed;</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r>
              <a:rPr lang="en-US" sz="1200" dirty="0">
                <a:solidFill>
                  <a:srgbClr val="DCDCAA"/>
                </a:solidFill>
                <a:latin typeface="Courier New" pitchFamily="34" charset="0"/>
                <a:ea typeface="Courier New" pitchFamily="34" charset="-122"/>
                <a:cs typeface="Courier New" pitchFamily="34" charset="-120"/>
              </a:rPr>
              <a:t>Car</a:t>
            </a:r>
            <a:r>
              <a:rPr lang="en-US" sz="1200" dirty="0">
                <a:solidFill>
                  <a:srgbClr val="D4D4D4"/>
                </a:solidFill>
                <a:latin typeface="Courier New" pitchFamily="34" charset="0"/>
                <a:ea typeface="Courier New" pitchFamily="34" charset="-122"/>
                <a:cs typeface="Courier New" pitchFamily="34" charset="-120"/>
              </a:rPr>
              <a:t>() {</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r>
              <a:rPr lang="en-US" sz="1200" b="1" dirty="0">
                <a:solidFill>
                  <a:srgbClr val="569CD6"/>
                </a:solidFill>
                <a:latin typeface="Courier New" pitchFamily="34" charset="0"/>
                <a:ea typeface="Courier New" pitchFamily="34" charset="-122"/>
                <a:cs typeface="Courier New" pitchFamily="34" charset="-120"/>
              </a:rPr>
              <a:t>this</a:t>
            </a:r>
            <a:r>
              <a:rPr lang="en-US" sz="1200" dirty="0">
                <a:solidFill>
                  <a:srgbClr val="D4D4D4"/>
                </a:solidFill>
                <a:latin typeface="Courier New" pitchFamily="34" charset="0"/>
                <a:ea typeface="Courier New" pitchFamily="34" charset="-122"/>
                <a:cs typeface="Courier New" pitchFamily="34" charset="-120"/>
              </a:rPr>
              <a:t>.brand = </a:t>
            </a:r>
            <a:r>
              <a:rPr lang="en-US" sz="1200" dirty="0">
                <a:solidFill>
                  <a:srgbClr val="CE9178"/>
                </a:solidFill>
                <a:latin typeface="Courier New" pitchFamily="34" charset="0"/>
                <a:ea typeface="Courier New" pitchFamily="34" charset="-122"/>
                <a:cs typeface="Courier New" pitchFamily="34" charset="-120"/>
              </a:rPr>
              <a:t>"Unknown"</a:t>
            </a:r>
            <a:r>
              <a:rPr lang="en-US" sz="1200" dirty="0">
                <a:solidFill>
                  <a:srgbClr val="D4D4D4"/>
                </a:solidFill>
                <a:latin typeface="Courier New" pitchFamily="34" charset="0"/>
                <a:ea typeface="Courier New" pitchFamily="34" charset="-122"/>
                <a:cs typeface="Courier New" pitchFamily="34" charset="-120"/>
              </a:rPr>
              <a:t>;</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r>
              <a:rPr lang="en-US" sz="1200" b="1" dirty="0">
                <a:solidFill>
                  <a:srgbClr val="569CD6"/>
                </a:solidFill>
                <a:latin typeface="Courier New" pitchFamily="34" charset="0"/>
                <a:ea typeface="Courier New" pitchFamily="34" charset="-122"/>
                <a:cs typeface="Courier New" pitchFamily="34" charset="-120"/>
              </a:rPr>
              <a:t>this</a:t>
            </a:r>
            <a:r>
              <a:rPr lang="en-US" sz="1200" dirty="0">
                <a:solidFill>
                  <a:srgbClr val="D4D4D4"/>
                </a:solidFill>
                <a:latin typeface="Courier New" pitchFamily="34" charset="0"/>
                <a:ea typeface="Courier New" pitchFamily="34" charset="-122"/>
                <a:cs typeface="Courier New" pitchFamily="34" charset="-120"/>
              </a:rPr>
              <a:t>.speed = </a:t>
            </a:r>
            <a:r>
              <a:rPr lang="en-US" sz="1200" dirty="0">
                <a:solidFill>
                  <a:srgbClr val="B5CEA8"/>
                </a:solidFill>
                <a:latin typeface="Courier New" pitchFamily="34" charset="0"/>
                <a:ea typeface="Courier New" pitchFamily="34" charset="-122"/>
                <a:cs typeface="Courier New" pitchFamily="34" charset="-120"/>
              </a:rPr>
              <a:t>0</a:t>
            </a:r>
            <a:r>
              <a:rPr lang="en-US" sz="1200" dirty="0">
                <a:solidFill>
                  <a:srgbClr val="D4D4D4"/>
                </a:solidFill>
                <a:latin typeface="Courier New" pitchFamily="34" charset="0"/>
                <a:ea typeface="Courier New" pitchFamily="34" charset="-122"/>
                <a:cs typeface="Courier New" pitchFamily="34" charset="-120"/>
              </a:rPr>
              <a:t>;</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r>
              <a:rPr lang="en-US" sz="1200" dirty="0">
                <a:solidFill>
                  <a:srgbClr val="DCDCAA"/>
                </a:solidFill>
                <a:latin typeface="Courier New" pitchFamily="34" charset="0"/>
                <a:ea typeface="Courier New" pitchFamily="34" charset="-122"/>
                <a:cs typeface="Courier New" pitchFamily="34" charset="-120"/>
              </a:rPr>
              <a:t>Car</a:t>
            </a:r>
            <a:r>
              <a:rPr lang="en-US" sz="1200" dirty="0">
                <a:solidFill>
                  <a:srgbClr val="D4D4D4"/>
                </a:solidFill>
                <a:latin typeface="Courier New" pitchFamily="34" charset="0"/>
                <a:ea typeface="Courier New" pitchFamily="34" charset="-122"/>
                <a:cs typeface="Courier New" pitchFamily="34" charset="-120"/>
              </a:rPr>
              <a:t>(</a:t>
            </a:r>
            <a:r>
              <a:rPr lang="en-US" sz="1200" dirty="0">
                <a:solidFill>
                  <a:srgbClr val="4EC9B0"/>
                </a:solidFill>
                <a:latin typeface="Courier New" pitchFamily="34" charset="0"/>
                <a:ea typeface="Courier New" pitchFamily="34" charset="-122"/>
                <a:cs typeface="Courier New" pitchFamily="34" charset="-120"/>
              </a:rPr>
              <a:t>String</a:t>
            </a:r>
            <a:r>
              <a:rPr lang="en-US" sz="1200" dirty="0">
                <a:solidFill>
                  <a:srgbClr val="D4D4D4"/>
                </a:solidFill>
                <a:latin typeface="Courier New" pitchFamily="34" charset="0"/>
                <a:ea typeface="Courier New" pitchFamily="34" charset="-122"/>
                <a:cs typeface="Courier New" pitchFamily="34" charset="-120"/>
              </a:rPr>
              <a:t> brand, </a:t>
            </a:r>
            <a:r>
              <a:rPr lang="en-US" sz="1200" b="1" dirty="0">
                <a:solidFill>
                  <a:srgbClr val="569CD6"/>
                </a:solidFill>
                <a:latin typeface="Courier New" pitchFamily="34" charset="0"/>
                <a:ea typeface="Courier New" pitchFamily="34" charset="-122"/>
                <a:cs typeface="Courier New" pitchFamily="34" charset="-120"/>
              </a:rPr>
              <a:t>int</a:t>
            </a:r>
            <a:r>
              <a:rPr lang="en-US" sz="1200" dirty="0">
                <a:solidFill>
                  <a:srgbClr val="D4D4D4"/>
                </a:solidFill>
                <a:latin typeface="Courier New" pitchFamily="34" charset="0"/>
                <a:ea typeface="Courier New" pitchFamily="34" charset="-122"/>
                <a:cs typeface="Courier New" pitchFamily="34" charset="-120"/>
              </a:rPr>
              <a:t> speed) {</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r>
              <a:rPr lang="en-US" sz="1200" b="1" dirty="0">
                <a:solidFill>
                  <a:srgbClr val="569CD6"/>
                </a:solidFill>
                <a:latin typeface="Courier New" pitchFamily="34" charset="0"/>
                <a:ea typeface="Courier New" pitchFamily="34" charset="-122"/>
                <a:cs typeface="Courier New" pitchFamily="34" charset="-120"/>
              </a:rPr>
              <a:t>this</a:t>
            </a:r>
            <a:r>
              <a:rPr lang="en-US" sz="1200" dirty="0">
                <a:solidFill>
                  <a:srgbClr val="D4D4D4"/>
                </a:solidFill>
                <a:latin typeface="Courier New" pitchFamily="34" charset="0"/>
                <a:ea typeface="Courier New" pitchFamily="34" charset="-122"/>
                <a:cs typeface="Courier New" pitchFamily="34" charset="-120"/>
              </a:rPr>
              <a:t>.brand = brand;</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r>
              <a:rPr lang="en-US" sz="1200" b="1" dirty="0">
                <a:solidFill>
                  <a:srgbClr val="569CD6"/>
                </a:solidFill>
                <a:latin typeface="Courier New" pitchFamily="34" charset="0"/>
                <a:ea typeface="Courier New" pitchFamily="34" charset="-122"/>
                <a:cs typeface="Courier New" pitchFamily="34" charset="-120"/>
              </a:rPr>
              <a:t>this</a:t>
            </a:r>
            <a:r>
              <a:rPr lang="en-US" sz="1200" dirty="0">
                <a:solidFill>
                  <a:srgbClr val="D4D4D4"/>
                </a:solidFill>
                <a:latin typeface="Courier New" pitchFamily="34" charset="0"/>
                <a:ea typeface="Courier New" pitchFamily="34" charset="-122"/>
                <a:cs typeface="Courier New" pitchFamily="34" charset="-120"/>
              </a:rPr>
              <a:t>.speed = speed;</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a:t>
            </a:r>
            <a:endParaRPr lang="en-US" sz="1200" dirty="0"/>
          </a:p>
        </p:txBody>
      </p:sp>
      <p:sp>
        <p:nvSpPr>
          <p:cNvPr id="17" name="Shape 15"/>
          <p:cNvSpPr/>
          <p:nvPr/>
        </p:nvSpPr>
        <p:spPr>
          <a:xfrm>
            <a:off x="0" y="0"/>
            <a:ext cx="12191695" cy="384048"/>
          </a:xfrm>
          <a:prstGeom prst="rect">
            <a:avLst/>
          </a:prstGeom>
          <a:solidFill>
            <a:srgbClr val="1B2A4A"/>
          </a:solidFill>
          <a:ln w="12700">
            <a:solidFill>
              <a:srgbClr val="1B2A4A"/>
            </a:solidFill>
            <a:prstDash val="solid"/>
          </a:ln>
        </p:spPr>
      </p:sp>
      <p:sp>
        <p:nvSpPr>
          <p:cNvPr id="18" name="Text 16"/>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9" name="Shape 17"/>
          <p:cNvSpPr/>
          <p:nvPr/>
        </p:nvSpPr>
        <p:spPr>
          <a:xfrm>
            <a:off x="219456" y="301752"/>
            <a:ext cx="960120" cy="0"/>
          </a:xfrm>
          <a:prstGeom prst="line">
            <a:avLst/>
          </a:prstGeom>
          <a:noFill/>
          <a:ln w="9525">
            <a:solidFill>
              <a:srgbClr val="4A5570"/>
            </a:solidFill>
            <a:prstDash val="solid"/>
          </a:ln>
        </p:spPr>
      </p:sp>
      <p:sp>
        <p:nvSpPr>
          <p:cNvPr id="20" name="Text 18"/>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1" name="Text 19"/>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2" name="Text 20"/>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3" name="Shape 21"/>
          <p:cNvSpPr/>
          <p:nvPr/>
        </p:nvSpPr>
        <p:spPr>
          <a:xfrm>
            <a:off x="0" y="6291072"/>
            <a:ext cx="12191695" cy="566928"/>
          </a:xfrm>
          <a:prstGeom prst="rect">
            <a:avLst/>
          </a:prstGeom>
          <a:solidFill>
            <a:srgbClr val="1B2A4A"/>
          </a:solidFill>
          <a:ln w="12700">
            <a:solidFill>
              <a:srgbClr val="1B2A4A"/>
            </a:solidFill>
            <a:prstDash val="solid"/>
          </a:ln>
        </p:spPr>
      </p:sp>
      <p:sp>
        <p:nvSpPr>
          <p:cNvPr id="24" name="Text 22"/>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5" name="Text 23"/>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REUSE</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Constructor Chaining with this()</a:t>
            </a:r>
            <a:endParaRPr lang="en-US" sz="2700" dirty="0"/>
          </a:p>
        </p:txBody>
      </p:sp>
      <p:sp>
        <p:nvSpPr>
          <p:cNvPr id="4" name="Shape 2"/>
          <p:cNvSpPr/>
          <p:nvPr/>
        </p:nvSpPr>
        <p:spPr>
          <a:xfrm>
            <a:off x="594360" y="1600200"/>
            <a:ext cx="10607040" cy="896112"/>
          </a:xfrm>
          <a:prstGeom prst="roundRect">
            <a:avLst>
              <a:gd name="adj" fmla="val 6122"/>
            </a:avLst>
          </a:prstGeom>
          <a:solidFill>
            <a:srgbClr val="F5F6FA"/>
          </a:solidFill>
          <a:ln w="9525">
            <a:solidFill>
              <a:srgbClr val="E4E7EE"/>
            </a:solidFill>
            <a:prstDash val="solid"/>
          </a:ln>
        </p:spPr>
      </p:sp>
      <p:sp>
        <p:nvSpPr>
          <p:cNvPr id="5" name="Shape 3"/>
          <p:cNvSpPr/>
          <p:nvPr/>
        </p:nvSpPr>
        <p:spPr>
          <a:xfrm>
            <a:off x="804672" y="1755648"/>
            <a:ext cx="100584" cy="100584"/>
          </a:xfrm>
          <a:prstGeom prst="ellipse">
            <a:avLst/>
          </a:prstGeom>
          <a:solidFill>
            <a:srgbClr val="E8590C"/>
          </a:solidFill>
          <a:ln w="12700">
            <a:solidFill>
              <a:srgbClr val="000000"/>
            </a:solidFill>
            <a:prstDash val="solid"/>
          </a:ln>
        </p:spPr>
      </p:sp>
      <p:sp>
        <p:nvSpPr>
          <p:cNvPr id="6" name="Text 4"/>
          <p:cNvSpPr/>
          <p:nvPr/>
        </p:nvSpPr>
        <p:spPr>
          <a:xfrm>
            <a:off x="1051560" y="1655064"/>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this(...) calls another constructor in the same class, and must be the first statement.</a:t>
            </a:r>
            <a:endParaRPr lang="en-US" sz="1250" dirty="0"/>
          </a:p>
        </p:txBody>
      </p:sp>
      <p:sp>
        <p:nvSpPr>
          <p:cNvPr id="7" name="Shape 5"/>
          <p:cNvSpPr/>
          <p:nvPr/>
        </p:nvSpPr>
        <p:spPr>
          <a:xfrm>
            <a:off x="804672" y="2103120"/>
            <a:ext cx="100584" cy="100584"/>
          </a:xfrm>
          <a:prstGeom prst="ellipse">
            <a:avLst/>
          </a:prstGeom>
          <a:solidFill>
            <a:srgbClr val="E8590C"/>
          </a:solidFill>
          <a:ln w="12700">
            <a:solidFill>
              <a:srgbClr val="000000"/>
            </a:solidFill>
            <a:prstDash val="solid"/>
          </a:ln>
        </p:spPr>
      </p:sp>
      <p:sp>
        <p:nvSpPr>
          <p:cNvPr id="8" name="Text 6"/>
          <p:cNvSpPr/>
          <p:nvPr/>
        </p:nvSpPr>
        <p:spPr>
          <a:xfrm>
            <a:off x="1051560" y="2002536"/>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It avoids repeating the same setup logic in more than one constructor.</a:t>
            </a:r>
            <a:endParaRPr lang="en-US" sz="1250" dirty="0"/>
          </a:p>
        </p:txBody>
      </p:sp>
      <p:sp>
        <p:nvSpPr>
          <p:cNvPr id="9" name="Shape 7"/>
          <p:cNvSpPr/>
          <p:nvPr/>
        </p:nvSpPr>
        <p:spPr>
          <a:xfrm>
            <a:off x="594360" y="2642616"/>
            <a:ext cx="10607040" cy="3392424"/>
          </a:xfrm>
          <a:prstGeom prst="roundRect">
            <a:avLst>
              <a:gd name="adj" fmla="val 2156"/>
            </a:avLst>
          </a:prstGeom>
          <a:solidFill>
            <a:srgbClr val="1E1E2E"/>
          </a:solidFill>
          <a:ln w="12700">
            <a:solidFill>
              <a:srgbClr val="000000"/>
            </a:solidFill>
            <a:prstDash val="solid"/>
          </a:ln>
        </p:spPr>
      </p:sp>
      <p:sp>
        <p:nvSpPr>
          <p:cNvPr id="10" name="Shape 8"/>
          <p:cNvSpPr/>
          <p:nvPr/>
        </p:nvSpPr>
        <p:spPr>
          <a:xfrm>
            <a:off x="594360" y="2642616"/>
            <a:ext cx="10607040" cy="274320"/>
          </a:xfrm>
          <a:prstGeom prst="roundRect">
            <a:avLst>
              <a:gd name="adj" fmla="val 26667"/>
            </a:avLst>
          </a:prstGeom>
          <a:solidFill>
            <a:srgbClr val="17172A"/>
          </a:solidFill>
          <a:ln w="12700">
            <a:solidFill>
              <a:srgbClr val="000000"/>
            </a:solidFill>
            <a:prstDash val="solid"/>
          </a:ln>
        </p:spPr>
      </p:sp>
      <p:sp>
        <p:nvSpPr>
          <p:cNvPr id="11" name="Shape 9"/>
          <p:cNvSpPr/>
          <p:nvPr/>
        </p:nvSpPr>
        <p:spPr>
          <a:xfrm>
            <a:off x="594360" y="2843784"/>
            <a:ext cx="10607040" cy="73152"/>
          </a:xfrm>
          <a:prstGeom prst="rect">
            <a:avLst/>
          </a:prstGeom>
          <a:solidFill>
            <a:srgbClr val="17172A"/>
          </a:solidFill>
          <a:ln w="12700">
            <a:solidFill>
              <a:srgbClr val="000000"/>
            </a:solidFill>
            <a:prstDash val="solid"/>
          </a:ln>
        </p:spPr>
      </p:sp>
      <p:sp>
        <p:nvSpPr>
          <p:cNvPr id="12" name="Shape 10"/>
          <p:cNvSpPr/>
          <p:nvPr/>
        </p:nvSpPr>
        <p:spPr>
          <a:xfrm>
            <a:off x="722376" y="2741371"/>
            <a:ext cx="76810" cy="76810"/>
          </a:xfrm>
          <a:prstGeom prst="ellipse">
            <a:avLst/>
          </a:prstGeom>
          <a:solidFill>
            <a:srgbClr val="FF5F56"/>
          </a:solidFill>
          <a:ln w="12700">
            <a:solidFill>
              <a:srgbClr val="000000"/>
            </a:solidFill>
            <a:prstDash val="solid"/>
          </a:ln>
        </p:spPr>
      </p:sp>
      <p:sp>
        <p:nvSpPr>
          <p:cNvPr id="13" name="Shape 11"/>
          <p:cNvSpPr/>
          <p:nvPr/>
        </p:nvSpPr>
        <p:spPr>
          <a:xfrm>
            <a:off x="886968" y="2741371"/>
            <a:ext cx="76810" cy="76810"/>
          </a:xfrm>
          <a:prstGeom prst="ellipse">
            <a:avLst/>
          </a:prstGeom>
          <a:solidFill>
            <a:srgbClr val="FFBD2E"/>
          </a:solidFill>
          <a:ln w="12700">
            <a:solidFill>
              <a:srgbClr val="000000"/>
            </a:solidFill>
            <a:prstDash val="solid"/>
          </a:ln>
        </p:spPr>
      </p:sp>
      <p:sp>
        <p:nvSpPr>
          <p:cNvPr id="14" name="Shape 12"/>
          <p:cNvSpPr/>
          <p:nvPr/>
        </p:nvSpPr>
        <p:spPr>
          <a:xfrm>
            <a:off x="1051560" y="2741371"/>
            <a:ext cx="76810" cy="76810"/>
          </a:xfrm>
          <a:prstGeom prst="ellipse">
            <a:avLst/>
          </a:prstGeom>
          <a:solidFill>
            <a:srgbClr val="27C93F"/>
          </a:solidFill>
          <a:ln w="12700">
            <a:solidFill>
              <a:srgbClr val="000000"/>
            </a:solidFill>
            <a:prstDash val="solid"/>
          </a:ln>
        </p:spPr>
      </p:sp>
      <p:sp>
        <p:nvSpPr>
          <p:cNvPr id="15" name="Text 13"/>
          <p:cNvSpPr/>
          <p:nvPr/>
        </p:nvSpPr>
        <p:spPr>
          <a:xfrm>
            <a:off x="1371600" y="2642616"/>
            <a:ext cx="9692640" cy="274320"/>
          </a:xfrm>
          <a:prstGeom prst="rect">
            <a:avLst/>
          </a:prstGeom>
          <a:noFill/>
          <a:ln/>
        </p:spPr>
        <p:txBody>
          <a:bodyPr wrap="square" lIns="0" tIns="0" rIns="0" bIns="0" rtlCol="0" anchor="ctr"/>
          <a:lstStyle/>
          <a:p>
            <a:pPr marL="0" indent="0" algn="l">
              <a:buNone/>
            </a:pPr>
            <a:r>
              <a:rPr lang="en-US" sz="1000" dirty="0">
                <a:solidFill>
                  <a:srgbClr val="8A8FA3"/>
                </a:solidFill>
                <a:latin typeface="Courier New" pitchFamily="34" charset="0"/>
                <a:ea typeface="Courier New" pitchFamily="34" charset="-122"/>
                <a:cs typeface="Courier New" pitchFamily="34" charset="-120"/>
              </a:rPr>
              <a:t>Main.java</a:t>
            </a:r>
            <a:endParaRPr lang="en-US" sz="1000" dirty="0"/>
          </a:p>
        </p:txBody>
      </p:sp>
      <p:sp>
        <p:nvSpPr>
          <p:cNvPr id="16" name="Text 14"/>
          <p:cNvSpPr/>
          <p:nvPr/>
        </p:nvSpPr>
        <p:spPr>
          <a:xfrm>
            <a:off x="777240" y="2990088"/>
            <a:ext cx="10241280" cy="2971800"/>
          </a:xfrm>
          <a:prstGeom prst="rect">
            <a:avLst/>
          </a:prstGeom>
          <a:noFill/>
          <a:ln/>
        </p:spPr>
        <p:txBody>
          <a:bodyPr wrap="square" lIns="0" tIns="0" rIns="0" bIns="0" rtlCol="0" anchor="t"/>
          <a:lstStyle/>
          <a:p>
            <a:pPr marL="0" indent="0" algn="l">
              <a:lnSpc>
                <a:spcPct val="118000"/>
              </a:lnSpc>
              <a:buNone/>
            </a:pPr>
            <a:r>
              <a:rPr lang="en-US" sz="1200" b="1" dirty="0">
                <a:solidFill>
                  <a:srgbClr val="569CD6"/>
                </a:solidFill>
                <a:latin typeface="Courier New" pitchFamily="34" charset="0"/>
                <a:ea typeface="Courier New" pitchFamily="34" charset="-122"/>
                <a:cs typeface="Courier New" pitchFamily="34" charset="-120"/>
              </a:rPr>
              <a:t>public</a:t>
            </a:r>
            <a:r>
              <a:rPr lang="en-US" sz="1200" dirty="0">
                <a:solidFill>
                  <a:srgbClr val="D4D4D4"/>
                </a:solidFill>
                <a:latin typeface="Courier New" pitchFamily="34" charset="0"/>
                <a:ea typeface="Courier New" pitchFamily="34" charset="-122"/>
                <a:cs typeface="Courier New" pitchFamily="34" charset="-120"/>
              </a:rPr>
              <a:t> </a:t>
            </a:r>
            <a:r>
              <a:rPr lang="en-US" sz="1200" b="1" dirty="0">
                <a:solidFill>
                  <a:srgbClr val="569CD6"/>
                </a:solidFill>
                <a:latin typeface="Courier New" pitchFamily="34" charset="0"/>
                <a:ea typeface="Courier New" pitchFamily="34" charset="-122"/>
                <a:cs typeface="Courier New" pitchFamily="34" charset="-120"/>
              </a:rPr>
              <a:t>class</a:t>
            </a:r>
            <a:r>
              <a:rPr lang="en-US" sz="1200" dirty="0">
                <a:solidFill>
                  <a:srgbClr val="D4D4D4"/>
                </a:solidFill>
                <a:latin typeface="Courier New" pitchFamily="34" charset="0"/>
                <a:ea typeface="Courier New" pitchFamily="34" charset="-122"/>
                <a:cs typeface="Courier New" pitchFamily="34" charset="-120"/>
              </a:rPr>
              <a:t> Car {</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r>
              <a:rPr lang="en-US" sz="1200" dirty="0">
                <a:solidFill>
                  <a:srgbClr val="4EC9B0"/>
                </a:solidFill>
                <a:latin typeface="Courier New" pitchFamily="34" charset="0"/>
                <a:ea typeface="Courier New" pitchFamily="34" charset="-122"/>
                <a:cs typeface="Courier New" pitchFamily="34" charset="-120"/>
              </a:rPr>
              <a:t>String</a:t>
            </a:r>
            <a:r>
              <a:rPr lang="en-US" sz="1200" dirty="0">
                <a:solidFill>
                  <a:srgbClr val="D4D4D4"/>
                </a:solidFill>
                <a:latin typeface="Courier New" pitchFamily="34" charset="0"/>
                <a:ea typeface="Courier New" pitchFamily="34" charset="-122"/>
                <a:cs typeface="Courier New" pitchFamily="34" charset="-120"/>
              </a:rPr>
              <a:t> brand;</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r>
              <a:rPr lang="en-US" sz="1200" b="1" dirty="0">
                <a:solidFill>
                  <a:srgbClr val="569CD6"/>
                </a:solidFill>
                <a:latin typeface="Courier New" pitchFamily="34" charset="0"/>
                <a:ea typeface="Courier New" pitchFamily="34" charset="-122"/>
                <a:cs typeface="Courier New" pitchFamily="34" charset="-120"/>
              </a:rPr>
              <a:t>int</a:t>
            </a:r>
            <a:r>
              <a:rPr lang="en-US" sz="1200" dirty="0">
                <a:solidFill>
                  <a:srgbClr val="D4D4D4"/>
                </a:solidFill>
                <a:latin typeface="Courier New" pitchFamily="34" charset="0"/>
                <a:ea typeface="Courier New" pitchFamily="34" charset="-122"/>
                <a:cs typeface="Courier New" pitchFamily="34" charset="-120"/>
              </a:rPr>
              <a:t> speed;</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r>
              <a:rPr lang="en-US" sz="1200" dirty="0">
                <a:solidFill>
                  <a:srgbClr val="DCDCAA"/>
                </a:solidFill>
                <a:latin typeface="Courier New" pitchFamily="34" charset="0"/>
                <a:ea typeface="Courier New" pitchFamily="34" charset="-122"/>
                <a:cs typeface="Courier New" pitchFamily="34" charset="-120"/>
              </a:rPr>
              <a:t>Car</a:t>
            </a:r>
            <a:r>
              <a:rPr lang="en-US" sz="1200" dirty="0">
                <a:solidFill>
                  <a:srgbClr val="D4D4D4"/>
                </a:solidFill>
                <a:latin typeface="Courier New" pitchFamily="34" charset="0"/>
                <a:ea typeface="Courier New" pitchFamily="34" charset="-122"/>
                <a:cs typeface="Courier New" pitchFamily="34" charset="-120"/>
              </a:rPr>
              <a:t>() {</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r>
              <a:rPr lang="en-US" sz="1200" b="1" dirty="0">
                <a:solidFill>
                  <a:srgbClr val="569CD6"/>
                </a:solidFill>
                <a:latin typeface="Courier New" pitchFamily="34" charset="0"/>
                <a:ea typeface="Courier New" pitchFamily="34" charset="-122"/>
                <a:cs typeface="Courier New" pitchFamily="34" charset="-120"/>
              </a:rPr>
              <a:t>this</a:t>
            </a:r>
            <a:r>
              <a:rPr lang="en-US" sz="1200" dirty="0">
                <a:solidFill>
                  <a:srgbClr val="D4D4D4"/>
                </a:solidFill>
                <a:latin typeface="Courier New" pitchFamily="34" charset="0"/>
                <a:ea typeface="Courier New" pitchFamily="34" charset="-122"/>
                <a:cs typeface="Courier New" pitchFamily="34" charset="-120"/>
              </a:rPr>
              <a:t>(</a:t>
            </a:r>
            <a:r>
              <a:rPr lang="en-US" sz="1200" dirty="0">
                <a:solidFill>
                  <a:srgbClr val="CE9178"/>
                </a:solidFill>
                <a:latin typeface="Courier New" pitchFamily="34" charset="0"/>
                <a:ea typeface="Courier New" pitchFamily="34" charset="-122"/>
                <a:cs typeface="Courier New" pitchFamily="34" charset="-120"/>
              </a:rPr>
              <a:t>"Unknown"</a:t>
            </a:r>
            <a:r>
              <a:rPr lang="en-US" sz="1200" dirty="0">
                <a:solidFill>
                  <a:srgbClr val="D4D4D4"/>
                </a:solidFill>
                <a:latin typeface="Courier New" pitchFamily="34" charset="0"/>
                <a:ea typeface="Courier New" pitchFamily="34" charset="-122"/>
                <a:cs typeface="Courier New" pitchFamily="34" charset="-120"/>
              </a:rPr>
              <a:t>, </a:t>
            </a:r>
            <a:r>
              <a:rPr lang="en-US" sz="1200" dirty="0">
                <a:solidFill>
                  <a:srgbClr val="B5CEA8"/>
                </a:solidFill>
                <a:latin typeface="Courier New" pitchFamily="34" charset="0"/>
                <a:ea typeface="Courier New" pitchFamily="34" charset="-122"/>
                <a:cs typeface="Courier New" pitchFamily="34" charset="-120"/>
              </a:rPr>
              <a:t>0</a:t>
            </a:r>
            <a:r>
              <a:rPr lang="en-US" sz="1200" dirty="0">
                <a:solidFill>
                  <a:srgbClr val="D4D4D4"/>
                </a:solidFill>
                <a:latin typeface="Courier New" pitchFamily="34" charset="0"/>
                <a:ea typeface="Courier New" pitchFamily="34" charset="-122"/>
                <a:cs typeface="Courier New" pitchFamily="34" charset="-120"/>
              </a:rPr>
              <a:t>);</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r>
              <a:rPr lang="en-US" sz="1200" dirty="0">
                <a:solidFill>
                  <a:srgbClr val="DCDCAA"/>
                </a:solidFill>
                <a:latin typeface="Courier New" pitchFamily="34" charset="0"/>
                <a:ea typeface="Courier New" pitchFamily="34" charset="-122"/>
                <a:cs typeface="Courier New" pitchFamily="34" charset="-120"/>
              </a:rPr>
              <a:t>Car</a:t>
            </a:r>
            <a:r>
              <a:rPr lang="en-US" sz="1200" dirty="0">
                <a:solidFill>
                  <a:srgbClr val="D4D4D4"/>
                </a:solidFill>
                <a:latin typeface="Courier New" pitchFamily="34" charset="0"/>
                <a:ea typeface="Courier New" pitchFamily="34" charset="-122"/>
                <a:cs typeface="Courier New" pitchFamily="34" charset="-120"/>
              </a:rPr>
              <a:t>(</a:t>
            </a:r>
            <a:r>
              <a:rPr lang="en-US" sz="1200" dirty="0">
                <a:solidFill>
                  <a:srgbClr val="4EC9B0"/>
                </a:solidFill>
                <a:latin typeface="Courier New" pitchFamily="34" charset="0"/>
                <a:ea typeface="Courier New" pitchFamily="34" charset="-122"/>
                <a:cs typeface="Courier New" pitchFamily="34" charset="-120"/>
              </a:rPr>
              <a:t>String</a:t>
            </a:r>
            <a:r>
              <a:rPr lang="en-US" sz="1200" dirty="0">
                <a:solidFill>
                  <a:srgbClr val="D4D4D4"/>
                </a:solidFill>
                <a:latin typeface="Courier New" pitchFamily="34" charset="0"/>
                <a:ea typeface="Courier New" pitchFamily="34" charset="-122"/>
                <a:cs typeface="Courier New" pitchFamily="34" charset="-120"/>
              </a:rPr>
              <a:t> brand, </a:t>
            </a:r>
            <a:r>
              <a:rPr lang="en-US" sz="1200" b="1" dirty="0">
                <a:solidFill>
                  <a:srgbClr val="569CD6"/>
                </a:solidFill>
                <a:latin typeface="Courier New" pitchFamily="34" charset="0"/>
                <a:ea typeface="Courier New" pitchFamily="34" charset="-122"/>
                <a:cs typeface="Courier New" pitchFamily="34" charset="-120"/>
              </a:rPr>
              <a:t>int</a:t>
            </a:r>
            <a:r>
              <a:rPr lang="en-US" sz="1200" dirty="0">
                <a:solidFill>
                  <a:srgbClr val="D4D4D4"/>
                </a:solidFill>
                <a:latin typeface="Courier New" pitchFamily="34" charset="0"/>
                <a:ea typeface="Courier New" pitchFamily="34" charset="-122"/>
                <a:cs typeface="Courier New" pitchFamily="34" charset="-120"/>
              </a:rPr>
              <a:t> speed) {</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r>
              <a:rPr lang="en-US" sz="1200" b="1" dirty="0">
                <a:solidFill>
                  <a:srgbClr val="569CD6"/>
                </a:solidFill>
                <a:latin typeface="Courier New" pitchFamily="34" charset="0"/>
                <a:ea typeface="Courier New" pitchFamily="34" charset="-122"/>
                <a:cs typeface="Courier New" pitchFamily="34" charset="-120"/>
              </a:rPr>
              <a:t>this</a:t>
            </a:r>
            <a:r>
              <a:rPr lang="en-US" sz="1200" dirty="0">
                <a:solidFill>
                  <a:srgbClr val="D4D4D4"/>
                </a:solidFill>
                <a:latin typeface="Courier New" pitchFamily="34" charset="0"/>
                <a:ea typeface="Courier New" pitchFamily="34" charset="-122"/>
                <a:cs typeface="Courier New" pitchFamily="34" charset="-120"/>
              </a:rPr>
              <a:t>.brand = brand;</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r>
              <a:rPr lang="en-US" sz="1200" b="1" dirty="0">
                <a:solidFill>
                  <a:srgbClr val="569CD6"/>
                </a:solidFill>
                <a:latin typeface="Courier New" pitchFamily="34" charset="0"/>
                <a:ea typeface="Courier New" pitchFamily="34" charset="-122"/>
                <a:cs typeface="Courier New" pitchFamily="34" charset="-120"/>
              </a:rPr>
              <a:t>this</a:t>
            </a:r>
            <a:r>
              <a:rPr lang="en-US" sz="1200" dirty="0">
                <a:solidFill>
                  <a:srgbClr val="D4D4D4"/>
                </a:solidFill>
                <a:latin typeface="Courier New" pitchFamily="34" charset="0"/>
                <a:ea typeface="Courier New" pitchFamily="34" charset="-122"/>
                <a:cs typeface="Courier New" pitchFamily="34" charset="-120"/>
              </a:rPr>
              <a:t>.speed = speed;</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a:t>
            </a:r>
            <a:endParaRPr lang="en-US" sz="1200" dirty="0"/>
          </a:p>
        </p:txBody>
      </p:sp>
      <p:sp>
        <p:nvSpPr>
          <p:cNvPr id="17" name="Shape 15"/>
          <p:cNvSpPr/>
          <p:nvPr/>
        </p:nvSpPr>
        <p:spPr>
          <a:xfrm>
            <a:off x="0" y="0"/>
            <a:ext cx="12191695" cy="384048"/>
          </a:xfrm>
          <a:prstGeom prst="rect">
            <a:avLst/>
          </a:prstGeom>
          <a:solidFill>
            <a:srgbClr val="1B2A4A"/>
          </a:solidFill>
          <a:ln w="12700">
            <a:solidFill>
              <a:srgbClr val="1B2A4A"/>
            </a:solidFill>
            <a:prstDash val="solid"/>
          </a:ln>
        </p:spPr>
      </p:sp>
      <p:sp>
        <p:nvSpPr>
          <p:cNvPr id="18" name="Text 16"/>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9" name="Shape 17"/>
          <p:cNvSpPr/>
          <p:nvPr/>
        </p:nvSpPr>
        <p:spPr>
          <a:xfrm>
            <a:off x="219456" y="301752"/>
            <a:ext cx="960120" cy="0"/>
          </a:xfrm>
          <a:prstGeom prst="line">
            <a:avLst/>
          </a:prstGeom>
          <a:noFill/>
          <a:ln w="9525">
            <a:solidFill>
              <a:srgbClr val="4A5570"/>
            </a:solidFill>
            <a:prstDash val="solid"/>
          </a:ln>
        </p:spPr>
      </p:sp>
      <p:sp>
        <p:nvSpPr>
          <p:cNvPr id="20" name="Text 18"/>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1" name="Text 19"/>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2" name="Text 20"/>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3" name="Shape 21"/>
          <p:cNvSpPr/>
          <p:nvPr/>
        </p:nvSpPr>
        <p:spPr>
          <a:xfrm>
            <a:off x="0" y="6291072"/>
            <a:ext cx="12191695" cy="566928"/>
          </a:xfrm>
          <a:prstGeom prst="rect">
            <a:avLst/>
          </a:prstGeom>
          <a:solidFill>
            <a:srgbClr val="1B2A4A"/>
          </a:solidFill>
          <a:ln w="12700">
            <a:solidFill>
              <a:srgbClr val="1B2A4A"/>
            </a:solidFill>
            <a:prstDash val="solid"/>
          </a:ln>
        </p:spPr>
      </p:sp>
      <p:sp>
        <p:nvSpPr>
          <p:cNvPr id="24" name="Text 22"/>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5" name="Text 23"/>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SETUP LOGIC</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Initializing Fields in a Constructor</a:t>
            </a:r>
            <a:endParaRPr lang="en-US" sz="2700" dirty="0"/>
          </a:p>
        </p:txBody>
      </p:sp>
      <p:sp>
        <p:nvSpPr>
          <p:cNvPr id="4" name="Shape 2"/>
          <p:cNvSpPr/>
          <p:nvPr/>
        </p:nvSpPr>
        <p:spPr>
          <a:xfrm>
            <a:off x="594360" y="1600200"/>
            <a:ext cx="10607040" cy="896112"/>
          </a:xfrm>
          <a:prstGeom prst="roundRect">
            <a:avLst>
              <a:gd name="adj" fmla="val 6122"/>
            </a:avLst>
          </a:prstGeom>
          <a:solidFill>
            <a:srgbClr val="F5F6FA"/>
          </a:solidFill>
          <a:ln w="9525">
            <a:solidFill>
              <a:srgbClr val="E4E7EE"/>
            </a:solidFill>
            <a:prstDash val="solid"/>
          </a:ln>
        </p:spPr>
      </p:sp>
      <p:sp>
        <p:nvSpPr>
          <p:cNvPr id="5" name="Shape 3"/>
          <p:cNvSpPr/>
          <p:nvPr/>
        </p:nvSpPr>
        <p:spPr>
          <a:xfrm>
            <a:off x="804672" y="1755648"/>
            <a:ext cx="100584" cy="100584"/>
          </a:xfrm>
          <a:prstGeom prst="ellipse">
            <a:avLst/>
          </a:prstGeom>
          <a:solidFill>
            <a:srgbClr val="E8590C"/>
          </a:solidFill>
          <a:ln w="12700">
            <a:solidFill>
              <a:srgbClr val="000000"/>
            </a:solidFill>
            <a:prstDash val="solid"/>
          </a:ln>
        </p:spPr>
      </p:sp>
      <p:sp>
        <p:nvSpPr>
          <p:cNvPr id="6" name="Text 4"/>
          <p:cNvSpPr/>
          <p:nvPr/>
        </p:nvSpPr>
        <p:spPr>
          <a:xfrm>
            <a:off x="1051560" y="1655064"/>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A constructor is the natural place to validate and assign values as an object is built.</a:t>
            </a:r>
            <a:endParaRPr lang="en-US" sz="1250" dirty="0"/>
          </a:p>
        </p:txBody>
      </p:sp>
      <p:sp>
        <p:nvSpPr>
          <p:cNvPr id="7" name="Shape 5"/>
          <p:cNvSpPr/>
          <p:nvPr/>
        </p:nvSpPr>
        <p:spPr>
          <a:xfrm>
            <a:off x="804672" y="2103120"/>
            <a:ext cx="100584" cy="100584"/>
          </a:xfrm>
          <a:prstGeom prst="ellipse">
            <a:avLst/>
          </a:prstGeom>
          <a:solidFill>
            <a:srgbClr val="E8590C"/>
          </a:solidFill>
          <a:ln w="12700">
            <a:solidFill>
              <a:srgbClr val="000000"/>
            </a:solidFill>
            <a:prstDash val="solid"/>
          </a:ln>
        </p:spPr>
      </p:sp>
      <p:sp>
        <p:nvSpPr>
          <p:cNvPr id="8" name="Text 6"/>
          <p:cNvSpPr/>
          <p:nvPr/>
        </p:nvSpPr>
        <p:spPr>
          <a:xfrm>
            <a:off x="1051560" y="2002536"/>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Simple checks inside a constructor can prevent an object from ever holding invalid data.</a:t>
            </a:r>
            <a:endParaRPr lang="en-US" sz="1250" dirty="0"/>
          </a:p>
        </p:txBody>
      </p:sp>
      <p:sp>
        <p:nvSpPr>
          <p:cNvPr id="9" name="Shape 7"/>
          <p:cNvSpPr/>
          <p:nvPr/>
        </p:nvSpPr>
        <p:spPr>
          <a:xfrm>
            <a:off x="594360" y="2642616"/>
            <a:ext cx="10607040" cy="3392424"/>
          </a:xfrm>
          <a:prstGeom prst="roundRect">
            <a:avLst>
              <a:gd name="adj" fmla="val 2156"/>
            </a:avLst>
          </a:prstGeom>
          <a:solidFill>
            <a:srgbClr val="1E1E2E"/>
          </a:solidFill>
          <a:ln w="12700">
            <a:solidFill>
              <a:srgbClr val="000000"/>
            </a:solidFill>
            <a:prstDash val="solid"/>
          </a:ln>
        </p:spPr>
      </p:sp>
      <p:sp>
        <p:nvSpPr>
          <p:cNvPr id="10" name="Shape 8"/>
          <p:cNvSpPr/>
          <p:nvPr/>
        </p:nvSpPr>
        <p:spPr>
          <a:xfrm>
            <a:off x="594360" y="2642616"/>
            <a:ext cx="10607040" cy="274320"/>
          </a:xfrm>
          <a:prstGeom prst="roundRect">
            <a:avLst>
              <a:gd name="adj" fmla="val 26667"/>
            </a:avLst>
          </a:prstGeom>
          <a:solidFill>
            <a:srgbClr val="17172A"/>
          </a:solidFill>
          <a:ln w="12700">
            <a:solidFill>
              <a:srgbClr val="000000"/>
            </a:solidFill>
            <a:prstDash val="solid"/>
          </a:ln>
        </p:spPr>
      </p:sp>
      <p:sp>
        <p:nvSpPr>
          <p:cNvPr id="11" name="Shape 9"/>
          <p:cNvSpPr/>
          <p:nvPr/>
        </p:nvSpPr>
        <p:spPr>
          <a:xfrm>
            <a:off x="594360" y="2843784"/>
            <a:ext cx="10607040" cy="73152"/>
          </a:xfrm>
          <a:prstGeom prst="rect">
            <a:avLst/>
          </a:prstGeom>
          <a:solidFill>
            <a:srgbClr val="17172A"/>
          </a:solidFill>
          <a:ln w="12700">
            <a:solidFill>
              <a:srgbClr val="000000"/>
            </a:solidFill>
            <a:prstDash val="solid"/>
          </a:ln>
        </p:spPr>
      </p:sp>
      <p:sp>
        <p:nvSpPr>
          <p:cNvPr id="12" name="Shape 10"/>
          <p:cNvSpPr/>
          <p:nvPr/>
        </p:nvSpPr>
        <p:spPr>
          <a:xfrm>
            <a:off x="722376" y="2741371"/>
            <a:ext cx="76810" cy="76810"/>
          </a:xfrm>
          <a:prstGeom prst="ellipse">
            <a:avLst/>
          </a:prstGeom>
          <a:solidFill>
            <a:srgbClr val="FF5F56"/>
          </a:solidFill>
          <a:ln w="12700">
            <a:solidFill>
              <a:srgbClr val="000000"/>
            </a:solidFill>
            <a:prstDash val="solid"/>
          </a:ln>
        </p:spPr>
      </p:sp>
      <p:sp>
        <p:nvSpPr>
          <p:cNvPr id="13" name="Shape 11"/>
          <p:cNvSpPr/>
          <p:nvPr/>
        </p:nvSpPr>
        <p:spPr>
          <a:xfrm>
            <a:off x="886968" y="2741371"/>
            <a:ext cx="76810" cy="76810"/>
          </a:xfrm>
          <a:prstGeom prst="ellipse">
            <a:avLst/>
          </a:prstGeom>
          <a:solidFill>
            <a:srgbClr val="FFBD2E"/>
          </a:solidFill>
          <a:ln w="12700">
            <a:solidFill>
              <a:srgbClr val="000000"/>
            </a:solidFill>
            <a:prstDash val="solid"/>
          </a:ln>
        </p:spPr>
      </p:sp>
      <p:sp>
        <p:nvSpPr>
          <p:cNvPr id="14" name="Shape 12"/>
          <p:cNvSpPr/>
          <p:nvPr/>
        </p:nvSpPr>
        <p:spPr>
          <a:xfrm>
            <a:off x="1051560" y="2741371"/>
            <a:ext cx="76810" cy="76810"/>
          </a:xfrm>
          <a:prstGeom prst="ellipse">
            <a:avLst/>
          </a:prstGeom>
          <a:solidFill>
            <a:srgbClr val="27C93F"/>
          </a:solidFill>
          <a:ln w="12700">
            <a:solidFill>
              <a:srgbClr val="000000"/>
            </a:solidFill>
            <a:prstDash val="solid"/>
          </a:ln>
        </p:spPr>
      </p:sp>
      <p:sp>
        <p:nvSpPr>
          <p:cNvPr id="15" name="Text 13"/>
          <p:cNvSpPr/>
          <p:nvPr/>
        </p:nvSpPr>
        <p:spPr>
          <a:xfrm>
            <a:off x="1371600" y="2642616"/>
            <a:ext cx="9692640" cy="274320"/>
          </a:xfrm>
          <a:prstGeom prst="rect">
            <a:avLst/>
          </a:prstGeom>
          <a:noFill/>
          <a:ln/>
        </p:spPr>
        <p:txBody>
          <a:bodyPr wrap="square" lIns="0" tIns="0" rIns="0" bIns="0" rtlCol="0" anchor="ctr"/>
          <a:lstStyle/>
          <a:p>
            <a:pPr marL="0" indent="0" algn="l">
              <a:buNone/>
            </a:pPr>
            <a:r>
              <a:rPr lang="en-US" sz="1000" dirty="0">
                <a:solidFill>
                  <a:srgbClr val="8A8FA3"/>
                </a:solidFill>
                <a:latin typeface="Courier New" pitchFamily="34" charset="0"/>
                <a:ea typeface="Courier New" pitchFamily="34" charset="-122"/>
                <a:cs typeface="Courier New" pitchFamily="34" charset="-120"/>
              </a:rPr>
              <a:t>Main.java</a:t>
            </a:r>
            <a:endParaRPr lang="en-US" sz="1000" dirty="0"/>
          </a:p>
        </p:txBody>
      </p:sp>
      <p:sp>
        <p:nvSpPr>
          <p:cNvPr id="16" name="Text 14"/>
          <p:cNvSpPr/>
          <p:nvPr/>
        </p:nvSpPr>
        <p:spPr>
          <a:xfrm>
            <a:off x="777240" y="2990088"/>
            <a:ext cx="10241280" cy="2971800"/>
          </a:xfrm>
          <a:prstGeom prst="rect">
            <a:avLst/>
          </a:prstGeom>
          <a:noFill/>
          <a:ln/>
        </p:spPr>
        <p:txBody>
          <a:bodyPr wrap="square" lIns="0" tIns="0" rIns="0" bIns="0" rtlCol="0" anchor="t"/>
          <a:lstStyle/>
          <a:p>
            <a:pPr marL="0" indent="0" algn="l">
              <a:lnSpc>
                <a:spcPct val="118000"/>
              </a:lnSpc>
              <a:buNone/>
            </a:pPr>
            <a:r>
              <a:rPr lang="en-US" sz="1500" b="1" dirty="0">
                <a:solidFill>
                  <a:srgbClr val="569CD6"/>
                </a:solidFill>
                <a:latin typeface="Courier New" pitchFamily="34" charset="0"/>
                <a:ea typeface="Courier New" pitchFamily="34" charset="-122"/>
                <a:cs typeface="Courier New" pitchFamily="34" charset="-120"/>
              </a:rPr>
              <a:t>public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class</a:t>
            </a:r>
            <a:r>
              <a:rPr lang="en-US" sz="1500" dirty="0">
                <a:solidFill>
                  <a:srgbClr val="D4D4D4"/>
                </a:solidFill>
                <a:latin typeface="Courier New" pitchFamily="34" charset="0"/>
                <a:ea typeface="Courier New" pitchFamily="34" charset="-122"/>
                <a:cs typeface="Courier New" pitchFamily="34" charset="-120"/>
              </a:rPr>
              <a:t> Account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4EC9B0"/>
                </a:solidFill>
                <a:latin typeface="Courier New" pitchFamily="34" charset="0"/>
                <a:ea typeface="Courier New" pitchFamily="34" charset="-122"/>
                <a:cs typeface="Courier New" pitchFamily="34" charset="-120"/>
              </a:rPr>
              <a:t>String</a:t>
            </a:r>
            <a:r>
              <a:rPr lang="en-US" sz="1500" dirty="0">
                <a:solidFill>
                  <a:srgbClr val="D4D4D4"/>
                </a:solidFill>
                <a:latin typeface="Courier New" pitchFamily="34" charset="0"/>
                <a:ea typeface="Courier New" pitchFamily="34" charset="-122"/>
                <a:cs typeface="Courier New" pitchFamily="34" charset="-120"/>
              </a:rPr>
              <a:t> owner;</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double</a:t>
            </a:r>
            <a:r>
              <a:rPr lang="en-US" sz="1500" dirty="0">
                <a:solidFill>
                  <a:srgbClr val="D4D4D4"/>
                </a:solidFill>
                <a:latin typeface="Courier New" pitchFamily="34" charset="0"/>
                <a:ea typeface="Courier New" pitchFamily="34" charset="-122"/>
                <a:cs typeface="Courier New" pitchFamily="34" charset="-120"/>
              </a:rPr>
              <a:t> balance;</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DCDCAA"/>
                </a:solidFill>
                <a:latin typeface="Courier New" pitchFamily="34" charset="0"/>
                <a:ea typeface="Courier New" pitchFamily="34" charset="-122"/>
                <a:cs typeface="Courier New" pitchFamily="34" charset="-120"/>
              </a:rPr>
              <a:t>Account</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4EC9B0"/>
                </a:solidFill>
                <a:latin typeface="Courier New" pitchFamily="34" charset="0"/>
                <a:ea typeface="Courier New" pitchFamily="34" charset="-122"/>
                <a:cs typeface="Courier New" pitchFamily="34" charset="-120"/>
              </a:rPr>
              <a:t>String</a:t>
            </a:r>
            <a:r>
              <a:rPr lang="en-US" sz="1500" dirty="0">
                <a:solidFill>
                  <a:srgbClr val="D4D4D4"/>
                </a:solidFill>
                <a:latin typeface="Courier New" pitchFamily="34" charset="0"/>
                <a:ea typeface="Courier New" pitchFamily="34" charset="-122"/>
                <a:cs typeface="Courier New" pitchFamily="34" charset="-120"/>
              </a:rPr>
              <a:t> owner, </a:t>
            </a:r>
            <a:r>
              <a:rPr lang="en-US" sz="1500" b="1" dirty="0">
                <a:solidFill>
                  <a:srgbClr val="569CD6"/>
                </a:solidFill>
                <a:latin typeface="Courier New" pitchFamily="34" charset="0"/>
                <a:ea typeface="Courier New" pitchFamily="34" charset="-122"/>
                <a:cs typeface="Courier New" pitchFamily="34" charset="-120"/>
              </a:rPr>
              <a:t>double</a:t>
            </a:r>
            <a:r>
              <a:rPr lang="en-US" sz="1500" dirty="0">
                <a:solidFill>
                  <a:srgbClr val="D4D4D4"/>
                </a:solidFill>
                <a:latin typeface="Courier New" pitchFamily="34" charset="0"/>
                <a:ea typeface="Courier New" pitchFamily="34" charset="-122"/>
                <a:cs typeface="Courier New" pitchFamily="34" charset="-120"/>
              </a:rPr>
              <a:t> startingBalance)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this</a:t>
            </a:r>
            <a:r>
              <a:rPr lang="en-US" sz="1500" dirty="0">
                <a:solidFill>
                  <a:srgbClr val="D4D4D4"/>
                </a:solidFill>
                <a:latin typeface="Courier New" pitchFamily="34" charset="0"/>
                <a:ea typeface="Courier New" pitchFamily="34" charset="-122"/>
                <a:cs typeface="Courier New" pitchFamily="34" charset="-120"/>
              </a:rPr>
              <a:t>.owner = owner;</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this</a:t>
            </a:r>
            <a:r>
              <a:rPr lang="en-US" sz="1500" dirty="0">
                <a:solidFill>
                  <a:srgbClr val="D4D4D4"/>
                </a:solidFill>
                <a:latin typeface="Courier New" pitchFamily="34" charset="0"/>
                <a:ea typeface="Courier New" pitchFamily="34" charset="-122"/>
                <a:cs typeface="Courier New" pitchFamily="34" charset="-120"/>
              </a:rPr>
              <a:t>.balance = (startingBalance &lt; </a:t>
            </a:r>
            <a:r>
              <a:rPr lang="en-US" sz="1500" dirty="0">
                <a:solidFill>
                  <a:srgbClr val="B5CEA8"/>
                </a:solidFill>
                <a:latin typeface="Courier New" pitchFamily="34" charset="0"/>
                <a:ea typeface="Courier New" pitchFamily="34" charset="-122"/>
                <a:cs typeface="Courier New" pitchFamily="34" charset="-120"/>
              </a:rPr>
              <a:t>0</a:t>
            </a:r>
            <a:r>
              <a:rPr lang="en-US" sz="1500" dirty="0">
                <a:solidFill>
                  <a:srgbClr val="D4D4D4"/>
                </a:solidFill>
                <a:latin typeface="Courier New" pitchFamily="34" charset="0"/>
                <a:ea typeface="Courier New" pitchFamily="34" charset="-122"/>
                <a:cs typeface="Courier New" pitchFamily="34" charset="-120"/>
              </a:rPr>
              <a:t>) ? </a:t>
            </a:r>
            <a:r>
              <a:rPr lang="en-US" sz="1500" dirty="0">
                <a:solidFill>
                  <a:srgbClr val="B5CEA8"/>
                </a:solidFill>
                <a:latin typeface="Courier New" pitchFamily="34" charset="0"/>
                <a:ea typeface="Courier New" pitchFamily="34" charset="-122"/>
                <a:cs typeface="Courier New" pitchFamily="34" charset="-120"/>
              </a:rPr>
              <a:t>0</a:t>
            </a:r>
            <a:r>
              <a:rPr lang="en-US" sz="1500" dirty="0">
                <a:solidFill>
                  <a:srgbClr val="D4D4D4"/>
                </a:solidFill>
                <a:latin typeface="Courier New" pitchFamily="34" charset="0"/>
                <a:ea typeface="Courier New" pitchFamily="34" charset="-122"/>
                <a:cs typeface="Courier New" pitchFamily="34" charset="-120"/>
              </a:rPr>
              <a:t> : startingBalance;</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a:t>
            </a:r>
            <a:endParaRPr lang="en-US" sz="1500" dirty="0"/>
          </a:p>
        </p:txBody>
      </p:sp>
      <p:sp>
        <p:nvSpPr>
          <p:cNvPr id="17" name="Shape 15"/>
          <p:cNvSpPr/>
          <p:nvPr/>
        </p:nvSpPr>
        <p:spPr>
          <a:xfrm>
            <a:off x="0" y="0"/>
            <a:ext cx="12191695" cy="384048"/>
          </a:xfrm>
          <a:prstGeom prst="rect">
            <a:avLst/>
          </a:prstGeom>
          <a:solidFill>
            <a:srgbClr val="1B2A4A"/>
          </a:solidFill>
          <a:ln w="12700">
            <a:solidFill>
              <a:srgbClr val="1B2A4A"/>
            </a:solidFill>
            <a:prstDash val="solid"/>
          </a:ln>
        </p:spPr>
      </p:sp>
      <p:sp>
        <p:nvSpPr>
          <p:cNvPr id="18" name="Text 16"/>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9" name="Shape 17"/>
          <p:cNvSpPr/>
          <p:nvPr/>
        </p:nvSpPr>
        <p:spPr>
          <a:xfrm>
            <a:off x="219456" y="301752"/>
            <a:ext cx="960120" cy="0"/>
          </a:xfrm>
          <a:prstGeom prst="line">
            <a:avLst/>
          </a:prstGeom>
          <a:noFill/>
          <a:ln w="9525">
            <a:solidFill>
              <a:srgbClr val="4A5570"/>
            </a:solidFill>
            <a:prstDash val="solid"/>
          </a:ln>
        </p:spPr>
      </p:sp>
      <p:sp>
        <p:nvSpPr>
          <p:cNvPr id="20" name="Text 18"/>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1" name="Text 19"/>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2" name="Text 20"/>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3" name="Shape 21"/>
          <p:cNvSpPr/>
          <p:nvPr/>
        </p:nvSpPr>
        <p:spPr>
          <a:xfrm>
            <a:off x="0" y="6291072"/>
            <a:ext cx="12191695" cy="566928"/>
          </a:xfrm>
          <a:prstGeom prst="rect">
            <a:avLst/>
          </a:prstGeom>
          <a:solidFill>
            <a:srgbClr val="1B2A4A"/>
          </a:solidFill>
          <a:ln w="12700">
            <a:solidFill>
              <a:srgbClr val="1B2A4A"/>
            </a:solidFill>
            <a:prstDash val="solid"/>
          </a:ln>
        </p:spPr>
      </p:sp>
      <p:sp>
        <p:nvSpPr>
          <p:cNvPr id="24" name="Text 22"/>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5" name="Text 23"/>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COMMON PITFALL</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The Missing No-Arg Constructor</a:t>
            </a:r>
            <a:endParaRPr lang="en-US" sz="2700" dirty="0"/>
          </a:p>
        </p:txBody>
      </p:sp>
      <p:sp>
        <p:nvSpPr>
          <p:cNvPr id="4" name="Shape 2"/>
          <p:cNvSpPr/>
          <p:nvPr/>
        </p:nvSpPr>
        <p:spPr>
          <a:xfrm>
            <a:off x="594360" y="1691640"/>
            <a:ext cx="10607040" cy="1338072"/>
          </a:xfrm>
          <a:prstGeom prst="roundRect">
            <a:avLst>
              <a:gd name="adj" fmla="val 4100"/>
            </a:avLst>
          </a:prstGeom>
          <a:solidFill>
            <a:srgbClr val="F5F6FA"/>
          </a:solidFill>
          <a:ln w="9525">
            <a:solidFill>
              <a:srgbClr val="E4E7EE"/>
            </a:solidFill>
            <a:prstDash val="solid"/>
          </a:ln>
        </p:spPr>
      </p:sp>
      <p:sp>
        <p:nvSpPr>
          <p:cNvPr id="5" name="Shape 3"/>
          <p:cNvSpPr/>
          <p:nvPr/>
        </p:nvSpPr>
        <p:spPr>
          <a:xfrm>
            <a:off x="777240" y="1874520"/>
            <a:ext cx="109728" cy="109728"/>
          </a:xfrm>
          <a:prstGeom prst="ellipse">
            <a:avLst/>
          </a:prstGeom>
          <a:solidFill>
            <a:srgbClr val="E8590C"/>
          </a:solidFill>
          <a:ln w="12700">
            <a:solidFill>
              <a:srgbClr val="000000"/>
            </a:solidFill>
            <a:prstDash val="solid"/>
          </a:ln>
        </p:spPr>
      </p:sp>
      <p:sp>
        <p:nvSpPr>
          <p:cNvPr id="6" name="Text 4"/>
          <p:cNvSpPr/>
          <p:nvPr/>
        </p:nvSpPr>
        <p:spPr>
          <a:xfrm>
            <a:off x="1051560" y="1764792"/>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Writing any constructor removes the automatic default one</a:t>
            </a:r>
            <a:endParaRPr lang="en-US" sz="1500" dirty="0"/>
          </a:p>
        </p:txBody>
      </p:sp>
      <p:sp>
        <p:nvSpPr>
          <p:cNvPr id="7" name="Text 5"/>
          <p:cNvSpPr/>
          <p:nvPr/>
        </p:nvSpPr>
        <p:spPr>
          <a:xfrm>
            <a:off x="1051560" y="2057400"/>
            <a:ext cx="9966960" cy="917448"/>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Once a parameterized constructor is added, new ClassName() no longer works unless a no-arg constructor is written explicitly.</a:t>
            </a:r>
            <a:endParaRPr lang="en-US" sz="1250" dirty="0"/>
          </a:p>
        </p:txBody>
      </p:sp>
      <p:sp>
        <p:nvSpPr>
          <p:cNvPr id="8" name="Shape 6"/>
          <p:cNvSpPr/>
          <p:nvPr/>
        </p:nvSpPr>
        <p:spPr>
          <a:xfrm>
            <a:off x="594360" y="3194304"/>
            <a:ext cx="10607040" cy="1338072"/>
          </a:xfrm>
          <a:prstGeom prst="roundRect">
            <a:avLst>
              <a:gd name="adj" fmla="val 4100"/>
            </a:avLst>
          </a:prstGeom>
          <a:solidFill>
            <a:srgbClr val="F5F6FA"/>
          </a:solidFill>
          <a:ln w="9525">
            <a:solidFill>
              <a:srgbClr val="E4E7EE"/>
            </a:solidFill>
            <a:prstDash val="solid"/>
          </a:ln>
        </p:spPr>
      </p:sp>
      <p:sp>
        <p:nvSpPr>
          <p:cNvPr id="9" name="Shape 7"/>
          <p:cNvSpPr/>
          <p:nvPr/>
        </p:nvSpPr>
        <p:spPr>
          <a:xfrm>
            <a:off x="777240" y="3377184"/>
            <a:ext cx="109728" cy="109728"/>
          </a:xfrm>
          <a:prstGeom prst="ellipse">
            <a:avLst/>
          </a:prstGeom>
          <a:solidFill>
            <a:srgbClr val="E8590C"/>
          </a:solidFill>
          <a:ln w="12700">
            <a:solidFill>
              <a:srgbClr val="000000"/>
            </a:solidFill>
            <a:prstDash val="solid"/>
          </a:ln>
        </p:spPr>
      </p:sp>
      <p:sp>
        <p:nvSpPr>
          <p:cNvPr id="10" name="Text 8"/>
          <p:cNvSpPr/>
          <p:nvPr/>
        </p:nvSpPr>
        <p:spPr>
          <a:xfrm>
            <a:off x="1051560" y="3267456"/>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A frequent source of compile errors</a:t>
            </a:r>
            <a:endParaRPr lang="en-US" sz="1500" dirty="0"/>
          </a:p>
        </p:txBody>
      </p:sp>
      <p:sp>
        <p:nvSpPr>
          <p:cNvPr id="11" name="Text 9"/>
          <p:cNvSpPr/>
          <p:nvPr/>
        </p:nvSpPr>
        <p:spPr>
          <a:xfrm>
            <a:off x="1051560" y="3560064"/>
            <a:ext cx="9966960" cy="917448"/>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Code that relied on the default constructor stops compiling after a parameterized constructor is introduced.</a:t>
            </a:r>
            <a:endParaRPr lang="en-US" sz="1250" dirty="0"/>
          </a:p>
        </p:txBody>
      </p:sp>
      <p:sp>
        <p:nvSpPr>
          <p:cNvPr id="12" name="Shape 10"/>
          <p:cNvSpPr/>
          <p:nvPr/>
        </p:nvSpPr>
        <p:spPr>
          <a:xfrm>
            <a:off x="594360" y="4696968"/>
            <a:ext cx="10607040" cy="1338072"/>
          </a:xfrm>
          <a:prstGeom prst="roundRect">
            <a:avLst>
              <a:gd name="adj" fmla="val 4100"/>
            </a:avLst>
          </a:prstGeom>
          <a:solidFill>
            <a:srgbClr val="F5F6FA"/>
          </a:solidFill>
          <a:ln w="9525">
            <a:solidFill>
              <a:srgbClr val="E4E7EE"/>
            </a:solidFill>
            <a:prstDash val="solid"/>
          </a:ln>
        </p:spPr>
      </p:sp>
      <p:sp>
        <p:nvSpPr>
          <p:cNvPr id="13" name="Shape 11"/>
          <p:cNvSpPr/>
          <p:nvPr/>
        </p:nvSpPr>
        <p:spPr>
          <a:xfrm>
            <a:off x="777240" y="4879848"/>
            <a:ext cx="109728" cy="109728"/>
          </a:xfrm>
          <a:prstGeom prst="ellipse">
            <a:avLst/>
          </a:prstGeom>
          <a:solidFill>
            <a:srgbClr val="E8590C"/>
          </a:solidFill>
          <a:ln w="12700">
            <a:solidFill>
              <a:srgbClr val="000000"/>
            </a:solidFill>
            <a:prstDash val="solid"/>
          </a:ln>
        </p:spPr>
      </p:sp>
      <p:sp>
        <p:nvSpPr>
          <p:cNvPr id="14" name="Text 12"/>
          <p:cNvSpPr/>
          <p:nvPr/>
        </p:nvSpPr>
        <p:spPr>
          <a:xfrm>
            <a:off x="1051560" y="4770120"/>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The fix is straightforward</a:t>
            </a:r>
            <a:endParaRPr lang="en-US" sz="1500" dirty="0"/>
          </a:p>
        </p:txBody>
      </p:sp>
      <p:sp>
        <p:nvSpPr>
          <p:cNvPr id="15" name="Text 13"/>
          <p:cNvSpPr/>
          <p:nvPr/>
        </p:nvSpPr>
        <p:spPr>
          <a:xfrm>
            <a:off x="1051560" y="5062728"/>
            <a:ext cx="9966960" cy="917448"/>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Add an explicit no-arg constructor alongside the parameterized ones if both styles of creation are needed.</a:t>
            </a:r>
            <a:endParaRPr lang="en-US" sz="1250" dirty="0"/>
          </a:p>
        </p:txBody>
      </p:sp>
      <p:sp>
        <p:nvSpPr>
          <p:cNvPr id="16" name="Shape 14"/>
          <p:cNvSpPr/>
          <p:nvPr/>
        </p:nvSpPr>
        <p:spPr>
          <a:xfrm>
            <a:off x="0" y="0"/>
            <a:ext cx="12191695" cy="384048"/>
          </a:xfrm>
          <a:prstGeom prst="rect">
            <a:avLst/>
          </a:prstGeom>
          <a:solidFill>
            <a:srgbClr val="1B2A4A"/>
          </a:solidFill>
          <a:ln w="12700">
            <a:solidFill>
              <a:srgbClr val="1B2A4A"/>
            </a:solidFill>
            <a:prstDash val="solid"/>
          </a:ln>
        </p:spPr>
      </p:sp>
      <p:sp>
        <p:nvSpPr>
          <p:cNvPr id="17" name="Text 15"/>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8" name="Shape 16"/>
          <p:cNvSpPr/>
          <p:nvPr/>
        </p:nvSpPr>
        <p:spPr>
          <a:xfrm>
            <a:off x="219456" y="301752"/>
            <a:ext cx="960120" cy="0"/>
          </a:xfrm>
          <a:prstGeom prst="line">
            <a:avLst/>
          </a:prstGeom>
          <a:noFill/>
          <a:ln w="9525">
            <a:solidFill>
              <a:srgbClr val="4A5570"/>
            </a:solidFill>
            <a:prstDash val="solid"/>
          </a:ln>
        </p:spPr>
      </p:sp>
      <p:sp>
        <p:nvSpPr>
          <p:cNvPr id="19" name="Text 17"/>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0" name="Text 18"/>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1" name="Text 19"/>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2" name="Shape 20"/>
          <p:cNvSpPr/>
          <p:nvPr/>
        </p:nvSpPr>
        <p:spPr>
          <a:xfrm>
            <a:off x="0" y="6291072"/>
            <a:ext cx="12191695" cy="566928"/>
          </a:xfrm>
          <a:prstGeom prst="rect">
            <a:avLst/>
          </a:prstGeom>
          <a:solidFill>
            <a:srgbClr val="1B2A4A"/>
          </a:solidFill>
          <a:ln w="12700">
            <a:solidFill>
              <a:srgbClr val="1B2A4A"/>
            </a:solidFill>
            <a:prstDash val="solid"/>
          </a:ln>
        </p:spPr>
      </p:sp>
      <p:sp>
        <p:nvSpPr>
          <p:cNvPr id="23" name="Text 21"/>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4" name="Text 22"/>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DUPLICATING STATE</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The Copy Constructor Pattern</a:t>
            </a:r>
            <a:endParaRPr lang="en-US" sz="2700" dirty="0"/>
          </a:p>
        </p:txBody>
      </p:sp>
      <p:sp>
        <p:nvSpPr>
          <p:cNvPr id="4" name="Shape 2"/>
          <p:cNvSpPr/>
          <p:nvPr/>
        </p:nvSpPr>
        <p:spPr>
          <a:xfrm>
            <a:off x="594360" y="1600200"/>
            <a:ext cx="10607040" cy="896112"/>
          </a:xfrm>
          <a:prstGeom prst="roundRect">
            <a:avLst>
              <a:gd name="adj" fmla="val 6122"/>
            </a:avLst>
          </a:prstGeom>
          <a:solidFill>
            <a:srgbClr val="F5F6FA"/>
          </a:solidFill>
          <a:ln w="9525">
            <a:solidFill>
              <a:srgbClr val="E4E7EE"/>
            </a:solidFill>
            <a:prstDash val="solid"/>
          </a:ln>
        </p:spPr>
      </p:sp>
      <p:sp>
        <p:nvSpPr>
          <p:cNvPr id="5" name="Shape 3"/>
          <p:cNvSpPr/>
          <p:nvPr/>
        </p:nvSpPr>
        <p:spPr>
          <a:xfrm>
            <a:off x="804672" y="1755648"/>
            <a:ext cx="100584" cy="100584"/>
          </a:xfrm>
          <a:prstGeom prst="ellipse">
            <a:avLst/>
          </a:prstGeom>
          <a:solidFill>
            <a:srgbClr val="E8590C"/>
          </a:solidFill>
          <a:ln w="12700">
            <a:solidFill>
              <a:srgbClr val="000000"/>
            </a:solidFill>
            <a:prstDash val="solid"/>
          </a:ln>
        </p:spPr>
      </p:sp>
      <p:sp>
        <p:nvSpPr>
          <p:cNvPr id="6" name="Text 4"/>
          <p:cNvSpPr/>
          <p:nvPr/>
        </p:nvSpPr>
        <p:spPr>
          <a:xfrm>
            <a:off x="1051560" y="1655064"/>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A copy constructor creates a new object by copying the field values of an existing one.</a:t>
            </a:r>
            <a:endParaRPr lang="en-US" sz="1250" dirty="0"/>
          </a:p>
        </p:txBody>
      </p:sp>
      <p:sp>
        <p:nvSpPr>
          <p:cNvPr id="7" name="Shape 5"/>
          <p:cNvSpPr/>
          <p:nvPr/>
        </p:nvSpPr>
        <p:spPr>
          <a:xfrm>
            <a:off x="804672" y="2103120"/>
            <a:ext cx="100584" cy="100584"/>
          </a:xfrm>
          <a:prstGeom prst="ellipse">
            <a:avLst/>
          </a:prstGeom>
          <a:solidFill>
            <a:srgbClr val="E8590C"/>
          </a:solidFill>
          <a:ln w="12700">
            <a:solidFill>
              <a:srgbClr val="000000"/>
            </a:solidFill>
            <a:prstDash val="solid"/>
          </a:ln>
        </p:spPr>
      </p:sp>
      <p:sp>
        <p:nvSpPr>
          <p:cNvPr id="8" name="Text 6"/>
          <p:cNvSpPr/>
          <p:nvPr/>
        </p:nvSpPr>
        <p:spPr>
          <a:xfrm>
            <a:off x="1051560" y="2002536"/>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Java does not generate this automatically; it must be written by hand.</a:t>
            </a:r>
            <a:endParaRPr lang="en-US" sz="1250" dirty="0"/>
          </a:p>
        </p:txBody>
      </p:sp>
      <p:sp>
        <p:nvSpPr>
          <p:cNvPr id="9" name="Shape 7"/>
          <p:cNvSpPr/>
          <p:nvPr/>
        </p:nvSpPr>
        <p:spPr>
          <a:xfrm>
            <a:off x="594360" y="2642616"/>
            <a:ext cx="10607040" cy="3392424"/>
          </a:xfrm>
          <a:prstGeom prst="roundRect">
            <a:avLst>
              <a:gd name="adj" fmla="val 2156"/>
            </a:avLst>
          </a:prstGeom>
          <a:solidFill>
            <a:srgbClr val="1E1E2E"/>
          </a:solidFill>
          <a:ln w="12700">
            <a:solidFill>
              <a:srgbClr val="000000"/>
            </a:solidFill>
            <a:prstDash val="solid"/>
          </a:ln>
        </p:spPr>
      </p:sp>
      <p:sp>
        <p:nvSpPr>
          <p:cNvPr id="10" name="Shape 8"/>
          <p:cNvSpPr/>
          <p:nvPr/>
        </p:nvSpPr>
        <p:spPr>
          <a:xfrm>
            <a:off x="594360" y="2642616"/>
            <a:ext cx="10607040" cy="274320"/>
          </a:xfrm>
          <a:prstGeom prst="roundRect">
            <a:avLst>
              <a:gd name="adj" fmla="val 26667"/>
            </a:avLst>
          </a:prstGeom>
          <a:solidFill>
            <a:srgbClr val="17172A"/>
          </a:solidFill>
          <a:ln w="12700">
            <a:solidFill>
              <a:srgbClr val="000000"/>
            </a:solidFill>
            <a:prstDash val="solid"/>
          </a:ln>
        </p:spPr>
      </p:sp>
      <p:sp>
        <p:nvSpPr>
          <p:cNvPr id="11" name="Shape 9"/>
          <p:cNvSpPr/>
          <p:nvPr/>
        </p:nvSpPr>
        <p:spPr>
          <a:xfrm>
            <a:off x="594360" y="2843784"/>
            <a:ext cx="10607040" cy="73152"/>
          </a:xfrm>
          <a:prstGeom prst="rect">
            <a:avLst/>
          </a:prstGeom>
          <a:solidFill>
            <a:srgbClr val="17172A"/>
          </a:solidFill>
          <a:ln w="12700">
            <a:solidFill>
              <a:srgbClr val="000000"/>
            </a:solidFill>
            <a:prstDash val="solid"/>
          </a:ln>
        </p:spPr>
      </p:sp>
      <p:sp>
        <p:nvSpPr>
          <p:cNvPr id="12" name="Shape 10"/>
          <p:cNvSpPr/>
          <p:nvPr/>
        </p:nvSpPr>
        <p:spPr>
          <a:xfrm>
            <a:off x="722376" y="2741371"/>
            <a:ext cx="76810" cy="76810"/>
          </a:xfrm>
          <a:prstGeom prst="ellipse">
            <a:avLst/>
          </a:prstGeom>
          <a:solidFill>
            <a:srgbClr val="FF5F56"/>
          </a:solidFill>
          <a:ln w="12700">
            <a:solidFill>
              <a:srgbClr val="000000"/>
            </a:solidFill>
            <a:prstDash val="solid"/>
          </a:ln>
        </p:spPr>
      </p:sp>
      <p:sp>
        <p:nvSpPr>
          <p:cNvPr id="13" name="Shape 11"/>
          <p:cNvSpPr/>
          <p:nvPr/>
        </p:nvSpPr>
        <p:spPr>
          <a:xfrm>
            <a:off x="886968" y="2741371"/>
            <a:ext cx="76810" cy="76810"/>
          </a:xfrm>
          <a:prstGeom prst="ellipse">
            <a:avLst/>
          </a:prstGeom>
          <a:solidFill>
            <a:srgbClr val="FFBD2E"/>
          </a:solidFill>
          <a:ln w="12700">
            <a:solidFill>
              <a:srgbClr val="000000"/>
            </a:solidFill>
            <a:prstDash val="solid"/>
          </a:ln>
        </p:spPr>
      </p:sp>
      <p:sp>
        <p:nvSpPr>
          <p:cNvPr id="14" name="Shape 12"/>
          <p:cNvSpPr/>
          <p:nvPr/>
        </p:nvSpPr>
        <p:spPr>
          <a:xfrm>
            <a:off x="1051560" y="2741371"/>
            <a:ext cx="76810" cy="76810"/>
          </a:xfrm>
          <a:prstGeom prst="ellipse">
            <a:avLst/>
          </a:prstGeom>
          <a:solidFill>
            <a:srgbClr val="27C93F"/>
          </a:solidFill>
          <a:ln w="12700">
            <a:solidFill>
              <a:srgbClr val="000000"/>
            </a:solidFill>
            <a:prstDash val="solid"/>
          </a:ln>
        </p:spPr>
      </p:sp>
      <p:sp>
        <p:nvSpPr>
          <p:cNvPr id="15" name="Text 13"/>
          <p:cNvSpPr/>
          <p:nvPr/>
        </p:nvSpPr>
        <p:spPr>
          <a:xfrm>
            <a:off x="1371600" y="2642616"/>
            <a:ext cx="9692640" cy="274320"/>
          </a:xfrm>
          <a:prstGeom prst="rect">
            <a:avLst/>
          </a:prstGeom>
          <a:noFill/>
          <a:ln/>
        </p:spPr>
        <p:txBody>
          <a:bodyPr wrap="square" lIns="0" tIns="0" rIns="0" bIns="0" rtlCol="0" anchor="ctr"/>
          <a:lstStyle/>
          <a:p>
            <a:pPr marL="0" indent="0" algn="l">
              <a:buNone/>
            </a:pPr>
            <a:r>
              <a:rPr lang="en-US" sz="1000" dirty="0">
                <a:solidFill>
                  <a:srgbClr val="8A8FA3"/>
                </a:solidFill>
                <a:latin typeface="Courier New" pitchFamily="34" charset="0"/>
                <a:ea typeface="Courier New" pitchFamily="34" charset="-122"/>
                <a:cs typeface="Courier New" pitchFamily="34" charset="-120"/>
              </a:rPr>
              <a:t>Main.java</a:t>
            </a:r>
            <a:endParaRPr lang="en-US" sz="1000" dirty="0"/>
          </a:p>
        </p:txBody>
      </p:sp>
      <p:sp>
        <p:nvSpPr>
          <p:cNvPr id="16" name="Text 14"/>
          <p:cNvSpPr/>
          <p:nvPr/>
        </p:nvSpPr>
        <p:spPr>
          <a:xfrm>
            <a:off x="777240" y="2990088"/>
            <a:ext cx="10241280" cy="2971800"/>
          </a:xfrm>
          <a:prstGeom prst="rect">
            <a:avLst/>
          </a:prstGeom>
          <a:noFill/>
          <a:ln/>
        </p:spPr>
        <p:txBody>
          <a:bodyPr wrap="square" lIns="0" tIns="0" rIns="0" bIns="0" rtlCol="0" anchor="t"/>
          <a:lstStyle/>
          <a:p>
            <a:pPr marL="0" indent="0" algn="l">
              <a:lnSpc>
                <a:spcPct val="118000"/>
              </a:lnSpc>
              <a:buNone/>
            </a:pPr>
            <a:r>
              <a:rPr lang="en-US" sz="1200" b="1" dirty="0">
                <a:solidFill>
                  <a:srgbClr val="569CD6"/>
                </a:solidFill>
                <a:latin typeface="Courier New" pitchFamily="34" charset="0"/>
                <a:ea typeface="Courier New" pitchFamily="34" charset="-122"/>
                <a:cs typeface="Courier New" pitchFamily="34" charset="-120"/>
              </a:rPr>
              <a:t>public</a:t>
            </a:r>
            <a:r>
              <a:rPr lang="en-US" sz="1200" dirty="0">
                <a:solidFill>
                  <a:srgbClr val="D4D4D4"/>
                </a:solidFill>
                <a:latin typeface="Courier New" pitchFamily="34" charset="0"/>
                <a:ea typeface="Courier New" pitchFamily="34" charset="-122"/>
                <a:cs typeface="Courier New" pitchFamily="34" charset="-120"/>
              </a:rPr>
              <a:t> </a:t>
            </a:r>
            <a:r>
              <a:rPr lang="en-US" sz="1200" b="1" dirty="0">
                <a:solidFill>
                  <a:srgbClr val="569CD6"/>
                </a:solidFill>
                <a:latin typeface="Courier New" pitchFamily="34" charset="0"/>
                <a:ea typeface="Courier New" pitchFamily="34" charset="-122"/>
                <a:cs typeface="Courier New" pitchFamily="34" charset="-120"/>
              </a:rPr>
              <a:t>class</a:t>
            </a:r>
            <a:r>
              <a:rPr lang="en-US" sz="1200" dirty="0">
                <a:solidFill>
                  <a:srgbClr val="D4D4D4"/>
                </a:solidFill>
                <a:latin typeface="Courier New" pitchFamily="34" charset="0"/>
                <a:ea typeface="Courier New" pitchFamily="34" charset="-122"/>
                <a:cs typeface="Courier New" pitchFamily="34" charset="-120"/>
              </a:rPr>
              <a:t> Car {</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r>
              <a:rPr lang="en-US" sz="1200" dirty="0">
                <a:solidFill>
                  <a:srgbClr val="4EC9B0"/>
                </a:solidFill>
                <a:latin typeface="Courier New" pitchFamily="34" charset="0"/>
                <a:ea typeface="Courier New" pitchFamily="34" charset="-122"/>
                <a:cs typeface="Courier New" pitchFamily="34" charset="-120"/>
              </a:rPr>
              <a:t>String</a:t>
            </a:r>
            <a:r>
              <a:rPr lang="en-US" sz="1200" dirty="0">
                <a:solidFill>
                  <a:srgbClr val="D4D4D4"/>
                </a:solidFill>
                <a:latin typeface="Courier New" pitchFamily="34" charset="0"/>
                <a:ea typeface="Courier New" pitchFamily="34" charset="-122"/>
                <a:cs typeface="Courier New" pitchFamily="34" charset="-120"/>
              </a:rPr>
              <a:t> brand;</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r>
              <a:rPr lang="en-US" sz="1200" b="1" dirty="0">
                <a:solidFill>
                  <a:srgbClr val="569CD6"/>
                </a:solidFill>
                <a:latin typeface="Courier New" pitchFamily="34" charset="0"/>
                <a:ea typeface="Courier New" pitchFamily="34" charset="-122"/>
                <a:cs typeface="Courier New" pitchFamily="34" charset="-120"/>
              </a:rPr>
              <a:t>int</a:t>
            </a:r>
            <a:r>
              <a:rPr lang="en-US" sz="1200" dirty="0">
                <a:solidFill>
                  <a:srgbClr val="D4D4D4"/>
                </a:solidFill>
                <a:latin typeface="Courier New" pitchFamily="34" charset="0"/>
                <a:ea typeface="Courier New" pitchFamily="34" charset="-122"/>
                <a:cs typeface="Courier New" pitchFamily="34" charset="-120"/>
              </a:rPr>
              <a:t> speed;</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r>
              <a:rPr lang="en-US" sz="1200" dirty="0">
                <a:solidFill>
                  <a:srgbClr val="DCDCAA"/>
                </a:solidFill>
                <a:latin typeface="Courier New" pitchFamily="34" charset="0"/>
                <a:ea typeface="Courier New" pitchFamily="34" charset="-122"/>
                <a:cs typeface="Courier New" pitchFamily="34" charset="-120"/>
              </a:rPr>
              <a:t>Car</a:t>
            </a:r>
            <a:r>
              <a:rPr lang="en-US" sz="1200" dirty="0">
                <a:solidFill>
                  <a:srgbClr val="D4D4D4"/>
                </a:solidFill>
                <a:latin typeface="Courier New" pitchFamily="34" charset="0"/>
                <a:ea typeface="Courier New" pitchFamily="34" charset="-122"/>
                <a:cs typeface="Courier New" pitchFamily="34" charset="-120"/>
              </a:rPr>
              <a:t>(</a:t>
            </a:r>
            <a:r>
              <a:rPr lang="en-US" sz="1200" dirty="0">
                <a:solidFill>
                  <a:srgbClr val="4EC9B0"/>
                </a:solidFill>
                <a:latin typeface="Courier New" pitchFamily="34" charset="0"/>
                <a:ea typeface="Courier New" pitchFamily="34" charset="-122"/>
                <a:cs typeface="Courier New" pitchFamily="34" charset="-120"/>
              </a:rPr>
              <a:t>String</a:t>
            </a:r>
            <a:r>
              <a:rPr lang="en-US" sz="1200" dirty="0">
                <a:solidFill>
                  <a:srgbClr val="D4D4D4"/>
                </a:solidFill>
                <a:latin typeface="Courier New" pitchFamily="34" charset="0"/>
                <a:ea typeface="Courier New" pitchFamily="34" charset="-122"/>
                <a:cs typeface="Courier New" pitchFamily="34" charset="-120"/>
              </a:rPr>
              <a:t> brand, </a:t>
            </a:r>
            <a:r>
              <a:rPr lang="en-US" sz="1200" b="1" dirty="0">
                <a:solidFill>
                  <a:srgbClr val="569CD6"/>
                </a:solidFill>
                <a:latin typeface="Courier New" pitchFamily="34" charset="0"/>
                <a:ea typeface="Courier New" pitchFamily="34" charset="-122"/>
                <a:cs typeface="Courier New" pitchFamily="34" charset="-120"/>
              </a:rPr>
              <a:t>int</a:t>
            </a:r>
            <a:r>
              <a:rPr lang="en-US" sz="1200" dirty="0">
                <a:solidFill>
                  <a:srgbClr val="D4D4D4"/>
                </a:solidFill>
                <a:latin typeface="Courier New" pitchFamily="34" charset="0"/>
                <a:ea typeface="Courier New" pitchFamily="34" charset="-122"/>
                <a:cs typeface="Courier New" pitchFamily="34" charset="-120"/>
              </a:rPr>
              <a:t> speed) {</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r>
              <a:rPr lang="en-US" sz="1200" b="1" dirty="0">
                <a:solidFill>
                  <a:srgbClr val="569CD6"/>
                </a:solidFill>
                <a:latin typeface="Courier New" pitchFamily="34" charset="0"/>
                <a:ea typeface="Courier New" pitchFamily="34" charset="-122"/>
                <a:cs typeface="Courier New" pitchFamily="34" charset="-120"/>
              </a:rPr>
              <a:t>this</a:t>
            </a:r>
            <a:r>
              <a:rPr lang="en-US" sz="1200" dirty="0">
                <a:solidFill>
                  <a:srgbClr val="D4D4D4"/>
                </a:solidFill>
                <a:latin typeface="Courier New" pitchFamily="34" charset="0"/>
                <a:ea typeface="Courier New" pitchFamily="34" charset="-122"/>
                <a:cs typeface="Courier New" pitchFamily="34" charset="-120"/>
              </a:rPr>
              <a:t>.brand = brand;</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r>
              <a:rPr lang="en-US" sz="1200" b="1" dirty="0">
                <a:solidFill>
                  <a:srgbClr val="569CD6"/>
                </a:solidFill>
                <a:latin typeface="Courier New" pitchFamily="34" charset="0"/>
                <a:ea typeface="Courier New" pitchFamily="34" charset="-122"/>
                <a:cs typeface="Courier New" pitchFamily="34" charset="-120"/>
              </a:rPr>
              <a:t>this</a:t>
            </a:r>
            <a:r>
              <a:rPr lang="en-US" sz="1200" dirty="0">
                <a:solidFill>
                  <a:srgbClr val="D4D4D4"/>
                </a:solidFill>
                <a:latin typeface="Courier New" pitchFamily="34" charset="0"/>
                <a:ea typeface="Courier New" pitchFamily="34" charset="-122"/>
                <a:cs typeface="Courier New" pitchFamily="34" charset="-120"/>
              </a:rPr>
              <a:t>.speed = speed;</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r>
              <a:rPr lang="en-US" sz="1200" dirty="0">
                <a:solidFill>
                  <a:srgbClr val="DCDCAA"/>
                </a:solidFill>
                <a:latin typeface="Courier New" pitchFamily="34" charset="0"/>
                <a:ea typeface="Courier New" pitchFamily="34" charset="-122"/>
                <a:cs typeface="Courier New" pitchFamily="34" charset="-120"/>
              </a:rPr>
              <a:t>Car</a:t>
            </a:r>
            <a:r>
              <a:rPr lang="en-US" sz="1200" dirty="0">
                <a:solidFill>
                  <a:srgbClr val="D4D4D4"/>
                </a:solidFill>
                <a:latin typeface="Courier New" pitchFamily="34" charset="0"/>
                <a:ea typeface="Courier New" pitchFamily="34" charset="-122"/>
                <a:cs typeface="Courier New" pitchFamily="34" charset="-120"/>
              </a:rPr>
              <a:t>(Car other) {</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r>
              <a:rPr lang="en-US" sz="1200" b="1" dirty="0">
                <a:solidFill>
                  <a:srgbClr val="569CD6"/>
                </a:solidFill>
                <a:latin typeface="Courier New" pitchFamily="34" charset="0"/>
                <a:ea typeface="Courier New" pitchFamily="34" charset="-122"/>
                <a:cs typeface="Courier New" pitchFamily="34" charset="-120"/>
              </a:rPr>
              <a:t>this</a:t>
            </a:r>
            <a:r>
              <a:rPr lang="en-US" sz="1200" dirty="0">
                <a:solidFill>
                  <a:srgbClr val="D4D4D4"/>
                </a:solidFill>
                <a:latin typeface="Courier New" pitchFamily="34" charset="0"/>
                <a:ea typeface="Courier New" pitchFamily="34" charset="-122"/>
                <a:cs typeface="Courier New" pitchFamily="34" charset="-120"/>
              </a:rPr>
              <a:t>.brand = other.brand;</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r>
              <a:rPr lang="en-US" sz="1200" b="1" dirty="0">
                <a:solidFill>
                  <a:srgbClr val="569CD6"/>
                </a:solidFill>
                <a:latin typeface="Courier New" pitchFamily="34" charset="0"/>
                <a:ea typeface="Courier New" pitchFamily="34" charset="-122"/>
                <a:cs typeface="Courier New" pitchFamily="34" charset="-120"/>
              </a:rPr>
              <a:t>this</a:t>
            </a:r>
            <a:r>
              <a:rPr lang="en-US" sz="1200" dirty="0">
                <a:solidFill>
                  <a:srgbClr val="D4D4D4"/>
                </a:solidFill>
                <a:latin typeface="Courier New" pitchFamily="34" charset="0"/>
                <a:ea typeface="Courier New" pitchFamily="34" charset="-122"/>
                <a:cs typeface="Courier New" pitchFamily="34" charset="-120"/>
              </a:rPr>
              <a:t>.speed = other.speed;</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a:t>
            </a:r>
            <a:endParaRPr lang="en-US" sz="1200" dirty="0"/>
          </a:p>
        </p:txBody>
      </p:sp>
      <p:sp>
        <p:nvSpPr>
          <p:cNvPr id="17" name="Shape 15"/>
          <p:cNvSpPr/>
          <p:nvPr/>
        </p:nvSpPr>
        <p:spPr>
          <a:xfrm>
            <a:off x="0" y="0"/>
            <a:ext cx="12191695" cy="384048"/>
          </a:xfrm>
          <a:prstGeom prst="rect">
            <a:avLst/>
          </a:prstGeom>
          <a:solidFill>
            <a:srgbClr val="1B2A4A"/>
          </a:solidFill>
          <a:ln w="12700">
            <a:solidFill>
              <a:srgbClr val="1B2A4A"/>
            </a:solidFill>
            <a:prstDash val="solid"/>
          </a:ln>
        </p:spPr>
      </p:sp>
      <p:sp>
        <p:nvSpPr>
          <p:cNvPr id="18" name="Text 16"/>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9" name="Shape 17"/>
          <p:cNvSpPr/>
          <p:nvPr/>
        </p:nvSpPr>
        <p:spPr>
          <a:xfrm>
            <a:off x="219456" y="301752"/>
            <a:ext cx="960120" cy="0"/>
          </a:xfrm>
          <a:prstGeom prst="line">
            <a:avLst/>
          </a:prstGeom>
          <a:noFill/>
          <a:ln w="9525">
            <a:solidFill>
              <a:srgbClr val="4A5570"/>
            </a:solidFill>
            <a:prstDash val="solid"/>
          </a:ln>
        </p:spPr>
      </p:sp>
      <p:sp>
        <p:nvSpPr>
          <p:cNvPr id="20" name="Text 18"/>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1" name="Text 19"/>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2" name="Text 20"/>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3" name="Shape 21"/>
          <p:cNvSpPr/>
          <p:nvPr/>
        </p:nvSpPr>
        <p:spPr>
          <a:xfrm>
            <a:off x="0" y="6291072"/>
            <a:ext cx="12191695" cy="566928"/>
          </a:xfrm>
          <a:prstGeom prst="rect">
            <a:avLst/>
          </a:prstGeom>
          <a:solidFill>
            <a:srgbClr val="1B2A4A"/>
          </a:solidFill>
          <a:ln w="12700">
            <a:solidFill>
              <a:srgbClr val="1B2A4A"/>
            </a:solidFill>
            <a:prstDash val="solid"/>
          </a:ln>
        </p:spPr>
      </p:sp>
      <p:sp>
        <p:nvSpPr>
          <p:cNvPr id="24" name="Text 22"/>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5" name="Text 23"/>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PRACTICE</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Practice: Building Objects with Constructors</a:t>
            </a:r>
            <a:endParaRPr lang="en-US" sz="2700" dirty="0"/>
          </a:p>
        </p:txBody>
      </p:sp>
      <p:sp>
        <p:nvSpPr>
          <p:cNvPr id="4" name="Text 2"/>
          <p:cNvSpPr/>
          <p:nvPr/>
        </p:nvSpPr>
        <p:spPr>
          <a:xfrm>
            <a:off x="594360" y="1600200"/>
            <a:ext cx="10607040" cy="365760"/>
          </a:xfrm>
          <a:prstGeom prst="rect">
            <a:avLst/>
          </a:prstGeom>
          <a:noFill/>
          <a:ln/>
        </p:spPr>
        <p:txBody>
          <a:bodyPr wrap="square" lIns="0" tIns="0" rIns="0" bIns="0" rtlCol="0" anchor="ctr"/>
          <a:lstStyle/>
          <a:p>
            <a:pPr marL="0" indent="0">
              <a:buNone/>
            </a:pPr>
            <a:r>
              <a:rPr lang="en-US" sz="1250" i="1" dirty="0">
                <a:solidFill>
                  <a:srgbClr val="5A6472"/>
                </a:solidFill>
                <a:latin typeface="Times New Roman" pitchFamily="34" charset="0"/>
                <a:ea typeface="Times New Roman" pitchFamily="34" charset="-122"/>
                <a:cs typeface="Times New Roman" pitchFamily="34" charset="-120"/>
              </a:rPr>
              <a:t>Two Book objects created with different constructors.</a:t>
            </a:r>
            <a:endParaRPr lang="en-US" sz="1250" dirty="0"/>
          </a:p>
        </p:txBody>
      </p:sp>
      <p:sp>
        <p:nvSpPr>
          <p:cNvPr id="5" name="Shape 3"/>
          <p:cNvSpPr/>
          <p:nvPr/>
        </p:nvSpPr>
        <p:spPr>
          <a:xfrm>
            <a:off x="594360" y="2002536"/>
            <a:ext cx="7040880" cy="4032504"/>
          </a:xfrm>
          <a:prstGeom prst="roundRect">
            <a:avLst>
              <a:gd name="adj" fmla="val 1814"/>
            </a:avLst>
          </a:prstGeom>
          <a:solidFill>
            <a:srgbClr val="1E1E2E"/>
          </a:solidFill>
          <a:ln w="12700">
            <a:solidFill>
              <a:srgbClr val="000000"/>
            </a:solidFill>
            <a:prstDash val="solid"/>
          </a:ln>
        </p:spPr>
      </p:sp>
      <p:sp>
        <p:nvSpPr>
          <p:cNvPr id="6" name="Shape 4"/>
          <p:cNvSpPr/>
          <p:nvPr/>
        </p:nvSpPr>
        <p:spPr>
          <a:xfrm>
            <a:off x="594360" y="2002536"/>
            <a:ext cx="7040880" cy="274320"/>
          </a:xfrm>
          <a:prstGeom prst="roundRect">
            <a:avLst>
              <a:gd name="adj" fmla="val 26667"/>
            </a:avLst>
          </a:prstGeom>
          <a:solidFill>
            <a:srgbClr val="17172A"/>
          </a:solidFill>
          <a:ln w="12700">
            <a:solidFill>
              <a:srgbClr val="000000"/>
            </a:solidFill>
            <a:prstDash val="solid"/>
          </a:ln>
        </p:spPr>
      </p:sp>
      <p:sp>
        <p:nvSpPr>
          <p:cNvPr id="7" name="Shape 5"/>
          <p:cNvSpPr/>
          <p:nvPr/>
        </p:nvSpPr>
        <p:spPr>
          <a:xfrm>
            <a:off x="594360" y="2203704"/>
            <a:ext cx="7040880" cy="73152"/>
          </a:xfrm>
          <a:prstGeom prst="rect">
            <a:avLst/>
          </a:prstGeom>
          <a:solidFill>
            <a:srgbClr val="17172A"/>
          </a:solidFill>
          <a:ln w="12700">
            <a:solidFill>
              <a:srgbClr val="000000"/>
            </a:solidFill>
            <a:prstDash val="solid"/>
          </a:ln>
        </p:spPr>
      </p:sp>
      <p:sp>
        <p:nvSpPr>
          <p:cNvPr id="8" name="Shape 6"/>
          <p:cNvSpPr/>
          <p:nvPr/>
        </p:nvSpPr>
        <p:spPr>
          <a:xfrm>
            <a:off x="722376" y="2101291"/>
            <a:ext cx="76810" cy="76810"/>
          </a:xfrm>
          <a:prstGeom prst="ellipse">
            <a:avLst/>
          </a:prstGeom>
          <a:solidFill>
            <a:srgbClr val="FF5F56"/>
          </a:solidFill>
          <a:ln w="12700">
            <a:solidFill>
              <a:srgbClr val="000000"/>
            </a:solidFill>
            <a:prstDash val="solid"/>
          </a:ln>
        </p:spPr>
      </p:sp>
      <p:sp>
        <p:nvSpPr>
          <p:cNvPr id="9" name="Shape 7"/>
          <p:cNvSpPr/>
          <p:nvPr/>
        </p:nvSpPr>
        <p:spPr>
          <a:xfrm>
            <a:off x="886968" y="2101291"/>
            <a:ext cx="76810" cy="76810"/>
          </a:xfrm>
          <a:prstGeom prst="ellipse">
            <a:avLst/>
          </a:prstGeom>
          <a:solidFill>
            <a:srgbClr val="FFBD2E"/>
          </a:solidFill>
          <a:ln w="12700">
            <a:solidFill>
              <a:srgbClr val="000000"/>
            </a:solidFill>
            <a:prstDash val="solid"/>
          </a:ln>
        </p:spPr>
      </p:sp>
      <p:sp>
        <p:nvSpPr>
          <p:cNvPr id="10" name="Shape 8"/>
          <p:cNvSpPr/>
          <p:nvPr/>
        </p:nvSpPr>
        <p:spPr>
          <a:xfrm>
            <a:off x="1051560" y="2101291"/>
            <a:ext cx="76810" cy="76810"/>
          </a:xfrm>
          <a:prstGeom prst="ellipse">
            <a:avLst/>
          </a:prstGeom>
          <a:solidFill>
            <a:srgbClr val="27C93F"/>
          </a:solidFill>
          <a:ln w="12700">
            <a:solidFill>
              <a:srgbClr val="000000"/>
            </a:solidFill>
            <a:prstDash val="solid"/>
          </a:ln>
        </p:spPr>
      </p:sp>
      <p:sp>
        <p:nvSpPr>
          <p:cNvPr id="11" name="Text 9"/>
          <p:cNvSpPr/>
          <p:nvPr/>
        </p:nvSpPr>
        <p:spPr>
          <a:xfrm>
            <a:off x="1371600" y="2002536"/>
            <a:ext cx="6126480" cy="274320"/>
          </a:xfrm>
          <a:prstGeom prst="rect">
            <a:avLst/>
          </a:prstGeom>
          <a:noFill/>
          <a:ln/>
        </p:spPr>
        <p:txBody>
          <a:bodyPr wrap="square" lIns="0" tIns="0" rIns="0" bIns="0" rtlCol="0" anchor="ctr"/>
          <a:lstStyle/>
          <a:p>
            <a:pPr marL="0" indent="0" algn="l">
              <a:buNone/>
            </a:pPr>
            <a:r>
              <a:rPr lang="en-US" sz="1000" dirty="0">
                <a:solidFill>
                  <a:srgbClr val="8A8FA3"/>
                </a:solidFill>
                <a:latin typeface="Courier New" pitchFamily="34" charset="0"/>
                <a:ea typeface="Courier New" pitchFamily="34" charset="-122"/>
                <a:cs typeface="Courier New" pitchFamily="34" charset="-120"/>
              </a:rPr>
              <a:t>Main.java</a:t>
            </a:r>
            <a:endParaRPr lang="en-US" sz="1000" dirty="0"/>
          </a:p>
        </p:txBody>
      </p:sp>
      <p:sp>
        <p:nvSpPr>
          <p:cNvPr id="12" name="Text 10"/>
          <p:cNvSpPr/>
          <p:nvPr/>
        </p:nvSpPr>
        <p:spPr>
          <a:xfrm>
            <a:off x="777240" y="2350008"/>
            <a:ext cx="6675120" cy="3611880"/>
          </a:xfrm>
          <a:prstGeom prst="rect">
            <a:avLst/>
          </a:prstGeom>
          <a:noFill/>
          <a:ln/>
        </p:spPr>
        <p:txBody>
          <a:bodyPr wrap="square" lIns="0" tIns="0" rIns="0" bIns="0" rtlCol="0" anchor="t"/>
          <a:lstStyle/>
          <a:p>
            <a:pPr marL="0" indent="0" algn="l">
              <a:lnSpc>
                <a:spcPct val="118000"/>
              </a:lnSpc>
              <a:buNone/>
            </a:pPr>
            <a:r>
              <a:rPr lang="en-US" sz="900" b="1" dirty="0">
                <a:solidFill>
                  <a:srgbClr val="569CD6"/>
                </a:solidFill>
                <a:latin typeface="Courier New" pitchFamily="34" charset="0"/>
                <a:ea typeface="Courier New" pitchFamily="34" charset="-122"/>
                <a:cs typeface="Courier New" pitchFamily="34" charset="-120"/>
              </a:rPr>
              <a:t>public</a:t>
            </a:r>
            <a:r>
              <a:rPr lang="en-US" sz="900" dirty="0">
                <a:solidFill>
                  <a:srgbClr val="D4D4D4"/>
                </a:solidFill>
                <a:latin typeface="Courier New" pitchFamily="34" charset="0"/>
                <a:ea typeface="Courier New" pitchFamily="34" charset="-122"/>
                <a:cs typeface="Courier New" pitchFamily="34" charset="-120"/>
              </a:rPr>
              <a:t> </a:t>
            </a:r>
            <a:r>
              <a:rPr lang="en-US" sz="900" b="1" dirty="0">
                <a:solidFill>
                  <a:srgbClr val="569CD6"/>
                </a:solidFill>
                <a:latin typeface="Courier New" pitchFamily="34" charset="0"/>
                <a:ea typeface="Courier New" pitchFamily="34" charset="-122"/>
                <a:cs typeface="Courier New" pitchFamily="34" charset="-120"/>
              </a:rPr>
              <a:t>class</a:t>
            </a:r>
            <a:r>
              <a:rPr lang="en-US" sz="900" dirty="0">
                <a:solidFill>
                  <a:srgbClr val="D4D4D4"/>
                </a:solidFill>
                <a:latin typeface="Courier New" pitchFamily="34" charset="0"/>
                <a:ea typeface="Courier New" pitchFamily="34" charset="-122"/>
                <a:cs typeface="Courier New" pitchFamily="34" charset="-120"/>
              </a:rPr>
              <a:t> Book {</a:t>
            </a:r>
            <a:endParaRPr lang="en-US" sz="900" dirty="0"/>
          </a:p>
          <a:p>
            <a:pPr marL="0" indent="0" algn="l">
              <a:lnSpc>
                <a:spcPct val="118000"/>
              </a:lnSpc>
              <a:buNone/>
            </a:pPr>
            <a:r>
              <a:rPr lang="en-US" sz="900" dirty="0">
                <a:solidFill>
                  <a:srgbClr val="D4D4D4"/>
                </a:solidFill>
                <a:latin typeface="Courier New" pitchFamily="34" charset="0"/>
                <a:ea typeface="Courier New" pitchFamily="34" charset="-122"/>
                <a:cs typeface="Courier New" pitchFamily="34" charset="-120"/>
              </a:rPr>
              <a:t>    </a:t>
            </a:r>
            <a:r>
              <a:rPr lang="en-US" sz="900" dirty="0">
                <a:solidFill>
                  <a:srgbClr val="4EC9B0"/>
                </a:solidFill>
                <a:latin typeface="Courier New" pitchFamily="34" charset="0"/>
                <a:ea typeface="Courier New" pitchFamily="34" charset="-122"/>
                <a:cs typeface="Courier New" pitchFamily="34" charset="-120"/>
              </a:rPr>
              <a:t>String</a:t>
            </a:r>
            <a:r>
              <a:rPr lang="en-US" sz="900" dirty="0">
                <a:solidFill>
                  <a:srgbClr val="D4D4D4"/>
                </a:solidFill>
                <a:latin typeface="Courier New" pitchFamily="34" charset="0"/>
                <a:ea typeface="Courier New" pitchFamily="34" charset="-122"/>
                <a:cs typeface="Courier New" pitchFamily="34" charset="-120"/>
              </a:rPr>
              <a:t> title;</a:t>
            </a:r>
            <a:endParaRPr lang="en-US" sz="900" dirty="0"/>
          </a:p>
          <a:p>
            <a:pPr marL="0" indent="0" algn="l">
              <a:lnSpc>
                <a:spcPct val="118000"/>
              </a:lnSpc>
              <a:buNone/>
            </a:pPr>
            <a:r>
              <a:rPr lang="en-US" sz="900" dirty="0">
                <a:solidFill>
                  <a:srgbClr val="D4D4D4"/>
                </a:solidFill>
                <a:latin typeface="Courier New" pitchFamily="34" charset="0"/>
                <a:ea typeface="Courier New" pitchFamily="34" charset="-122"/>
                <a:cs typeface="Courier New" pitchFamily="34" charset="-120"/>
              </a:rPr>
              <a:t>    </a:t>
            </a:r>
            <a:r>
              <a:rPr lang="en-US" sz="900" b="1" dirty="0">
                <a:solidFill>
                  <a:srgbClr val="569CD6"/>
                </a:solidFill>
                <a:latin typeface="Courier New" pitchFamily="34" charset="0"/>
                <a:ea typeface="Courier New" pitchFamily="34" charset="-122"/>
                <a:cs typeface="Courier New" pitchFamily="34" charset="-120"/>
              </a:rPr>
              <a:t>int</a:t>
            </a:r>
            <a:r>
              <a:rPr lang="en-US" sz="900" dirty="0">
                <a:solidFill>
                  <a:srgbClr val="D4D4D4"/>
                </a:solidFill>
                <a:latin typeface="Courier New" pitchFamily="34" charset="0"/>
                <a:ea typeface="Courier New" pitchFamily="34" charset="-122"/>
                <a:cs typeface="Courier New" pitchFamily="34" charset="-120"/>
              </a:rPr>
              <a:t> pages;</a:t>
            </a:r>
            <a:endParaRPr lang="en-US" sz="900" dirty="0"/>
          </a:p>
          <a:p>
            <a:pPr marL="0" indent="0" algn="l">
              <a:lnSpc>
                <a:spcPct val="118000"/>
              </a:lnSpc>
              <a:buNone/>
            </a:pPr>
            <a:r>
              <a:rPr lang="en-US" sz="900" dirty="0">
                <a:solidFill>
                  <a:srgbClr val="D4D4D4"/>
                </a:solidFill>
                <a:latin typeface="Courier New" pitchFamily="34" charset="0"/>
                <a:ea typeface="Courier New" pitchFamily="34" charset="-122"/>
                <a:cs typeface="Courier New" pitchFamily="34" charset="-120"/>
              </a:rPr>
              <a:t> </a:t>
            </a:r>
            <a:endParaRPr lang="en-US" sz="900" dirty="0"/>
          </a:p>
          <a:p>
            <a:pPr marL="0" indent="0" algn="l">
              <a:lnSpc>
                <a:spcPct val="118000"/>
              </a:lnSpc>
              <a:buNone/>
            </a:pPr>
            <a:r>
              <a:rPr lang="en-US" sz="900" dirty="0">
                <a:solidFill>
                  <a:srgbClr val="D4D4D4"/>
                </a:solidFill>
                <a:latin typeface="Courier New" pitchFamily="34" charset="0"/>
                <a:ea typeface="Courier New" pitchFamily="34" charset="-122"/>
                <a:cs typeface="Courier New" pitchFamily="34" charset="-120"/>
              </a:rPr>
              <a:t>    </a:t>
            </a:r>
            <a:r>
              <a:rPr lang="en-US" sz="900" dirty="0">
                <a:solidFill>
                  <a:srgbClr val="DCDCAA"/>
                </a:solidFill>
                <a:latin typeface="Courier New" pitchFamily="34" charset="0"/>
                <a:ea typeface="Courier New" pitchFamily="34" charset="-122"/>
                <a:cs typeface="Courier New" pitchFamily="34" charset="-120"/>
              </a:rPr>
              <a:t>Book</a:t>
            </a:r>
            <a:r>
              <a:rPr lang="en-US" sz="900" dirty="0">
                <a:solidFill>
                  <a:srgbClr val="D4D4D4"/>
                </a:solidFill>
                <a:latin typeface="Courier New" pitchFamily="34" charset="0"/>
                <a:ea typeface="Courier New" pitchFamily="34" charset="-122"/>
                <a:cs typeface="Courier New" pitchFamily="34" charset="-120"/>
              </a:rPr>
              <a:t>(</a:t>
            </a:r>
            <a:r>
              <a:rPr lang="en-US" sz="900" dirty="0">
                <a:solidFill>
                  <a:srgbClr val="4EC9B0"/>
                </a:solidFill>
                <a:latin typeface="Courier New" pitchFamily="34" charset="0"/>
                <a:ea typeface="Courier New" pitchFamily="34" charset="-122"/>
                <a:cs typeface="Courier New" pitchFamily="34" charset="-120"/>
              </a:rPr>
              <a:t>String</a:t>
            </a:r>
            <a:r>
              <a:rPr lang="en-US" sz="900" dirty="0">
                <a:solidFill>
                  <a:srgbClr val="D4D4D4"/>
                </a:solidFill>
                <a:latin typeface="Courier New" pitchFamily="34" charset="0"/>
                <a:ea typeface="Courier New" pitchFamily="34" charset="-122"/>
                <a:cs typeface="Courier New" pitchFamily="34" charset="-120"/>
              </a:rPr>
              <a:t> title) {</a:t>
            </a:r>
            <a:endParaRPr lang="en-US" sz="900" dirty="0"/>
          </a:p>
          <a:p>
            <a:pPr marL="0" indent="0" algn="l">
              <a:lnSpc>
                <a:spcPct val="118000"/>
              </a:lnSpc>
              <a:buNone/>
            </a:pPr>
            <a:r>
              <a:rPr lang="en-US" sz="900" dirty="0">
                <a:solidFill>
                  <a:srgbClr val="D4D4D4"/>
                </a:solidFill>
                <a:latin typeface="Courier New" pitchFamily="34" charset="0"/>
                <a:ea typeface="Courier New" pitchFamily="34" charset="-122"/>
                <a:cs typeface="Courier New" pitchFamily="34" charset="-120"/>
              </a:rPr>
              <a:t>        </a:t>
            </a:r>
            <a:r>
              <a:rPr lang="en-US" sz="900" b="1" dirty="0">
                <a:solidFill>
                  <a:srgbClr val="569CD6"/>
                </a:solidFill>
                <a:latin typeface="Courier New" pitchFamily="34" charset="0"/>
                <a:ea typeface="Courier New" pitchFamily="34" charset="-122"/>
                <a:cs typeface="Courier New" pitchFamily="34" charset="-120"/>
              </a:rPr>
              <a:t>this</a:t>
            </a:r>
            <a:r>
              <a:rPr lang="en-US" sz="900" dirty="0">
                <a:solidFill>
                  <a:srgbClr val="D4D4D4"/>
                </a:solidFill>
                <a:latin typeface="Courier New" pitchFamily="34" charset="0"/>
                <a:ea typeface="Courier New" pitchFamily="34" charset="-122"/>
                <a:cs typeface="Courier New" pitchFamily="34" charset="-120"/>
              </a:rPr>
              <a:t>(title, </a:t>
            </a:r>
            <a:r>
              <a:rPr lang="en-US" sz="900" dirty="0">
                <a:solidFill>
                  <a:srgbClr val="B5CEA8"/>
                </a:solidFill>
                <a:latin typeface="Courier New" pitchFamily="34" charset="0"/>
                <a:ea typeface="Courier New" pitchFamily="34" charset="-122"/>
                <a:cs typeface="Courier New" pitchFamily="34" charset="-120"/>
              </a:rPr>
              <a:t>0</a:t>
            </a:r>
            <a:r>
              <a:rPr lang="en-US" sz="900" dirty="0">
                <a:solidFill>
                  <a:srgbClr val="D4D4D4"/>
                </a:solidFill>
                <a:latin typeface="Courier New" pitchFamily="34" charset="0"/>
                <a:ea typeface="Courier New" pitchFamily="34" charset="-122"/>
                <a:cs typeface="Courier New" pitchFamily="34" charset="-120"/>
              </a:rPr>
              <a:t>);</a:t>
            </a:r>
            <a:endParaRPr lang="en-US" sz="900" dirty="0"/>
          </a:p>
          <a:p>
            <a:pPr marL="0" indent="0" algn="l">
              <a:lnSpc>
                <a:spcPct val="118000"/>
              </a:lnSpc>
              <a:buNone/>
            </a:pPr>
            <a:r>
              <a:rPr lang="en-US" sz="900" dirty="0">
                <a:solidFill>
                  <a:srgbClr val="D4D4D4"/>
                </a:solidFill>
                <a:latin typeface="Courier New" pitchFamily="34" charset="0"/>
                <a:ea typeface="Courier New" pitchFamily="34" charset="-122"/>
                <a:cs typeface="Courier New" pitchFamily="34" charset="-120"/>
              </a:rPr>
              <a:t>    }</a:t>
            </a:r>
            <a:endParaRPr lang="en-US" sz="900" dirty="0"/>
          </a:p>
          <a:p>
            <a:pPr marL="0" indent="0" algn="l">
              <a:lnSpc>
                <a:spcPct val="118000"/>
              </a:lnSpc>
              <a:buNone/>
            </a:pPr>
            <a:r>
              <a:rPr lang="en-US" sz="900" dirty="0">
                <a:solidFill>
                  <a:srgbClr val="D4D4D4"/>
                </a:solidFill>
                <a:latin typeface="Courier New" pitchFamily="34" charset="0"/>
                <a:ea typeface="Courier New" pitchFamily="34" charset="-122"/>
                <a:cs typeface="Courier New" pitchFamily="34" charset="-120"/>
              </a:rPr>
              <a:t> </a:t>
            </a:r>
            <a:endParaRPr lang="en-US" sz="900" dirty="0"/>
          </a:p>
          <a:p>
            <a:pPr marL="0" indent="0" algn="l">
              <a:lnSpc>
                <a:spcPct val="118000"/>
              </a:lnSpc>
              <a:buNone/>
            </a:pPr>
            <a:r>
              <a:rPr lang="en-US" sz="900" dirty="0">
                <a:solidFill>
                  <a:srgbClr val="D4D4D4"/>
                </a:solidFill>
                <a:latin typeface="Courier New" pitchFamily="34" charset="0"/>
                <a:ea typeface="Courier New" pitchFamily="34" charset="-122"/>
                <a:cs typeface="Courier New" pitchFamily="34" charset="-120"/>
              </a:rPr>
              <a:t>    </a:t>
            </a:r>
            <a:r>
              <a:rPr lang="en-US" sz="900" dirty="0">
                <a:solidFill>
                  <a:srgbClr val="DCDCAA"/>
                </a:solidFill>
                <a:latin typeface="Courier New" pitchFamily="34" charset="0"/>
                <a:ea typeface="Courier New" pitchFamily="34" charset="-122"/>
                <a:cs typeface="Courier New" pitchFamily="34" charset="-120"/>
              </a:rPr>
              <a:t>Book</a:t>
            </a:r>
            <a:r>
              <a:rPr lang="en-US" sz="900" dirty="0">
                <a:solidFill>
                  <a:srgbClr val="D4D4D4"/>
                </a:solidFill>
                <a:latin typeface="Courier New" pitchFamily="34" charset="0"/>
                <a:ea typeface="Courier New" pitchFamily="34" charset="-122"/>
                <a:cs typeface="Courier New" pitchFamily="34" charset="-120"/>
              </a:rPr>
              <a:t>(</a:t>
            </a:r>
            <a:r>
              <a:rPr lang="en-US" sz="900" dirty="0">
                <a:solidFill>
                  <a:srgbClr val="4EC9B0"/>
                </a:solidFill>
                <a:latin typeface="Courier New" pitchFamily="34" charset="0"/>
                <a:ea typeface="Courier New" pitchFamily="34" charset="-122"/>
                <a:cs typeface="Courier New" pitchFamily="34" charset="-120"/>
              </a:rPr>
              <a:t>String</a:t>
            </a:r>
            <a:r>
              <a:rPr lang="en-US" sz="900" dirty="0">
                <a:solidFill>
                  <a:srgbClr val="D4D4D4"/>
                </a:solidFill>
                <a:latin typeface="Courier New" pitchFamily="34" charset="0"/>
                <a:ea typeface="Courier New" pitchFamily="34" charset="-122"/>
                <a:cs typeface="Courier New" pitchFamily="34" charset="-120"/>
              </a:rPr>
              <a:t> title, </a:t>
            </a:r>
            <a:r>
              <a:rPr lang="en-US" sz="900" b="1" dirty="0">
                <a:solidFill>
                  <a:srgbClr val="569CD6"/>
                </a:solidFill>
                <a:latin typeface="Courier New" pitchFamily="34" charset="0"/>
                <a:ea typeface="Courier New" pitchFamily="34" charset="-122"/>
                <a:cs typeface="Courier New" pitchFamily="34" charset="-120"/>
              </a:rPr>
              <a:t>int</a:t>
            </a:r>
            <a:r>
              <a:rPr lang="en-US" sz="900" dirty="0">
                <a:solidFill>
                  <a:srgbClr val="D4D4D4"/>
                </a:solidFill>
                <a:latin typeface="Courier New" pitchFamily="34" charset="0"/>
                <a:ea typeface="Courier New" pitchFamily="34" charset="-122"/>
                <a:cs typeface="Courier New" pitchFamily="34" charset="-120"/>
              </a:rPr>
              <a:t> pages) {</a:t>
            </a:r>
            <a:endParaRPr lang="en-US" sz="900" dirty="0"/>
          </a:p>
          <a:p>
            <a:pPr marL="0" indent="0" algn="l">
              <a:lnSpc>
                <a:spcPct val="118000"/>
              </a:lnSpc>
              <a:buNone/>
            </a:pPr>
            <a:r>
              <a:rPr lang="en-US" sz="900" dirty="0">
                <a:solidFill>
                  <a:srgbClr val="D4D4D4"/>
                </a:solidFill>
                <a:latin typeface="Courier New" pitchFamily="34" charset="0"/>
                <a:ea typeface="Courier New" pitchFamily="34" charset="-122"/>
                <a:cs typeface="Courier New" pitchFamily="34" charset="-120"/>
              </a:rPr>
              <a:t>        </a:t>
            </a:r>
            <a:r>
              <a:rPr lang="en-US" sz="900" b="1" dirty="0">
                <a:solidFill>
                  <a:srgbClr val="569CD6"/>
                </a:solidFill>
                <a:latin typeface="Courier New" pitchFamily="34" charset="0"/>
                <a:ea typeface="Courier New" pitchFamily="34" charset="-122"/>
                <a:cs typeface="Courier New" pitchFamily="34" charset="-120"/>
              </a:rPr>
              <a:t>this</a:t>
            </a:r>
            <a:r>
              <a:rPr lang="en-US" sz="900" dirty="0">
                <a:solidFill>
                  <a:srgbClr val="D4D4D4"/>
                </a:solidFill>
                <a:latin typeface="Courier New" pitchFamily="34" charset="0"/>
                <a:ea typeface="Courier New" pitchFamily="34" charset="-122"/>
                <a:cs typeface="Courier New" pitchFamily="34" charset="-120"/>
              </a:rPr>
              <a:t>.title = title;</a:t>
            </a:r>
            <a:endParaRPr lang="en-US" sz="900" dirty="0"/>
          </a:p>
          <a:p>
            <a:pPr marL="0" indent="0" algn="l">
              <a:lnSpc>
                <a:spcPct val="118000"/>
              </a:lnSpc>
              <a:buNone/>
            </a:pPr>
            <a:r>
              <a:rPr lang="en-US" sz="900" dirty="0">
                <a:solidFill>
                  <a:srgbClr val="D4D4D4"/>
                </a:solidFill>
                <a:latin typeface="Courier New" pitchFamily="34" charset="0"/>
                <a:ea typeface="Courier New" pitchFamily="34" charset="-122"/>
                <a:cs typeface="Courier New" pitchFamily="34" charset="-120"/>
              </a:rPr>
              <a:t>        </a:t>
            </a:r>
            <a:r>
              <a:rPr lang="en-US" sz="900" b="1" dirty="0">
                <a:solidFill>
                  <a:srgbClr val="569CD6"/>
                </a:solidFill>
                <a:latin typeface="Courier New" pitchFamily="34" charset="0"/>
                <a:ea typeface="Courier New" pitchFamily="34" charset="-122"/>
                <a:cs typeface="Courier New" pitchFamily="34" charset="-120"/>
              </a:rPr>
              <a:t>this</a:t>
            </a:r>
            <a:r>
              <a:rPr lang="en-US" sz="900" dirty="0">
                <a:solidFill>
                  <a:srgbClr val="D4D4D4"/>
                </a:solidFill>
                <a:latin typeface="Courier New" pitchFamily="34" charset="0"/>
                <a:ea typeface="Courier New" pitchFamily="34" charset="-122"/>
                <a:cs typeface="Courier New" pitchFamily="34" charset="-120"/>
              </a:rPr>
              <a:t>.pages = pages;</a:t>
            </a:r>
            <a:endParaRPr lang="en-US" sz="900" dirty="0"/>
          </a:p>
          <a:p>
            <a:pPr marL="0" indent="0" algn="l">
              <a:lnSpc>
                <a:spcPct val="118000"/>
              </a:lnSpc>
              <a:buNone/>
            </a:pPr>
            <a:r>
              <a:rPr lang="en-US" sz="900" dirty="0">
                <a:solidFill>
                  <a:srgbClr val="D4D4D4"/>
                </a:solidFill>
                <a:latin typeface="Courier New" pitchFamily="34" charset="0"/>
                <a:ea typeface="Courier New" pitchFamily="34" charset="-122"/>
                <a:cs typeface="Courier New" pitchFamily="34" charset="-120"/>
              </a:rPr>
              <a:t>    }</a:t>
            </a:r>
            <a:endParaRPr lang="en-US" sz="900" dirty="0"/>
          </a:p>
          <a:p>
            <a:pPr marL="0" indent="0" algn="l">
              <a:lnSpc>
                <a:spcPct val="118000"/>
              </a:lnSpc>
              <a:buNone/>
            </a:pPr>
            <a:r>
              <a:rPr lang="en-US" sz="900" dirty="0">
                <a:solidFill>
                  <a:srgbClr val="D4D4D4"/>
                </a:solidFill>
                <a:latin typeface="Courier New" pitchFamily="34" charset="0"/>
                <a:ea typeface="Courier New" pitchFamily="34" charset="-122"/>
                <a:cs typeface="Courier New" pitchFamily="34" charset="-120"/>
              </a:rPr>
              <a:t> </a:t>
            </a:r>
            <a:endParaRPr lang="en-US" sz="900" dirty="0"/>
          </a:p>
          <a:p>
            <a:pPr marL="0" indent="0" algn="l">
              <a:lnSpc>
                <a:spcPct val="118000"/>
              </a:lnSpc>
              <a:buNone/>
            </a:pPr>
            <a:r>
              <a:rPr lang="en-US" sz="900" dirty="0">
                <a:solidFill>
                  <a:srgbClr val="D4D4D4"/>
                </a:solidFill>
                <a:latin typeface="Courier New" pitchFamily="34" charset="0"/>
                <a:ea typeface="Courier New" pitchFamily="34" charset="-122"/>
                <a:cs typeface="Courier New" pitchFamily="34" charset="-120"/>
              </a:rPr>
              <a:t>    </a:t>
            </a:r>
            <a:r>
              <a:rPr lang="en-US" sz="900" b="1" dirty="0">
                <a:solidFill>
                  <a:srgbClr val="569CD6"/>
                </a:solidFill>
                <a:latin typeface="Courier New" pitchFamily="34" charset="0"/>
                <a:ea typeface="Courier New" pitchFamily="34" charset="-122"/>
                <a:cs typeface="Courier New" pitchFamily="34" charset="-120"/>
              </a:rPr>
              <a:t>public</a:t>
            </a:r>
            <a:r>
              <a:rPr lang="en-US" sz="900" dirty="0">
                <a:solidFill>
                  <a:srgbClr val="D4D4D4"/>
                </a:solidFill>
                <a:latin typeface="Courier New" pitchFamily="34" charset="0"/>
                <a:ea typeface="Courier New" pitchFamily="34" charset="-122"/>
                <a:cs typeface="Courier New" pitchFamily="34" charset="-120"/>
              </a:rPr>
              <a:t> </a:t>
            </a:r>
            <a:r>
              <a:rPr lang="en-US" sz="900" b="1" dirty="0">
                <a:solidFill>
                  <a:srgbClr val="569CD6"/>
                </a:solidFill>
                <a:latin typeface="Courier New" pitchFamily="34" charset="0"/>
                <a:ea typeface="Courier New" pitchFamily="34" charset="-122"/>
                <a:cs typeface="Courier New" pitchFamily="34" charset="-120"/>
              </a:rPr>
              <a:t>static</a:t>
            </a:r>
            <a:r>
              <a:rPr lang="en-US" sz="900" dirty="0">
                <a:solidFill>
                  <a:srgbClr val="D4D4D4"/>
                </a:solidFill>
                <a:latin typeface="Courier New" pitchFamily="34" charset="0"/>
                <a:ea typeface="Courier New" pitchFamily="34" charset="-122"/>
                <a:cs typeface="Courier New" pitchFamily="34" charset="-120"/>
              </a:rPr>
              <a:t> </a:t>
            </a:r>
            <a:r>
              <a:rPr lang="en-US" sz="900" b="1" dirty="0">
                <a:solidFill>
                  <a:srgbClr val="569CD6"/>
                </a:solidFill>
                <a:latin typeface="Courier New" pitchFamily="34" charset="0"/>
                <a:ea typeface="Courier New" pitchFamily="34" charset="-122"/>
                <a:cs typeface="Courier New" pitchFamily="34" charset="-120"/>
              </a:rPr>
              <a:t>void</a:t>
            </a:r>
            <a:r>
              <a:rPr lang="en-US" sz="900" dirty="0">
                <a:solidFill>
                  <a:srgbClr val="D4D4D4"/>
                </a:solidFill>
                <a:latin typeface="Courier New" pitchFamily="34" charset="0"/>
                <a:ea typeface="Courier New" pitchFamily="34" charset="-122"/>
                <a:cs typeface="Courier New" pitchFamily="34" charset="-120"/>
              </a:rPr>
              <a:t> </a:t>
            </a:r>
            <a:r>
              <a:rPr lang="en-US" sz="900" dirty="0">
                <a:solidFill>
                  <a:srgbClr val="DCDCAA"/>
                </a:solidFill>
                <a:latin typeface="Courier New" pitchFamily="34" charset="0"/>
                <a:ea typeface="Courier New" pitchFamily="34" charset="-122"/>
                <a:cs typeface="Courier New" pitchFamily="34" charset="-120"/>
              </a:rPr>
              <a:t>main</a:t>
            </a:r>
            <a:r>
              <a:rPr lang="en-US" sz="900" dirty="0">
                <a:solidFill>
                  <a:srgbClr val="D4D4D4"/>
                </a:solidFill>
                <a:latin typeface="Courier New" pitchFamily="34" charset="0"/>
                <a:ea typeface="Courier New" pitchFamily="34" charset="-122"/>
                <a:cs typeface="Courier New" pitchFamily="34" charset="-120"/>
              </a:rPr>
              <a:t>(</a:t>
            </a:r>
            <a:r>
              <a:rPr lang="en-US" sz="900" dirty="0">
                <a:solidFill>
                  <a:srgbClr val="4EC9B0"/>
                </a:solidFill>
                <a:latin typeface="Courier New" pitchFamily="34" charset="0"/>
                <a:ea typeface="Courier New" pitchFamily="34" charset="-122"/>
                <a:cs typeface="Courier New" pitchFamily="34" charset="-120"/>
              </a:rPr>
              <a:t>String</a:t>
            </a:r>
            <a:r>
              <a:rPr lang="en-US" sz="900" dirty="0">
                <a:solidFill>
                  <a:srgbClr val="D4D4D4"/>
                </a:solidFill>
                <a:latin typeface="Courier New" pitchFamily="34" charset="0"/>
                <a:ea typeface="Courier New" pitchFamily="34" charset="-122"/>
                <a:cs typeface="Courier New" pitchFamily="34" charset="-120"/>
              </a:rPr>
              <a:t>[] args) {</a:t>
            </a:r>
            <a:endParaRPr lang="en-US" sz="900" dirty="0"/>
          </a:p>
          <a:p>
            <a:pPr marL="0" indent="0" algn="l">
              <a:lnSpc>
                <a:spcPct val="118000"/>
              </a:lnSpc>
              <a:buNone/>
            </a:pPr>
            <a:r>
              <a:rPr lang="en-US" sz="900" dirty="0">
                <a:solidFill>
                  <a:srgbClr val="D4D4D4"/>
                </a:solidFill>
                <a:latin typeface="Courier New" pitchFamily="34" charset="0"/>
                <a:ea typeface="Courier New" pitchFamily="34" charset="-122"/>
                <a:cs typeface="Courier New" pitchFamily="34" charset="-120"/>
              </a:rPr>
              <a:t>        Book b1 = </a:t>
            </a:r>
            <a:r>
              <a:rPr lang="en-US" sz="900" b="1" dirty="0">
                <a:solidFill>
                  <a:srgbClr val="569CD6"/>
                </a:solidFill>
                <a:latin typeface="Courier New" pitchFamily="34" charset="0"/>
                <a:ea typeface="Courier New" pitchFamily="34" charset="-122"/>
                <a:cs typeface="Courier New" pitchFamily="34" charset="-120"/>
              </a:rPr>
              <a:t>new</a:t>
            </a:r>
            <a:r>
              <a:rPr lang="en-US" sz="900" dirty="0">
                <a:solidFill>
                  <a:srgbClr val="D4D4D4"/>
                </a:solidFill>
                <a:latin typeface="Courier New" pitchFamily="34" charset="0"/>
                <a:ea typeface="Courier New" pitchFamily="34" charset="-122"/>
                <a:cs typeface="Courier New" pitchFamily="34" charset="-120"/>
              </a:rPr>
              <a:t> </a:t>
            </a:r>
            <a:r>
              <a:rPr lang="en-US" sz="900" dirty="0">
                <a:solidFill>
                  <a:srgbClr val="DCDCAA"/>
                </a:solidFill>
                <a:latin typeface="Courier New" pitchFamily="34" charset="0"/>
                <a:ea typeface="Courier New" pitchFamily="34" charset="-122"/>
                <a:cs typeface="Courier New" pitchFamily="34" charset="-120"/>
              </a:rPr>
              <a:t>Book</a:t>
            </a:r>
            <a:r>
              <a:rPr lang="en-US" sz="900" dirty="0">
                <a:solidFill>
                  <a:srgbClr val="D4D4D4"/>
                </a:solidFill>
                <a:latin typeface="Courier New" pitchFamily="34" charset="0"/>
                <a:ea typeface="Courier New" pitchFamily="34" charset="-122"/>
                <a:cs typeface="Courier New" pitchFamily="34" charset="-120"/>
              </a:rPr>
              <a:t>(</a:t>
            </a:r>
            <a:r>
              <a:rPr lang="en-US" sz="900" dirty="0">
                <a:solidFill>
                  <a:srgbClr val="CE9178"/>
                </a:solidFill>
                <a:latin typeface="Courier New" pitchFamily="34" charset="0"/>
                <a:ea typeface="Courier New" pitchFamily="34" charset="-122"/>
                <a:cs typeface="Courier New" pitchFamily="34" charset="-120"/>
              </a:rPr>
              <a:t>"Java Basics"</a:t>
            </a:r>
            <a:r>
              <a:rPr lang="en-US" sz="900" dirty="0">
                <a:solidFill>
                  <a:srgbClr val="D4D4D4"/>
                </a:solidFill>
                <a:latin typeface="Courier New" pitchFamily="34" charset="0"/>
                <a:ea typeface="Courier New" pitchFamily="34" charset="-122"/>
                <a:cs typeface="Courier New" pitchFamily="34" charset="-120"/>
              </a:rPr>
              <a:t>);</a:t>
            </a:r>
            <a:endParaRPr lang="en-US" sz="900" dirty="0"/>
          </a:p>
          <a:p>
            <a:pPr marL="0" indent="0" algn="l">
              <a:lnSpc>
                <a:spcPct val="118000"/>
              </a:lnSpc>
              <a:buNone/>
            </a:pPr>
            <a:r>
              <a:rPr lang="en-US" sz="900" dirty="0">
                <a:solidFill>
                  <a:srgbClr val="D4D4D4"/>
                </a:solidFill>
                <a:latin typeface="Courier New" pitchFamily="34" charset="0"/>
                <a:ea typeface="Courier New" pitchFamily="34" charset="-122"/>
                <a:cs typeface="Courier New" pitchFamily="34" charset="-120"/>
              </a:rPr>
              <a:t>        Book b2 = </a:t>
            </a:r>
            <a:r>
              <a:rPr lang="en-US" sz="900" b="1" dirty="0">
                <a:solidFill>
                  <a:srgbClr val="569CD6"/>
                </a:solidFill>
                <a:latin typeface="Courier New" pitchFamily="34" charset="0"/>
                <a:ea typeface="Courier New" pitchFamily="34" charset="-122"/>
                <a:cs typeface="Courier New" pitchFamily="34" charset="-120"/>
              </a:rPr>
              <a:t>new</a:t>
            </a:r>
            <a:r>
              <a:rPr lang="en-US" sz="900" dirty="0">
                <a:solidFill>
                  <a:srgbClr val="D4D4D4"/>
                </a:solidFill>
                <a:latin typeface="Courier New" pitchFamily="34" charset="0"/>
                <a:ea typeface="Courier New" pitchFamily="34" charset="-122"/>
                <a:cs typeface="Courier New" pitchFamily="34" charset="-120"/>
              </a:rPr>
              <a:t> </a:t>
            </a:r>
            <a:r>
              <a:rPr lang="en-US" sz="900" dirty="0">
                <a:solidFill>
                  <a:srgbClr val="DCDCAA"/>
                </a:solidFill>
                <a:latin typeface="Courier New" pitchFamily="34" charset="0"/>
                <a:ea typeface="Courier New" pitchFamily="34" charset="-122"/>
                <a:cs typeface="Courier New" pitchFamily="34" charset="-120"/>
              </a:rPr>
              <a:t>Book</a:t>
            </a:r>
            <a:r>
              <a:rPr lang="en-US" sz="900" dirty="0">
                <a:solidFill>
                  <a:srgbClr val="D4D4D4"/>
                </a:solidFill>
                <a:latin typeface="Courier New" pitchFamily="34" charset="0"/>
                <a:ea typeface="Courier New" pitchFamily="34" charset="-122"/>
                <a:cs typeface="Courier New" pitchFamily="34" charset="-120"/>
              </a:rPr>
              <a:t>(</a:t>
            </a:r>
            <a:r>
              <a:rPr lang="en-US" sz="900" dirty="0">
                <a:solidFill>
                  <a:srgbClr val="CE9178"/>
                </a:solidFill>
                <a:latin typeface="Courier New" pitchFamily="34" charset="0"/>
                <a:ea typeface="Courier New" pitchFamily="34" charset="-122"/>
                <a:cs typeface="Courier New" pitchFamily="34" charset="-120"/>
              </a:rPr>
              <a:t>"Advanced Java"</a:t>
            </a:r>
            <a:r>
              <a:rPr lang="en-US" sz="900" dirty="0">
                <a:solidFill>
                  <a:srgbClr val="D4D4D4"/>
                </a:solidFill>
                <a:latin typeface="Courier New" pitchFamily="34" charset="0"/>
                <a:ea typeface="Courier New" pitchFamily="34" charset="-122"/>
                <a:cs typeface="Courier New" pitchFamily="34" charset="-120"/>
              </a:rPr>
              <a:t>, </a:t>
            </a:r>
            <a:r>
              <a:rPr lang="en-US" sz="900" dirty="0">
                <a:solidFill>
                  <a:srgbClr val="B5CEA8"/>
                </a:solidFill>
                <a:latin typeface="Courier New" pitchFamily="34" charset="0"/>
                <a:ea typeface="Courier New" pitchFamily="34" charset="-122"/>
                <a:cs typeface="Courier New" pitchFamily="34" charset="-120"/>
              </a:rPr>
              <a:t>350</a:t>
            </a:r>
            <a:r>
              <a:rPr lang="en-US" sz="900" dirty="0">
                <a:solidFill>
                  <a:srgbClr val="D4D4D4"/>
                </a:solidFill>
                <a:latin typeface="Courier New" pitchFamily="34" charset="0"/>
                <a:ea typeface="Courier New" pitchFamily="34" charset="-122"/>
                <a:cs typeface="Courier New" pitchFamily="34" charset="-120"/>
              </a:rPr>
              <a:t>);</a:t>
            </a:r>
            <a:endParaRPr lang="en-US" sz="900" dirty="0"/>
          </a:p>
          <a:p>
            <a:pPr marL="0" indent="0" algn="l">
              <a:lnSpc>
                <a:spcPct val="118000"/>
              </a:lnSpc>
              <a:buNone/>
            </a:pPr>
            <a:r>
              <a:rPr lang="en-US" sz="900" dirty="0">
                <a:solidFill>
                  <a:srgbClr val="D4D4D4"/>
                </a:solidFill>
                <a:latin typeface="Courier New" pitchFamily="34" charset="0"/>
                <a:ea typeface="Courier New" pitchFamily="34" charset="-122"/>
                <a:cs typeface="Courier New" pitchFamily="34" charset="-120"/>
              </a:rPr>
              <a:t> </a:t>
            </a:r>
            <a:endParaRPr lang="en-US" sz="900" dirty="0"/>
          </a:p>
          <a:p>
            <a:pPr marL="0" indent="0" algn="l">
              <a:lnSpc>
                <a:spcPct val="118000"/>
              </a:lnSpc>
              <a:buNone/>
            </a:pPr>
            <a:r>
              <a:rPr lang="en-US" sz="900" dirty="0">
                <a:solidFill>
                  <a:srgbClr val="D4D4D4"/>
                </a:solidFill>
                <a:latin typeface="Courier New" pitchFamily="34" charset="0"/>
                <a:ea typeface="Courier New" pitchFamily="34" charset="-122"/>
                <a:cs typeface="Courier New" pitchFamily="34" charset="-120"/>
              </a:rPr>
              <a:t>        </a:t>
            </a:r>
            <a:r>
              <a:rPr lang="en-US" sz="900" dirty="0">
                <a:solidFill>
                  <a:srgbClr val="4EC9B0"/>
                </a:solidFill>
                <a:latin typeface="Courier New" pitchFamily="34" charset="0"/>
                <a:ea typeface="Courier New" pitchFamily="34" charset="-122"/>
                <a:cs typeface="Courier New" pitchFamily="34" charset="-120"/>
              </a:rPr>
              <a:t>System</a:t>
            </a:r>
            <a:r>
              <a:rPr lang="en-US" sz="900" dirty="0">
                <a:solidFill>
                  <a:srgbClr val="D4D4D4"/>
                </a:solidFill>
                <a:latin typeface="Courier New" pitchFamily="34" charset="0"/>
                <a:ea typeface="Courier New" pitchFamily="34" charset="-122"/>
                <a:cs typeface="Courier New" pitchFamily="34" charset="-120"/>
              </a:rPr>
              <a:t>.out.</a:t>
            </a:r>
            <a:r>
              <a:rPr lang="en-US" sz="900" dirty="0">
                <a:solidFill>
                  <a:srgbClr val="DCDCAA"/>
                </a:solidFill>
                <a:latin typeface="Courier New" pitchFamily="34" charset="0"/>
                <a:ea typeface="Courier New" pitchFamily="34" charset="-122"/>
                <a:cs typeface="Courier New" pitchFamily="34" charset="-120"/>
              </a:rPr>
              <a:t>println</a:t>
            </a:r>
            <a:r>
              <a:rPr lang="en-US" sz="900" dirty="0">
                <a:solidFill>
                  <a:srgbClr val="D4D4D4"/>
                </a:solidFill>
                <a:latin typeface="Courier New" pitchFamily="34" charset="0"/>
                <a:ea typeface="Courier New" pitchFamily="34" charset="-122"/>
                <a:cs typeface="Courier New" pitchFamily="34" charset="-120"/>
              </a:rPr>
              <a:t>(b1.title + </a:t>
            </a:r>
            <a:r>
              <a:rPr lang="en-US" sz="900" dirty="0">
                <a:solidFill>
                  <a:srgbClr val="CE9178"/>
                </a:solidFill>
                <a:latin typeface="Courier New" pitchFamily="34" charset="0"/>
                <a:ea typeface="Courier New" pitchFamily="34" charset="-122"/>
                <a:cs typeface="Courier New" pitchFamily="34" charset="-120"/>
              </a:rPr>
              <a:t>" "</a:t>
            </a:r>
            <a:r>
              <a:rPr lang="en-US" sz="900" dirty="0">
                <a:solidFill>
                  <a:srgbClr val="D4D4D4"/>
                </a:solidFill>
                <a:latin typeface="Courier New" pitchFamily="34" charset="0"/>
                <a:ea typeface="Courier New" pitchFamily="34" charset="-122"/>
                <a:cs typeface="Courier New" pitchFamily="34" charset="-120"/>
              </a:rPr>
              <a:t> + b1.pages);</a:t>
            </a:r>
            <a:endParaRPr lang="en-US" sz="900" dirty="0"/>
          </a:p>
          <a:p>
            <a:pPr marL="0" indent="0" algn="l">
              <a:lnSpc>
                <a:spcPct val="118000"/>
              </a:lnSpc>
              <a:buNone/>
            </a:pPr>
            <a:r>
              <a:rPr lang="en-US" sz="900" dirty="0">
                <a:solidFill>
                  <a:srgbClr val="D4D4D4"/>
                </a:solidFill>
                <a:latin typeface="Courier New" pitchFamily="34" charset="0"/>
                <a:ea typeface="Courier New" pitchFamily="34" charset="-122"/>
                <a:cs typeface="Courier New" pitchFamily="34" charset="-120"/>
              </a:rPr>
              <a:t>        </a:t>
            </a:r>
            <a:r>
              <a:rPr lang="en-US" sz="900" dirty="0">
                <a:solidFill>
                  <a:srgbClr val="4EC9B0"/>
                </a:solidFill>
                <a:latin typeface="Courier New" pitchFamily="34" charset="0"/>
                <a:ea typeface="Courier New" pitchFamily="34" charset="-122"/>
                <a:cs typeface="Courier New" pitchFamily="34" charset="-120"/>
              </a:rPr>
              <a:t>System</a:t>
            </a:r>
            <a:r>
              <a:rPr lang="en-US" sz="900" dirty="0">
                <a:solidFill>
                  <a:srgbClr val="D4D4D4"/>
                </a:solidFill>
                <a:latin typeface="Courier New" pitchFamily="34" charset="0"/>
                <a:ea typeface="Courier New" pitchFamily="34" charset="-122"/>
                <a:cs typeface="Courier New" pitchFamily="34" charset="-120"/>
              </a:rPr>
              <a:t>.out.</a:t>
            </a:r>
            <a:r>
              <a:rPr lang="en-US" sz="900" dirty="0">
                <a:solidFill>
                  <a:srgbClr val="DCDCAA"/>
                </a:solidFill>
                <a:latin typeface="Courier New" pitchFamily="34" charset="0"/>
                <a:ea typeface="Courier New" pitchFamily="34" charset="-122"/>
                <a:cs typeface="Courier New" pitchFamily="34" charset="-120"/>
              </a:rPr>
              <a:t>println</a:t>
            </a:r>
            <a:r>
              <a:rPr lang="en-US" sz="900" dirty="0">
                <a:solidFill>
                  <a:srgbClr val="D4D4D4"/>
                </a:solidFill>
                <a:latin typeface="Courier New" pitchFamily="34" charset="0"/>
                <a:ea typeface="Courier New" pitchFamily="34" charset="-122"/>
                <a:cs typeface="Courier New" pitchFamily="34" charset="-120"/>
              </a:rPr>
              <a:t>(b2.title + </a:t>
            </a:r>
            <a:r>
              <a:rPr lang="en-US" sz="900" dirty="0">
                <a:solidFill>
                  <a:srgbClr val="CE9178"/>
                </a:solidFill>
                <a:latin typeface="Courier New" pitchFamily="34" charset="0"/>
                <a:ea typeface="Courier New" pitchFamily="34" charset="-122"/>
                <a:cs typeface="Courier New" pitchFamily="34" charset="-120"/>
              </a:rPr>
              <a:t>" "</a:t>
            </a:r>
            <a:r>
              <a:rPr lang="en-US" sz="900" dirty="0">
                <a:solidFill>
                  <a:srgbClr val="D4D4D4"/>
                </a:solidFill>
                <a:latin typeface="Courier New" pitchFamily="34" charset="0"/>
                <a:ea typeface="Courier New" pitchFamily="34" charset="-122"/>
                <a:cs typeface="Courier New" pitchFamily="34" charset="-120"/>
              </a:rPr>
              <a:t> + b2.pages);</a:t>
            </a:r>
            <a:endParaRPr lang="en-US" sz="900" dirty="0"/>
          </a:p>
          <a:p>
            <a:pPr marL="0" indent="0" algn="l">
              <a:lnSpc>
                <a:spcPct val="118000"/>
              </a:lnSpc>
              <a:buNone/>
            </a:pPr>
            <a:r>
              <a:rPr lang="en-US" sz="900" dirty="0">
                <a:solidFill>
                  <a:srgbClr val="D4D4D4"/>
                </a:solidFill>
                <a:latin typeface="Courier New" pitchFamily="34" charset="0"/>
                <a:ea typeface="Courier New" pitchFamily="34" charset="-122"/>
                <a:cs typeface="Courier New" pitchFamily="34" charset="-120"/>
              </a:rPr>
              <a:t>    }</a:t>
            </a:r>
            <a:endParaRPr lang="en-US" sz="900" dirty="0"/>
          </a:p>
          <a:p>
            <a:pPr marL="0" indent="0" algn="l">
              <a:lnSpc>
                <a:spcPct val="118000"/>
              </a:lnSpc>
              <a:buNone/>
            </a:pPr>
            <a:r>
              <a:rPr lang="en-US" sz="900" dirty="0">
                <a:solidFill>
                  <a:srgbClr val="D4D4D4"/>
                </a:solidFill>
                <a:latin typeface="Courier New" pitchFamily="34" charset="0"/>
                <a:ea typeface="Courier New" pitchFamily="34" charset="-122"/>
                <a:cs typeface="Courier New" pitchFamily="34" charset="-120"/>
              </a:rPr>
              <a:t>}</a:t>
            </a:r>
            <a:endParaRPr lang="en-US" sz="900" dirty="0"/>
          </a:p>
        </p:txBody>
      </p:sp>
      <p:sp>
        <p:nvSpPr>
          <p:cNvPr id="13" name="Shape 11"/>
          <p:cNvSpPr/>
          <p:nvPr/>
        </p:nvSpPr>
        <p:spPr>
          <a:xfrm>
            <a:off x="7909560" y="2002536"/>
            <a:ext cx="3886200" cy="4032504"/>
          </a:xfrm>
          <a:prstGeom prst="roundRect">
            <a:avLst>
              <a:gd name="adj" fmla="val 1882"/>
            </a:avLst>
          </a:prstGeom>
          <a:solidFill>
            <a:srgbClr val="181C24"/>
          </a:solidFill>
          <a:ln w="12700">
            <a:solidFill>
              <a:srgbClr val="000000"/>
            </a:solidFill>
            <a:prstDash val="solid"/>
          </a:ln>
        </p:spPr>
      </p:sp>
      <p:sp>
        <p:nvSpPr>
          <p:cNvPr id="14" name="Text 12"/>
          <p:cNvSpPr/>
          <p:nvPr/>
        </p:nvSpPr>
        <p:spPr>
          <a:xfrm>
            <a:off x="8074152" y="2130552"/>
            <a:ext cx="3557016" cy="274320"/>
          </a:xfrm>
          <a:prstGeom prst="rect">
            <a:avLst/>
          </a:prstGeom>
          <a:noFill/>
          <a:ln/>
        </p:spPr>
        <p:txBody>
          <a:bodyPr wrap="square" lIns="0" tIns="0" rIns="0" bIns="0" rtlCol="0" anchor="ctr"/>
          <a:lstStyle/>
          <a:p>
            <a:pPr marL="0" indent="0">
              <a:buNone/>
            </a:pPr>
            <a:r>
              <a:rPr lang="en-US" sz="1000" b="1" kern="0" spc="100" dirty="0">
                <a:solidFill>
                  <a:srgbClr val="E8590C"/>
                </a:solidFill>
                <a:latin typeface="Times New Roman" pitchFamily="34" charset="0"/>
                <a:ea typeface="Times New Roman" pitchFamily="34" charset="-122"/>
                <a:cs typeface="Times New Roman" pitchFamily="34" charset="-120"/>
              </a:rPr>
              <a:t>CONSOLE OUTPUT</a:t>
            </a:r>
            <a:endParaRPr lang="en-US" sz="1000" dirty="0"/>
          </a:p>
        </p:txBody>
      </p:sp>
      <p:sp>
        <p:nvSpPr>
          <p:cNvPr id="15" name="Text 13"/>
          <p:cNvSpPr/>
          <p:nvPr/>
        </p:nvSpPr>
        <p:spPr>
          <a:xfrm>
            <a:off x="8074152" y="2459736"/>
            <a:ext cx="3557016" cy="3429000"/>
          </a:xfrm>
          <a:prstGeom prst="rect">
            <a:avLst/>
          </a:prstGeom>
          <a:noFill/>
          <a:ln/>
        </p:spPr>
        <p:txBody>
          <a:bodyPr wrap="square" lIns="0" tIns="0" rIns="0" bIns="0" rtlCol="0" anchor="t"/>
          <a:lstStyle/>
          <a:p>
            <a:pPr marL="0" indent="0">
              <a:lnSpc>
                <a:spcPct val="130000"/>
              </a:lnSpc>
              <a:buNone/>
            </a:pPr>
            <a:r>
              <a:rPr lang="en-US" sz="1300" dirty="0">
                <a:solidFill>
                  <a:srgbClr val="D8E6D0"/>
                </a:solidFill>
                <a:latin typeface="Courier New" pitchFamily="34" charset="0"/>
                <a:ea typeface="Courier New" pitchFamily="34" charset="-122"/>
                <a:cs typeface="Courier New" pitchFamily="34" charset="-120"/>
              </a:rPr>
              <a:t>Java Basics 0</a:t>
            </a:r>
            <a:endParaRPr lang="en-US" sz="1300" dirty="0"/>
          </a:p>
          <a:p>
            <a:pPr marL="0" indent="0">
              <a:lnSpc>
                <a:spcPct val="130000"/>
              </a:lnSpc>
              <a:buNone/>
            </a:pPr>
            <a:r>
              <a:rPr lang="en-US" sz="1300" dirty="0">
                <a:solidFill>
                  <a:srgbClr val="D8E6D0"/>
                </a:solidFill>
                <a:latin typeface="Courier New" pitchFamily="34" charset="0"/>
                <a:ea typeface="Courier New" pitchFamily="34" charset="-122"/>
                <a:cs typeface="Courier New" pitchFamily="34" charset="-120"/>
              </a:rPr>
              <a:t>Advanced Java 350</a:t>
            </a:r>
            <a:endParaRPr lang="en-US" sz="1300" dirty="0"/>
          </a:p>
        </p:txBody>
      </p:sp>
      <p:sp>
        <p:nvSpPr>
          <p:cNvPr id="16" name="Shape 14"/>
          <p:cNvSpPr/>
          <p:nvPr/>
        </p:nvSpPr>
        <p:spPr>
          <a:xfrm>
            <a:off x="0" y="0"/>
            <a:ext cx="12191695" cy="384048"/>
          </a:xfrm>
          <a:prstGeom prst="rect">
            <a:avLst/>
          </a:prstGeom>
          <a:solidFill>
            <a:srgbClr val="1B2A4A"/>
          </a:solidFill>
          <a:ln w="12700">
            <a:solidFill>
              <a:srgbClr val="1B2A4A"/>
            </a:solidFill>
            <a:prstDash val="solid"/>
          </a:ln>
        </p:spPr>
      </p:sp>
      <p:sp>
        <p:nvSpPr>
          <p:cNvPr id="17" name="Text 15"/>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8" name="Shape 16"/>
          <p:cNvSpPr/>
          <p:nvPr/>
        </p:nvSpPr>
        <p:spPr>
          <a:xfrm>
            <a:off x="219456" y="301752"/>
            <a:ext cx="960120" cy="0"/>
          </a:xfrm>
          <a:prstGeom prst="line">
            <a:avLst/>
          </a:prstGeom>
          <a:noFill/>
          <a:ln w="9525">
            <a:solidFill>
              <a:srgbClr val="4A5570"/>
            </a:solidFill>
            <a:prstDash val="solid"/>
          </a:ln>
        </p:spPr>
      </p:sp>
      <p:sp>
        <p:nvSpPr>
          <p:cNvPr id="19" name="Text 17"/>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0" name="Text 18"/>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1" name="Text 19"/>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2" name="Shape 20"/>
          <p:cNvSpPr/>
          <p:nvPr/>
        </p:nvSpPr>
        <p:spPr>
          <a:xfrm>
            <a:off x="0" y="6291072"/>
            <a:ext cx="12191695" cy="566928"/>
          </a:xfrm>
          <a:prstGeom prst="rect">
            <a:avLst/>
          </a:prstGeom>
          <a:solidFill>
            <a:srgbClr val="1B2A4A"/>
          </a:solidFill>
          <a:ln w="12700">
            <a:solidFill>
              <a:srgbClr val="1B2A4A"/>
            </a:solidFill>
            <a:prstDash val="solid"/>
          </a:ln>
        </p:spPr>
      </p:sp>
      <p:sp>
        <p:nvSpPr>
          <p:cNvPr id="23" name="Text 21"/>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4" name="Text 22"/>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81C24"/>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81C24"/>
          </a:solidFill>
          <a:ln w="12700">
            <a:solidFill>
              <a:srgbClr val="181C24"/>
            </a:solidFill>
            <a:prstDash val="solid"/>
          </a:ln>
        </p:spPr>
      </p:sp>
      <p:sp>
        <p:nvSpPr>
          <p:cNvPr id="3" name="Shape 1"/>
          <p:cNvSpPr/>
          <p:nvPr/>
        </p:nvSpPr>
        <p:spPr>
          <a:xfrm>
            <a:off x="0" y="3246120"/>
            <a:ext cx="12191695" cy="18288"/>
          </a:xfrm>
          <a:prstGeom prst="rect">
            <a:avLst/>
          </a:prstGeom>
          <a:solidFill>
            <a:srgbClr val="2A2F3B"/>
          </a:solidFill>
          <a:ln w="12700">
            <a:solidFill>
              <a:srgbClr val="000000"/>
            </a:solidFill>
            <a:prstDash val="solid"/>
          </a:ln>
        </p:spPr>
      </p:sp>
      <p:sp>
        <p:nvSpPr>
          <p:cNvPr id="4" name="Text 2"/>
          <p:cNvSpPr/>
          <p:nvPr/>
        </p:nvSpPr>
        <p:spPr>
          <a:xfrm>
            <a:off x="640080" y="2651760"/>
            <a:ext cx="5486400" cy="365760"/>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SECTION 3 / 10</a:t>
            </a:r>
            <a:endParaRPr lang="en-US" sz="1300" dirty="0"/>
          </a:p>
        </p:txBody>
      </p:sp>
      <p:sp>
        <p:nvSpPr>
          <p:cNvPr id="5" name="Text 3"/>
          <p:cNvSpPr/>
          <p:nvPr/>
        </p:nvSpPr>
        <p:spPr>
          <a:xfrm>
            <a:off x="594360" y="2971800"/>
            <a:ext cx="10515600" cy="1005840"/>
          </a:xfrm>
          <a:prstGeom prst="rect">
            <a:avLst/>
          </a:prstGeom>
          <a:noFill/>
          <a:ln/>
        </p:spPr>
        <p:txBody>
          <a:bodyPr wrap="square" lIns="0" tIns="0" rIns="0" bIns="0" rtlCol="0" anchor="ctr"/>
          <a:lstStyle/>
          <a:p>
            <a:pPr marL="0" indent="0">
              <a:buNone/>
            </a:pPr>
            <a:r>
              <a:rPr lang="en-US" sz="3400" b="1" dirty="0">
                <a:solidFill>
                  <a:srgbClr val="FFFFFF"/>
                </a:solidFill>
                <a:latin typeface="Times New Roman" pitchFamily="34" charset="0"/>
                <a:ea typeface="Times New Roman" pitchFamily="34" charset="-122"/>
                <a:cs typeface="Times New Roman" pitchFamily="34" charset="-120"/>
              </a:rPr>
              <a:t>The this Keyword</a:t>
            </a:r>
            <a:endParaRPr lang="en-US" sz="3400" dirty="0"/>
          </a:p>
        </p:txBody>
      </p:sp>
      <p:sp>
        <p:nvSpPr>
          <p:cNvPr id="6" name="Text 4"/>
          <p:cNvSpPr/>
          <p:nvPr/>
        </p:nvSpPr>
        <p:spPr>
          <a:xfrm>
            <a:off x="640080" y="3977640"/>
            <a:ext cx="9144000" cy="548640"/>
          </a:xfrm>
          <a:prstGeom prst="rect">
            <a:avLst/>
          </a:prstGeom>
          <a:noFill/>
          <a:ln/>
        </p:spPr>
        <p:txBody>
          <a:bodyPr wrap="square" lIns="0" tIns="0" rIns="0" bIns="0" rtlCol="0" anchor="t"/>
          <a:lstStyle/>
          <a:p>
            <a:pPr marL="0" indent="0">
              <a:buNone/>
            </a:pPr>
            <a:r>
              <a:rPr lang="en-US" sz="1500" dirty="0">
                <a:solidFill>
                  <a:srgbClr val="8C93A0"/>
                </a:solidFill>
                <a:latin typeface="Times New Roman" pitchFamily="34" charset="0"/>
                <a:ea typeface="Times New Roman" pitchFamily="34" charset="-122"/>
                <a:cs typeface="Times New Roman" pitchFamily="34" charset="-120"/>
              </a:rPr>
              <a:t>Referring to the current object from inside its own class</a:t>
            </a:r>
            <a:endParaRPr lang="en-US" sz="1500" dirty="0"/>
          </a:p>
        </p:txBody>
      </p:sp>
      <p:sp>
        <p:nvSpPr>
          <p:cNvPr id="7" name="Shape 5"/>
          <p:cNvSpPr/>
          <p:nvPr/>
        </p:nvSpPr>
        <p:spPr>
          <a:xfrm>
            <a:off x="0" y="0"/>
            <a:ext cx="12191695" cy="384048"/>
          </a:xfrm>
          <a:prstGeom prst="rect">
            <a:avLst/>
          </a:prstGeom>
          <a:solidFill>
            <a:srgbClr val="1B2A4A"/>
          </a:solidFill>
          <a:ln w="12700">
            <a:solidFill>
              <a:srgbClr val="1B2A4A"/>
            </a:solidFill>
            <a:prstDash val="solid"/>
          </a:ln>
        </p:spPr>
      </p:sp>
      <p:sp>
        <p:nvSpPr>
          <p:cNvPr id="8" name="Text 6"/>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9" name="Shape 7"/>
          <p:cNvSpPr/>
          <p:nvPr/>
        </p:nvSpPr>
        <p:spPr>
          <a:xfrm>
            <a:off x="219456" y="301752"/>
            <a:ext cx="960120" cy="0"/>
          </a:xfrm>
          <a:prstGeom prst="line">
            <a:avLst/>
          </a:prstGeom>
          <a:noFill/>
          <a:ln w="9525">
            <a:solidFill>
              <a:srgbClr val="4A5570"/>
            </a:solidFill>
            <a:prstDash val="solid"/>
          </a:ln>
        </p:spPr>
      </p:sp>
      <p:sp>
        <p:nvSpPr>
          <p:cNvPr id="10" name="Text 8"/>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11" name="Text 9"/>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12" name="Text 10"/>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13" name="Shape 11"/>
          <p:cNvSpPr/>
          <p:nvPr/>
        </p:nvSpPr>
        <p:spPr>
          <a:xfrm>
            <a:off x="0" y="6291072"/>
            <a:ext cx="12191695" cy="566928"/>
          </a:xfrm>
          <a:prstGeom prst="rect">
            <a:avLst/>
          </a:prstGeom>
          <a:solidFill>
            <a:srgbClr val="1B2A4A"/>
          </a:solidFill>
          <a:ln w="12700">
            <a:solidFill>
              <a:srgbClr val="1B2A4A"/>
            </a:solidFill>
            <a:prstDash val="solid"/>
          </a:ln>
        </p:spPr>
      </p:sp>
      <p:sp>
        <p:nvSpPr>
          <p:cNvPr id="14" name="Text 12"/>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15" name="Text 13"/>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CONCEPT</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What Does this Refer To?</a:t>
            </a:r>
            <a:endParaRPr lang="en-US" sz="2700" dirty="0"/>
          </a:p>
        </p:txBody>
      </p:sp>
      <p:sp>
        <p:nvSpPr>
          <p:cNvPr id="4" name="Shape 2"/>
          <p:cNvSpPr/>
          <p:nvPr/>
        </p:nvSpPr>
        <p:spPr>
          <a:xfrm>
            <a:off x="594360" y="1691640"/>
            <a:ext cx="10607040" cy="1338072"/>
          </a:xfrm>
          <a:prstGeom prst="roundRect">
            <a:avLst>
              <a:gd name="adj" fmla="val 4100"/>
            </a:avLst>
          </a:prstGeom>
          <a:solidFill>
            <a:srgbClr val="F5F6FA"/>
          </a:solidFill>
          <a:ln w="9525">
            <a:solidFill>
              <a:srgbClr val="E4E7EE"/>
            </a:solidFill>
            <a:prstDash val="solid"/>
          </a:ln>
        </p:spPr>
      </p:sp>
      <p:sp>
        <p:nvSpPr>
          <p:cNvPr id="5" name="Shape 3"/>
          <p:cNvSpPr/>
          <p:nvPr/>
        </p:nvSpPr>
        <p:spPr>
          <a:xfrm>
            <a:off x="777240" y="1874520"/>
            <a:ext cx="109728" cy="109728"/>
          </a:xfrm>
          <a:prstGeom prst="ellipse">
            <a:avLst/>
          </a:prstGeom>
          <a:solidFill>
            <a:srgbClr val="E8590C"/>
          </a:solidFill>
          <a:ln w="12700">
            <a:solidFill>
              <a:srgbClr val="000000"/>
            </a:solidFill>
            <a:prstDash val="solid"/>
          </a:ln>
        </p:spPr>
      </p:sp>
      <p:sp>
        <p:nvSpPr>
          <p:cNvPr id="6" name="Text 4"/>
          <p:cNvSpPr/>
          <p:nvPr/>
        </p:nvSpPr>
        <p:spPr>
          <a:xfrm>
            <a:off x="1051560" y="1764792"/>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A reference to the current object</a:t>
            </a:r>
            <a:endParaRPr lang="en-US" sz="1500" dirty="0"/>
          </a:p>
        </p:txBody>
      </p:sp>
      <p:sp>
        <p:nvSpPr>
          <p:cNvPr id="7" name="Text 5"/>
          <p:cNvSpPr/>
          <p:nvPr/>
        </p:nvSpPr>
        <p:spPr>
          <a:xfrm>
            <a:off x="1051560" y="2057400"/>
            <a:ext cx="9966960" cy="917448"/>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Inside an instance method or constructor, this always points to the object the code is currently running on.</a:t>
            </a:r>
            <a:endParaRPr lang="en-US" sz="1250" dirty="0"/>
          </a:p>
        </p:txBody>
      </p:sp>
      <p:sp>
        <p:nvSpPr>
          <p:cNvPr id="8" name="Shape 6"/>
          <p:cNvSpPr/>
          <p:nvPr/>
        </p:nvSpPr>
        <p:spPr>
          <a:xfrm>
            <a:off x="594360" y="3194304"/>
            <a:ext cx="10607040" cy="1338072"/>
          </a:xfrm>
          <a:prstGeom prst="roundRect">
            <a:avLst>
              <a:gd name="adj" fmla="val 4100"/>
            </a:avLst>
          </a:prstGeom>
          <a:solidFill>
            <a:srgbClr val="F5F6FA"/>
          </a:solidFill>
          <a:ln w="9525">
            <a:solidFill>
              <a:srgbClr val="E4E7EE"/>
            </a:solidFill>
            <a:prstDash val="solid"/>
          </a:ln>
        </p:spPr>
      </p:sp>
      <p:sp>
        <p:nvSpPr>
          <p:cNvPr id="9" name="Shape 7"/>
          <p:cNvSpPr/>
          <p:nvPr/>
        </p:nvSpPr>
        <p:spPr>
          <a:xfrm>
            <a:off x="777240" y="3377184"/>
            <a:ext cx="109728" cy="109728"/>
          </a:xfrm>
          <a:prstGeom prst="ellipse">
            <a:avLst/>
          </a:prstGeom>
          <a:solidFill>
            <a:srgbClr val="E8590C"/>
          </a:solidFill>
          <a:ln w="12700">
            <a:solidFill>
              <a:srgbClr val="000000"/>
            </a:solidFill>
            <a:prstDash val="solid"/>
          </a:ln>
        </p:spPr>
      </p:sp>
      <p:sp>
        <p:nvSpPr>
          <p:cNvPr id="10" name="Text 8"/>
          <p:cNvSpPr/>
          <p:nvPr/>
        </p:nvSpPr>
        <p:spPr>
          <a:xfrm>
            <a:off x="1051560" y="3267456"/>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Distinguishes fields from parameters</a:t>
            </a:r>
            <a:endParaRPr lang="en-US" sz="1500" dirty="0"/>
          </a:p>
        </p:txBody>
      </p:sp>
      <p:sp>
        <p:nvSpPr>
          <p:cNvPr id="11" name="Text 9"/>
          <p:cNvSpPr/>
          <p:nvPr/>
        </p:nvSpPr>
        <p:spPr>
          <a:xfrm>
            <a:off x="1051560" y="3560064"/>
            <a:ext cx="9966960" cy="917448"/>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When a parameter has the same name as a field, this.field refers to the field, and the plain name refers to the parameter.</a:t>
            </a:r>
            <a:endParaRPr lang="en-US" sz="1250" dirty="0"/>
          </a:p>
        </p:txBody>
      </p:sp>
      <p:sp>
        <p:nvSpPr>
          <p:cNvPr id="12" name="Shape 10"/>
          <p:cNvSpPr/>
          <p:nvPr/>
        </p:nvSpPr>
        <p:spPr>
          <a:xfrm>
            <a:off x="594360" y="4696968"/>
            <a:ext cx="10607040" cy="1338072"/>
          </a:xfrm>
          <a:prstGeom prst="roundRect">
            <a:avLst>
              <a:gd name="adj" fmla="val 4100"/>
            </a:avLst>
          </a:prstGeom>
          <a:solidFill>
            <a:srgbClr val="F5F6FA"/>
          </a:solidFill>
          <a:ln w="9525">
            <a:solidFill>
              <a:srgbClr val="E4E7EE"/>
            </a:solidFill>
            <a:prstDash val="solid"/>
          </a:ln>
        </p:spPr>
      </p:sp>
      <p:sp>
        <p:nvSpPr>
          <p:cNvPr id="13" name="Shape 11"/>
          <p:cNvSpPr/>
          <p:nvPr/>
        </p:nvSpPr>
        <p:spPr>
          <a:xfrm>
            <a:off x="777240" y="4879848"/>
            <a:ext cx="109728" cy="109728"/>
          </a:xfrm>
          <a:prstGeom prst="ellipse">
            <a:avLst/>
          </a:prstGeom>
          <a:solidFill>
            <a:srgbClr val="E8590C"/>
          </a:solidFill>
          <a:ln w="12700">
            <a:solidFill>
              <a:srgbClr val="000000"/>
            </a:solidFill>
            <a:prstDash val="solid"/>
          </a:ln>
        </p:spPr>
      </p:sp>
      <p:sp>
        <p:nvSpPr>
          <p:cNvPr id="14" name="Text 12"/>
          <p:cNvSpPr/>
          <p:nvPr/>
        </p:nvSpPr>
        <p:spPr>
          <a:xfrm>
            <a:off x="1051560" y="4770120"/>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Only available in instance context</a:t>
            </a:r>
            <a:endParaRPr lang="en-US" sz="1500" dirty="0"/>
          </a:p>
        </p:txBody>
      </p:sp>
      <p:sp>
        <p:nvSpPr>
          <p:cNvPr id="15" name="Text 13"/>
          <p:cNvSpPr/>
          <p:nvPr/>
        </p:nvSpPr>
        <p:spPr>
          <a:xfrm>
            <a:off x="1051560" y="5062728"/>
            <a:ext cx="9966960" cy="917448"/>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this cannot be used inside a static method, since a static method does not run on any particular object.</a:t>
            </a:r>
            <a:endParaRPr lang="en-US" sz="1250" dirty="0"/>
          </a:p>
        </p:txBody>
      </p:sp>
      <p:sp>
        <p:nvSpPr>
          <p:cNvPr id="16" name="Shape 14"/>
          <p:cNvSpPr/>
          <p:nvPr/>
        </p:nvSpPr>
        <p:spPr>
          <a:xfrm>
            <a:off x="0" y="0"/>
            <a:ext cx="12191695" cy="384048"/>
          </a:xfrm>
          <a:prstGeom prst="rect">
            <a:avLst/>
          </a:prstGeom>
          <a:solidFill>
            <a:srgbClr val="1B2A4A"/>
          </a:solidFill>
          <a:ln w="12700">
            <a:solidFill>
              <a:srgbClr val="1B2A4A"/>
            </a:solidFill>
            <a:prstDash val="solid"/>
          </a:ln>
        </p:spPr>
      </p:sp>
      <p:sp>
        <p:nvSpPr>
          <p:cNvPr id="17" name="Text 15"/>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8" name="Shape 16"/>
          <p:cNvSpPr/>
          <p:nvPr/>
        </p:nvSpPr>
        <p:spPr>
          <a:xfrm>
            <a:off x="219456" y="301752"/>
            <a:ext cx="960120" cy="0"/>
          </a:xfrm>
          <a:prstGeom prst="line">
            <a:avLst/>
          </a:prstGeom>
          <a:noFill/>
          <a:ln w="9525">
            <a:solidFill>
              <a:srgbClr val="4A5570"/>
            </a:solidFill>
            <a:prstDash val="solid"/>
          </a:ln>
        </p:spPr>
      </p:sp>
      <p:sp>
        <p:nvSpPr>
          <p:cNvPr id="19" name="Text 17"/>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0" name="Text 18"/>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1" name="Text 19"/>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2" name="Shape 20"/>
          <p:cNvSpPr/>
          <p:nvPr/>
        </p:nvSpPr>
        <p:spPr>
          <a:xfrm>
            <a:off x="0" y="6291072"/>
            <a:ext cx="12191695" cy="566928"/>
          </a:xfrm>
          <a:prstGeom prst="rect">
            <a:avLst/>
          </a:prstGeom>
          <a:solidFill>
            <a:srgbClr val="1B2A4A"/>
          </a:solidFill>
          <a:ln w="12700">
            <a:solidFill>
              <a:srgbClr val="1B2A4A"/>
            </a:solidFill>
            <a:prstDash val="solid"/>
          </a:ln>
        </p:spPr>
      </p:sp>
      <p:sp>
        <p:nvSpPr>
          <p:cNvPr id="23" name="Text 21"/>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4" name="Text 22"/>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COMMON USE</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Resolving Name Shadowing with this</a:t>
            </a:r>
            <a:endParaRPr lang="en-US" sz="2700" dirty="0"/>
          </a:p>
        </p:txBody>
      </p:sp>
      <p:sp>
        <p:nvSpPr>
          <p:cNvPr id="4" name="Shape 2"/>
          <p:cNvSpPr/>
          <p:nvPr/>
        </p:nvSpPr>
        <p:spPr>
          <a:xfrm>
            <a:off x="594360" y="1600200"/>
            <a:ext cx="10607040" cy="896112"/>
          </a:xfrm>
          <a:prstGeom prst="roundRect">
            <a:avLst>
              <a:gd name="adj" fmla="val 6122"/>
            </a:avLst>
          </a:prstGeom>
          <a:solidFill>
            <a:srgbClr val="F5F6FA"/>
          </a:solidFill>
          <a:ln w="9525">
            <a:solidFill>
              <a:srgbClr val="E4E7EE"/>
            </a:solidFill>
            <a:prstDash val="solid"/>
          </a:ln>
        </p:spPr>
      </p:sp>
      <p:sp>
        <p:nvSpPr>
          <p:cNvPr id="5" name="Shape 3"/>
          <p:cNvSpPr/>
          <p:nvPr/>
        </p:nvSpPr>
        <p:spPr>
          <a:xfrm>
            <a:off x="804672" y="1755648"/>
            <a:ext cx="100584" cy="100584"/>
          </a:xfrm>
          <a:prstGeom prst="ellipse">
            <a:avLst/>
          </a:prstGeom>
          <a:solidFill>
            <a:srgbClr val="E8590C"/>
          </a:solidFill>
          <a:ln w="12700">
            <a:solidFill>
              <a:srgbClr val="000000"/>
            </a:solidFill>
            <a:prstDash val="solid"/>
          </a:ln>
        </p:spPr>
      </p:sp>
      <p:sp>
        <p:nvSpPr>
          <p:cNvPr id="6" name="Text 4"/>
          <p:cNvSpPr/>
          <p:nvPr/>
        </p:nvSpPr>
        <p:spPr>
          <a:xfrm>
            <a:off x="1051560" y="1655064"/>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When a parameter shares a field's name, the plain name refers to the parameter, and this.name refers to the field.</a:t>
            </a:r>
            <a:endParaRPr lang="en-US" sz="1250" dirty="0"/>
          </a:p>
        </p:txBody>
      </p:sp>
      <p:sp>
        <p:nvSpPr>
          <p:cNvPr id="7" name="Shape 5"/>
          <p:cNvSpPr/>
          <p:nvPr/>
        </p:nvSpPr>
        <p:spPr>
          <a:xfrm>
            <a:off x="804672" y="2103120"/>
            <a:ext cx="100584" cy="100584"/>
          </a:xfrm>
          <a:prstGeom prst="ellipse">
            <a:avLst/>
          </a:prstGeom>
          <a:solidFill>
            <a:srgbClr val="E8590C"/>
          </a:solidFill>
          <a:ln w="12700">
            <a:solidFill>
              <a:srgbClr val="000000"/>
            </a:solidFill>
            <a:prstDash val="solid"/>
          </a:ln>
        </p:spPr>
      </p:sp>
      <p:sp>
        <p:nvSpPr>
          <p:cNvPr id="8" name="Text 6"/>
          <p:cNvSpPr/>
          <p:nvPr/>
        </p:nvSpPr>
        <p:spPr>
          <a:xfrm>
            <a:off x="1051560" y="2002536"/>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This is the single most common reason this appears in constructors and setters.</a:t>
            </a:r>
            <a:endParaRPr lang="en-US" sz="1250" dirty="0"/>
          </a:p>
        </p:txBody>
      </p:sp>
      <p:sp>
        <p:nvSpPr>
          <p:cNvPr id="9" name="Shape 7"/>
          <p:cNvSpPr/>
          <p:nvPr/>
        </p:nvSpPr>
        <p:spPr>
          <a:xfrm>
            <a:off x="594360" y="2642616"/>
            <a:ext cx="10607040" cy="3392424"/>
          </a:xfrm>
          <a:prstGeom prst="roundRect">
            <a:avLst>
              <a:gd name="adj" fmla="val 2156"/>
            </a:avLst>
          </a:prstGeom>
          <a:solidFill>
            <a:srgbClr val="1E1E2E"/>
          </a:solidFill>
          <a:ln w="12700">
            <a:solidFill>
              <a:srgbClr val="000000"/>
            </a:solidFill>
            <a:prstDash val="solid"/>
          </a:ln>
        </p:spPr>
      </p:sp>
      <p:sp>
        <p:nvSpPr>
          <p:cNvPr id="10" name="Shape 8"/>
          <p:cNvSpPr/>
          <p:nvPr/>
        </p:nvSpPr>
        <p:spPr>
          <a:xfrm>
            <a:off x="594360" y="2642616"/>
            <a:ext cx="10607040" cy="274320"/>
          </a:xfrm>
          <a:prstGeom prst="roundRect">
            <a:avLst>
              <a:gd name="adj" fmla="val 26667"/>
            </a:avLst>
          </a:prstGeom>
          <a:solidFill>
            <a:srgbClr val="17172A"/>
          </a:solidFill>
          <a:ln w="12700">
            <a:solidFill>
              <a:srgbClr val="000000"/>
            </a:solidFill>
            <a:prstDash val="solid"/>
          </a:ln>
        </p:spPr>
      </p:sp>
      <p:sp>
        <p:nvSpPr>
          <p:cNvPr id="11" name="Shape 9"/>
          <p:cNvSpPr/>
          <p:nvPr/>
        </p:nvSpPr>
        <p:spPr>
          <a:xfrm>
            <a:off x="594360" y="2843784"/>
            <a:ext cx="10607040" cy="73152"/>
          </a:xfrm>
          <a:prstGeom prst="rect">
            <a:avLst/>
          </a:prstGeom>
          <a:solidFill>
            <a:srgbClr val="17172A"/>
          </a:solidFill>
          <a:ln w="12700">
            <a:solidFill>
              <a:srgbClr val="000000"/>
            </a:solidFill>
            <a:prstDash val="solid"/>
          </a:ln>
        </p:spPr>
      </p:sp>
      <p:sp>
        <p:nvSpPr>
          <p:cNvPr id="12" name="Shape 10"/>
          <p:cNvSpPr/>
          <p:nvPr/>
        </p:nvSpPr>
        <p:spPr>
          <a:xfrm>
            <a:off x="722376" y="2741371"/>
            <a:ext cx="76810" cy="76810"/>
          </a:xfrm>
          <a:prstGeom prst="ellipse">
            <a:avLst/>
          </a:prstGeom>
          <a:solidFill>
            <a:srgbClr val="FF5F56"/>
          </a:solidFill>
          <a:ln w="12700">
            <a:solidFill>
              <a:srgbClr val="000000"/>
            </a:solidFill>
            <a:prstDash val="solid"/>
          </a:ln>
        </p:spPr>
      </p:sp>
      <p:sp>
        <p:nvSpPr>
          <p:cNvPr id="13" name="Shape 11"/>
          <p:cNvSpPr/>
          <p:nvPr/>
        </p:nvSpPr>
        <p:spPr>
          <a:xfrm>
            <a:off x="886968" y="2741371"/>
            <a:ext cx="76810" cy="76810"/>
          </a:xfrm>
          <a:prstGeom prst="ellipse">
            <a:avLst/>
          </a:prstGeom>
          <a:solidFill>
            <a:srgbClr val="FFBD2E"/>
          </a:solidFill>
          <a:ln w="12700">
            <a:solidFill>
              <a:srgbClr val="000000"/>
            </a:solidFill>
            <a:prstDash val="solid"/>
          </a:ln>
        </p:spPr>
      </p:sp>
      <p:sp>
        <p:nvSpPr>
          <p:cNvPr id="14" name="Shape 12"/>
          <p:cNvSpPr/>
          <p:nvPr/>
        </p:nvSpPr>
        <p:spPr>
          <a:xfrm>
            <a:off x="1051560" y="2741371"/>
            <a:ext cx="76810" cy="76810"/>
          </a:xfrm>
          <a:prstGeom prst="ellipse">
            <a:avLst/>
          </a:prstGeom>
          <a:solidFill>
            <a:srgbClr val="27C93F"/>
          </a:solidFill>
          <a:ln w="12700">
            <a:solidFill>
              <a:srgbClr val="000000"/>
            </a:solidFill>
            <a:prstDash val="solid"/>
          </a:ln>
        </p:spPr>
      </p:sp>
      <p:sp>
        <p:nvSpPr>
          <p:cNvPr id="15" name="Text 13"/>
          <p:cNvSpPr/>
          <p:nvPr/>
        </p:nvSpPr>
        <p:spPr>
          <a:xfrm>
            <a:off x="1371600" y="2642616"/>
            <a:ext cx="9692640" cy="274320"/>
          </a:xfrm>
          <a:prstGeom prst="rect">
            <a:avLst/>
          </a:prstGeom>
          <a:noFill/>
          <a:ln/>
        </p:spPr>
        <p:txBody>
          <a:bodyPr wrap="square" lIns="0" tIns="0" rIns="0" bIns="0" rtlCol="0" anchor="ctr"/>
          <a:lstStyle/>
          <a:p>
            <a:pPr marL="0" indent="0" algn="l">
              <a:buNone/>
            </a:pPr>
            <a:r>
              <a:rPr lang="en-US" sz="1000" dirty="0">
                <a:solidFill>
                  <a:srgbClr val="8A8FA3"/>
                </a:solidFill>
                <a:latin typeface="Courier New" pitchFamily="34" charset="0"/>
                <a:ea typeface="Courier New" pitchFamily="34" charset="-122"/>
                <a:cs typeface="Courier New" pitchFamily="34" charset="-120"/>
              </a:rPr>
              <a:t>Main.java</a:t>
            </a:r>
            <a:endParaRPr lang="en-US" sz="1000" dirty="0"/>
          </a:p>
        </p:txBody>
      </p:sp>
      <p:sp>
        <p:nvSpPr>
          <p:cNvPr id="16" name="Text 14"/>
          <p:cNvSpPr/>
          <p:nvPr/>
        </p:nvSpPr>
        <p:spPr>
          <a:xfrm>
            <a:off x="777240" y="2990088"/>
            <a:ext cx="10241280" cy="2971800"/>
          </a:xfrm>
          <a:prstGeom prst="rect">
            <a:avLst/>
          </a:prstGeom>
          <a:noFill/>
          <a:ln/>
        </p:spPr>
        <p:txBody>
          <a:bodyPr wrap="square" lIns="0" tIns="0" rIns="0" bIns="0" rtlCol="0" anchor="t"/>
          <a:lstStyle/>
          <a:p>
            <a:pPr marL="0" indent="0" algn="l">
              <a:lnSpc>
                <a:spcPct val="118000"/>
              </a:lnSpc>
              <a:buNone/>
            </a:pPr>
            <a:r>
              <a:rPr lang="en-US" sz="1500" b="1" dirty="0">
                <a:solidFill>
                  <a:srgbClr val="569CD6"/>
                </a:solidFill>
                <a:latin typeface="Courier New" pitchFamily="34" charset="0"/>
                <a:ea typeface="Courier New" pitchFamily="34" charset="-122"/>
                <a:cs typeface="Courier New" pitchFamily="34" charset="-120"/>
              </a:rPr>
              <a:t>public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class</a:t>
            </a:r>
            <a:r>
              <a:rPr lang="en-US" sz="1500" dirty="0">
                <a:solidFill>
                  <a:srgbClr val="D4D4D4"/>
                </a:solidFill>
                <a:latin typeface="Courier New" pitchFamily="34" charset="0"/>
                <a:ea typeface="Courier New" pitchFamily="34" charset="-122"/>
                <a:cs typeface="Courier New" pitchFamily="34" charset="-120"/>
              </a:rPr>
              <a:t> Student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4EC9B0"/>
                </a:solidFill>
                <a:latin typeface="Courier New" pitchFamily="34" charset="0"/>
                <a:ea typeface="Courier New" pitchFamily="34" charset="-122"/>
                <a:cs typeface="Courier New" pitchFamily="34" charset="-120"/>
              </a:rPr>
              <a:t>String</a:t>
            </a:r>
            <a:r>
              <a:rPr lang="en-US" sz="1500" dirty="0">
                <a:solidFill>
                  <a:srgbClr val="D4D4D4"/>
                </a:solidFill>
                <a:latin typeface="Courier New" pitchFamily="34" charset="0"/>
                <a:ea typeface="Courier New" pitchFamily="34" charset="-122"/>
                <a:cs typeface="Courier New" pitchFamily="34" charset="-120"/>
              </a:rPr>
              <a:t> name;</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DCDCAA"/>
                </a:solidFill>
                <a:latin typeface="Courier New" pitchFamily="34" charset="0"/>
                <a:ea typeface="Courier New" pitchFamily="34" charset="-122"/>
                <a:cs typeface="Courier New" pitchFamily="34" charset="-120"/>
              </a:rPr>
              <a:t>Student</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4EC9B0"/>
                </a:solidFill>
                <a:latin typeface="Courier New" pitchFamily="34" charset="0"/>
                <a:ea typeface="Courier New" pitchFamily="34" charset="-122"/>
                <a:cs typeface="Courier New" pitchFamily="34" charset="-120"/>
              </a:rPr>
              <a:t>String</a:t>
            </a:r>
            <a:r>
              <a:rPr lang="en-US" sz="1500" dirty="0">
                <a:solidFill>
                  <a:srgbClr val="D4D4D4"/>
                </a:solidFill>
                <a:latin typeface="Courier New" pitchFamily="34" charset="0"/>
                <a:ea typeface="Courier New" pitchFamily="34" charset="-122"/>
                <a:cs typeface="Courier New" pitchFamily="34" charset="-120"/>
              </a:rPr>
              <a:t> name)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this</a:t>
            </a:r>
            <a:r>
              <a:rPr lang="en-US" sz="1500" dirty="0">
                <a:solidFill>
                  <a:srgbClr val="D4D4D4"/>
                </a:solidFill>
                <a:latin typeface="Courier New" pitchFamily="34" charset="0"/>
                <a:ea typeface="Courier New" pitchFamily="34" charset="-122"/>
                <a:cs typeface="Courier New" pitchFamily="34" charset="-120"/>
              </a:rPr>
              <a:t>.name = name;   </a:t>
            </a:r>
            <a:r>
              <a:rPr lang="en-US" sz="1500" i="1" dirty="0">
                <a:solidFill>
                  <a:srgbClr val="6A9955"/>
                </a:solidFill>
                <a:latin typeface="Courier New" pitchFamily="34" charset="0"/>
                <a:ea typeface="Courier New" pitchFamily="34" charset="-122"/>
                <a:cs typeface="Courier New" pitchFamily="34" charset="-120"/>
              </a:rPr>
              <a:t>// this.name is the field, name is the parameter</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a:t>
            </a:r>
            <a:endParaRPr lang="en-US" sz="1500" dirty="0"/>
          </a:p>
        </p:txBody>
      </p:sp>
      <p:sp>
        <p:nvSpPr>
          <p:cNvPr id="17" name="Shape 15"/>
          <p:cNvSpPr/>
          <p:nvPr/>
        </p:nvSpPr>
        <p:spPr>
          <a:xfrm>
            <a:off x="0" y="0"/>
            <a:ext cx="12191695" cy="384048"/>
          </a:xfrm>
          <a:prstGeom prst="rect">
            <a:avLst/>
          </a:prstGeom>
          <a:solidFill>
            <a:srgbClr val="1B2A4A"/>
          </a:solidFill>
          <a:ln w="12700">
            <a:solidFill>
              <a:srgbClr val="1B2A4A"/>
            </a:solidFill>
            <a:prstDash val="solid"/>
          </a:ln>
        </p:spPr>
      </p:sp>
      <p:sp>
        <p:nvSpPr>
          <p:cNvPr id="18" name="Text 16"/>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9" name="Shape 17"/>
          <p:cNvSpPr/>
          <p:nvPr/>
        </p:nvSpPr>
        <p:spPr>
          <a:xfrm>
            <a:off x="219456" y="301752"/>
            <a:ext cx="960120" cy="0"/>
          </a:xfrm>
          <a:prstGeom prst="line">
            <a:avLst/>
          </a:prstGeom>
          <a:noFill/>
          <a:ln w="9525">
            <a:solidFill>
              <a:srgbClr val="4A5570"/>
            </a:solidFill>
            <a:prstDash val="solid"/>
          </a:ln>
        </p:spPr>
      </p:sp>
      <p:sp>
        <p:nvSpPr>
          <p:cNvPr id="20" name="Text 18"/>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1" name="Text 19"/>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2" name="Text 20"/>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3" name="Shape 21"/>
          <p:cNvSpPr/>
          <p:nvPr/>
        </p:nvSpPr>
        <p:spPr>
          <a:xfrm>
            <a:off x="0" y="6291072"/>
            <a:ext cx="12191695" cy="566928"/>
          </a:xfrm>
          <a:prstGeom prst="rect">
            <a:avLst/>
          </a:prstGeom>
          <a:solidFill>
            <a:srgbClr val="1B2A4A"/>
          </a:solidFill>
          <a:ln w="12700">
            <a:solidFill>
              <a:srgbClr val="1B2A4A"/>
            </a:solidFill>
            <a:prstDash val="solid"/>
          </a:ln>
        </p:spPr>
      </p:sp>
      <p:sp>
        <p:nvSpPr>
          <p:cNvPr id="24" name="Text 22"/>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5" name="Text 23"/>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PASSING THE OBJECT</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Passing this to Another Method</a:t>
            </a:r>
            <a:endParaRPr lang="en-US" sz="2700" dirty="0"/>
          </a:p>
        </p:txBody>
      </p:sp>
      <p:sp>
        <p:nvSpPr>
          <p:cNvPr id="4" name="Shape 2"/>
          <p:cNvSpPr/>
          <p:nvPr/>
        </p:nvSpPr>
        <p:spPr>
          <a:xfrm>
            <a:off x="594360" y="1600200"/>
            <a:ext cx="10607040" cy="896112"/>
          </a:xfrm>
          <a:prstGeom prst="roundRect">
            <a:avLst>
              <a:gd name="adj" fmla="val 6122"/>
            </a:avLst>
          </a:prstGeom>
          <a:solidFill>
            <a:srgbClr val="F5F6FA"/>
          </a:solidFill>
          <a:ln w="9525">
            <a:solidFill>
              <a:srgbClr val="E4E7EE"/>
            </a:solidFill>
            <a:prstDash val="solid"/>
          </a:ln>
        </p:spPr>
      </p:sp>
      <p:sp>
        <p:nvSpPr>
          <p:cNvPr id="5" name="Shape 3"/>
          <p:cNvSpPr/>
          <p:nvPr/>
        </p:nvSpPr>
        <p:spPr>
          <a:xfrm>
            <a:off x="804672" y="1755648"/>
            <a:ext cx="100584" cy="100584"/>
          </a:xfrm>
          <a:prstGeom prst="ellipse">
            <a:avLst/>
          </a:prstGeom>
          <a:solidFill>
            <a:srgbClr val="E8590C"/>
          </a:solidFill>
          <a:ln w="12700">
            <a:solidFill>
              <a:srgbClr val="000000"/>
            </a:solidFill>
            <a:prstDash val="solid"/>
          </a:ln>
        </p:spPr>
      </p:sp>
      <p:sp>
        <p:nvSpPr>
          <p:cNvPr id="6" name="Text 4"/>
          <p:cNvSpPr/>
          <p:nvPr/>
        </p:nvSpPr>
        <p:spPr>
          <a:xfrm>
            <a:off x="1051560" y="1655064"/>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this can be passed as an argument when another method needs a reference to the current object.</a:t>
            </a:r>
            <a:endParaRPr lang="en-US" sz="1250" dirty="0"/>
          </a:p>
        </p:txBody>
      </p:sp>
      <p:sp>
        <p:nvSpPr>
          <p:cNvPr id="7" name="Shape 5"/>
          <p:cNvSpPr/>
          <p:nvPr/>
        </p:nvSpPr>
        <p:spPr>
          <a:xfrm>
            <a:off x="804672" y="2103120"/>
            <a:ext cx="100584" cy="100584"/>
          </a:xfrm>
          <a:prstGeom prst="ellipse">
            <a:avLst/>
          </a:prstGeom>
          <a:solidFill>
            <a:srgbClr val="E8590C"/>
          </a:solidFill>
          <a:ln w="12700">
            <a:solidFill>
              <a:srgbClr val="000000"/>
            </a:solidFill>
            <a:prstDash val="solid"/>
          </a:ln>
        </p:spPr>
      </p:sp>
      <p:sp>
        <p:nvSpPr>
          <p:cNvPr id="8" name="Text 6"/>
          <p:cNvSpPr/>
          <p:nvPr/>
        </p:nvSpPr>
        <p:spPr>
          <a:xfrm>
            <a:off x="1051560" y="2002536"/>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This is common when one object needs to register or hand itself to another.</a:t>
            </a:r>
            <a:endParaRPr lang="en-US" sz="1250" dirty="0"/>
          </a:p>
        </p:txBody>
      </p:sp>
      <p:sp>
        <p:nvSpPr>
          <p:cNvPr id="9" name="Shape 7"/>
          <p:cNvSpPr/>
          <p:nvPr/>
        </p:nvSpPr>
        <p:spPr>
          <a:xfrm>
            <a:off x="594360" y="2642616"/>
            <a:ext cx="10607040" cy="3392424"/>
          </a:xfrm>
          <a:prstGeom prst="roundRect">
            <a:avLst>
              <a:gd name="adj" fmla="val 2156"/>
            </a:avLst>
          </a:prstGeom>
          <a:solidFill>
            <a:srgbClr val="1E1E2E"/>
          </a:solidFill>
          <a:ln w="12700">
            <a:solidFill>
              <a:srgbClr val="000000"/>
            </a:solidFill>
            <a:prstDash val="solid"/>
          </a:ln>
        </p:spPr>
      </p:sp>
      <p:sp>
        <p:nvSpPr>
          <p:cNvPr id="10" name="Shape 8"/>
          <p:cNvSpPr/>
          <p:nvPr/>
        </p:nvSpPr>
        <p:spPr>
          <a:xfrm>
            <a:off x="594360" y="2642616"/>
            <a:ext cx="10607040" cy="274320"/>
          </a:xfrm>
          <a:prstGeom prst="roundRect">
            <a:avLst>
              <a:gd name="adj" fmla="val 26667"/>
            </a:avLst>
          </a:prstGeom>
          <a:solidFill>
            <a:srgbClr val="17172A"/>
          </a:solidFill>
          <a:ln w="12700">
            <a:solidFill>
              <a:srgbClr val="000000"/>
            </a:solidFill>
            <a:prstDash val="solid"/>
          </a:ln>
        </p:spPr>
      </p:sp>
      <p:sp>
        <p:nvSpPr>
          <p:cNvPr id="11" name="Shape 9"/>
          <p:cNvSpPr/>
          <p:nvPr/>
        </p:nvSpPr>
        <p:spPr>
          <a:xfrm>
            <a:off x="594360" y="2843784"/>
            <a:ext cx="10607040" cy="73152"/>
          </a:xfrm>
          <a:prstGeom prst="rect">
            <a:avLst/>
          </a:prstGeom>
          <a:solidFill>
            <a:srgbClr val="17172A"/>
          </a:solidFill>
          <a:ln w="12700">
            <a:solidFill>
              <a:srgbClr val="000000"/>
            </a:solidFill>
            <a:prstDash val="solid"/>
          </a:ln>
        </p:spPr>
      </p:sp>
      <p:sp>
        <p:nvSpPr>
          <p:cNvPr id="12" name="Shape 10"/>
          <p:cNvSpPr/>
          <p:nvPr/>
        </p:nvSpPr>
        <p:spPr>
          <a:xfrm>
            <a:off x="722376" y="2741371"/>
            <a:ext cx="76810" cy="76810"/>
          </a:xfrm>
          <a:prstGeom prst="ellipse">
            <a:avLst/>
          </a:prstGeom>
          <a:solidFill>
            <a:srgbClr val="FF5F56"/>
          </a:solidFill>
          <a:ln w="12700">
            <a:solidFill>
              <a:srgbClr val="000000"/>
            </a:solidFill>
            <a:prstDash val="solid"/>
          </a:ln>
        </p:spPr>
      </p:sp>
      <p:sp>
        <p:nvSpPr>
          <p:cNvPr id="13" name="Shape 11"/>
          <p:cNvSpPr/>
          <p:nvPr/>
        </p:nvSpPr>
        <p:spPr>
          <a:xfrm>
            <a:off x="886968" y="2741371"/>
            <a:ext cx="76810" cy="76810"/>
          </a:xfrm>
          <a:prstGeom prst="ellipse">
            <a:avLst/>
          </a:prstGeom>
          <a:solidFill>
            <a:srgbClr val="FFBD2E"/>
          </a:solidFill>
          <a:ln w="12700">
            <a:solidFill>
              <a:srgbClr val="000000"/>
            </a:solidFill>
            <a:prstDash val="solid"/>
          </a:ln>
        </p:spPr>
      </p:sp>
      <p:sp>
        <p:nvSpPr>
          <p:cNvPr id="14" name="Shape 12"/>
          <p:cNvSpPr/>
          <p:nvPr/>
        </p:nvSpPr>
        <p:spPr>
          <a:xfrm>
            <a:off x="1051560" y="2741371"/>
            <a:ext cx="76810" cy="76810"/>
          </a:xfrm>
          <a:prstGeom prst="ellipse">
            <a:avLst/>
          </a:prstGeom>
          <a:solidFill>
            <a:srgbClr val="27C93F"/>
          </a:solidFill>
          <a:ln w="12700">
            <a:solidFill>
              <a:srgbClr val="000000"/>
            </a:solidFill>
            <a:prstDash val="solid"/>
          </a:ln>
        </p:spPr>
      </p:sp>
      <p:sp>
        <p:nvSpPr>
          <p:cNvPr id="15" name="Text 13"/>
          <p:cNvSpPr/>
          <p:nvPr/>
        </p:nvSpPr>
        <p:spPr>
          <a:xfrm>
            <a:off x="1371600" y="2642616"/>
            <a:ext cx="9692640" cy="274320"/>
          </a:xfrm>
          <a:prstGeom prst="rect">
            <a:avLst/>
          </a:prstGeom>
          <a:noFill/>
          <a:ln/>
        </p:spPr>
        <p:txBody>
          <a:bodyPr wrap="square" lIns="0" tIns="0" rIns="0" bIns="0" rtlCol="0" anchor="ctr"/>
          <a:lstStyle/>
          <a:p>
            <a:pPr marL="0" indent="0" algn="l">
              <a:buNone/>
            </a:pPr>
            <a:r>
              <a:rPr lang="en-US" sz="1000" dirty="0">
                <a:solidFill>
                  <a:srgbClr val="8A8FA3"/>
                </a:solidFill>
                <a:latin typeface="Courier New" pitchFamily="34" charset="0"/>
                <a:ea typeface="Courier New" pitchFamily="34" charset="-122"/>
                <a:cs typeface="Courier New" pitchFamily="34" charset="-120"/>
              </a:rPr>
              <a:t>Main.java</a:t>
            </a:r>
            <a:endParaRPr lang="en-US" sz="1000" dirty="0"/>
          </a:p>
        </p:txBody>
      </p:sp>
      <p:sp>
        <p:nvSpPr>
          <p:cNvPr id="16" name="Text 14"/>
          <p:cNvSpPr/>
          <p:nvPr/>
        </p:nvSpPr>
        <p:spPr>
          <a:xfrm>
            <a:off x="777240" y="2990088"/>
            <a:ext cx="10241280" cy="2971800"/>
          </a:xfrm>
          <a:prstGeom prst="rect">
            <a:avLst/>
          </a:prstGeom>
          <a:noFill/>
          <a:ln/>
        </p:spPr>
        <p:txBody>
          <a:bodyPr wrap="square" lIns="0" tIns="0" rIns="0" bIns="0" rtlCol="0" anchor="t"/>
          <a:lstStyle/>
          <a:p>
            <a:pPr marL="0" indent="0" algn="l">
              <a:lnSpc>
                <a:spcPct val="118000"/>
              </a:lnSpc>
              <a:buNone/>
            </a:pPr>
            <a:r>
              <a:rPr lang="en-US" sz="1200" b="1" dirty="0">
                <a:solidFill>
                  <a:srgbClr val="569CD6"/>
                </a:solidFill>
                <a:latin typeface="Courier New" pitchFamily="34" charset="0"/>
                <a:ea typeface="Courier New" pitchFamily="34" charset="-122"/>
                <a:cs typeface="Courier New" pitchFamily="34" charset="-120"/>
              </a:rPr>
              <a:t>public</a:t>
            </a:r>
            <a:r>
              <a:rPr lang="en-US" sz="1200" dirty="0">
                <a:solidFill>
                  <a:srgbClr val="D4D4D4"/>
                </a:solidFill>
                <a:latin typeface="Courier New" pitchFamily="34" charset="0"/>
                <a:ea typeface="Courier New" pitchFamily="34" charset="-122"/>
                <a:cs typeface="Courier New" pitchFamily="34" charset="-120"/>
              </a:rPr>
              <a:t> </a:t>
            </a:r>
            <a:r>
              <a:rPr lang="en-US" sz="1200" b="1" dirty="0">
                <a:solidFill>
                  <a:srgbClr val="569CD6"/>
                </a:solidFill>
                <a:latin typeface="Courier New" pitchFamily="34" charset="0"/>
                <a:ea typeface="Courier New" pitchFamily="34" charset="-122"/>
                <a:cs typeface="Courier New" pitchFamily="34" charset="-120"/>
              </a:rPr>
              <a:t>class</a:t>
            </a:r>
            <a:r>
              <a:rPr lang="en-US" sz="1200" dirty="0">
                <a:solidFill>
                  <a:srgbClr val="D4D4D4"/>
                </a:solidFill>
                <a:latin typeface="Courier New" pitchFamily="34" charset="0"/>
                <a:ea typeface="Courier New" pitchFamily="34" charset="-122"/>
                <a:cs typeface="Courier New" pitchFamily="34" charset="-120"/>
              </a:rPr>
              <a:t> Logger {</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r>
              <a:rPr lang="en-US" sz="1200" b="1" dirty="0">
                <a:solidFill>
                  <a:srgbClr val="569CD6"/>
                </a:solidFill>
                <a:latin typeface="Courier New" pitchFamily="34" charset="0"/>
                <a:ea typeface="Courier New" pitchFamily="34" charset="-122"/>
                <a:cs typeface="Courier New" pitchFamily="34" charset="-120"/>
              </a:rPr>
              <a:t>static</a:t>
            </a:r>
            <a:r>
              <a:rPr lang="en-US" sz="1200" dirty="0">
                <a:solidFill>
                  <a:srgbClr val="D4D4D4"/>
                </a:solidFill>
                <a:latin typeface="Courier New" pitchFamily="34" charset="0"/>
                <a:ea typeface="Courier New" pitchFamily="34" charset="-122"/>
                <a:cs typeface="Courier New" pitchFamily="34" charset="-120"/>
              </a:rPr>
              <a:t> </a:t>
            </a:r>
            <a:r>
              <a:rPr lang="en-US" sz="1200" b="1" dirty="0">
                <a:solidFill>
                  <a:srgbClr val="569CD6"/>
                </a:solidFill>
                <a:latin typeface="Courier New" pitchFamily="34" charset="0"/>
                <a:ea typeface="Courier New" pitchFamily="34" charset="-122"/>
                <a:cs typeface="Courier New" pitchFamily="34" charset="-120"/>
              </a:rPr>
              <a:t>void</a:t>
            </a:r>
            <a:r>
              <a:rPr lang="en-US" sz="1200" dirty="0">
                <a:solidFill>
                  <a:srgbClr val="D4D4D4"/>
                </a:solidFill>
                <a:latin typeface="Courier New" pitchFamily="34" charset="0"/>
                <a:ea typeface="Courier New" pitchFamily="34" charset="-122"/>
                <a:cs typeface="Courier New" pitchFamily="34" charset="-120"/>
              </a:rPr>
              <a:t> </a:t>
            </a:r>
            <a:r>
              <a:rPr lang="en-US" sz="1200" dirty="0">
                <a:solidFill>
                  <a:srgbClr val="DCDCAA"/>
                </a:solidFill>
                <a:latin typeface="Courier New" pitchFamily="34" charset="0"/>
                <a:ea typeface="Courier New" pitchFamily="34" charset="-122"/>
                <a:cs typeface="Courier New" pitchFamily="34" charset="-120"/>
              </a:rPr>
              <a:t>log</a:t>
            </a:r>
            <a:r>
              <a:rPr lang="en-US" sz="1200" dirty="0">
                <a:solidFill>
                  <a:srgbClr val="D4D4D4"/>
                </a:solidFill>
                <a:latin typeface="Courier New" pitchFamily="34" charset="0"/>
                <a:ea typeface="Courier New" pitchFamily="34" charset="-122"/>
                <a:cs typeface="Courier New" pitchFamily="34" charset="-120"/>
              </a:rPr>
              <a:t>(Student s) {</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r>
              <a:rPr lang="en-US" sz="1200" dirty="0">
                <a:solidFill>
                  <a:srgbClr val="4EC9B0"/>
                </a:solidFill>
                <a:latin typeface="Courier New" pitchFamily="34" charset="0"/>
                <a:ea typeface="Courier New" pitchFamily="34" charset="-122"/>
                <a:cs typeface="Courier New" pitchFamily="34" charset="-120"/>
              </a:rPr>
              <a:t>System</a:t>
            </a:r>
            <a:r>
              <a:rPr lang="en-US" sz="1200" dirty="0">
                <a:solidFill>
                  <a:srgbClr val="D4D4D4"/>
                </a:solidFill>
                <a:latin typeface="Courier New" pitchFamily="34" charset="0"/>
                <a:ea typeface="Courier New" pitchFamily="34" charset="-122"/>
                <a:cs typeface="Courier New" pitchFamily="34" charset="-120"/>
              </a:rPr>
              <a:t>.out.</a:t>
            </a:r>
            <a:r>
              <a:rPr lang="en-US" sz="1200" dirty="0">
                <a:solidFill>
                  <a:srgbClr val="DCDCAA"/>
                </a:solidFill>
                <a:latin typeface="Courier New" pitchFamily="34" charset="0"/>
                <a:ea typeface="Courier New" pitchFamily="34" charset="-122"/>
                <a:cs typeface="Courier New" pitchFamily="34" charset="-120"/>
              </a:rPr>
              <a:t>println</a:t>
            </a:r>
            <a:r>
              <a:rPr lang="en-US" sz="1200" dirty="0">
                <a:solidFill>
                  <a:srgbClr val="D4D4D4"/>
                </a:solidFill>
                <a:latin typeface="Courier New" pitchFamily="34" charset="0"/>
                <a:ea typeface="Courier New" pitchFamily="34" charset="-122"/>
                <a:cs typeface="Courier New" pitchFamily="34" charset="-120"/>
              </a:rPr>
              <a:t>(</a:t>
            </a:r>
            <a:r>
              <a:rPr lang="en-US" sz="1200" dirty="0">
                <a:solidFill>
                  <a:srgbClr val="CE9178"/>
                </a:solidFill>
                <a:latin typeface="Courier New" pitchFamily="34" charset="0"/>
                <a:ea typeface="Courier New" pitchFamily="34" charset="-122"/>
                <a:cs typeface="Courier New" pitchFamily="34" charset="-120"/>
              </a:rPr>
              <a:t>"Logging: "</a:t>
            </a:r>
            <a:r>
              <a:rPr lang="en-US" sz="1200" dirty="0">
                <a:solidFill>
                  <a:srgbClr val="D4D4D4"/>
                </a:solidFill>
                <a:latin typeface="Courier New" pitchFamily="34" charset="0"/>
                <a:ea typeface="Courier New" pitchFamily="34" charset="-122"/>
                <a:cs typeface="Courier New" pitchFamily="34" charset="-120"/>
              </a:rPr>
              <a:t> + s.name);</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endParaRPr lang="en-US" sz="1200" dirty="0"/>
          </a:p>
          <a:p>
            <a:pPr marL="0" indent="0" algn="l">
              <a:lnSpc>
                <a:spcPct val="118000"/>
              </a:lnSpc>
              <a:buNone/>
            </a:pPr>
            <a:r>
              <a:rPr lang="en-US" sz="1200" b="1" dirty="0">
                <a:solidFill>
                  <a:srgbClr val="569CD6"/>
                </a:solidFill>
                <a:latin typeface="Courier New" pitchFamily="34" charset="0"/>
                <a:ea typeface="Courier New" pitchFamily="34" charset="-122"/>
                <a:cs typeface="Courier New" pitchFamily="34" charset="-120"/>
              </a:rPr>
              <a:t>public</a:t>
            </a:r>
            <a:r>
              <a:rPr lang="en-US" sz="1200" dirty="0">
                <a:solidFill>
                  <a:srgbClr val="D4D4D4"/>
                </a:solidFill>
                <a:latin typeface="Courier New" pitchFamily="34" charset="0"/>
                <a:ea typeface="Courier New" pitchFamily="34" charset="-122"/>
                <a:cs typeface="Courier New" pitchFamily="34" charset="-120"/>
              </a:rPr>
              <a:t> </a:t>
            </a:r>
            <a:r>
              <a:rPr lang="en-US" sz="1200" b="1" dirty="0">
                <a:solidFill>
                  <a:srgbClr val="569CD6"/>
                </a:solidFill>
                <a:latin typeface="Courier New" pitchFamily="34" charset="0"/>
                <a:ea typeface="Courier New" pitchFamily="34" charset="-122"/>
                <a:cs typeface="Courier New" pitchFamily="34" charset="-120"/>
              </a:rPr>
              <a:t>class</a:t>
            </a:r>
            <a:r>
              <a:rPr lang="en-US" sz="1200" dirty="0">
                <a:solidFill>
                  <a:srgbClr val="D4D4D4"/>
                </a:solidFill>
                <a:latin typeface="Courier New" pitchFamily="34" charset="0"/>
                <a:ea typeface="Courier New" pitchFamily="34" charset="-122"/>
                <a:cs typeface="Courier New" pitchFamily="34" charset="-120"/>
              </a:rPr>
              <a:t> Student {</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r>
              <a:rPr lang="en-US" sz="1200" dirty="0">
                <a:solidFill>
                  <a:srgbClr val="4EC9B0"/>
                </a:solidFill>
                <a:latin typeface="Courier New" pitchFamily="34" charset="0"/>
                <a:ea typeface="Courier New" pitchFamily="34" charset="-122"/>
                <a:cs typeface="Courier New" pitchFamily="34" charset="-120"/>
              </a:rPr>
              <a:t>String</a:t>
            </a:r>
            <a:r>
              <a:rPr lang="en-US" sz="1200" dirty="0">
                <a:solidFill>
                  <a:srgbClr val="D4D4D4"/>
                </a:solidFill>
                <a:latin typeface="Courier New" pitchFamily="34" charset="0"/>
                <a:ea typeface="Courier New" pitchFamily="34" charset="-122"/>
                <a:cs typeface="Courier New" pitchFamily="34" charset="-120"/>
              </a:rPr>
              <a:t> name;</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r>
              <a:rPr lang="en-US" sz="1200" b="1" dirty="0">
                <a:solidFill>
                  <a:srgbClr val="569CD6"/>
                </a:solidFill>
                <a:latin typeface="Courier New" pitchFamily="34" charset="0"/>
                <a:ea typeface="Courier New" pitchFamily="34" charset="-122"/>
                <a:cs typeface="Courier New" pitchFamily="34" charset="-120"/>
              </a:rPr>
              <a:t>void</a:t>
            </a:r>
            <a:r>
              <a:rPr lang="en-US" sz="1200" dirty="0">
                <a:solidFill>
                  <a:srgbClr val="D4D4D4"/>
                </a:solidFill>
                <a:latin typeface="Courier New" pitchFamily="34" charset="0"/>
                <a:ea typeface="Courier New" pitchFamily="34" charset="-122"/>
                <a:cs typeface="Courier New" pitchFamily="34" charset="-120"/>
              </a:rPr>
              <a:t> </a:t>
            </a:r>
            <a:r>
              <a:rPr lang="en-US" sz="1200" dirty="0">
                <a:solidFill>
                  <a:srgbClr val="DCDCAA"/>
                </a:solidFill>
                <a:latin typeface="Courier New" pitchFamily="34" charset="0"/>
                <a:ea typeface="Courier New" pitchFamily="34" charset="-122"/>
                <a:cs typeface="Courier New" pitchFamily="34" charset="-120"/>
              </a:rPr>
              <a:t>register</a:t>
            </a:r>
            <a:r>
              <a:rPr lang="en-US" sz="1200" dirty="0">
                <a:solidFill>
                  <a:srgbClr val="D4D4D4"/>
                </a:solidFill>
                <a:latin typeface="Courier New" pitchFamily="34" charset="0"/>
                <a:ea typeface="Courier New" pitchFamily="34" charset="-122"/>
                <a:cs typeface="Courier New" pitchFamily="34" charset="-120"/>
              </a:rPr>
              <a:t>() {</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Logger.</a:t>
            </a:r>
            <a:r>
              <a:rPr lang="en-US" sz="1200" dirty="0">
                <a:solidFill>
                  <a:srgbClr val="DCDCAA"/>
                </a:solidFill>
                <a:latin typeface="Courier New" pitchFamily="34" charset="0"/>
                <a:ea typeface="Courier New" pitchFamily="34" charset="-122"/>
                <a:cs typeface="Courier New" pitchFamily="34" charset="-120"/>
              </a:rPr>
              <a:t>log</a:t>
            </a:r>
            <a:r>
              <a:rPr lang="en-US" sz="1200" dirty="0">
                <a:solidFill>
                  <a:srgbClr val="D4D4D4"/>
                </a:solidFill>
                <a:latin typeface="Courier New" pitchFamily="34" charset="0"/>
                <a:ea typeface="Courier New" pitchFamily="34" charset="-122"/>
                <a:cs typeface="Courier New" pitchFamily="34" charset="-120"/>
              </a:rPr>
              <a:t>(</a:t>
            </a:r>
            <a:r>
              <a:rPr lang="en-US" sz="1200" b="1" dirty="0">
                <a:solidFill>
                  <a:srgbClr val="569CD6"/>
                </a:solidFill>
                <a:latin typeface="Courier New" pitchFamily="34" charset="0"/>
                <a:ea typeface="Courier New" pitchFamily="34" charset="-122"/>
                <a:cs typeface="Courier New" pitchFamily="34" charset="-120"/>
              </a:rPr>
              <a:t>this</a:t>
            </a:r>
            <a:r>
              <a:rPr lang="en-US" sz="1200" dirty="0">
                <a:solidFill>
                  <a:srgbClr val="D4D4D4"/>
                </a:solidFill>
                <a:latin typeface="Courier New" pitchFamily="34" charset="0"/>
                <a:ea typeface="Courier New" pitchFamily="34" charset="-122"/>
                <a:cs typeface="Courier New" pitchFamily="34" charset="-120"/>
              </a:rPr>
              <a:t>);</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a:t>
            </a:r>
            <a:endParaRPr lang="en-US" sz="1200" dirty="0"/>
          </a:p>
        </p:txBody>
      </p:sp>
      <p:sp>
        <p:nvSpPr>
          <p:cNvPr id="17" name="Shape 15"/>
          <p:cNvSpPr/>
          <p:nvPr/>
        </p:nvSpPr>
        <p:spPr>
          <a:xfrm>
            <a:off x="0" y="0"/>
            <a:ext cx="12191695" cy="384048"/>
          </a:xfrm>
          <a:prstGeom prst="rect">
            <a:avLst/>
          </a:prstGeom>
          <a:solidFill>
            <a:srgbClr val="1B2A4A"/>
          </a:solidFill>
          <a:ln w="12700">
            <a:solidFill>
              <a:srgbClr val="1B2A4A"/>
            </a:solidFill>
            <a:prstDash val="solid"/>
          </a:ln>
        </p:spPr>
      </p:sp>
      <p:sp>
        <p:nvSpPr>
          <p:cNvPr id="18" name="Text 16"/>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9" name="Shape 17"/>
          <p:cNvSpPr/>
          <p:nvPr/>
        </p:nvSpPr>
        <p:spPr>
          <a:xfrm>
            <a:off x="219456" y="301752"/>
            <a:ext cx="960120" cy="0"/>
          </a:xfrm>
          <a:prstGeom prst="line">
            <a:avLst/>
          </a:prstGeom>
          <a:noFill/>
          <a:ln w="9525">
            <a:solidFill>
              <a:srgbClr val="4A5570"/>
            </a:solidFill>
            <a:prstDash val="solid"/>
          </a:ln>
        </p:spPr>
      </p:sp>
      <p:sp>
        <p:nvSpPr>
          <p:cNvPr id="20" name="Text 18"/>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1" name="Text 19"/>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2" name="Text 20"/>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3" name="Shape 21"/>
          <p:cNvSpPr/>
          <p:nvPr/>
        </p:nvSpPr>
        <p:spPr>
          <a:xfrm>
            <a:off x="0" y="6291072"/>
            <a:ext cx="12191695" cy="566928"/>
          </a:xfrm>
          <a:prstGeom prst="rect">
            <a:avLst/>
          </a:prstGeom>
          <a:solidFill>
            <a:srgbClr val="1B2A4A"/>
          </a:solidFill>
          <a:ln w="12700">
            <a:solidFill>
              <a:srgbClr val="1B2A4A"/>
            </a:solidFill>
            <a:prstDash val="solid"/>
          </a:ln>
        </p:spPr>
      </p:sp>
      <p:sp>
        <p:nvSpPr>
          <p:cNvPr id="24" name="Text 22"/>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5" name="Text 23"/>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FLUENT STYLE</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Returning this for Method Chaining</a:t>
            </a:r>
            <a:endParaRPr lang="en-US" sz="2700" dirty="0"/>
          </a:p>
        </p:txBody>
      </p:sp>
      <p:sp>
        <p:nvSpPr>
          <p:cNvPr id="4" name="Shape 2"/>
          <p:cNvSpPr/>
          <p:nvPr/>
        </p:nvSpPr>
        <p:spPr>
          <a:xfrm>
            <a:off x="594360" y="1600200"/>
            <a:ext cx="10607040" cy="896112"/>
          </a:xfrm>
          <a:prstGeom prst="roundRect">
            <a:avLst>
              <a:gd name="adj" fmla="val 6122"/>
            </a:avLst>
          </a:prstGeom>
          <a:solidFill>
            <a:srgbClr val="F5F6FA"/>
          </a:solidFill>
          <a:ln w="9525">
            <a:solidFill>
              <a:srgbClr val="E4E7EE"/>
            </a:solidFill>
            <a:prstDash val="solid"/>
          </a:ln>
        </p:spPr>
      </p:sp>
      <p:sp>
        <p:nvSpPr>
          <p:cNvPr id="5" name="Shape 3"/>
          <p:cNvSpPr/>
          <p:nvPr/>
        </p:nvSpPr>
        <p:spPr>
          <a:xfrm>
            <a:off x="804672" y="1755648"/>
            <a:ext cx="100584" cy="100584"/>
          </a:xfrm>
          <a:prstGeom prst="ellipse">
            <a:avLst/>
          </a:prstGeom>
          <a:solidFill>
            <a:srgbClr val="E8590C"/>
          </a:solidFill>
          <a:ln w="12700">
            <a:solidFill>
              <a:srgbClr val="000000"/>
            </a:solidFill>
            <a:prstDash val="solid"/>
          </a:ln>
        </p:spPr>
      </p:sp>
      <p:sp>
        <p:nvSpPr>
          <p:cNvPr id="6" name="Text 4"/>
          <p:cNvSpPr/>
          <p:nvPr/>
        </p:nvSpPr>
        <p:spPr>
          <a:xfrm>
            <a:off x="1051560" y="1655064"/>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A method that returns this allows several calls to be chained together in one statement.</a:t>
            </a:r>
            <a:endParaRPr lang="en-US" sz="1250" dirty="0"/>
          </a:p>
        </p:txBody>
      </p:sp>
      <p:sp>
        <p:nvSpPr>
          <p:cNvPr id="7" name="Shape 5"/>
          <p:cNvSpPr/>
          <p:nvPr/>
        </p:nvSpPr>
        <p:spPr>
          <a:xfrm>
            <a:off x="804672" y="2103120"/>
            <a:ext cx="100584" cy="100584"/>
          </a:xfrm>
          <a:prstGeom prst="ellipse">
            <a:avLst/>
          </a:prstGeom>
          <a:solidFill>
            <a:srgbClr val="E8590C"/>
          </a:solidFill>
          <a:ln w="12700">
            <a:solidFill>
              <a:srgbClr val="000000"/>
            </a:solidFill>
            <a:prstDash val="solid"/>
          </a:ln>
        </p:spPr>
      </p:sp>
      <p:sp>
        <p:nvSpPr>
          <p:cNvPr id="8" name="Text 6"/>
          <p:cNvSpPr/>
          <p:nvPr/>
        </p:nvSpPr>
        <p:spPr>
          <a:xfrm>
            <a:off x="1051560" y="2002536"/>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This pattern is common in builder-style classes.</a:t>
            </a:r>
            <a:endParaRPr lang="en-US" sz="1250" dirty="0"/>
          </a:p>
        </p:txBody>
      </p:sp>
      <p:sp>
        <p:nvSpPr>
          <p:cNvPr id="9" name="Shape 7"/>
          <p:cNvSpPr/>
          <p:nvPr/>
        </p:nvSpPr>
        <p:spPr>
          <a:xfrm>
            <a:off x="594360" y="2642616"/>
            <a:ext cx="10607040" cy="3392424"/>
          </a:xfrm>
          <a:prstGeom prst="roundRect">
            <a:avLst>
              <a:gd name="adj" fmla="val 2156"/>
            </a:avLst>
          </a:prstGeom>
          <a:solidFill>
            <a:srgbClr val="1E1E2E"/>
          </a:solidFill>
          <a:ln w="12700">
            <a:solidFill>
              <a:srgbClr val="000000"/>
            </a:solidFill>
            <a:prstDash val="solid"/>
          </a:ln>
        </p:spPr>
      </p:sp>
      <p:sp>
        <p:nvSpPr>
          <p:cNvPr id="10" name="Shape 8"/>
          <p:cNvSpPr/>
          <p:nvPr/>
        </p:nvSpPr>
        <p:spPr>
          <a:xfrm>
            <a:off x="594360" y="2642616"/>
            <a:ext cx="10607040" cy="274320"/>
          </a:xfrm>
          <a:prstGeom prst="roundRect">
            <a:avLst>
              <a:gd name="adj" fmla="val 26667"/>
            </a:avLst>
          </a:prstGeom>
          <a:solidFill>
            <a:srgbClr val="17172A"/>
          </a:solidFill>
          <a:ln w="12700">
            <a:solidFill>
              <a:srgbClr val="000000"/>
            </a:solidFill>
            <a:prstDash val="solid"/>
          </a:ln>
        </p:spPr>
      </p:sp>
      <p:sp>
        <p:nvSpPr>
          <p:cNvPr id="11" name="Shape 9"/>
          <p:cNvSpPr/>
          <p:nvPr/>
        </p:nvSpPr>
        <p:spPr>
          <a:xfrm>
            <a:off x="594360" y="2843784"/>
            <a:ext cx="10607040" cy="73152"/>
          </a:xfrm>
          <a:prstGeom prst="rect">
            <a:avLst/>
          </a:prstGeom>
          <a:solidFill>
            <a:srgbClr val="17172A"/>
          </a:solidFill>
          <a:ln w="12700">
            <a:solidFill>
              <a:srgbClr val="000000"/>
            </a:solidFill>
            <a:prstDash val="solid"/>
          </a:ln>
        </p:spPr>
      </p:sp>
      <p:sp>
        <p:nvSpPr>
          <p:cNvPr id="12" name="Shape 10"/>
          <p:cNvSpPr/>
          <p:nvPr/>
        </p:nvSpPr>
        <p:spPr>
          <a:xfrm>
            <a:off x="722376" y="2741371"/>
            <a:ext cx="76810" cy="76810"/>
          </a:xfrm>
          <a:prstGeom prst="ellipse">
            <a:avLst/>
          </a:prstGeom>
          <a:solidFill>
            <a:srgbClr val="FF5F56"/>
          </a:solidFill>
          <a:ln w="12700">
            <a:solidFill>
              <a:srgbClr val="000000"/>
            </a:solidFill>
            <a:prstDash val="solid"/>
          </a:ln>
        </p:spPr>
      </p:sp>
      <p:sp>
        <p:nvSpPr>
          <p:cNvPr id="13" name="Shape 11"/>
          <p:cNvSpPr/>
          <p:nvPr/>
        </p:nvSpPr>
        <p:spPr>
          <a:xfrm>
            <a:off x="886968" y="2741371"/>
            <a:ext cx="76810" cy="76810"/>
          </a:xfrm>
          <a:prstGeom prst="ellipse">
            <a:avLst/>
          </a:prstGeom>
          <a:solidFill>
            <a:srgbClr val="FFBD2E"/>
          </a:solidFill>
          <a:ln w="12700">
            <a:solidFill>
              <a:srgbClr val="000000"/>
            </a:solidFill>
            <a:prstDash val="solid"/>
          </a:ln>
        </p:spPr>
      </p:sp>
      <p:sp>
        <p:nvSpPr>
          <p:cNvPr id="14" name="Shape 12"/>
          <p:cNvSpPr/>
          <p:nvPr/>
        </p:nvSpPr>
        <p:spPr>
          <a:xfrm>
            <a:off x="1051560" y="2741371"/>
            <a:ext cx="76810" cy="76810"/>
          </a:xfrm>
          <a:prstGeom prst="ellipse">
            <a:avLst/>
          </a:prstGeom>
          <a:solidFill>
            <a:srgbClr val="27C93F"/>
          </a:solidFill>
          <a:ln w="12700">
            <a:solidFill>
              <a:srgbClr val="000000"/>
            </a:solidFill>
            <a:prstDash val="solid"/>
          </a:ln>
        </p:spPr>
      </p:sp>
      <p:sp>
        <p:nvSpPr>
          <p:cNvPr id="15" name="Text 13"/>
          <p:cNvSpPr/>
          <p:nvPr/>
        </p:nvSpPr>
        <p:spPr>
          <a:xfrm>
            <a:off x="1371600" y="2642616"/>
            <a:ext cx="9692640" cy="274320"/>
          </a:xfrm>
          <a:prstGeom prst="rect">
            <a:avLst/>
          </a:prstGeom>
          <a:noFill/>
          <a:ln/>
        </p:spPr>
        <p:txBody>
          <a:bodyPr wrap="square" lIns="0" tIns="0" rIns="0" bIns="0" rtlCol="0" anchor="ctr"/>
          <a:lstStyle/>
          <a:p>
            <a:pPr marL="0" indent="0" algn="l">
              <a:buNone/>
            </a:pPr>
            <a:r>
              <a:rPr lang="en-US" sz="1000" dirty="0">
                <a:solidFill>
                  <a:srgbClr val="8A8FA3"/>
                </a:solidFill>
                <a:latin typeface="Courier New" pitchFamily="34" charset="0"/>
                <a:ea typeface="Courier New" pitchFamily="34" charset="-122"/>
                <a:cs typeface="Courier New" pitchFamily="34" charset="-120"/>
              </a:rPr>
              <a:t>Main.java</a:t>
            </a:r>
            <a:endParaRPr lang="en-US" sz="1000" dirty="0"/>
          </a:p>
        </p:txBody>
      </p:sp>
      <p:sp>
        <p:nvSpPr>
          <p:cNvPr id="16" name="Text 14"/>
          <p:cNvSpPr/>
          <p:nvPr/>
        </p:nvSpPr>
        <p:spPr>
          <a:xfrm>
            <a:off x="777240" y="2990088"/>
            <a:ext cx="10241280" cy="2971800"/>
          </a:xfrm>
          <a:prstGeom prst="rect">
            <a:avLst/>
          </a:prstGeom>
          <a:noFill/>
          <a:ln/>
        </p:spPr>
        <p:txBody>
          <a:bodyPr wrap="square" lIns="0" tIns="0" rIns="0" bIns="0" rtlCol="0" anchor="t"/>
          <a:lstStyle/>
          <a:p>
            <a:pPr marL="0" indent="0" algn="l">
              <a:lnSpc>
                <a:spcPct val="118000"/>
              </a:lnSpc>
              <a:buNone/>
            </a:pPr>
            <a:r>
              <a:rPr lang="en-US" sz="1200" b="1" dirty="0">
                <a:solidFill>
                  <a:srgbClr val="569CD6"/>
                </a:solidFill>
                <a:latin typeface="Courier New" pitchFamily="34" charset="0"/>
                <a:ea typeface="Courier New" pitchFamily="34" charset="-122"/>
                <a:cs typeface="Courier New" pitchFamily="34" charset="-120"/>
              </a:rPr>
              <a:t>public</a:t>
            </a:r>
            <a:r>
              <a:rPr lang="en-US" sz="1200" dirty="0">
                <a:solidFill>
                  <a:srgbClr val="D4D4D4"/>
                </a:solidFill>
                <a:latin typeface="Courier New" pitchFamily="34" charset="0"/>
                <a:ea typeface="Courier New" pitchFamily="34" charset="-122"/>
                <a:cs typeface="Courier New" pitchFamily="34" charset="-120"/>
              </a:rPr>
              <a:t> </a:t>
            </a:r>
            <a:r>
              <a:rPr lang="en-US" sz="1200" b="1" dirty="0">
                <a:solidFill>
                  <a:srgbClr val="569CD6"/>
                </a:solidFill>
                <a:latin typeface="Courier New" pitchFamily="34" charset="0"/>
                <a:ea typeface="Courier New" pitchFamily="34" charset="-122"/>
                <a:cs typeface="Courier New" pitchFamily="34" charset="-120"/>
              </a:rPr>
              <a:t>class</a:t>
            </a:r>
            <a:r>
              <a:rPr lang="en-US" sz="1200" dirty="0">
                <a:solidFill>
                  <a:srgbClr val="D4D4D4"/>
                </a:solidFill>
                <a:latin typeface="Courier New" pitchFamily="34" charset="0"/>
                <a:ea typeface="Courier New" pitchFamily="34" charset="-122"/>
                <a:cs typeface="Courier New" pitchFamily="34" charset="-120"/>
              </a:rPr>
              <a:t> TextBuilder {</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r>
              <a:rPr lang="en-US" sz="1200" dirty="0">
                <a:solidFill>
                  <a:srgbClr val="4EC9B0"/>
                </a:solidFill>
                <a:latin typeface="Courier New" pitchFamily="34" charset="0"/>
                <a:ea typeface="Courier New" pitchFamily="34" charset="-122"/>
                <a:cs typeface="Courier New" pitchFamily="34" charset="-120"/>
              </a:rPr>
              <a:t>String</a:t>
            </a:r>
            <a:r>
              <a:rPr lang="en-US" sz="1200" dirty="0">
                <a:solidFill>
                  <a:srgbClr val="D4D4D4"/>
                </a:solidFill>
                <a:latin typeface="Courier New" pitchFamily="34" charset="0"/>
                <a:ea typeface="Courier New" pitchFamily="34" charset="-122"/>
                <a:cs typeface="Courier New" pitchFamily="34" charset="-120"/>
              </a:rPr>
              <a:t> text = </a:t>
            </a:r>
            <a:r>
              <a:rPr lang="en-US" sz="1200" dirty="0">
                <a:solidFill>
                  <a:srgbClr val="CE9178"/>
                </a:solidFill>
                <a:latin typeface="Courier New" pitchFamily="34" charset="0"/>
                <a:ea typeface="Courier New" pitchFamily="34" charset="-122"/>
                <a:cs typeface="Courier New" pitchFamily="34" charset="-120"/>
              </a:rPr>
              <a:t>""</a:t>
            </a:r>
            <a:r>
              <a:rPr lang="en-US" sz="1200" dirty="0">
                <a:solidFill>
                  <a:srgbClr val="D4D4D4"/>
                </a:solidFill>
                <a:latin typeface="Courier New" pitchFamily="34" charset="0"/>
                <a:ea typeface="Courier New" pitchFamily="34" charset="-122"/>
                <a:cs typeface="Courier New" pitchFamily="34" charset="-120"/>
              </a:rPr>
              <a:t>;</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TextBuilder </a:t>
            </a:r>
            <a:r>
              <a:rPr lang="en-US" sz="1200" dirty="0">
                <a:solidFill>
                  <a:srgbClr val="DCDCAA"/>
                </a:solidFill>
                <a:latin typeface="Courier New" pitchFamily="34" charset="0"/>
                <a:ea typeface="Courier New" pitchFamily="34" charset="-122"/>
                <a:cs typeface="Courier New" pitchFamily="34" charset="-120"/>
              </a:rPr>
              <a:t>add</a:t>
            </a:r>
            <a:r>
              <a:rPr lang="en-US" sz="1200" dirty="0">
                <a:solidFill>
                  <a:srgbClr val="D4D4D4"/>
                </a:solidFill>
                <a:latin typeface="Courier New" pitchFamily="34" charset="0"/>
                <a:ea typeface="Courier New" pitchFamily="34" charset="-122"/>
                <a:cs typeface="Courier New" pitchFamily="34" charset="-120"/>
              </a:rPr>
              <a:t>(</a:t>
            </a:r>
            <a:r>
              <a:rPr lang="en-US" sz="1200" dirty="0">
                <a:solidFill>
                  <a:srgbClr val="4EC9B0"/>
                </a:solidFill>
                <a:latin typeface="Courier New" pitchFamily="34" charset="0"/>
                <a:ea typeface="Courier New" pitchFamily="34" charset="-122"/>
                <a:cs typeface="Courier New" pitchFamily="34" charset="-120"/>
              </a:rPr>
              <a:t>String</a:t>
            </a:r>
            <a:r>
              <a:rPr lang="en-US" sz="1200" dirty="0">
                <a:solidFill>
                  <a:srgbClr val="D4D4D4"/>
                </a:solidFill>
                <a:latin typeface="Courier New" pitchFamily="34" charset="0"/>
                <a:ea typeface="Courier New" pitchFamily="34" charset="-122"/>
                <a:cs typeface="Courier New" pitchFamily="34" charset="-120"/>
              </a:rPr>
              <a:t> part) {</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text += part;</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r>
              <a:rPr lang="en-US" sz="1200" b="1" dirty="0">
                <a:solidFill>
                  <a:srgbClr val="569CD6"/>
                </a:solidFill>
                <a:latin typeface="Courier New" pitchFamily="34" charset="0"/>
                <a:ea typeface="Courier New" pitchFamily="34" charset="-122"/>
                <a:cs typeface="Courier New" pitchFamily="34" charset="-120"/>
              </a:rPr>
              <a:t>return</a:t>
            </a:r>
            <a:r>
              <a:rPr lang="en-US" sz="1200" dirty="0">
                <a:solidFill>
                  <a:srgbClr val="D4D4D4"/>
                </a:solidFill>
                <a:latin typeface="Courier New" pitchFamily="34" charset="0"/>
                <a:ea typeface="Courier New" pitchFamily="34" charset="-122"/>
                <a:cs typeface="Courier New" pitchFamily="34" charset="-120"/>
              </a:rPr>
              <a:t> </a:t>
            </a:r>
            <a:r>
              <a:rPr lang="en-US" sz="1200" b="1" dirty="0">
                <a:solidFill>
                  <a:srgbClr val="569CD6"/>
                </a:solidFill>
                <a:latin typeface="Courier New" pitchFamily="34" charset="0"/>
                <a:ea typeface="Courier New" pitchFamily="34" charset="-122"/>
                <a:cs typeface="Courier New" pitchFamily="34" charset="-120"/>
              </a:rPr>
              <a:t>this</a:t>
            </a:r>
            <a:r>
              <a:rPr lang="en-US" sz="1200" dirty="0">
                <a:solidFill>
                  <a:srgbClr val="D4D4D4"/>
                </a:solidFill>
                <a:latin typeface="Courier New" pitchFamily="34" charset="0"/>
                <a:ea typeface="Courier New" pitchFamily="34" charset="-122"/>
                <a:cs typeface="Courier New" pitchFamily="34" charset="-120"/>
              </a:rPr>
              <a:t>;</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r>
              <a:rPr lang="en-US" sz="1200" b="1" dirty="0">
                <a:solidFill>
                  <a:srgbClr val="569CD6"/>
                </a:solidFill>
                <a:latin typeface="Courier New" pitchFamily="34" charset="0"/>
                <a:ea typeface="Courier New" pitchFamily="34" charset="-122"/>
                <a:cs typeface="Courier New" pitchFamily="34" charset="-120"/>
              </a:rPr>
              <a:t>public</a:t>
            </a:r>
            <a:r>
              <a:rPr lang="en-US" sz="1200" dirty="0">
                <a:solidFill>
                  <a:srgbClr val="D4D4D4"/>
                </a:solidFill>
                <a:latin typeface="Courier New" pitchFamily="34" charset="0"/>
                <a:ea typeface="Courier New" pitchFamily="34" charset="-122"/>
                <a:cs typeface="Courier New" pitchFamily="34" charset="-120"/>
              </a:rPr>
              <a:t> </a:t>
            </a:r>
            <a:r>
              <a:rPr lang="en-US" sz="1200" b="1" dirty="0">
                <a:solidFill>
                  <a:srgbClr val="569CD6"/>
                </a:solidFill>
                <a:latin typeface="Courier New" pitchFamily="34" charset="0"/>
                <a:ea typeface="Courier New" pitchFamily="34" charset="-122"/>
                <a:cs typeface="Courier New" pitchFamily="34" charset="-120"/>
              </a:rPr>
              <a:t>static</a:t>
            </a:r>
            <a:r>
              <a:rPr lang="en-US" sz="1200" dirty="0">
                <a:solidFill>
                  <a:srgbClr val="D4D4D4"/>
                </a:solidFill>
                <a:latin typeface="Courier New" pitchFamily="34" charset="0"/>
                <a:ea typeface="Courier New" pitchFamily="34" charset="-122"/>
                <a:cs typeface="Courier New" pitchFamily="34" charset="-120"/>
              </a:rPr>
              <a:t> </a:t>
            </a:r>
            <a:r>
              <a:rPr lang="en-US" sz="1200" b="1" dirty="0">
                <a:solidFill>
                  <a:srgbClr val="569CD6"/>
                </a:solidFill>
                <a:latin typeface="Courier New" pitchFamily="34" charset="0"/>
                <a:ea typeface="Courier New" pitchFamily="34" charset="-122"/>
                <a:cs typeface="Courier New" pitchFamily="34" charset="-120"/>
              </a:rPr>
              <a:t>void</a:t>
            </a:r>
            <a:r>
              <a:rPr lang="en-US" sz="1200" dirty="0">
                <a:solidFill>
                  <a:srgbClr val="D4D4D4"/>
                </a:solidFill>
                <a:latin typeface="Courier New" pitchFamily="34" charset="0"/>
                <a:ea typeface="Courier New" pitchFamily="34" charset="-122"/>
                <a:cs typeface="Courier New" pitchFamily="34" charset="-120"/>
              </a:rPr>
              <a:t> </a:t>
            </a:r>
            <a:r>
              <a:rPr lang="en-US" sz="1200" dirty="0">
                <a:solidFill>
                  <a:srgbClr val="DCDCAA"/>
                </a:solidFill>
                <a:latin typeface="Courier New" pitchFamily="34" charset="0"/>
                <a:ea typeface="Courier New" pitchFamily="34" charset="-122"/>
                <a:cs typeface="Courier New" pitchFamily="34" charset="-120"/>
              </a:rPr>
              <a:t>main</a:t>
            </a:r>
            <a:r>
              <a:rPr lang="en-US" sz="1200" dirty="0">
                <a:solidFill>
                  <a:srgbClr val="D4D4D4"/>
                </a:solidFill>
                <a:latin typeface="Courier New" pitchFamily="34" charset="0"/>
                <a:ea typeface="Courier New" pitchFamily="34" charset="-122"/>
                <a:cs typeface="Courier New" pitchFamily="34" charset="-120"/>
              </a:rPr>
              <a:t>(</a:t>
            </a:r>
            <a:r>
              <a:rPr lang="en-US" sz="1200" dirty="0">
                <a:solidFill>
                  <a:srgbClr val="4EC9B0"/>
                </a:solidFill>
                <a:latin typeface="Courier New" pitchFamily="34" charset="0"/>
                <a:ea typeface="Courier New" pitchFamily="34" charset="-122"/>
                <a:cs typeface="Courier New" pitchFamily="34" charset="-120"/>
              </a:rPr>
              <a:t>String</a:t>
            </a:r>
            <a:r>
              <a:rPr lang="en-US" sz="1200" dirty="0">
                <a:solidFill>
                  <a:srgbClr val="D4D4D4"/>
                </a:solidFill>
                <a:latin typeface="Courier New" pitchFamily="34" charset="0"/>
                <a:ea typeface="Courier New" pitchFamily="34" charset="-122"/>
                <a:cs typeface="Courier New" pitchFamily="34" charset="-120"/>
              </a:rPr>
              <a:t>[] args) {</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TextBuilder t = </a:t>
            </a:r>
            <a:r>
              <a:rPr lang="en-US" sz="1200" b="1" dirty="0">
                <a:solidFill>
                  <a:srgbClr val="569CD6"/>
                </a:solidFill>
                <a:latin typeface="Courier New" pitchFamily="34" charset="0"/>
                <a:ea typeface="Courier New" pitchFamily="34" charset="-122"/>
                <a:cs typeface="Courier New" pitchFamily="34" charset="-120"/>
              </a:rPr>
              <a:t>new</a:t>
            </a:r>
            <a:r>
              <a:rPr lang="en-US" sz="1200" dirty="0">
                <a:solidFill>
                  <a:srgbClr val="D4D4D4"/>
                </a:solidFill>
                <a:latin typeface="Courier New" pitchFamily="34" charset="0"/>
                <a:ea typeface="Courier New" pitchFamily="34" charset="-122"/>
                <a:cs typeface="Courier New" pitchFamily="34" charset="-120"/>
              </a:rPr>
              <a:t> </a:t>
            </a:r>
            <a:r>
              <a:rPr lang="en-US" sz="1200" dirty="0">
                <a:solidFill>
                  <a:srgbClr val="DCDCAA"/>
                </a:solidFill>
                <a:latin typeface="Courier New" pitchFamily="34" charset="0"/>
                <a:ea typeface="Courier New" pitchFamily="34" charset="-122"/>
                <a:cs typeface="Courier New" pitchFamily="34" charset="-120"/>
              </a:rPr>
              <a:t>TextBuilder</a:t>
            </a:r>
            <a:r>
              <a:rPr lang="en-US" sz="1200" dirty="0">
                <a:solidFill>
                  <a:srgbClr val="D4D4D4"/>
                </a:solidFill>
                <a:latin typeface="Courier New" pitchFamily="34" charset="0"/>
                <a:ea typeface="Courier New" pitchFamily="34" charset="-122"/>
                <a:cs typeface="Courier New" pitchFamily="34" charset="-120"/>
              </a:rPr>
              <a:t>();</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t.</a:t>
            </a:r>
            <a:r>
              <a:rPr lang="en-US" sz="1200" dirty="0">
                <a:solidFill>
                  <a:srgbClr val="DCDCAA"/>
                </a:solidFill>
                <a:latin typeface="Courier New" pitchFamily="34" charset="0"/>
                <a:ea typeface="Courier New" pitchFamily="34" charset="-122"/>
                <a:cs typeface="Courier New" pitchFamily="34" charset="-120"/>
              </a:rPr>
              <a:t>add</a:t>
            </a:r>
            <a:r>
              <a:rPr lang="en-US" sz="1200" dirty="0">
                <a:solidFill>
                  <a:srgbClr val="D4D4D4"/>
                </a:solidFill>
                <a:latin typeface="Courier New" pitchFamily="34" charset="0"/>
                <a:ea typeface="Courier New" pitchFamily="34" charset="-122"/>
                <a:cs typeface="Courier New" pitchFamily="34" charset="-120"/>
              </a:rPr>
              <a:t>(</a:t>
            </a:r>
            <a:r>
              <a:rPr lang="en-US" sz="1200" dirty="0">
                <a:solidFill>
                  <a:srgbClr val="CE9178"/>
                </a:solidFill>
                <a:latin typeface="Courier New" pitchFamily="34" charset="0"/>
                <a:ea typeface="Courier New" pitchFamily="34" charset="-122"/>
                <a:cs typeface="Courier New" pitchFamily="34" charset="-120"/>
              </a:rPr>
              <a:t>"Hello"</a:t>
            </a:r>
            <a:r>
              <a:rPr lang="en-US" sz="1200" dirty="0">
                <a:solidFill>
                  <a:srgbClr val="D4D4D4"/>
                </a:solidFill>
                <a:latin typeface="Courier New" pitchFamily="34" charset="0"/>
                <a:ea typeface="Courier New" pitchFamily="34" charset="-122"/>
                <a:cs typeface="Courier New" pitchFamily="34" charset="-120"/>
              </a:rPr>
              <a:t>).</a:t>
            </a:r>
            <a:r>
              <a:rPr lang="en-US" sz="1200" dirty="0">
                <a:solidFill>
                  <a:srgbClr val="DCDCAA"/>
                </a:solidFill>
                <a:latin typeface="Courier New" pitchFamily="34" charset="0"/>
                <a:ea typeface="Courier New" pitchFamily="34" charset="-122"/>
                <a:cs typeface="Courier New" pitchFamily="34" charset="-120"/>
              </a:rPr>
              <a:t>add</a:t>
            </a:r>
            <a:r>
              <a:rPr lang="en-US" sz="1200" dirty="0">
                <a:solidFill>
                  <a:srgbClr val="D4D4D4"/>
                </a:solidFill>
                <a:latin typeface="Courier New" pitchFamily="34" charset="0"/>
                <a:ea typeface="Courier New" pitchFamily="34" charset="-122"/>
                <a:cs typeface="Courier New" pitchFamily="34" charset="-120"/>
              </a:rPr>
              <a:t>(</a:t>
            </a:r>
            <a:r>
              <a:rPr lang="en-US" sz="1200" dirty="0">
                <a:solidFill>
                  <a:srgbClr val="CE9178"/>
                </a:solidFill>
                <a:latin typeface="Courier New" pitchFamily="34" charset="0"/>
                <a:ea typeface="Courier New" pitchFamily="34" charset="-122"/>
                <a:cs typeface="Courier New" pitchFamily="34" charset="-120"/>
              </a:rPr>
              <a:t>" "</a:t>
            </a:r>
            <a:r>
              <a:rPr lang="en-US" sz="1200" dirty="0">
                <a:solidFill>
                  <a:srgbClr val="D4D4D4"/>
                </a:solidFill>
                <a:latin typeface="Courier New" pitchFamily="34" charset="0"/>
                <a:ea typeface="Courier New" pitchFamily="34" charset="-122"/>
                <a:cs typeface="Courier New" pitchFamily="34" charset="-120"/>
              </a:rPr>
              <a:t>).</a:t>
            </a:r>
            <a:r>
              <a:rPr lang="en-US" sz="1200" dirty="0">
                <a:solidFill>
                  <a:srgbClr val="DCDCAA"/>
                </a:solidFill>
                <a:latin typeface="Courier New" pitchFamily="34" charset="0"/>
                <a:ea typeface="Courier New" pitchFamily="34" charset="-122"/>
                <a:cs typeface="Courier New" pitchFamily="34" charset="-120"/>
              </a:rPr>
              <a:t>add</a:t>
            </a:r>
            <a:r>
              <a:rPr lang="en-US" sz="1200" dirty="0">
                <a:solidFill>
                  <a:srgbClr val="D4D4D4"/>
                </a:solidFill>
                <a:latin typeface="Courier New" pitchFamily="34" charset="0"/>
                <a:ea typeface="Courier New" pitchFamily="34" charset="-122"/>
                <a:cs typeface="Courier New" pitchFamily="34" charset="-120"/>
              </a:rPr>
              <a:t>(</a:t>
            </a:r>
            <a:r>
              <a:rPr lang="en-US" sz="1200" dirty="0">
                <a:solidFill>
                  <a:srgbClr val="CE9178"/>
                </a:solidFill>
                <a:latin typeface="Courier New" pitchFamily="34" charset="0"/>
                <a:ea typeface="Courier New" pitchFamily="34" charset="-122"/>
                <a:cs typeface="Courier New" pitchFamily="34" charset="-120"/>
              </a:rPr>
              <a:t>"World"</a:t>
            </a:r>
            <a:r>
              <a:rPr lang="en-US" sz="1200" dirty="0">
                <a:solidFill>
                  <a:srgbClr val="D4D4D4"/>
                </a:solidFill>
                <a:latin typeface="Courier New" pitchFamily="34" charset="0"/>
                <a:ea typeface="Courier New" pitchFamily="34" charset="-122"/>
                <a:cs typeface="Courier New" pitchFamily="34" charset="-120"/>
              </a:rPr>
              <a:t>);</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r>
              <a:rPr lang="en-US" sz="1200" dirty="0">
                <a:solidFill>
                  <a:srgbClr val="4EC9B0"/>
                </a:solidFill>
                <a:latin typeface="Courier New" pitchFamily="34" charset="0"/>
                <a:ea typeface="Courier New" pitchFamily="34" charset="-122"/>
                <a:cs typeface="Courier New" pitchFamily="34" charset="-120"/>
              </a:rPr>
              <a:t>System</a:t>
            </a:r>
            <a:r>
              <a:rPr lang="en-US" sz="1200" dirty="0">
                <a:solidFill>
                  <a:srgbClr val="D4D4D4"/>
                </a:solidFill>
                <a:latin typeface="Courier New" pitchFamily="34" charset="0"/>
                <a:ea typeface="Courier New" pitchFamily="34" charset="-122"/>
                <a:cs typeface="Courier New" pitchFamily="34" charset="-120"/>
              </a:rPr>
              <a:t>.out.</a:t>
            </a:r>
            <a:r>
              <a:rPr lang="en-US" sz="1200" dirty="0">
                <a:solidFill>
                  <a:srgbClr val="DCDCAA"/>
                </a:solidFill>
                <a:latin typeface="Courier New" pitchFamily="34" charset="0"/>
                <a:ea typeface="Courier New" pitchFamily="34" charset="-122"/>
                <a:cs typeface="Courier New" pitchFamily="34" charset="-120"/>
              </a:rPr>
              <a:t>println</a:t>
            </a:r>
            <a:r>
              <a:rPr lang="en-US" sz="1200" dirty="0">
                <a:solidFill>
                  <a:srgbClr val="D4D4D4"/>
                </a:solidFill>
                <a:latin typeface="Courier New" pitchFamily="34" charset="0"/>
                <a:ea typeface="Courier New" pitchFamily="34" charset="-122"/>
                <a:cs typeface="Courier New" pitchFamily="34" charset="-120"/>
              </a:rPr>
              <a:t>(t.text);</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a:t>
            </a:r>
            <a:endParaRPr lang="en-US" sz="1200" dirty="0"/>
          </a:p>
        </p:txBody>
      </p:sp>
      <p:sp>
        <p:nvSpPr>
          <p:cNvPr id="17" name="Shape 15"/>
          <p:cNvSpPr/>
          <p:nvPr/>
        </p:nvSpPr>
        <p:spPr>
          <a:xfrm>
            <a:off x="0" y="0"/>
            <a:ext cx="12191695" cy="384048"/>
          </a:xfrm>
          <a:prstGeom prst="rect">
            <a:avLst/>
          </a:prstGeom>
          <a:solidFill>
            <a:srgbClr val="1B2A4A"/>
          </a:solidFill>
          <a:ln w="12700">
            <a:solidFill>
              <a:srgbClr val="1B2A4A"/>
            </a:solidFill>
            <a:prstDash val="solid"/>
          </a:ln>
        </p:spPr>
      </p:sp>
      <p:sp>
        <p:nvSpPr>
          <p:cNvPr id="18" name="Text 16"/>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9" name="Shape 17"/>
          <p:cNvSpPr/>
          <p:nvPr/>
        </p:nvSpPr>
        <p:spPr>
          <a:xfrm>
            <a:off x="219456" y="301752"/>
            <a:ext cx="960120" cy="0"/>
          </a:xfrm>
          <a:prstGeom prst="line">
            <a:avLst/>
          </a:prstGeom>
          <a:noFill/>
          <a:ln w="9525">
            <a:solidFill>
              <a:srgbClr val="4A5570"/>
            </a:solidFill>
            <a:prstDash val="solid"/>
          </a:ln>
        </p:spPr>
      </p:sp>
      <p:sp>
        <p:nvSpPr>
          <p:cNvPr id="20" name="Text 18"/>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1" name="Text 19"/>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2" name="Text 20"/>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3" name="Shape 21"/>
          <p:cNvSpPr/>
          <p:nvPr/>
        </p:nvSpPr>
        <p:spPr>
          <a:xfrm>
            <a:off x="0" y="6291072"/>
            <a:ext cx="12191695" cy="566928"/>
          </a:xfrm>
          <a:prstGeom prst="rect">
            <a:avLst/>
          </a:prstGeom>
          <a:solidFill>
            <a:srgbClr val="1B2A4A"/>
          </a:solidFill>
          <a:ln w="12700">
            <a:solidFill>
              <a:srgbClr val="1B2A4A"/>
            </a:solidFill>
            <a:prstDash val="solid"/>
          </a:ln>
        </p:spPr>
      </p:sp>
      <p:sp>
        <p:nvSpPr>
          <p:cNvPr id="24" name="Text 22"/>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5" name="Text 23"/>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CONSTRUCTOR REUSE</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this() Inside a Constructor</a:t>
            </a:r>
            <a:endParaRPr lang="en-US" sz="2700" dirty="0"/>
          </a:p>
        </p:txBody>
      </p:sp>
      <p:sp>
        <p:nvSpPr>
          <p:cNvPr id="4" name="Shape 2"/>
          <p:cNvSpPr/>
          <p:nvPr/>
        </p:nvSpPr>
        <p:spPr>
          <a:xfrm>
            <a:off x="594360" y="1600200"/>
            <a:ext cx="10607040" cy="896112"/>
          </a:xfrm>
          <a:prstGeom prst="roundRect">
            <a:avLst>
              <a:gd name="adj" fmla="val 6122"/>
            </a:avLst>
          </a:prstGeom>
          <a:solidFill>
            <a:srgbClr val="F5F6FA"/>
          </a:solidFill>
          <a:ln w="9525">
            <a:solidFill>
              <a:srgbClr val="E4E7EE"/>
            </a:solidFill>
            <a:prstDash val="solid"/>
          </a:ln>
        </p:spPr>
      </p:sp>
      <p:sp>
        <p:nvSpPr>
          <p:cNvPr id="5" name="Shape 3"/>
          <p:cNvSpPr/>
          <p:nvPr/>
        </p:nvSpPr>
        <p:spPr>
          <a:xfrm>
            <a:off x="804672" y="1755648"/>
            <a:ext cx="100584" cy="100584"/>
          </a:xfrm>
          <a:prstGeom prst="ellipse">
            <a:avLst/>
          </a:prstGeom>
          <a:solidFill>
            <a:srgbClr val="E8590C"/>
          </a:solidFill>
          <a:ln w="12700">
            <a:solidFill>
              <a:srgbClr val="000000"/>
            </a:solidFill>
            <a:prstDash val="solid"/>
          </a:ln>
        </p:spPr>
      </p:sp>
      <p:sp>
        <p:nvSpPr>
          <p:cNvPr id="6" name="Text 4"/>
          <p:cNvSpPr/>
          <p:nvPr/>
        </p:nvSpPr>
        <p:spPr>
          <a:xfrm>
            <a:off x="1051560" y="1655064"/>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this(...), with parentheses, calls another constructor in the same class.</a:t>
            </a:r>
            <a:endParaRPr lang="en-US" sz="1250" dirty="0"/>
          </a:p>
        </p:txBody>
      </p:sp>
      <p:sp>
        <p:nvSpPr>
          <p:cNvPr id="7" name="Shape 5"/>
          <p:cNvSpPr/>
          <p:nvPr/>
        </p:nvSpPr>
        <p:spPr>
          <a:xfrm>
            <a:off x="804672" y="2103120"/>
            <a:ext cx="100584" cy="100584"/>
          </a:xfrm>
          <a:prstGeom prst="ellipse">
            <a:avLst/>
          </a:prstGeom>
          <a:solidFill>
            <a:srgbClr val="E8590C"/>
          </a:solidFill>
          <a:ln w="12700">
            <a:solidFill>
              <a:srgbClr val="000000"/>
            </a:solidFill>
            <a:prstDash val="solid"/>
          </a:ln>
        </p:spPr>
      </p:sp>
      <p:sp>
        <p:nvSpPr>
          <p:cNvPr id="8" name="Text 6"/>
          <p:cNvSpPr/>
          <p:nvPr/>
        </p:nvSpPr>
        <p:spPr>
          <a:xfrm>
            <a:off x="1051560" y="2002536"/>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This is different from this.field, which accesses a field, not a constructor.</a:t>
            </a:r>
            <a:endParaRPr lang="en-US" sz="1250" dirty="0"/>
          </a:p>
        </p:txBody>
      </p:sp>
      <p:sp>
        <p:nvSpPr>
          <p:cNvPr id="9" name="Shape 7"/>
          <p:cNvSpPr/>
          <p:nvPr/>
        </p:nvSpPr>
        <p:spPr>
          <a:xfrm>
            <a:off x="594360" y="2642616"/>
            <a:ext cx="10607040" cy="3392424"/>
          </a:xfrm>
          <a:prstGeom prst="roundRect">
            <a:avLst>
              <a:gd name="adj" fmla="val 2156"/>
            </a:avLst>
          </a:prstGeom>
          <a:solidFill>
            <a:srgbClr val="1E1E2E"/>
          </a:solidFill>
          <a:ln w="12700">
            <a:solidFill>
              <a:srgbClr val="000000"/>
            </a:solidFill>
            <a:prstDash val="solid"/>
          </a:ln>
        </p:spPr>
      </p:sp>
      <p:sp>
        <p:nvSpPr>
          <p:cNvPr id="10" name="Shape 8"/>
          <p:cNvSpPr/>
          <p:nvPr/>
        </p:nvSpPr>
        <p:spPr>
          <a:xfrm>
            <a:off x="594360" y="2642616"/>
            <a:ext cx="10607040" cy="274320"/>
          </a:xfrm>
          <a:prstGeom prst="roundRect">
            <a:avLst>
              <a:gd name="adj" fmla="val 26667"/>
            </a:avLst>
          </a:prstGeom>
          <a:solidFill>
            <a:srgbClr val="17172A"/>
          </a:solidFill>
          <a:ln w="12700">
            <a:solidFill>
              <a:srgbClr val="000000"/>
            </a:solidFill>
            <a:prstDash val="solid"/>
          </a:ln>
        </p:spPr>
      </p:sp>
      <p:sp>
        <p:nvSpPr>
          <p:cNvPr id="11" name="Shape 9"/>
          <p:cNvSpPr/>
          <p:nvPr/>
        </p:nvSpPr>
        <p:spPr>
          <a:xfrm>
            <a:off x="594360" y="2843784"/>
            <a:ext cx="10607040" cy="73152"/>
          </a:xfrm>
          <a:prstGeom prst="rect">
            <a:avLst/>
          </a:prstGeom>
          <a:solidFill>
            <a:srgbClr val="17172A"/>
          </a:solidFill>
          <a:ln w="12700">
            <a:solidFill>
              <a:srgbClr val="000000"/>
            </a:solidFill>
            <a:prstDash val="solid"/>
          </a:ln>
        </p:spPr>
      </p:sp>
      <p:sp>
        <p:nvSpPr>
          <p:cNvPr id="12" name="Shape 10"/>
          <p:cNvSpPr/>
          <p:nvPr/>
        </p:nvSpPr>
        <p:spPr>
          <a:xfrm>
            <a:off x="722376" y="2741371"/>
            <a:ext cx="76810" cy="76810"/>
          </a:xfrm>
          <a:prstGeom prst="ellipse">
            <a:avLst/>
          </a:prstGeom>
          <a:solidFill>
            <a:srgbClr val="FF5F56"/>
          </a:solidFill>
          <a:ln w="12700">
            <a:solidFill>
              <a:srgbClr val="000000"/>
            </a:solidFill>
            <a:prstDash val="solid"/>
          </a:ln>
        </p:spPr>
      </p:sp>
      <p:sp>
        <p:nvSpPr>
          <p:cNvPr id="13" name="Shape 11"/>
          <p:cNvSpPr/>
          <p:nvPr/>
        </p:nvSpPr>
        <p:spPr>
          <a:xfrm>
            <a:off x="886968" y="2741371"/>
            <a:ext cx="76810" cy="76810"/>
          </a:xfrm>
          <a:prstGeom prst="ellipse">
            <a:avLst/>
          </a:prstGeom>
          <a:solidFill>
            <a:srgbClr val="FFBD2E"/>
          </a:solidFill>
          <a:ln w="12700">
            <a:solidFill>
              <a:srgbClr val="000000"/>
            </a:solidFill>
            <a:prstDash val="solid"/>
          </a:ln>
        </p:spPr>
      </p:sp>
      <p:sp>
        <p:nvSpPr>
          <p:cNvPr id="14" name="Shape 12"/>
          <p:cNvSpPr/>
          <p:nvPr/>
        </p:nvSpPr>
        <p:spPr>
          <a:xfrm>
            <a:off x="1051560" y="2741371"/>
            <a:ext cx="76810" cy="76810"/>
          </a:xfrm>
          <a:prstGeom prst="ellipse">
            <a:avLst/>
          </a:prstGeom>
          <a:solidFill>
            <a:srgbClr val="27C93F"/>
          </a:solidFill>
          <a:ln w="12700">
            <a:solidFill>
              <a:srgbClr val="000000"/>
            </a:solidFill>
            <a:prstDash val="solid"/>
          </a:ln>
        </p:spPr>
      </p:sp>
      <p:sp>
        <p:nvSpPr>
          <p:cNvPr id="15" name="Text 13"/>
          <p:cNvSpPr/>
          <p:nvPr/>
        </p:nvSpPr>
        <p:spPr>
          <a:xfrm>
            <a:off x="1371600" y="2642616"/>
            <a:ext cx="9692640" cy="274320"/>
          </a:xfrm>
          <a:prstGeom prst="rect">
            <a:avLst/>
          </a:prstGeom>
          <a:noFill/>
          <a:ln/>
        </p:spPr>
        <p:txBody>
          <a:bodyPr wrap="square" lIns="0" tIns="0" rIns="0" bIns="0" rtlCol="0" anchor="ctr"/>
          <a:lstStyle/>
          <a:p>
            <a:pPr marL="0" indent="0" algn="l">
              <a:buNone/>
            </a:pPr>
            <a:r>
              <a:rPr lang="en-US" sz="1000" dirty="0">
                <a:solidFill>
                  <a:srgbClr val="8A8FA3"/>
                </a:solidFill>
                <a:latin typeface="Courier New" pitchFamily="34" charset="0"/>
                <a:ea typeface="Courier New" pitchFamily="34" charset="-122"/>
                <a:cs typeface="Courier New" pitchFamily="34" charset="-120"/>
              </a:rPr>
              <a:t>Main.java</a:t>
            </a:r>
            <a:endParaRPr lang="en-US" sz="1000" dirty="0"/>
          </a:p>
        </p:txBody>
      </p:sp>
      <p:sp>
        <p:nvSpPr>
          <p:cNvPr id="16" name="Text 14"/>
          <p:cNvSpPr/>
          <p:nvPr/>
        </p:nvSpPr>
        <p:spPr>
          <a:xfrm>
            <a:off x="777240" y="2990088"/>
            <a:ext cx="10241280" cy="2971800"/>
          </a:xfrm>
          <a:prstGeom prst="rect">
            <a:avLst/>
          </a:prstGeom>
          <a:noFill/>
          <a:ln/>
        </p:spPr>
        <p:txBody>
          <a:bodyPr wrap="square" lIns="0" tIns="0" rIns="0" bIns="0" rtlCol="0" anchor="t"/>
          <a:lstStyle/>
          <a:p>
            <a:pPr marL="0" indent="0" algn="l">
              <a:lnSpc>
                <a:spcPct val="118000"/>
              </a:lnSpc>
              <a:buNone/>
            </a:pPr>
            <a:r>
              <a:rPr lang="en-US" sz="1400" b="1" dirty="0">
                <a:solidFill>
                  <a:srgbClr val="569CD6"/>
                </a:solidFill>
                <a:latin typeface="Courier New" pitchFamily="34" charset="0"/>
                <a:ea typeface="Courier New" pitchFamily="34" charset="-122"/>
                <a:cs typeface="Courier New" pitchFamily="34" charset="-120"/>
              </a:rPr>
              <a:t>public</a:t>
            </a:r>
            <a:r>
              <a:rPr lang="en-US" sz="1400" dirty="0">
                <a:solidFill>
                  <a:srgbClr val="D4D4D4"/>
                </a:solidFill>
                <a:latin typeface="Courier New" pitchFamily="34" charset="0"/>
                <a:ea typeface="Courier New" pitchFamily="34" charset="-122"/>
                <a:cs typeface="Courier New" pitchFamily="34" charset="-120"/>
              </a:rPr>
              <a:t> </a:t>
            </a:r>
            <a:r>
              <a:rPr lang="en-US" sz="1400" b="1" dirty="0">
                <a:solidFill>
                  <a:srgbClr val="569CD6"/>
                </a:solidFill>
                <a:latin typeface="Courier New" pitchFamily="34" charset="0"/>
                <a:ea typeface="Courier New" pitchFamily="34" charset="-122"/>
                <a:cs typeface="Courier New" pitchFamily="34" charset="-120"/>
              </a:rPr>
              <a:t>class</a:t>
            </a:r>
            <a:r>
              <a:rPr lang="en-US" sz="1400" dirty="0">
                <a:solidFill>
                  <a:srgbClr val="D4D4D4"/>
                </a:solidFill>
                <a:latin typeface="Courier New" pitchFamily="34" charset="0"/>
                <a:ea typeface="Courier New" pitchFamily="34" charset="-122"/>
                <a:cs typeface="Courier New" pitchFamily="34" charset="-120"/>
              </a:rPr>
              <a:t> Point {</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a:t>
            </a:r>
            <a:r>
              <a:rPr lang="en-US" sz="1400" b="1" dirty="0">
                <a:solidFill>
                  <a:srgbClr val="569CD6"/>
                </a:solidFill>
                <a:latin typeface="Courier New" pitchFamily="34" charset="0"/>
                <a:ea typeface="Courier New" pitchFamily="34" charset="-122"/>
                <a:cs typeface="Courier New" pitchFamily="34" charset="-120"/>
              </a:rPr>
              <a:t>int</a:t>
            </a:r>
            <a:r>
              <a:rPr lang="en-US" sz="1400" dirty="0">
                <a:solidFill>
                  <a:srgbClr val="D4D4D4"/>
                </a:solidFill>
                <a:latin typeface="Courier New" pitchFamily="34" charset="0"/>
                <a:ea typeface="Courier New" pitchFamily="34" charset="-122"/>
                <a:cs typeface="Courier New" pitchFamily="34" charset="-120"/>
              </a:rPr>
              <a:t> x, y;</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a:t>
            </a:r>
            <a:r>
              <a:rPr lang="en-US" sz="1400" dirty="0">
                <a:solidFill>
                  <a:srgbClr val="DCDCAA"/>
                </a:solidFill>
                <a:latin typeface="Courier New" pitchFamily="34" charset="0"/>
                <a:ea typeface="Courier New" pitchFamily="34" charset="-122"/>
                <a:cs typeface="Courier New" pitchFamily="34" charset="-120"/>
              </a:rPr>
              <a:t>Point</a:t>
            </a:r>
            <a:r>
              <a:rPr lang="en-US" sz="1400" dirty="0">
                <a:solidFill>
                  <a:srgbClr val="D4D4D4"/>
                </a:solidFill>
                <a:latin typeface="Courier New" pitchFamily="34" charset="0"/>
                <a:ea typeface="Courier New" pitchFamily="34" charset="-122"/>
                <a:cs typeface="Courier New" pitchFamily="34" charset="-120"/>
              </a:rPr>
              <a:t>() {</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a:t>
            </a:r>
            <a:r>
              <a:rPr lang="en-US" sz="1400" b="1" dirty="0">
                <a:solidFill>
                  <a:srgbClr val="569CD6"/>
                </a:solidFill>
                <a:latin typeface="Courier New" pitchFamily="34" charset="0"/>
                <a:ea typeface="Courier New" pitchFamily="34" charset="-122"/>
                <a:cs typeface="Courier New" pitchFamily="34" charset="-120"/>
              </a:rPr>
              <a:t>this</a:t>
            </a:r>
            <a:r>
              <a:rPr lang="en-US" sz="1400" dirty="0">
                <a:solidFill>
                  <a:srgbClr val="D4D4D4"/>
                </a:solidFill>
                <a:latin typeface="Courier New" pitchFamily="34" charset="0"/>
                <a:ea typeface="Courier New" pitchFamily="34" charset="-122"/>
                <a:cs typeface="Courier New" pitchFamily="34" charset="-120"/>
              </a:rPr>
              <a:t>(</a:t>
            </a:r>
            <a:r>
              <a:rPr lang="en-US" sz="1400" dirty="0">
                <a:solidFill>
                  <a:srgbClr val="B5CEA8"/>
                </a:solidFill>
                <a:latin typeface="Courier New" pitchFamily="34" charset="0"/>
                <a:ea typeface="Courier New" pitchFamily="34" charset="-122"/>
                <a:cs typeface="Courier New" pitchFamily="34" charset="-120"/>
              </a:rPr>
              <a:t>0</a:t>
            </a:r>
            <a:r>
              <a:rPr lang="en-US" sz="1400" dirty="0">
                <a:solidFill>
                  <a:srgbClr val="D4D4D4"/>
                </a:solidFill>
                <a:latin typeface="Courier New" pitchFamily="34" charset="0"/>
                <a:ea typeface="Courier New" pitchFamily="34" charset="-122"/>
                <a:cs typeface="Courier New" pitchFamily="34" charset="-120"/>
              </a:rPr>
              <a:t>, </a:t>
            </a:r>
            <a:r>
              <a:rPr lang="en-US" sz="1400" dirty="0">
                <a:solidFill>
                  <a:srgbClr val="B5CEA8"/>
                </a:solidFill>
                <a:latin typeface="Courier New" pitchFamily="34" charset="0"/>
                <a:ea typeface="Courier New" pitchFamily="34" charset="-122"/>
                <a:cs typeface="Courier New" pitchFamily="34" charset="-120"/>
              </a:rPr>
              <a:t>0</a:t>
            </a:r>
            <a:r>
              <a:rPr lang="en-US" sz="1400" dirty="0">
                <a:solidFill>
                  <a:srgbClr val="D4D4D4"/>
                </a:solidFill>
                <a:latin typeface="Courier New" pitchFamily="34" charset="0"/>
                <a:ea typeface="Courier New" pitchFamily="34" charset="-122"/>
                <a:cs typeface="Courier New" pitchFamily="34" charset="-120"/>
              </a:rPr>
              <a:t>);      </a:t>
            </a:r>
            <a:r>
              <a:rPr lang="en-US" sz="1400" i="1" dirty="0">
                <a:solidFill>
                  <a:srgbClr val="6A9955"/>
                </a:solidFill>
                <a:latin typeface="Courier New" pitchFamily="34" charset="0"/>
                <a:ea typeface="Courier New" pitchFamily="34" charset="-122"/>
                <a:cs typeface="Courier New" pitchFamily="34" charset="-120"/>
              </a:rPr>
              <a:t>// calls the constructor below</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a:t>
            </a:r>
            <a:r>
              <a:rPr lang="en-US" sz="1400" dirty="0">
                <a:solidFill>
                  <a:srgbClr val="DCDCAA"/>
                </a:solidFill>
                <a:latin typeface="Courier New" pitchFamily="34" charset="0"/>
                <a:ea typeface="Courier New" pitchFamily="34" charset="-122"/>
                <a:cs typeface="Courier New" pitchFamily="34" charset="-120"/>
              </a:rPr>
              <a:t>Point</a:t>
            </a:r>
            <a:r>
              <a:rPr lang="en-US" sz="1400" dirty="0">
                <a:solidFill>
                  <a:srgbClr val="D4D4D4"/>
                </a:solidFill>
                <a:latin typeface="Courier New" pitchFamily="34" charset="0"/>
                <a:ea typeface="Courier New" pitchFamily="34" charset="-122"/>
                <a:cs typeface="Courier New" pitchFamily="34" charset="-120"/>
              </a:rPr>
              <a:t>(</a:t>
            </a:r>
            <a:r>
              <a:rPr lang="en-US" sz="1400" b="1" dirty="0">
                <a:solidFill>
                  <a:srgbClr val="569CD6"/>
                </a:solidFill>
                <a:latin typeface="Courier New" pitchFamily="34" charset="0"/>
                <a:ea typeface="Courier New" pitchFamily="34" charset="-122"/>
                <a:cs typeface="Courier New" pitchFamily="34" charset="-120"/>
              </a:rPr>
              <a:t>int</a:t>
            </a:r>
            <a:r>
              <a:rPr lang="en-US" sz="1400" dirty="0">
                <a:solidFill>
                  <a:srgbClr val="D4D4D4"/>
                </a:solidFill>
                <a:latin typeface="Courier New" pitchFamily="34" charset="0"/>
                <a:ea typeface="Courier New" pitchFamily="34" charset="-122"/>
                <a:cs typeface="Courier New" pitchFamily="34" charset="-120"/>
              </a:rPr>
              <a:t> x, </a:t>
            </a:r>
            <a:r>
              <a:rPr lang="en-US" sz="1400" b="1" dirty="0">
                <a:solidFill>
                  <a:srgbClr val="569CD6"/>
                </a:solidFill>
                <a:latin typeface="Courier New" pitchFamily="34" charset="0"/>
                <a:ea typeface="Courier New" pitchFamily="34" charset="-122"/>
                <a:cs typeface="Courier New" pitchFamily="34" charset="-120"/>
              </a:rPr>
              <a:t>int</a:t>
            </a:r>
            <a:r>
              <a:rPr lang="en-US" sz="1400" dirty="0">
                <a:solidFill>
                  <a:srgbClr val="D4D4D4"/>
                </a:solidFill>
                <a:latin typeface="Courier New" pitchFamily="34" charset="0"/>
                <a:ea typeface="Courier New" pitchFamily="34" charset="-122"/>
                <a:cs typeface="Courier New" pitchFamily="34" charset="-120"/>
              </a:rPr>
              <a:t> y) {</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a:t>
            </a:r>
            <a:r>
              <a:rPr lang="en-US" sz="1400" b="1" dirty="0">
                <a:solidFill>
                  <a:srgbClr val="569CD6"/>
                </a:solidFill>
                <a:latin typeface="Courier New" pitchFamily="34" charset="0"/>
                <a:ea typeface="Courier New" pitchFamily="34" charset="-122"/>
                <a:cs typeface="Courier New" pitchFamily="34" charset="-120"/>
              </a:rPr>
              <a:t>this</a:t>
            </a:r>
            <a:r>
              <a:rPr lang="en-US" sz="1400" dirty="0">
                <a:solidFill>
                  <a:srgbClr val="D4D4D4"/>
                </a:solidFill>
                <a:latin typeface="Courier New" pitchFamily="34" charset="0"/>
                <a:ea typeface="Courier New" pitchFamily="34" charset="-122"/>
                <a:cs typeface="Courier New" pitchFamily="34" charset="-120"/>
              </a:rPr>
              <a:t>.x = x;        </a:t>
            </a:r>
            <a:r>
              <a:rPr lang="en-US" sz="1400" i="1" dirty="0">
                <a:solidFill>
                  <a:srgbClr val="6A9955"/>
                </a:solidFill>
                <a:latin typeface="Courier New" pitchFamily="34" charset="0"/>
                <a:ea typeface="Courier New" pitchFamily="34" charset="-122"/>
                <a:cs typeface="Courier New" pitchFamily="34" charset="-120"/>
              </a:rPr>
              <a:t>// this.x refers to the field</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a:t>
            </a:r>
            <a:r>
              <a:rPr lang="en-US" sz="1400" b="1" dirty="0">
                <a:solidFill>
                  <a:srgbClr val="569CD6"/>
                </a:solidFill>
                <a:latin typeface="Courier New" pitchFamily="34" charset="0"/>
                <a:ea typeface="Courier New" pitchFamily="34" charset="-122"/>
                <a:cs typeface="Courier New" pitchFamily="34" charset="-120"/>
              </a:rPr>
              <a:t>this</a:t>
            </a:r>
            <a:r>
              <a:rPr lang="en-US" sz="1400" dirty="0">
                <a:solidFill>
                  <a:srgbClr val="D4D4D4"/>
                </a:solidFill>
                <a:latin typeface="Courier New" pitchFamily="34" charset="0"/>
                <a:ea typeface="Courier New" pitchFamily="34" charset="-122"/>
                <a:cs typeface="Courier New" pitchFamily="34" charset="-120"/>
              </a:rPr>
              <a:t>.y = y;</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a:t>
            </a:r>
            <a:endParaRPr lang="en-US" sz="1400" dirty="0"/>
          </a:p>
        </p:txBody>
      </p:sp>
      <p:sp>
        <p:nvSpPr>
          <p:cNvPr id="17" name="Shape 15"/>
          <p:cNvSpPr/>
          <p:nvPr/>
        </p:nvSpPr>
        <p:spPr>
          <a:xfrm>
            <a:off x="0" y="0"/>
            <a:ext cx="12191695" cy="384048"/>
          </a:xfrm>
          <a:prstGeom prst="rect">
            <a:avLst/>
          </a:prstGeom>
          <a:solidFill>
            <a:srgbClr val="1B2A4A"/>
          </a:solidFill>
          <a:ln w="12700">
            <a:solidFill>
              <a:srgbClr val="1B2A4A"/>
            </a:solidFill>
            <a:prstDash val="solid"/>
          </a:ln>
        </p:spPr>
      </p:sp>
      <p:sp>
        <p:nvSpPr>
          <p:cNvPr id="18" name="Text 16"/>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9" name="Shape 17"/>
          <p:cNvSpPr/>
          <p:nvPr/>
        </p:nvSpPr>
        <p:spPr>
          <a:xfrm>
            <a:off x="219456" y="301752"/>
            <a:ext cx="960120" cy="0"/>
          </a:xfrm>
          <a:prstGeom prst="line">
            <a:avLst/>
          </a:prstGeom>
          <a:noFill/>
          <a:ln w="9525">
            <a:solidFill>
              <a:srgbClr val="4A5570"/>
            </a:solidFill>
            <a:prstDash val="solid"/>
          </a:ln>
        </p:spPr>
      </p:sp>
      <p:sp>
        <p:nvSpPr>
          <p:cNvPr id="20" name="Text 18"/>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1" name="Text 19"/>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2" name="Text 20"/>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3" name="Shape 21"/>
          <p:cNvSpPr/>
          <p:nvPr/>
        </p:nvSpPr>
        <p:spPr>
          <a:xfrm>
            <a:off x="0" y="6291072"/>
            <a:ext cx="12191695" cy="566928"/>
          </a:xfrm>
          <a:prstGeom prst="rect">
            <a:avLst/>
          </a:prstGeom>
          <a:solidFill>
            <a:srgbClr val="1B2A4A"/>
          </a:solidFill>
          <a:ln w="12700">
            <a:solidFill>
              <a:srgbClr val="1B2A4A"/>
            </a:solidFill>
            <a:prstDash val="solid"/>
          </a:ln>
        </p:spPr>
      </p:sp>
      <p:sp>
        <p:nvSpPr>
          <p:cNvPr id="24" name="Text 22"/>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5" name="Text 23"/>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SETTERS</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this in Setter Methods</a:t>
            </a:r>
            <a:endParaRPr lang="en-US" sz="2700" dirty="0"/>
          </a:p>
        </p:txBody>
      </p:sp>
      <p:sp>
        <p:nvSpPr>
          <p:cNvPr id="4" name="Shape 2"/>
          <p:cNvSpPr/>
          <p:nvPr/>
        </p:nvSpPr>
        <p:spPr>
          <a:xfrm>
            <a:off x="594360" y="1600200"/>
            <a:ext cx="10607040" cy="896112"/>
          </a:xfrm>
          <a:prstGeom prst="roundRect">
            <a:avLst>
              <a:gd name="adj" fmla="val 6122"/>
            </a:avLst>
          </a:prstGeom>
          <a:solidFill>
            <a:srgbClr val="F5F6FA"/>
          </a:solidFill>
          <a:ln w="9525">
            <a:solidFill>
              <a:srgbClr val="E4E7EE"/>
            </a:solidFill>
            <a:prstDash val="solid"/>
          </a:ln>
        </p:spPr>
      </p:sp>
      <p:sp>
        <p:nvSpPr>
          <p:cNvPr id="5" name="Shape 3"/>
          <p:cNvSpPr/>
          <p:nvPr/>
        </p:nvSpPr>
        <p:spPr>
          <a:xfrm>
            <a:off x="804672" y="1755648"/>
            <a:ext cx="100584" cy="100584"/>
          </a:xfrm>
          <a:prstGeom prst="ellipse">
            <a:avLst/>
          </a:prstGeom>
          <a:solidFill>
            <a:srgbClr val="E8590C"/>
          </a:solidFill>
          <a:ln w="12700">
            <a:solidFill>
              <a:srgbClr val="000000"/>
            </a:solidFill>
            <a:prstDash val="solid"/>
          </a:ln>
        </p:spPr>
      </p:sp>
      <p:sp>
        <p:nvSpPr>
          <p:cNvPr id="6" name="Text 4"/>
          <p:cNvSpPr/>
          <p:nvPr/>
        </p:nvSpPr>
        <p:spPr>
          <a:xfrm>
            <a:off x="1051560" y="1655064"/>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Setter methods almost always take a parameter with the same name as the field they update.</a:t>
            </a:r>
            <a:endParaRPr lang="en-US" sz="1250" dirty="0"/>
          </a:p>
        </p:txBody>
      </p:sp>
      <p:sp>
        <p:nvSpPr>
          <p:cNvPr id="7" name="Shape 5"/>
          <p:cNvSpPr/>
          <p:nvPr/>
        </p:nvSpPr>
        <p:spPr>
          <a:xfrm>
            <a:off x="804672" y="2103120"/>
            <a:ext cx="100584" cy="100584"/>
          </a:xfrm>
          <a:prstGeom prst="ellipse">
            <a:avLst/>
          </a:prstGeom>
          <a:solidFill>
            <a:srgbClr val="E8590C"/>
          </a:solidFill>
          <a:ln w="12700">
            <a:solidFill>
              <a:srgbClr val="000000"/>
            </a:solidFill>
            <a:prstDash val="solid"/>
          </a:ln>
        </p:spPr>
      </p:sp>
      <p:sp>
        <p:nvSpPr>
          <p:cNvPr id="8" name="Text 6"/>
          <p:cNvSpPr/>
          <p:nvPr/>
        </p:nvSpPr>
        <p:spPr>
          <a:xfrm>
            <a:off x="1051560" y="2002536"/>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this.field is the standard way to make that assignment unambiguous.</a:t>
            </a:r>
            <a:endParaRPr lang="en-US" sz="1250" dirty="0"/>
          </a:p>
        </p:txBody>
      </p:sp>
      <p:sp>
        <p:nvSpPr>
          <p:cNvPr id="9" name="Shape 7"/>
          <p:cNvSpPr/>
          <p:nvPr/>
        </p:nvSpPr>
        <p:spPr>
          <a:xfrm>
            <a:off x="594360" y="2642616"/>
            <a:ext cx="10607040" cy="3392424"/>
          </a:xfrm>
          <a:prstGeom prst="roundRect">
            <a:avLst>
              <a:gd name="adj" fmla="val 2156"/>
            </a:avLst>
          </a:prstGeom>
          <a:solidFill>
            <a:srgbClr val="1E1E2E"/>
          </a:solidFill>
          <a:ln w="12700">
            <a:solidFill>
              <a:srgbClr val="000000"/>
            </a:solidFill>
            <a:prstDash val="solid"/>
          </a:ln>
        </p:spPr>
      </p:sp>
      <p:sp>
        <p:nvSpPr>
          <p:cNvPr id="10" name="Shape 8"/>
          <p:cNvSpPr/>
          <p:nvPr/>
        </p:nvSpPr>
        <p:spPr>
          <a:xfrm>
            <a:off x="594360" y="2642616"/>
            <a:ext cx="10607040" cy="274320"/>
          </a:xfrm>
          <a:prstGeom prst="roundRect">
            <a:avLst>
              <a:gd name="adj" fmla="val 26667"/>
            </a:avLst>
          </a:prstGeom>
          <a:solidFill>
            <a:srgbClr val="17172A"/>
          </a:solidFill>
          <a:ln w="12700">
            <a:solidFill>
              <a:srgbClr val="000000"/>
            </a:solidFill>
            <a:prstDash val="solid"/>
          </a:ln>
        </p:spPr>
      </p:sp>
      <p:sp>
        <p:nvSpPr>
          <p:cNvPr id="11" name="Shape 9"/>
          <p:cNvSpPr/>
          <p:nvPr/>
        </p:nvSpPr>
        <p:spPr>
          <a:xfrm>
            <a:off x="594360" y="2843784"/>
            <a:ext cx="10607040" cy="73152"/>
          </a:xfrm>
          <a:prstGeom prst="rect">
            <a:avLst/>
          </a:prstGeom>
          <a:solidFill>
            <a:srgbClr val="17172A"/>
          </a:solidFill>
          <a:ln w="12700">
            <a:solidFill>
              <a:srgbClr val="000000"/>
            </a:solidFill>
            <a:prstDash val="solid"/>
          </a:ln>
        </p:spPr>
      </p:sp>
      <p:sp>
        <p:nvSpPr>
          <p:cNvPr id="12" name="Shape 10"/>
          <p:cNvSpPr/>
          <p:nvPr/>
        </p:nvSpPr>
        <p:spPr>
          <a:xfrm>
            <a:off x="722376" y="2741371"/>
            <a:ext cx="76810" cy="76810"/>
          </a:xfrm>
          <a:prstGeom prst="ellipse">
            <a:avLst/>
          </a:prstGeom>
          <a:solidFill>
            <a:srgbClr val="FF5F56"/>
          </a:solidFill>
          <a:ln w="12700">
            <a:solidFill>
              <a:srgbClr val="000000"/>
            </a:solidFill>
            <a:prstDash val="solid"/>
          </a:ln>
        </p:spPr>
      </p:sp>
      <p:sp>
        <p:nvSpPr>
          <p:cNvPr id="13" name="Shape 11"/>
          <p:cNvSpPr/>
          <p:nvPr/>
        </p:nvSpPr>
        <p:spPr>
          <a:xfrm>
            <a:off x="886968" y="2741371"/>
            <a:ext cx="76810" cy="76810"/>
          </a:xfrm>
          <a:prstGeom prst="ellipse">
            <a:avLst/>
          </a:prstGeom>
          <a:solidFill>
            <a:srgbClr val="FFBD2E"/>
          </a:solidFill>
          <a:ln w="12700">
            <a:solidFill>
              <a:srgbClr val="000000"/>
            </a:solidFill>
            <a:prstDash val="solid"/>
          </a:ln>
        </p:spPr>
      </p:sp>
      <p:sp>
        <p:nvSpPr>
          <p:cNvPr id="14" name="Shape 12"/>
          <p:cNvSpPr/>
          <p:nvPr/>
        </p:nvSpPr>
        <p:spPr>
          <a:xfrm>
            <a:off x="1051560" y="2741371"/>
            <a:ext cx="76810" cy="76810"/>
          </a:xfrm>
          <a:prstGeom prst="ellipse">
            <a:avLst/>
          </a:prstGeom>
          <a:solidFill>
            <a:srgbClr val="27C93F"/>
          </a:solidFill>
          <a:ln w="12700">
            <a:solidFill>
              <a:srgbClr val="000000"/>
            </a:solidFill>
            <a:prstDash val="solid"/>
          </a:ln>
        </p:spPr>
      </p:sp>
      <p:sp>
        <p:nvSpPr>
          <p:cNvPr id="15" name="Text 13"/>
          <p:cNvSpPr/>
          <p:nvPr/>
        </p:nvSpPr>
        <p:spPr>
          <a:xfrm>
            <a:off x="1371600" y="2642616"/>
            <a:ext cx="9692640" cy="274320"/>
          </a:xfrm>
          <a:prstGeom prst="rect">
            <a:avLst/>
          </a:prstGeom>
          <a:noFill/>
          <a:ln/>
        </p:spPr>
        <p:txBody>
          <a:bodyPr wrap="square" lIns="0" tIns="0" rIns="0" bIns="0" rtlCol="0" anchor="ctr"/>
          <a:lstStyle/>
          <a:p>
            <a:pPr marL="0" indent="0" algn="l">
              <a:buNone/>
            </a:pPr>
            <a:r>
              <a:rPr lang="en-US" sz="1000" dirty="0">
                <a:solidFill>
                  <a:srgbClr val="8A8FA3"/>
                </a:solidFill>
                <a:latin typeface="Courier New" pitchFamily="34" charset="0"/>
                <a:ea typeface="Courier New" pitchFamily="34" charset="-122"/>
                <a:cs typeface="Courier New" pitchFamily="34" charset="-120"/>
              </a:rPr>
              <a:t>Main.java</a:t>
            </a:r>
            <a:endParaRPr lang="en-US" sz="1000" dirty="0"/>
          </a:p>
        </p:txBody>
      </p:sp>
      <p:sp>
        <p:nvSpPr>
          <p:cNvPr id="16" name="Text 14"/>
          <p:cNvSpPr/>
          <p:nvPr/>
        </p:nvSpPr>
        <p:spPr>
          <a:xfrm>
            <a:off x="777240" y="2990088"/>
            <a:ext cx="10241280" cy="2971800"/>
          </a:xfrm>
          <a:prstGeom prst="rect">
            <a:avLst/>
          </a:prstGeom>
          <a:noFill/>
          <a:ln/>
        </p:spPr>
        <p:txBody>
          <a:bodyPr wrap="square" lIns="0" tIns="0" rIns="0" bIns="0" rtlCol="0" anchor="t"/>
          <a:lstStyle/>
          <a:p>
            <a:pPr marL="0" indent="0" algn="l">
              <a:lnSpc>
                <a:spcPct val="118000"/>
              </a:lnSpc>
              <a:buNone/>
            </a:pPr>
            <a:r>
              <a:rPr lang="en-US" sz="1500" b="1" dirty="0">
                <a:solidFill>
                  <a:srgbClr val="569CD6"/>
                </a:solidFill>
                <a:latin typeface="Courier New" pitchFamily="34" charset="0"/>
                <a:ea typeface="Courier New" pitchFamily="34" charset="-122"/>
                <a:cs typeface="Courier New" pitchFamily="34" charset="-120"/>
              </a:rPr>
              <a:t>public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class</a:t>
            </a:r>
            <a:r>
              <a:rPr lang="en-US" sz="1500" dirty="0">
                <a:solidFill>
                  <a:srgbClr val="D4D4D4"/>
                </a:solidFill>
                <a:latin typeface="Courier New" pitchFamily="34" charset="0"/>
                <a:ea typeface="Courier New" pitchFamily="34" charset="-122"/>
                <a:cs typeface="Courier New" pitchFamily="34" charset="-120"/>
              </a:rPr>
              <a:t> AccountSettings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private</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double</a:t>
            </a:r>
            <a:r>
              <a:rPr lang="en-US" sz="1500" dirty="0">
                <a:solidFill>
                  <a:srgbClr val="D4D4D4"/>
                </a:solidFill>
                <a:latin typeface="Courier New" pitchFamily="34" charset="0"/>
                <a:ea typeface="Courier New" pitchFamily="34" charset="-122"/>
                <a:cs typeface="Courier New" pitchFamily="34" charset="-120"/>
              </a:rPr>
              <a:t> balance;</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void</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DCDCAA"/>
                </a:solidFill>
                <a:latin typeface="Courier New" pitchFamily="34" charset="0"/>
                <a:ea typeface="Courier New" pitchFamily="34" charset="-122"/>
                <a:cs typeface="Courier New" pitchFamily="34" charset="-120"/>
              </a:rPr>
              <a:t>setBalance</a:t>
            </a:r>
            <a:r>
              <a:rPr lang="en-US" sz="1500" dirty="0">
                <a:solidFill>
                  <a:srgbClr val="D4D4D4"/>
                </a:solidFill>
                <a:latin typeface="Courier New" pitchFamily="34" charset="0"/>
                <a:ea typeface="Courier New" pitchFamily="34" charset="-122"/>
                <a:cs typeface="Courier New" pitchFamily="34" charset="-120"/>
              </a:rPr>
              <a:t>(</a:t>
            </a:r>
            <a:r>
              <a:rPr lang="en-US" sz="1500" b="1" dirty="0">
                <a:solidFill>
                  <a:srgbClr val="569CD6"/>
                </a:solidFill>
                <a:latin typeface="Courier New" pitchFamily="34" charset="0"/>
                <a:ea typeface="Courier New" pitchFamily="34" charset="-122"/>
                <a:cs typeface="Courier New" pitchFamily="34" charset="-120"/>
              </a:rPr>
              <a:t>double</a:t>
            </a:r>
            <a:r>
              <a:rPr lang="en-US" sz="1500" dirty="0">
                <a:solidFill>
                  <a:srgbClr val="D4D4D4"/>
                </a:solidFill>
                <a:latin typeface="Courier New" pitchFamily="34" charset="0"/>
                <a:ea typeface="Courier New" pitchFamily="34" charset="-122"/>
                <a:cs typeface="Courier New" pitchFamily="34" charset="-120"/>
              </a:rPr>
              <a:t> balance)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this</a:t>
            </a:r>
            <a:r>
              <a:rPr lang="en-US" sz="1500" dirty="0">
                <a:solidFill>
                  <a:srgbClr val="D4D4D4"/>
                </a:solidFill>
                <a:latin typeface="Courier New" pitchFamily="34" charset="0"/>
                <a:ea typeface="Courier New" pitchFamily="34" charset="-122"/>
                <a:cs typeface="Courier New" pitchFamily="34" charset="-120"/>
              </a:rPr>
              <a:t>.balance = balance;</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double</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DCDCAA"/>
                </a:solidFill>
                <a:latin typeface="Courier New" pitchFamily="34" charset="0"/>
                <a:ea typeface="Courier New" pitchFamily="34" charset="-122"/>
                <a:cs typeface="Courier New" pitchFamily="34" charset="-120"/>
              </a:rPr>
              <a:t>getBalance</a:t>
            </a: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return</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this</a:t>
            </a:r>
            <a:r>
              <a:rPr lang="en-US" sz="1500" dirty="0">
                <a:solidFill>
                  <a:srgbClr val="D4D4D4"/>
                </a:solidFill>
                <a:latin typeface="Courier New" pitchFamily="34" charset="0"/>
                <a:ea typeface="Courier New" pitchFamily="34" charset="-122"/>
                <a:cs typeface="Courier New" pitchFamily="34" charset="-120"/>
              </a:rPr>
              <a:t>.balance;</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a:t>
            </a:r>
            <a:endParaRPr lang="en-US" sz="1500" dirty="0"/>
          </a:p>
        </p:txBody>
      </p:sp>
      <p:sp>
        <p:nvSpPr>
          <p:cNvPr id="17" name="Shape 15"/>
          <p:cNvSpPr/>
          <p:nvPr/>
        </p:nvSpPr>
        <p:spPr>
          <a:xfrm>
            <a:off x="0" y="0"/>
            <a:ext cx="12191695" cy="384048"/>
          </a:xfrm>
          <a:prstGeom prst="rect">
            <a:avLst/>
          </a:prstGeom>
          <a:solidFill>
            <a:srgbClr val="1B2A4A"/>
          </a:solidFill>
          <a:ln w="12700">
            <a:solidFill>
              <a:srgbClr val="1B2A4A"/>
            </a:solidFill>
            <a:prstDash val="solid"/>
          </a:ln>
        </p:spPr>
      </p:sp>
      <p:sp>
        <p:nvSpPr>
          <p:cNvPr id="18" name="Text 16"/>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9" name="Shape 17"/>
          <p:cNvSpPr/>
          <p:nvPr/>
        </p:nvSpPr>
        <p:spPr>
          <a:xfrm>
            <a:off x="219456" y="301752"/>
            <a:ext cx="960120" cy="0"/>
          </a:xfrm>
          <a:prstGeom prst="line">
            <a:avLst/>
          </a:prstGeom>
          <a:noFill/>
          <a:ln w="9525">
            <a:solidFill>
              <a:srgbClr val="4A5570"/>
            </a:solidFill>
            <a:prstDash val="solid"/>
          </a:ln>
        </p:spPr>
      </p:sp>
      <p:sp>
        <p:nvSpPr>
          <p:cNvPr id="20" name="Text 18"/>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1" name="Text 19"/>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2" name="Text 20"/>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3" name="Shape 21"/>
          <p:cNvSpPr/>
          <p:nvPr/>
        </p:nvSpPr>
        <p:spPr>
          <a:xfrm>
            <a:off x="0" y="6291072"/>
            <a:ext cx="12191695" cy="566928"/>
          </a:xfrm>
          <a:prstGeom prst="rect">
            <a:avLst/>
          </a:prstGeom>
          <a:solidFill>
            <a:srgbClr val="1B2A4A"/>
          </a:solidFill>
          <a:ln w="12700">
            <a:solidFill>
              <a:srgbClr val="1B2A4A"/>
            </a:solidFill>
            <a:prstDash val="solid"/>
          </a:ln>
        </p:spPr>
      </p:sp>
      <p:sp>
        <p:nvSpPr>
          <p:cNvPr id="24" name="Text 22"/>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5" name="Text 23"/>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STYLE CHOICE</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When this Can Be Left Out</a:t>
            </a:r>
            <a:endParaRPr lang="en-US" sz="2700" dirty="0"/>
          </a:p>
        </p:txBody>
      </p:sp>
      <p:sp>
        <p:nvSpPr>
          <p:cNvPr id="4" name="Shape 2"/>
          <p:cNvSpPr/>
          <p:nvPr/>
        </p:nvSpPr>
        <p:spPr>
          <a:xfrm>
            <a:off x="594360" y="1691640"/>
            <a:ext cx="10607040" cy="1338072"/>
          </a:xfrm>
          <a:prstGeom prst="roundRect">
            <a:avLst>
              <a:gd name="adj" fmla="val 4100"/>
            </a:avLst>
          </a:prstGeom>
          <a:solidFill>
            <a:srgbClr val="F5F6FA"/>
          </a:solidFill>
          <a:ln w="9525">
            <a:solidFill>
              <a:srgbClr val="E4E7EE"/>
            </a:solidFill>
            <a:prstDash val="solid"/>
          </a:ln>
        </p:spPr>
      </p:sp>
      <p:sp>
        <p:nvSpPr>
          <p:cNvPr id="5" name="Shape 3"/>
          <p:cNvSpPr/>
          <p:nvPr/>
        </p:nvSpPr>
        <p:spPr>
          <a:xfrm>
            <a:off x="777240" y="1874520"/>
            <a:ext cx="109728" cy="109728"/>
          </a:xfrm>
          <a:prstGeom prst="ellipse">
            <a:avLst/>
          </a:prstGeom>
          <a:solidFill>
            <a:srgbClr val="E8590C"/>
          </a:solidFill>
          <a:ln w="12700">
            <a:solidFill>
              <a:srgbClr val="000000"/>
            </a:solidFill>
            <a:prstDash val="solid"/>
          </a:ln>
        </p:spPr>
      </p:sp>
      <p:sp>
        <p:nvSpPr>
          <p:cNvPr id="6" name="Text 4"/>
          <p:cNvSpPr/>
          <p:nvPr/>
        </p:nvSpPr>
        <p:spPr>
          <a:xfrm>
            <a:off x="1051560" y="1764792"/>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No conflict, no requirement</a:t>
            </a:r>
            <a:endParaRPr lang="en-US" sz="1500" dirty="0"/>
          </a:p>
        </p:txBody>
      </p:sp>
      <p:sp>
        <p:nvSpPr>
          <p:cNvPr id="7" name="Text 5"/>
          <p:cNvSpPr/>
          <p:nvPr/>
        </p:nvSpPr>
        <p:spPr>
          <a:xfrm>
            <a:off x="1051560" y="2057400"/>
            <a:ext cx="9966960" cy="917448"/>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If a field and a parameter never share a name, this is optional, since Java can already tell them apart.</a:t>
            </a:r>
            <a:endParaRPr lang="en-US" sz="1250" dirty="0"/>
          </a:p>
        </p:txBody>
      </p:sp>
      <p:sp>
        <p:nvSpPr>
          <p:cNvPr id="8" name="Shape 6"/>
          <p:cNvSpPr/>
          <p:nvPr/>
        </p:nvSpPr>
        <p:spPr>
          <a:xfrm>
            <a:off x="594360" y="3194304"/>
            <a:ext cx="10607040" cy="1338072"/>
          </a:xfrm>
          <a:prstGeom prst="roundRect">
            <a:avLst>
              <a:gd name="adj" fmla="val 4100"/>
            </a:avLst>
          </a:prstGeom>
          <a:solidFill>
            <a:srgbClr val="F5F6FA"/>
          </a:solidFill>
          <a:ln w="9525">
            <a:solidFill>
              <a:srgbClr val="E4E7EE"/>
            </a:solidFill>
            <a:prstDash val="solid"/>
          </a:ln>
        </p:spPr>
      </p:sp>
      <p:sp>
        <p:nvSpPr>
          <p:cNvPr id="9" name="Shape 7"/>
          <p:cNvSpPr/>
          <p:nvPr/>
        </p:nvSpPr>
        <p:spPr>
          <a:xfrm>
            <a:off x="777240" y="3377184"/>
            <a:ext cx="109728" cy="109728"/>
          </a:xfrm>
          <a:prstGeom prst="ellipse">
            <a:avLst/>
          </a:prstGeom>
          <a:solidFill>
            <a:srgbClr val="E8590C"/>
          </a:solidFill>
          <a:ln w="12700">
            <a:solidFill>
              <a:srgbClr val="000000"/>
            </a:solidFill>
            <a:prstDash val="solid"/>
          </a:ln>
        </p:spPr>
      </p:sp>
      <p:sp>
        <p:nvSpPr>
          <p:cNvPr id="10" name="Text 8"/>
          <p:cNvSpPr/>
          <p:nvPr/>
        </p:nvSpPr>
        <p:spPr>
          <a:xfrm>
            <a:off x="1051560" y="3267456"/>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Many teams use it for clarity anyway</a:t>
            </a:r>
            <a:endParaRPr lang="en-US" sz="1500" dirty="0"/>
          </a:p>
        </p:txBody>
      </p:sp>
      <p:sp>
        <p:nvSpPr>
          <p:cNvPr id="11" name="Text 9"/>
          <p:cNvSpPr/>
          <p:nvPr/>
        </p:nvSpPr>
        <p:spPr>
          <a:xfrm>
            <a:off x="1051560" y="3560064"/>
            <a:ext cx="9966960" cy="917448"/>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Writing this.field consistently makes it immediately obvious that a field, not a local variable, is being used.</a:t>
            </a:r>
            <a:endParaRPr lang="en-US" sz="1250" dirty="0"/>
          </a:p>
        </p:txBody>
      </p:sp>
      <p:sp>
        <p:nvSpPr>
          <p:cNvPr id="12" name="Shape 10"/>
          <p:cNvSpPr/>
          <p:nvPr/>
        </p:nvSpPr>
        <p:spPr>
          <a:xfrm>
            <a:off x="594360" y="4696968"/>
            <a:ext cx="10607040" cy="1338072"/>
          </a:xfrm>
          <a:prstGeom prst="roundRect">
            <a:avLst>
              <a:gd name="adj" fmla="val 4100"/>
            </a:avLst>
          </a:prstGeom>
          <a:solidFill>
            <a:srgbClr val="F5F6FA"/>
          </a:solidFill>
          <a:ln w="9525">
            <a:solidFill>
              <a:srgbClr val="E4E7EE"/>
            </a:solidFill>
            <a:prstDash val="solid"/>
          </a:ln>
        </p:spPr>
      </p:sp>
      <p:sp>
        <p:nvSpPr>
          <p:cNvPr id="13" name="Shape 11"/>
          <p:cNvSpPr/>
          <p:nvPr/>
        </p:nvSpPr>
        <p:spPr>
          <a:xfrm>
            <a:off x="777240" y="4879848"/>
            <a:ext cx="109728" cy="109728"/>
          </a:xfrm>
          <a:prstGeom prst="ellipse">
            <a:avLst/>
          </a:prstGeom>
          <a:solidFill>
            <a:srgbClr val="E8590C"/>
          </a:solidFill>
          <a:ln w="12700">
            <a:solidFill>
              <a:srgbClr val="000000"/>
            </a:solidFill>
            <a:prstDash val="solid"/>
          </a:ln>
        </p:spPr>
      </p:sp>
      <p:sp>
        <p:nvSpPr>
          <p:cNvPr id="14" name="Text 12"/>
          <p:cNvSpPr/>
          <p:nvPr/>
        </p:nvSpPr>
        <p:spPr>
          <a:xfrm>
            <a:off x="1051560" y="4770120"/>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Required whenever there is a naming conflict</a:t>
            </a:r>
            <a:endParaRPr lang="en-US" sz="1500" dirty="0"/>
          </a:p>
        </p:txBody>
      </p:sp>
      <p:sp>
        <p:nvSpPr>
          <p:cNvPr id="15" name="Text 13"/>
          <p:cNvSpPr/>
          <p:nvPr/>
        </p:nvSpPr>
        <p:spPr>
          <a:xfrm>
            <a:off x="1051560" y="5062728"/>
            <a:ext cx="9966960" cy="917448"/>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If a parameter shadows a field, this is the only way to reach the field inside that method or constructor.</a:t>
            </a:r>
            <a:endParaRPr lang="en-US" sz="1250" dirty="0"/>
          </a:p>
        </p:txBody>
      </p:sp>
      <p:sp>
        <p:nvSpPr>
          <p:cNvPr id="16" name="Shape 14"/>
          <p:cNvSpPr/>
          <p:nvPr/>
        </p:nvSpPr>
        <p:spPr>
          <a:xfrm>
            <a:off x="0" y="0"/>
            <a:ext cx="12191695" cy="384048"/>
          </a:xfrm>
          <a:prstGeom prst="rect">
            <a:avLst/>
          </a:prstGeom>
          <a:solidFill>
            <a:srgbClr val="1B2A4A"/>
          </a:solidFill>
          <a:ln w="12700">
            <a:solidFill>
              <a:srgbClr val="1B2A4A"/>
            </a:solidFill>
            <a:prstDash val="solid"/>
          </a:ln>
        </p:spPr>
      </p:sp>
      <p:sp>
        <p:nvSpPr>
          <p:cNvPr id="17" name="Text 15"/>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8" name="Shape 16"/>
          <p:cNvSpPr/>
          <p:nvPr/>
        </p:nvSpPr>
        <p:spPr>
          <a:xfrm>
            <a:off x="219456" y="301752"/>
            <a:ext cx="960120" cy="0"/>
          </a:xfrm>
          <a:prstGeom prst="line">
            <a:avLst/>
          </a:prstGeom>
          <a:noFill/>
          <a:ln w="9525">
            <a:solidFill>
              <a:srgbClr val="4A5570"/>
            </a:solidFill>
            <a:prstDash val="solid"/>
          </a:ln>
        </p:spPr>
      </p:sp>
      <p:sp>
        <p:nvSpPr>
          <p:cNvPr id="19" name="Text 17"/>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0" name="Text 18"/>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1" name="Text 19"/>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2" name="Shape 20"/>
          <p:cNvSpPr/>
          <p:nvPr/>
        </p:nvSpPr>
        <p:spPr>
          <a:xfrm>
            <a:off x="0" y="6291072"/>
            <a:ext cx="12191695" cy="566928"/>
          </a:xfrm>
          <a:prstGeom prst="rect">
            <a:avLst/>
          </a:prstGeom>
          <a:solidFill>
            <a:srgbClr val="1B2A4A"/>
          </a:solidFill>
          <a:ln w="12700">
            <a:solidFill>
              <a:srgbClr val="1B2A4A"/>
            </a:solidFill>
            <a:prstDash val="solid"/>
          </a:ln>
        </p:spPr>
      </p:sp>
      <p:sp>
        <p:nvSpPr>
          <p:cNvPr id="23" name="Text 21"/>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4" name="Text 22"/>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PRACTICE</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Practice: Using this Correctly</a:t>
            </a:r>
            <a:endParaRPr lang="en-US" sz="2700" dirty="0"/>
          </a:p>
        </p:txBody>
      </p:sp>
      <p:sp>
        <p:nvSpPr>
          <p:cNvPr id="4" name="Text 2"/>
          <p:cNvSpPr/>
          <p:nvPr/>
        </p:nvSpPr>
        <p:spPr>
          <a:xfrm>
            <a:off x="594360" y="1600200"/>
            <a:ext cx="10607040" cy="365760"/>
          </a:xfrm>
          <a:prstGeom prst="rect">
            <a:avLst/>
          </a:prstGeom>
          <a:noFill/>
          <a:ln/>
        </p:spPr>
        <p:txBody>
          <a:bodyPr wrap="square" lIns="0" tIns="0" rIns="0" bIns="0" rtlCol="0" anchor="ctr"/>
          <a:lstStyle/>
          <a:p>
            <a:pPr marL="0" indent="0">
              <a:buNone/>
            </a:pPr>
            <a:r>
              <a:rPr lang="en-US" sz="1250" i="1" dirty="0">
                <a:solidFill>
                  <a:srgbClr val="5A6472"/>
                </a:solidFill>
                <a:latin typeface="Times New Roman" pitchFamily="34" charset="0"/>
                <a:ea typeface="Times New Roman" pitchFamily="34" charset="-122"/>
                <a:cs typeface="Times New Roman" pitchFamily="34" charset="-120"/>
              </a:rPr>
              <a:t>A small class where this resolves a naming conflict and enables chaining.</a:t>
            </a:r>
            <a:endParaRPr lang="en-US" sz="1250" dirty="0"/>
          </a:p>
        </p:txBody>
      </p:sp>
      <p:sp>
        <p:nvSpPr>
          <p:cNvPr id="5" name="Shape 3"/>
          <p:cNvSpPr/>
          <p:nvPr/>
        </p:nvSpPr>
        <p:spPr>
          <a:xfrm>
            <a:off x="594360" y="2002536"/>
            <a:ext cx="7040880" cy="4032504"/>
          </a:xfrm>
          <a:prstGeom prst="roundRect">
            <a:avLst>
              <a:gd name="adj" fmla="val 1814"/>
            </a:avLst>
          </a:prstGeom>
          <a:solidFill>
            <a:srgbClr val="1E1E2E"/>
          </a:solidFill>
          <a:ln w="12700">
            <a:solidFill>
              <a:srgbClr val="000000"/>
            </a:solidFill>
            <a:prstDash val="solid"/>
          </a:ln>
        </p:spPr>
      </p:sp>
      <p:sp>
        <p:nvSpPr>
          <p:cNvPr id="6" name="Shape 4"/>
          <p:cNvSpPr/>
          <p:nvPr/>
        </p:nvSpPr>
        <p:spPr>
          <a:xfrm>
            <a:off x="594360" y="2002536"/>
            <a:ext cx="7040880" cy="274320"/>
          </a:xfrm>
          <a:prstGeom prst="roundRect">
            <a:avLst>
              <a:gd name="adj" fmla="val 26667"/>
            </a:avLst>
          </a:prstGeom>
          <a:solidFill>
            <a:srgbClr val="17172A"/>
          </a:solidFill>
          <a:ln w="12700">
            <a:solidFill>
              <a:srgbClr val="000000"/>
            </a:solidFill>
            <a:prstDash val="solid"/>
          </a:ln>
        </p:spPr>
      </p:sp>
      <p:sp>
        <p:nvSpPr>
          <p:cNvPr id="7" name="Shape 5"/>
          <p:cNvSpPr/>
          <p:nvPr/>
        </p:nvSpPr>
        <p:spPr>
          <a:xfrm>
            <a:off x="594360" y="2203704"/>
            <a:ext cx="7040880" cy="73152"/>
          </a:xfrm>
          <a:prstGeom prst="rect">
            <a:avLst/>
          </a:prstGeom>
          <a:solidFill>
            <a:srgbClr val="17172A"/>
          </a:solidFill>
          <a:ln w="12700">
            <a:solidFill>
              <a:srgbClr val="000000"/>
            </a:solidFill>
            <a:prstDash val="solid"/>
          </a:ln>
        </p:spPr>
      </p:sp>
      <p:sp>
        <p:nvSpPr>
          <p:cNvPr id="8" name="Shape 6"/>
          <p:cNvSpPr/>
          <p:nvPr/>
        </p:nvSpPr>
        <p:spPr>
          <a:xfrm>
            <a:off x="722376" y="2101291"/>
            <a:ext cx="76810" cy="76810"/>
          </a:xfrm>
          <a:prstGeom prst="ellipse">
            <a:avLst/>
          </a:prstGeom>
          <a:solidFill>
            <a:srgbClr val="FF5F56"/>
          </a:solidFill>
          <a:ln w="12700">
            <a:solidFill>
              <a:srgbClr val="000000"/>
            </a:solidFill>
            <a:prstDash val="solid"/>
          </a:ln>
        </p:spPr>
      </p:sp>
      <p:sp>
        <p:nvSpPr>
          <p:cNvPr id="9" name="Shape 7"/>
          <p:cNvSpPr/>
          <p:nvPr/>
        </p:nvSpPr>
        <p:spPr>
          <a:xfrm>
            <a:off x="886968" y="2101291"/>
            <a:ext cx="76810" cy="76810"/>
          </a:xfrm>
          <a:prstGeom prst="ellipse">
            <a:avLst/>
          </a:prstGeom>
          <a:solidFill>
            <a:srgbClr val="FFBD2E"/>
          </a:solidFill>
          <a:ln w="12700">
            <a:solidFill>
              <a:srgbClr val="000000"/>
            </a:solidFill>
            <a:prstDash val="solid"/>
          </a:ln>
        </p:spPr>
      </p:sp>
      <p:sp>
        <p:nvSpPr>
          <p:cNvPr id="10" name="Shape 8"/>
          <p:cNvSpPr/>
          <p:nvPr/>
        </p:nvSpPr>
        <p:spPr>
          <a:xfrm>
            <a:off x="1051560" y="2101291"/>
            <a:ext cx="76810" cy="76810"/>
          </a:xfrm>
          <a:prstGeom prst="ellipse">
            <a:avLst/>
          </a:prstGeom>
          <a:solidFill>
            <a:srgbClr val="27C93F"/>
          </a:solidFill>
          <a:ln w="12700">
            <a:solidFill>
              <a:srgbClr val="000000"/>
            </a:solidFill>
            <a:prstDash val="solid"/>
          </a:ln>
        </p:spPr>
      </p:sp>
      <p:sp>
        <p:nvSpPr>
          <p:cNvPr id="11" name="Text 9"/>
          <p:cNvSpPr/>
          <p:nvPr/>
        </p:nvSpPr>
        <p:spPr>
          <a:xfrm>
            <a:off x="1371600" y="2002536"/>
            <a:ext cx="6126480" cy="274320"/>
          </a:xfrm>
          <a:prstGeom prst="rect">
            <a:avLst/>
          </a:prstGeom>
          <a:noFill/>
          <a:ln/>
        </p:spPr>
        <p:txBody>
          <a:bodyPr wrap="square" lIns="0" tIns="0" rIns="0" bIns="0" rtlCol="0" anchor="ctr"/>
          <a:lstStyle/>
          <a:p>
            <a:pPr marL="0" indent="0" algn="l">
              <a:buNone/>
            </a:pPr>
            <a:r>
              <a:rPr lang="en-US" sz="1000" dirty="0">
                <a:solidFill>
                  <a:srgbClr val="8A8FA3"/>
                </a:solidFill>
                <a:latin typeface="Courier New" pitchFamily="34" charset="0"/>
                <a:ea typeface="Courier New" pitchFamily="34" charset="-122"/>
                <a:cs typeface="Courier New" pitchFamily="34" charset="-120"/>
              </a:rPr>
              <a:t>Main.java</a:t>
            </a:r>
            <a:endParaRPr lang="en-US" sz="1000" dirty="0"/>
          </a:p>
        </p:txBody>
      </p:sp>
      <p:sp>
        <p:nvSpPr>
          <p:cNvPr id="12" name="Text 10"/>
          <p:cNvSpPr/>
          <p:nvPr/>
        </p:nvSpPr>
        <p:spPr>
          <a:xfrm>
            <a:off x="777240" y="2350008"/>
            <a:ext cx="6675120" cy="3611880"/>
          </a:xfrm>
          <a:prstGeom prst="rect">
            <a:avLst/>
          </a:prstGeom>
          <a:noFill/>
          <a:ln/>
        </p:spPr>
        <p:txBody>
          <a:bodyPr wrap="square" lIns="0" tIns="0" rIns="0" bIns="0" rtlCol="0" anchor="t"/>
          <a:lstStyle/>
          <a:p>
            <a:pPr marL="0" indent="0" algn="l">
              <a:lnSpc>
                <a:spcPct val="118000"/>
              </a:lnSpc>
              <a:buNone/>
            </a:pPr>
            <a:r>
              <a:rPr lang="en-US" sz="1000" b="1" dirty="0">
                <a:solidFill>
                  <a:srgbClr val="569CD6"/>
                </a:solidFill>
                <a:latin typeface="Courier New" pitchFamily="34" charset="0"/>
                <a:ea typeface="Courier New" pitchFamily="34" charset="-122"/>
                <a:cs typeface="Courier New" pitchFamily="34" charset="-120"/>
              </a:rPr>
              <a:t>public</a:t>
            </a:r>
            <a:r>
              <a:rPr lang="en-US" sz="1000" dirty="0">
                <a:solidFill>
                  <a:srgbClr val="D4D4D4"/>
                </a:solidFill>
                <a:latin typeface="Courier New" pitchFamily="34" charset="0"/>
                <a:ea typeface="Courier New" pitchFamily="34" charset="-122"/>
                <a:cs typeface="Courier New" pitchFamily="34" charset="-120"/>
              </a:rPr>
              <a:t> </a:t>
            </a:r>
            <a:r>
              <a:rPr lang="en-US" sz="1000" b="1" dirty="0">
                <a:solidFill>
                  <a:srgbClr val="569CD6"/>
                </a:solidFill>
                <a:latin typeface="Courier New" pitchFamily="34" charset="0"/>
                <a:ea typeface="Courier New" pitchFamily="34" charset="-122"/>
                <a:cs typeface="Courier New" pitchFamily="34" charset="-120"/>
              </a:rPr>
              <a:t>class</a:t>
            </a:r>
            <a:r>
              <a:rPr lang="en-US" sz="1000" dirty="0">
                <a:solidFill>
                  <a:srgbClr val="D4D4D4"/>
                </a:solidFill>
                <a:latin typeface="Courier New" pitchFamily="34" charset="0"/>
                <a:ea typeface="Courier New" pitchFamily="34" charset="-122"/>
                <a:cs typeface="Courier New" pitchFamily="34" charset="-120"/>
              </a:rPr>
              <a:t> Profile {</a:t>
            </a:r>
            <a:endParaRPr lang="en-US" sz="1000" dirty="0"/>
          </a:p>
          <a:p>
            <a:pPr marL="0" indent="0" algn="l">
              <a:lnSpc>
                <a:spcPct val="118000"/>
              </a:lnSpc>
              <a:buNone/>
            </a:pPr>
            <a:r>
              <a:rPr lang="en-US" sz="1000" dirty="0">
                <a:solidFill>
                  <a:srgbClr val="D4D4D4"/>
                </a:solidFill>
                <a:latin typeface="Courier New" pitchFamily="34" charset="0"/>
                <a:ea typeface="Courier New" pitchFamily="34" charset="-122"/>
                <a:cs typeface="Courier New" pitchFamily="34" charset="-120"/>
              </a:rPr>
              <a:t>    </a:t>
            </a:r>
            <a:r>
              <a:rPr lang="en-US" sz="1000" dirty="0">
                <a:solidFill>
                  <a:srgbClr val="4EC9B0"/>
                </a:solidFill>
                <a:latin typeface="Courier New" pitchFamily="34" charset="0"/>
                <a:ea typeface="Courier New" pitchFamily="34" charset="-122"/>
                <a:cs typeface="Courier New" pitchFamily="34" charset="-120"/>
              </a:rPr>
              <a:t>String</a:t>
            </a:r>
            <a:r>
              <a:rPr lang="en-US" sz="1000" dirty="0">
                <a:solidFill>
                  <a:srgbClr val="D4D4D4"/>
                </a:solidFill>
                <a:latin typeface="Courier New" pitchFamily="34" charset="0"/>
                <a:ea typeface="Courier New" pitchFamily="34" charset="-122"/>
                <a:cs typeface="Courier New" pitchFamily="34" charset="-120"/>
              </a:rPr>
              <a:t> name;</a:t>
            </a:r>
            <a:endParaRPr lang="en-US" sz="1000" dirty="0"/>
          </a:p>
          <a:p>
            <a:pPr marL="0" indent="0" algn="l">
              <a:lnSpc>
                <a:spcPct val="118000"/>
              </a:lnSpc>
              <a:buNone/>
            </a:pPr>
            <a:r>
              <a:rPr lang="en-US" sz="1000" dirty="0">
                <a:solidFill>
                  <a:srgbClr val="D4D4D4"/>
                </a:solidFill>
                <a:latin typeface="Courier New" pitchFamily="34" charset="0"/>
                <a:ea typeface="Courier New" pitchFamily="34" charset="-122"/>
                <a:cs typeface="Courier New" pitchFamily="34" charset="-120"/>
              </a:rPr>
              <a:t>    </a:t>
            </a:r>
            <a:r>
              <a:rPr lang="en-US" sz="1000" b="1" dirty="0">
                <a:solidFill>
                  <a:srgbClr val="569CD6"/>
                </a:solidFill>
                <a:latin typeface="Courier New" pitchFamily="34" charset="0"/>
                <a:ea typeface="Courier New" pitchFamily="34" charset="-122"/>
                <a:cs typeface="Courier New" pitchFamily="34" charset="-120"/>
              </a:rPr>
              <a:t>int</a:t>
            </a:r>
            <a:r>
              <a:rPr lang="en-US" sz="1000" dirty="0">
                <a:solidFill>
                  <a:srgbClr val="D4D4D4"/>
                </a:solidFill>
                <a:latin typeface="Courier New" pitchFamily="34" charset="0"/>
                <a:ea typeface="Courier New" pitchFamily="34" charset="-122"/>
                <a:cs typeface="Courier New" pitchFamily="34" charset="-120"/>
              </a:rPr>
              <a:t> age;</a:t>
            </a:r>
            <a:endParaRPr lang="en-US" sz="1000" dirty="0"/>
          </a:p>
          <a:p>
            <a:pPr marL="0" indent="0" algn="l">
              <a:lnSpc>
                <a:spcPct val="118000"/>
              </a:lnSpc>
              <a:buNone/>
            </a:pPr>
            <a:r>
              <a:rPr lang="en-US" sz="1000" dirty="0">
                <a:solidFill>
                  <a:srgbClr val="D4D4D4"/>
                </a:solidFill>
                <a:latin typeface="Courier New" pitchFamily="34" charset="0"/>
                <a:ea typeface="Courier New" pitchFamily="34" charset="-122"/>
                <a:cs typeface="Courier New" pitchFamily="34" charset="-120"/>
              </a:rPr>
              <a:t> </a:t>
            </a:r>
            <a:endParaRPr lang="en-US" sz="1000" dirty="0"/>
          </a:p>
          <a:p>
            <a:pPr marL="0" indent="0" algn="l">
              <a:lnSpc>
                <a:spcPct val="118000"/>
              </a:lnSpc>
              <a:buNone/>
            </a:pPr>
            <a:r>
              <a:rPr lang="en-US" sz="1000" dirty="0">
                <a:solidFill>
                  <a:srgbClr val="D4D4D4"/>
                </a:solidFill>
                <a:latin typeface="Courier New" pitchFamily="34" charset="0"/>
                <a:ea typeface="Courier New" pitchFamily="34" charset="-122"/>
                <a:cs typeface="Courier New" pitchFamily="34" charset="-120"/>
              </a:rPr>
              <a:t>    Profile </a:t>
            </a:r>
            <a:r>
              <a:rPr lang="en-US" sz="1000" dirty="0">
                <a:solidFill>
                  <a:srgbClr val="DCDCAA"/>
                </a:solidFill>
                <a:latin typeface="Courier New" pitchFamily="34" charset="0"/>
                <a:ea typeface="Courier New" pitchFamily="34" charset="-122"/>
                <a:cs typeface="Courier New" pitchFamily="34" charset="-120"/>
              </a:rPr>
              <a:t>setName</a:t>
            </a:r>
            <a:r>
              <a:rPr lang="en-US" sz="1000" dirty="0">
                <a:solidFill>
                  <a:srgbClr val="D4D4D4"/>
                </a:solidFill>
                <a:latin typeface="Courier New" pitchFamily="34" charset="0"/>
                <a:ea typeface="Courier New" pitchFamily="34" charset="-122"/>
                <a:cs typeface="Courier New" pitchFamily="34" charset="-120"/>
              </a:rPr>
              <a:t>(</a:t>
            </a:r>
            <a:r>
              <a:rPr lang="en-US" sz="1000" dirty="0">
                <a:solidFill>
                  <a:srgbClr val="4EC9B0"/>
                </a:solidFill>
                <a:latin typeface="Courier New" pitchFamily="34" charset="0"/>
                <a:ea typeface="Courier New" pitchFamily="34" charset="-122"/>
                <a:cs typeface="Courier New" pitchFamily="34" charset="-120"/>
              </a:rPr>
              <a:t>String</a:t>
            </a:r>
            <a:r>
              <a:rPr lang="en-US" sz="1000" dirty="0">
                <a:solidFill>
                  <a:srgbClr val="D4D4D4"/>
                </a:solidFill>
                <a:latin typeface="Courier New" pitchFamily="34" charset="0"/>
                <a:ea typeface="Courier New" pitchFamily="34" charset="-122"/>
                <a:cs typeface="Courier New" pitchFamily="34" charset="-120"/>
              </a:rPr>
              <a:t> name) {</a:t>
            </a:r>
            <a:endParaRPr lang="en-US" sz="1000" dirty="0"/>
          </a:p>
          <a:p>
            <a:pPr marL="0" indent="0" algn="l">
              <a:lnSpc>
                <a:spcPct val="118000"/>
              </a:lnSpc>
              <a:buNone/>
            </a:pPr>
            <a:r>
              <a:rPr lang="en-US" sz="1000" dirty="0">
                <a:solidFill>
                  <a:srgbClr val="D4D4D4"/>
                </a:solidFill>
                <a:latin typeface="Courier New" pitchFamily="34" charset="0"/>
                <a:ea typeface="Courier New" pitchFamily="34" charset="-122"/>
                <a:cs typeface="Courier New" pitchFamily="34" charset="-120"/>
              </a:rPr>
              <a:t>        </a:t>
            </a:r>
            <a:r>
              <a:rPr lang="en-US" sz="1000" b="1" dirty="0">
                <a:solidFill>
                  <a:srgbClr val="569CD6"/>
                </a:solidFill>
                <a:latin typeface="Courier New" pitchFamily="34" charset="0"/>
                <a:ea typeface="Courier New" pitchFamily="34" charset="-122"/>
                <a:cs typeface="Courier New" pitchFamily="34" charset="-120"/>
              </a:rPr>
              <a:t>this</a:t>
            </a:r>
            <a:r>
              <a:rPr lang="en-US" sz="1000" dirty="0">
                <a:solidFill>
                  <a:srgbClr val="D4D4D4"/>
                </a:solidFill>
                <a:latin typeface="Courier New" pitchFamily="34" charset="0"/>
                <a:ea typeface="Courier New" pitchFamily="34" charset="-122"/>
                <a:cs typeface="Courier New" pitchFamily="34" charset="-120"/>
              </a:rPr>
              <a:t>.name = name;</a:t>
            </a:r>
            <a:endParaRPr lang="en-US" sz="1000" dirty="0"/>
          </a:p>
          <a:p>
            <a:pPr marL="0" indent="0" algn="l">
              <a:lnSpc>
                <a:spcPct val="118000"/>
              </a:lnSpc>
              <a:buNone/>
            </a:pPr>
            <a:r>
              <a:rPr lang="en-US" sz="1000" dirty="0">
                <a:solidFill>
                  <a:srgbClr val="D4D4D4"/>
                </a:solidFill>
                <a:latin typeface="Courier New" pitchFamily="34" charset="0"/>
                <a:ea typeface="Courier New" pitchFamily="34" charset="-122"/>
                <a:cs typeface="Courier New" pitchFamily="34" charset="-120"/>
              </a:rPr>
              <a:t>        </a:t>
            </a:r>
            <a:r>
              <a:rPr lang="en-US" sz="1000" b="1" dirty="0">
                <a:solidFill>
                  <a:srgbClr val="569CD6"/>
                </a:solidFill>
                <a:latin typeface="Courier New" pitchFamily="34" charset="0"/>
                <a:ea typeface="Courier New" pitchFamily="34" charset="-122"/>
                <a:cs typeface="Courier New" pitchFamily="34" charset="-120"/>
              </a:rPr>
              <a:t>return</a:t>
            </a:r>
            <a:r>
              <a:rPr lang="en-US" sz="1000" dirty="0">
                <a:solidFill>
                  <a:srgbClr val="D4D4D4"/>
                </a:solidFill>
                <a:latin typeface="Courier New" pitchFamily="34" charset="0"/>
                <a:ea typeface="Courier New" pitchFamily="34" charset="-122"/>
                <a:cs typeface="Courier New" pitchFamily="34" charset="-120"/>
              </a:rPr>
              <a:t> </a:t>
            </a:r>
            <a:r>
              <a:rPr lang="en-US" sz="1000" b="1" dirty="0">
                <a:solidFill>
                  <a:srgbClr val="569CD6"/>
                </a:solidFill>
                <a:latin typeface="Courier New" pitchFamily="34" charset="0"/>
                <a:ea typeface="Courier New" pitchFamily="34" charset="-122"/>
                <a:cs typeface="Courier New" pitchFamily="34" charset="-120"/>
              </a:rPr>
              <a:t>this</a:t>
            </a:r>
            <a:r>
              <a:rPr lang="en-US" sz="1000" dirty="0">
                <a:solidFill>
                  <a:srgbClr val="D4D4D4"/>
                </a:solidFill>
                <a:latin typeface="Courier New" pitchFamily="34" charset="0"/>
                <a:ea typeface="Courier New" pitchFamily="34" charset="-122"/>
                <a:cs typeface="Courier New" pitchFamily="34" charset="-120"/>
              </a:rPr>
              <a:t>;</a:t>
            </a:r>
            <a:endParaRPr lang="en-US" sz="1000" dirty="0"/>
          </a:p>
          <a:p>
            <a:pPr marL="0" indent="0" algn="l">
              <a:lnSpc>
                <a:spcPct val="118000"/>
              </a:lnSpc>
              <a:buNone/>
            </a:pPr>
            <a:r>
              <a:rPr lang="en-US" sz="1000" dirty="0">
                <a:solidFill>
                  <a:srgbClr val="D4D4D4"/>
                </a:solidFill>
                <a:latin typeface="Courier New" pitchFamily="34" charset="0"/>
                <a:ea typeface="Courier New" pitchFamily="34" charset="-122"/>
                <a:cs typeface="Courier New" pitchFamily="34" charset="-120"/>
              </a:rPr>
              <a:t>    }</a:t>
            </a:r>
            <a:endParaRPr lang="en-US" sz="1000" dirty="0"/>
          </a:p>
          <a:p>
            <a:pPr marL="0" indent="0" algn="l">
              <a:lnSpc>
                <a:spcPct val="118000"/>
              </a:lnSpc>
              <a:buNone/>
            </a:pPr>
            <a:r>
              <a:rPr lang="en-US" sz="1000" dirty="0">
                <a:solidFill>
                  <a:srgbClr val="D4D4D4"/>
                </a:solidFill>
                <a:latin typeface="Courier New" pitchFamily="34" charset="0"/>
                <a:ea typeface="Courier New" pitchFamily="34" charset="-122"/>
                <a:cs typeface="Courier New" pitchFamily="34" charset="-120"/>
              </a:rPr>
              <a:t> </a:t>
            </a:r>
            <a:endParaRPr lang="en-US" sz="1000" dirty="0"/>
          </a:p>
          <a:p>
            <a:pPr marL="0" indent="0" algn="l">
              <a:lnSpc>
                <a:spcPct val="118000"/>
              </a:lnSpc>
              <a:buNone/>
            </a:pPr>
            <a:r>
              <a:rPr lang="en-US" sz="1000" dirty="0">
                <a:solidFill>
                  <a:srgbClr val="D4D4D4"/>
                </a:solidFill>
                <a:latin typeface="Courier New" pitchFamily="34" charset="0"/>
                <a:ea typeface="Courier New" pitchFamily="34" charset="-122"/>
                <a:cs typeface="Courier New" pitchFamily="34" charset="-120"/>
              </a:rPr>
              <a:t>    Profile </a:t>
            </a:r>
            <a:r>
              <a:rPr lang="en-US" sz="1000" dirty="0">
                <a:solidFill>
                  <a:srgbClr val="DCDCAA"/>
                </a:solidFill>
                <a:latin typeface="Courier New" pitchFamily="34" charset="0"/>
                <a:ea typeface="Courier New" pitchFamily="34" charset="-122"/>
                <a:cs typeface="Courier New" pitchFamily="34" charset="-120"/>
              </a:rPr>
              <a:t>setAge</a:t>
            </a:r>
            <a:r>
              <a:rPr lang="en-US" sz="1000" dirty="0">
                <a:solidFill>
                  <a:srgbClr val="D4D4D4"/>
                </a:solidFill>
                <a:latin typeface="Courier New" pitchFamily="34" charset="0"/>
                <a:ea typeface="Courier New" pitchFamily="34" charset="-122"/>
                <a:cs typeface="Courier New" pitchFamily="34" charset="-120"/>
              </a:rPr>
              <a:t>(</a:t>
            </a:r>
            <a:r>
              <a:rPr lang="en-US" sz="1000" b="1" dirty="0">
                <a:solidFill>
                  <a:srgbClr val="569CD6"/>
                </a:solidFill>
                <a:latin typeface="Courier New" pitchFamily="34" charset="0"/>
                <a:ea typeface="Courier New" pitchFamily="34" charset="-122"/>
                <a:cs typeface="Courier New" pitchFamily="34" charset="-120"/>
              </a:rPr>
              <a:t>int</a:t>
            </a:r>
            <a:r>
              <a:rPr lang="en-US" sz="1000" dirty="0">
                <a:solidFill>
                  <a:srgbClr val="D4D4D4"/>
                </a:solidFill>
                <a:latin typeface="Courier New" pitchFamily="34" charset="0"/>
                <a:ea typeface="Courier New" pitchFamily="34" charset="-122"/>
                <a:cs typeface="Courier New" pitchFamily="34" charset="-120"/>
              </a:rPr>
              <a:t> age) {</a:t>
            </a:r>
            <a:endParaRPr lang="en-US" sz="1000" dirty="0"/>
          </a:p>
          <a:p>
            <a:pPr marL="0" indent="0" algn="l">
              <a:lnSpc>
                <a:spcPct val="118000"/>
              </a:lnSpc>
              <a:buNone/>
            </a:pPr>
            <a:r>
              <a:rPr lang="en-US" sz="1000" dirty="0">
                <a:solidFill>
                  <a:srgbClr val="D4D4D4"/>
                </a:solidFill>
                <a:latin typeface="Courier New" pitchFamily="34" charset="0"/>
                <a:ea typeface="Courier New" pitchFamily="34" charset="-122"/>
                <a:cs typeface="Courier New" pitchFamily="34" charset="-120"/>
              </a:rPr>
              <a:t>        </a:t>
            </a:r>
            <a:r>
              <a:rPr lang="en-US" sz="1000" b="1" dirty="0">
                <a:solidFill>
                  <a:srgbClr val="569CD6"/>
                </a:solidFill>
                <a:latin typeface="Courier New" pitchFamily="34" charset="0"/>
                <a:ea typeface="Courier New" pitchFamily="34" charset="-122"/>
                <a:cs typeface="Courier New" pitchFamily="34" charset="-120"/>
              </a:rPr>
              <a:t>this</a:t>
            </a:r>
            <a:r>
              <a:rPr lang="en-US" sz="1000" dirty="0">
                <a:solidFill>
                  <a:srgbClr val="D4D4D4"/>
                </a:solidFill>
                <a:latin typeface="Courier New" pitchFamily="34" charset="0"/>
                <a:ea typeface="Courier New" pitchFamily="34" charset="-122"/>
                <a:cs typeface="Courier New" pitchFamily="34" charset="-120"/>
              </a:rPr>
              <a:t>.age = age;</a:t>
            </a:r>
            <a:endParaRPr lang="en-US" sz="1000" dirty="0"/>
          </a:p>
          <a:p>
            <a:pPr marL="0" indent="0" algn="l">
              <a:lnSpc>
                <a:spcPct val="118000"/>
              </a:lnSpc>
              <a:buNone/>
            </a:pPr>
            <a:r>
              <a:rPr lang="en-US" sz="1000" dirty="0">
                <a:solidFill>
                  <a:srgbClr val="D4D4D4"/>
                </a:solidFill>
                <a:latin typeface="Courier New" pitchFamily="34" charset="0"/>
                <a:ea typeface="Courier New" pitchFamily="34" charset="-122"/>
                <a:cs typeface="Courier New" pitchFamily="34" charset="-120"/>
              </a:rPr>
              <a:t>        </a:t>
            </a:r>
            <a:r>
              <a:rPr lang="en-US" sz="1000" b="1" dirty="0">
                <a:solidFill>
                  <a:srgbClr val="569CD6"/>
                </a:solidFill>
                <a:latin typeface="Courier New" pitchFamily="34" charset="0"/>
                <a:ea typeface="Courier New" pitchFamily="34" charset="-122"/>
                <a:cs typeface="Courier New" pitchFamily="34" charset="-120"/>
              </a:rPr>
              <a:t>return</a:t>
            </a:r>
            <a:r>
              <a:rPr lang="en-US" sz="1000" dirty="0">
                <a:solidFill>
                  <a:srgbClr val="D4D4D4"/>
                </a:solidFill>
                <a:latin typeface="Courier New" pitchFamily="34" charset="0"/>
                <a:ea typeface="Courier New" pitchFamily="34" charset="-122"/>
                <a:cs typeface="Courier New" pitchFamily="34" charset="-120"/>
              </a:rPr>
              <a:t> </a:t>
            </a:r>
            <a:r>
              <a:rPr lang="en-US" sz="1000" b="1" dirty="0">
                <a:solidFill>
                  <a:srgbClr val="569CD6"/>
                </a:solidFill>
                <a:latin typeface="Courier New" pitchFamily="34" charset="0"/>
                <a:ea typeface="Courier New" pitchFamily="34" charset="-122"/>
                <a:cs typeface="Courier New" pitchFamily="34" charset="-120"/>
              </a:rPr>
              <a:t>this</a:t>
            </a:r>
            <a:r>
              <a:rPr lang="en-US" sz="1000" dirty="0">
                <a:solidFill>
                  <a:srgbClr val="D4D4D4"/>
                </a:solidFill>
                <a:latin typeface="Courier New" pitchFamily="34" charset="0"/>
                <a:ea typeface="Courier New" pitchFamily="34" charset="-122"/>
                <a:cs typeface="Courier New" pitchFamily="34" charset="-120"/>
              </a:rPr>
              <a:t>;</a:t>
            </a:r>
            <a:endParaRPr lang="en-US" sz="1000" dirty="0"/>
          </a:p>
          <a:p>
            <a:pPr marL="0" indent="0" algn="l">
              <a:lnSpc>
                <a:spcPct val="118000"/>
              </a:lnSpc>
              <a:buNone/>
            </a:pPr>
            <a:r>
              <a:rPr lang="en-US" sz="1000" dirty="0">
                <a:solidFill>
                  <a:srgbClr val="D4D4D4"/>
                </a:solidFill>
                <a:latin typeface="Courier New" pitchFamily="34" charset="0"/>
                <a:ea typeface="Courier New" pitchFamily="34" charset="-122"/>
                <a:cs typeface="Courier New" pitchFamily="34" charset="-120"/>
              </a:rPr>
              <a:t>    }</a:t>
            </a:r>
            <a:endParaRPr lang="en-US" sz="1000" dirty="0"/>
          </a:p>
          <a:p>
            <a:pPr marL="0" indent="0" algn="l">
              <a:lnSpc>
                <a:spcPct val="118000"/>
              </a:lnSpc>
              <a:buNone/>
            </a:pPr>
            <a:r>
              <a:rPr lang="en-US" sz="1000" dirty="0">
                <a:solidFill>
                  <a:srgbClr val="D4D4D4"/>
                </a:solidFill>
                <a:latin typeface="Courier New" pitchFamily="34" charset="0"/>
                <a:ea typeface="Courier New" pitchFamily="34" charset="-122"/>
                <a:cs typeface="Courier New" pitchFamily="34" charset="-120"/>
              </a:rPr>
              <a:t> </a:t>
            </a:r>
            <a:endParaRPr lang="en-US" sz="1000" dirty="0"/>
          </a:p>
          <a:p>
            <a:pPr marL="0" indent="0" algn="l">
              <a:lnSpc>
                <a:spcPct val="118000"/>
              </a:lnSpc>
              <a:buNone/>
            </a:pPr>
            <a:r>
              <a:rPr lang="en-US" sz="1000" dirty="0">
                <a:solidFill>
                  <a:srgbClr val="D4D4D4"/>
                </a:solidFill>
                <a:latin typeface="Courier New" pitchFamily="34" charset="0"/>
                <a:ea typeface="Courier New" pitchFamily="34" charset="-122"/>
                <a:cs typeface="Courier New" pitchFamily="34" charset="-120"/>
              </a:rPr>
              <a:t>    </a:t>
            </a:r>
            <a:r>
              <a:rPr lang="en-US" sz="1000" b="1" dirty="0">
                <a:solidFill>
                  <a:srgbClr val="569CD6"/>
                </a:solidFill>
                <a:latin typeface="Courier New" pitchFamily="34" charset="0"/>
                <a:ea typeface="Courier New" pitchFamily="34" charset="-122"/>
                <a:cs typeface="Courier New" pitchFamily="34" charset="-120"/>
              </a:rPr>
              <a:t>public</a:t>
            </a:r>
            <a:r>
              <a:rPr lang="en-US" sz="1000" dirty="0">
                <a:solidFill>
                  <a:srgbClr val="D4D4D4"/>
                </a:solidFill>
                <a:latin typeface="Courier New" pitchFamily="34" charset="0"/>
                <a:ea typeface="Courier New" pitchFamily="34" charset="-122"/>
                <a:cs typeface="Courier New" pitchFamily="34" charset="-120"/>
              </a:rPr>
              <a:t> </a:t>
            </a:r>
            <a:r>
              <a:rPr lang="en-US" sz="1000" b="1" dirty="0">
                <a:solidFill>
                  <a:srgbClr val="569CD6"/>
                </a:solidFill>
                <a:latin typeface="Courier New" pitchFamily="34" charset="0"/>
                <a:ea typeface="Courier New" pitchFamily="34" charset="-122"/>
                <a:cs typeface="Courier New" pitchFamily="34" charset="-120"/>
              </a:rPr>
              <a:t>static</a:t>
            </a:r>
            <a:r>
              <a:rPr lang="en-US" sz="1000" dirty="0">
                <a:solidFill>
                  <a:srgbClr val="D4D4D4"/>
                </a:solidFill>
                <a:latin typeface="Courier New" pitchFamily="34" charset="0"/>
                <a:ea typeface="Courier New" pitchFamily="34" charset="-122"/>
                <a:cs typeface="Courier New" pitchFamily="34" charset="-120"/>
              </a:rPr>
              <a:t> </a:t>
            </a:r>
            <a:r>
              <a:rPr lang="en-US" sz="1000" b="1" dirty="0">
                <a:solidFill>
                  <a:srgbClr val="569CD6"/>
                </a:solidFill>
                <a:latin typeface="Courier New" pitchFamily="34" charset="0"/>
                <a:ea typeface="Courier New" pitchFamily="34" charset="-122"/>
                <a:cs typeface="Courier New" pitchFamily="34" charset="-120"/>
              </a:rPr>
              <a:t>void</a:t>
            </a:r>
            <a:r>
              <a:rPr lang="en-US" sz="1000" dirty="0">
                <a:solidFill>
                  <a:srgbClr val="D4D4D4"/>
                </a:solidFill>
                <a:latin typeface="Courier New" pitchFamily="34" charset="0"/>
                <a:ea typeface="Courier New" pitchFamily="34" charset="-122"/>
                <a:cs typeface="Courier New" pitchFamily="34" charset="-120"/>
              </a:rPr>
              <a:t> </a:t>
            </a:r>
            <a:r>
              <a:rPr lang="en-US" sz="1000" dirty="0">
                <a:solidFill>
                  <a:srgbClr val="DCDCAA"/>
                </a:solidFill>
                <a:latin typeface="Courier New" pitchFamily="34" charset="0"/>
                <a:ea typeface="Courier New" pitchFamily="34" charset="-122"/>
                <a:cs typeface="Courier New" pitchFamily="34" charset="-120"/>
              </a:rPr>
              <a:t>main</a:t>
            </a:r>
            <a:r>
              <a:rPr lang="en-US" sz="1000" dirty="0">
                <a:solidFill>
                  <a:srgbClr val="D4D4D4"/>
                </a:solidFill>
                <a:latin typeface="Courier New" pitchFamily="34" charset="0"/>
                <a:ea typeface="Courier New" pitchFamily="34" charset="-122"/>
                <a:cs typeface="Courier New" pitchFamily="34" charset="-120"/>
              </a:rPr>
              <a:t>(</a:t>
            </a:r>
            <a:r>
              <a:rPr lang="en-US" sz="1000" dirty="0">
                <a:solidFill>
                  <a:srgbClr val="4EC9B0"/>
                </a:solidFill>
                <a:latin typeface="Courier New" pitchFamily="34" charset="0"/>
                <a:ea typeface="Courier New" pitchFamily="34" charset="-122"/>
                <a:cs typeface="Courier New" pitchFamily="34" charset="-120"/>
              </a:rPr>
              <a:t>String</a:t>
            </a:r>
            <a:r>
              <a:rPr lang="en-US" sz="1000" dirty="0">
                <a:solidFill>
                  <a:srgbClr val="D4D4D4"/>
                </a:solidFill>
                <a:latin typeface="Courier New" pitchFamily="34" charset="0"/>
                <a:ea typeface="Courier New" pitchFamily="34" charset="-122"/>
                <a:cs typeface="Courier New" pitchFamily="34" charset="-120"/>
              </a:rPr>
              <a:t>[] args) {</a:t>
            </a:r>
            <a:endParaRPr lang="en-US" sz="1000" dirty="0"/>
          </a:p>
          <a:p>
            <a:pPr marL="0" indent="0" algn="l">
              <a:lnSpc>
                <a:spcPct val="118000"/>
              </a:lnSpc>
              <a:buNone/>
            </a:pPr>
            <a:r>
              <a:rPr lang="en-US" sz="1000" dirty="0">
                <a:solidFill>
                  <a:srgbClr val="D4D4D4"/>
                </a:solidFill>
                <a:latin typeface="Courier New" pitchFamily="34" charset="0"/>
                <a:ea typeface="Courier New" pitchFamily="34" charset="-122"/>
                <a:cs typeface="Courier New" pitchFamily="34" charset="-120"/>
              </a:rPr>
              <a:t>        Profile p = </a:t>
            </a:r>
            <a:r>
              <a:rPr lang="en-US" sz="1000" b="1" dirty="0">
                <a:solidFill>
                  <a:srgbClr val="569CD6"/>
                </a:solidFill>
                <a:latin typeface="Courier New" pitchFamily="34" charset="0"/>
                <a:ea typeface="Courier New" pitchFamily="34" charset="-122"/>
                <a:cs typeface="Courier New" pitchFamily="34" charset="-120"/>
              </a:rPr>
              <a:t>new</a:t>
            </a:r>
            <a:r>
              <a:rPr lang="en-US" sz="1000" dirty="0">
                <a:solidFill>
                  <a:srgbClr val="D4D4D4"/>
                </a:solidFill>
                <a:latin typeface="Courier New" pitchFamily="34" charset="0"/>
                <a:ea typeface="Courier New" pitchFamily="34" charset="-122"/>
                <a:cs typeface="Courier New" pitchFamily="34" charset="-120"/>
              </a:rPr>
              <a:t> </a:t>
            </a:r>
            <a:r>
              <a:rPr lang="en-US" sz="1000" dirty="0">
                <a:solidFill>
                  <a:srgbClr val="DCDCAA"/>
                </a:solidFill>
                <a:latin typeface="Courier New" pitchFamily="34" charset="0"/>
                <a:ea typeface="Courier New" pitchFamily="34" charset="-122"/>
                <a:cs typeface="Courier New" pitchFamily="34" charset="-120"/>
              </a:rPr>
              <a:t>Profile</a:t>
            </a:r>
            <a:r>
              <a:rPr lang="en-US" sz="1000" dirty="0">
                <a:solidFill>
                  <a:srgbClr val="D4D4D4"/>
                </a:solidFill>
                <a:latin typeface="Courier New" pitchFamily="34" charset="0"/>
                <a:ea typeface="Courier New" pitchFamily="34" charset="-122"/>
                <a:cs typeface="Courier New" pitchFamily="34" charset="-120"/>
              </a:rPr>
              <a:t>().</a:t>
            </a:r>
            <a:r>
              <a:rPr lang="en-US" sz="1000" dirty="0">
                <a:solidFill>
                  <a:srgbClr val="DCDCAA"/>
                </a:solidFill>
                <a:latin typeface="Courier New" pitchFamily="34" charset="0"/>
                <a:ea typeface="Courier New" pitchFamily="34" charset="-122"/>
                <a:cs typeface="Courier New" pitchFamily="34" charset="-120"/>
              </a:rPr>
              <a:t>setName</a:t>
            </a:r>
            <a:r>
              <a:rPr lang="en-US" sz="1000" dirty="0">
                <a:solidFill>
                  <a:srgbClr val="D4D4D4"/>
                </a:solidFill>
                <a:latin typeface="Courier New" pitchFamily="34" charset="0"/>
                <a:ea typeface="Courier New" pitchFamily="34" charset="-122"/>
                <a:cs typeface="Courier New" pitchFamily="34" charset="-120"/>
              </a:rPr>
              <a:t>(</a:t>
            </a:r>
            <a:r>
              <a:rPr lang="en-US" sz="1000" dirty="0">
                <a:solidFill>
                  <a:srgbClr val="CE9178"/>
                </a:solidFill>
                <a:latin typeface="Courier New" pitchFamily="34" charset="0"/>
                <a:ea typeface="Courier New" pitchFamily="34" charset="-122"/>
                <a:cs typeface="Courier New" pitchFamily="34" charset="-120"/>
              </a:rPr>
              <a:t>"Asha"</a:t>
            </a:r>
            <a:r>
              <a:rPr lang="en-US" sz="1000" dirty="0">
                <a:solidFill>
                  <a:srgbClr val="D4D4D4"/>
                </a:solidFill>
                <a:latin typeface="Courier New" pitchFamily="34" charset="0"/>
                <a:ea typeface="Courier New" pitchFamily="34" charset="-122"/>
                <a:cs typeface="Courier New" pitchFamily="34" charset="-120"/>
              </a:rPr>
              <a:t>).</a:t>
            </a:r>
            <a:r>
              <a:rPr lang="en-US" sz="1000" dirty="0">
                <a:solidFill>
                  <a:srgbClr val="DCDCAA"/>
                </a:solidFill>
                <a:latin typeface="Courier New" pitchFamily="34" charset="0"/>
                <a:ea typeface="Courier New" pitchFamily="34" charset="-122"/>
                <a:cs typeface="Courier New" pitchFamily="34" charset="-120"/>
              </a:rPr>
              <a:t>setAge</a:t>
            </a:r>
            <a:r>
              <a:rPr lang="en-US" sz="1000" dirty="0">
                <a:solidFill>
                  <a:srgbClr val="D4D4D4"/>
                </a:solidFill>
                <a:latin typeface="Courier New" pitchFamily="34" charset="0"/>
                <a:ea typeface="Courier New" pitchFamily="34" charset="-122"/>
                <a:cs typeface="Courier New" pitchFamily="34" charset="-120"/>
              </a:rPr>
              <a:t>(</a:t>
            </a:r>
            <a:r>
              <a:rPr lang="en-US" sz="1000" dirty="0">
                <a:solidFill>
                  <a:srgbClr val="B5CEA8"/>
                </a:solidFill>
                <a:latin typeface="Courier New" pitchFamily="34" charset="0"/>
                <a:ea typeface="Courier New" pitchFamily="34" charset="-122"/>
                <a:cs typeface="Courier New" pitchFamily="34" charset="-120"/>
              </a:rPr>
              <a:t>24</a:t>
            </a:r>
            <a:r>
              <a:rPr lang="en-US" sz="1000" dirty="0">
                <a:solidFill>
                  <a:srgbClr val="D4D4D4"/>
                </a:solidFill>
                <a:latin typeface="Courier New" pitchFamily="34" charset="0"/>
                <a:ea typeface="Courier New" pitchFamily="34" charset="-122"/>
                <a:cs typeface="Courier New" pitchFamily="34" charset="-120"/>
              </a:rPr>
              <a:t>);</a:t>
            </a:r>
            <a:endParaRPr lang="en-US" sz="1000" dirty="0"/>
          </a:p>
          <a:p>
            <a:pPr marL="0" indent="0" algn="l">
              <a:lnSpc>
                <a:spcPct val="118000"/>
              </a:lnSpc>
              <a:buNone/>
            </a:pPr>
            <a:r>
              <a:rPr lang="en-US" sz="1000" dirty="0">
                <a:solidFill>
                  <a:srgbClr val="D4D4D4"/>
                </a:solidFill>
                <a:latin typeface="Courier New" pitchFamily="34" charset="0"/>
                <a:ea typeface="Courier New" pitchFamily="34" charset="-122"/>
                <a:cs typeface="Courier New" pitchFamily="34" charset="-120"/>
              </a:rPr>
              <a:t>        </a:t>
            </a:r>
            <a:r>
              <a:rPr lang="en-US" sz="1000" dirty="0">
                <a:solidFill>
                  <a:srgbClr val="4EC9B0"/>
                </a:solidFill>
                <a:latin typeface="Courier New" pitchFamily="34" charset="0"/>
                <a:ea typeface="Courier New" pitchFamily="34" charset="-122"/>
                <a:cs typeface="Courier New" pitchFamily="34" charset="-120"/>
              </a:rPr>
              <a:t>System</a:t>
            </a:r>
            <a:r>
              <a:rPr lang="en-US" sz="1000" dirty="0">
                <a:solidFill>
                  <a:srgbClr val="D4D4D4"/>
                </a:solidFill>
                <a:latin typeface="Courier New" pitchFamily="34" charset="0"/>
                <a:ea typeface="Courier New" pitchFamily="34" charset="-122"/>
                <a:cs typeface="Courier New" pitchFamily="34" charset="-120"/>
              </a:rPr>
              <a:t>.out.</a:t>
            </a:r>
            <a:r>
              <a:rPr lang="en-US" sz="1000" dirty="0">
                <a:solidFill>
                  <a:srgbClr val="DCDCAA"/>
                </a:solidFill>
                <a:latin typeface="Courier New" pitchFamily="34" charset="0"/>
                <a:ea typeface="Courier New" pitchFamily="34" charset="-122"/>
                <a:cs typeface="Courier New" pitchFamily="34" charset="-120"/>
              </a:rPr>
              <a:t>println</a:t>
            </a:r>
            <a:r>
              <a:rPr lang="en-US" sz="1000" dirty="0">
                <a:solidFill>
                  <a:srgbClr val="D4D4D4"/>
                </a:solidFill>
                <a:latin typeface="Courier New" pitchFamily="34" charset="0"/>
                <a:ea typeface="Courier New" pitchFamily="34" charset="-122"/>
                <a:cs typeface="Courier New" pitchFamily="34" charset="-120"/>
              </a:rPr>
              <a:t>(p.name + </a:t>
            </a:r>
            <a:r>
              <a:rPr lang="en-US" sz="1000" dirty="0">
                <a:solidFill>
                  <a:srgbClr val="CE9178"/>
                </a:solidFill>
                <a:latin typeface="Courier New" pitchFamily="34" charset="0"/>
                <a:ea typeface="Courier New" pitchFamily="34" charset="-122"/>
                <a:cs typeface="Courier New" pitchFamily="34" charset="-120"/>
              </a:rPr>
              <a:t>" "</a:t>
            </a:r>
            <a:r>
              <a:rPr lang="en-US" sz="1000" dirty="0">
                <a:solidFill>
                  <a:srgbClr val="D4D4D4"/>
                </a:solidFill>
                <a:latin typeface="Courier New" pitchFamily="34" charset="0"/>
                <a:ea typeface="Courier New" pitchFamily="34" charset="-122"/>
                <a:cs typeface="Courier New" pitchFamily="34" charset="-120"/>
              </a:rPr>
              <a:t> + p.age);</a:t>
            </a:r>
            <a:endParaRPr lang="en-US" sz="1000" dirty="0"/>
          </a:p>
          <a:p>
            <a:pPr marL="0" indent="0" algn="l">
              <a:lnSpc>
                <a:spcPct val="118000"/>
              </a:lnSpc>
              <a:buNone/>
            </a:pPr>
            <a:r>
              <a:rPr lang="en-US" sz="1000" dirty="0">
                <a:solidFill>
                  <a:srgbClr val="D4D4D4"/>
                </a:solidFill>
                <a:latin typeface="Courier New" pitchFamily="34" charset="0"/>
                <a:ea typeface="Courier New" pitchFamily="34" charset="-122"/>
                <a:cs typeface="Courier New" pitchFamily="34" charset="-120"/>
              </a:rPr>
              <a:t>    }</a:t>
            </a:r>
            <a:endParaRPr lang="en-US" sz="1000" dirty="0"/>
          </a:p>
          <a:p>
            <a:pPr marL="0" indent="0" algn="l">
              <a:lnSpc>
                <a:spcPct val="118000"/>
              </a:lnSpc>
              <a:buNone/>
            </a:pPr>
            <a:r>
              <a:rPr lang="en-US" sz="1000" dirty="0">
                <a:solidFill>
                  <a:srgbClr val="D4D4D4"/>
                </a:solidFill>
                <a:latin typeface="Courier New" pitchFamily="34" charset="0"/>
                <a:ea typeface="Courier New" pitchFamily="34" charset="-122"/>
                <a:cs typeface="Courier New" pitchFamily="34" charset="-120"/>
              </a:rPr>
              <a:t>}</a:t>
            </a:r>
            <a:endParaRPr lang="en-US" sz="1000" dirty="0"/>
          </a:p>
        </p:txBody>
      </p:sp>
      <p:sp>
        <p:nvSpPr>
          <p:cNvPr id="13" name="Shape 11"/>
          <p:cNvSpPr/>
          <p:nvPr/>
        </p:nvSpPr>
        <p:spPr>
          <a:xfrm>
            <a:off x="7909560" y="2002536"/>
            <a:ext cx="3886200" cy="4032504"/>
          </a:xfrm>
          <a:prstGeom prst="roundRect">
            <a:avLst>
              <a:gd name="adj" fmla="val 1882"/>
            </a:avLst>
          </a:prstGeom>
          <a:solidFill>
            <a:srgbClr val="181C24"/>
          </a:solidFill>
          <a:ln w="12700">
            <a:solidFill>
              <a:srgbClr val="000000"/>
            </a:solidFill>
            <a:prstDash val="solid"/>
          </a:ln>
        </p:spPr>
      </p:sp>
      <p:sp>
        <p:nvSpPr>
          <p:cNvPr id="14" name="Text 12"/>
          <p:cNvSpPr/>
          <p:nvPr/>
        </p:nvSpPr>
        <p:spPr>
          <a:xfrm>
            <a:off x="8074152" y="2130552"/>
            <a:ext cx="3557016" cy="274320"/>
          </a:xfrm>
          <a:prstGeom prst="rect">
            <a:avLst/>
          </a:prstGeom>
          <a:noFill/>
          <a:ln/>
        </p:spPr>
        <p:txBody>
          <a:bodyPr wrap="square" lIns="0" tIns="0" rIns="0" bIns="0" rtlCol="0" anchor="ctr"/>
          <a:lstStyle/>
          <a:p>
            <a:pPr marL="0" indent="0">
              <a:buNone/>
            </a:pPr>
            <a:r>
              <a:rPr lang="en-US" sz="1000" b="1" kern="0" spc="100" dirty="0">
                <a:solidFill>
                  <a:srgbClr val="E8590C"/>
                </a:solidFill>
                <a:latin typeface="Times New Roman" pitchFamily="34" charset="0"/>
                <a:ea typeface="Times New Roman" pitchFamily="34" charset="-122"/>
                <a:cs typeface="Times New Roman" pitchFamily="34" charset="-120"/>
              </a:rPr>
              <a:t>CONSOLE OUTPUT</a:t>
            </a:r>
            <a:endParaRPr lang="en-US" sz="1000" dirty="0"/>
          </a:p>
        </p:txBody>
      </p:sp>
      <p:sp>
        <p:nvSpPr>
          <p:cNvPr id="15" name="Text 13"/>
          <p:cNvSpPr/>
          <p:nvPr/>
        </p:nvSpPr>
        <p:spPr>
          <a:xfrm>
            <a:off x="8074152" y="2459736"/>
            <a:ext cx="3557016" cy="3429000"/>
          </a:xfrm>
          <a:prstGeom prst="rect">
            <a:avLst/>
          </a:prstGeom>
          <a:noFill/>
          <a:ln/>
        </p:spPr>
        <p:txBody>
          <a:bodyPr wrap="square" lIns="0" tIns="0" rIns="0" bIns="0" rtlCol="0" anchor="t"/>
          <a:lstStyle/>
          <a:p>
            <a:pPr marL="0" indent="0">
              <a:lnSpc>
                <a:spcPct val="130000"/>
              </a:lnSpc>
              <a:buNone/>
            </a:pPr>
            <a:r>
              <a:rPr lang="en-US" sz="1300" dirty="0">
                <a:solidFill>
                  <a:srgbClr val="D8E6D0"/>
                </a:solidFill>
                <a:latin typeface="Courier New" pitchFamily="34" charset="0"/>
                <a:ea typeface="Courier New" pitchFamily="34" charset="-122"/>
                <a:cs typeface="Courier New" pitchFamily="34" charset="-120"/>
              </a:rPr>
              <a:t>Asha 24</a:t>
            </a:r>
            <a:endParaRPr lang="en-US" sz="1300" dirty="0"/>
          </a:p>
        </p:txBody>
      </p:sp>
      <p:sp>
        <p:nvSpPr>
          <p:cNvPr id="16" name="Shape 14"/>
          <p:cNvSpPr/>
          <p:nvPr/>
        </p:nvSpPr>
        <p:spPr>
          <a:xfrm>
            <a:off x="0" y="0"/>
            <a:ext cx="12191695" cy="384048"/>
          </a:xfrm>
          <a:prstGeom prst="rect">
            <a:avLst/>
          </a:prstGeom>
          <a:solidFill>
            <a:srgbClr val="1B2A4A"/>
          </a:solidFill>
          <a:ln w="12700">
            <a:solidFill>
              <a:srgbClr val="1B2A4A"/>
            </a:solidFill>
            <a:prstDash val="solid"/>
          </a:ln>
        </p:spPr>
      </p:sp>
      <p:sp>
        <p:nvSpPr>
          <p:cNvPr id="17" name="Text 15"/>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8" name="Shape 16"/>
          <p:cNvSpPr/>
          <p:nvPr/>
        </p:nvSpPr>
        <p:spPr>
          <a:xfrm>
            <a:off x="219456" y="301752"/>
            <a:ext cx="960120" cy="0"/>
          </a:xfrm>
          <a:prstGeom prst="line">
            <a:avLst/>
          </a:prstGeom>
          <a:noFill/>
          <a:ln w="9525">
            <a:solidFill>
              <a:srgbClr val="4A5570"/>
            </a:solidFill>
            <a:prstDash val="solid"/>
          </a:ln>
        </p:spPr>
      </p:sp>
      <p:sp>
        <p:nvSpPr>
          <p:cNvPr id="19" name="Text 17"/>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0" name="Text 18"/>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1" name="Text 19"/>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2" name="Shape 20"/>
          <p:cNvSpPr/>
          <p:nvPr/>
        </p:nvSpPr>
        <p:spPr>
          <a:xfrm>
            <a:off x="0" y="6291072"/>
            <a:ext cx="12191695" cy="566928"/>
          </a:xfrm>
          <a:prstGeom prst="rect">
            <a:avLst/>
          </a:prstGeom>
          <a:solidFill>
            <a:srgbClr val="1B2A4A"/>
          </a:solidFill>
          <a:ln w="12700">
            <a:solidFill>
              <a:srgbClr val="1B2A4A"/>
            </a:solidFill>
            <a:prstDash val="solid"/>
          </a:ln>
        </p:spPr>
      </p:sp>
      <p:sp>
        <p:nvSpPr>
          <p:cNvPr id="23" name="Text 21"/>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4" name="Text 22"/>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181C24"/>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81C24"/>
          </a:solidFill>
          <a:ln w="12700">
            <a:solidFill>
              <a:srgbClr val="181C24"/>
            </a:solidFill>
            <a:prstDash val="solid"/>
          </a:ln>
        </p:spPr>
      </p:sp>
      <p:sp>
        <p:nvSpPr>
          <p:cNvPr id="3" name="Shape 1"/>
          <p:cNvSpPr/>
          <p:nvPr/>
        </p:nvSpPr>
        <p:spPr>
          <a:xfrm>
            <a:off x="0" y="3246120"/>
            <a:ext cx="12191695" cy="18288"/>
          </a:xfrm>
          <a:prstGeom prst="rect">
            <a:avLst/>
          </a:prstGeom>
          <a:solidFill>
            <a:srgbClr val="2A2F3B"/>
          </a:solidFill>
          <a:ln w="12700">
            <a:solidFill>
              <a:srgbClr val="000000"/>
            </a:solidFill>
            <a:prstDash val="solid"/>
          </a:ln>
        </p:spPr>
      </p:sp>
      <p:sp>
        <p:nvSpPr>
          <p:cNvPr id="4" name="Text 2"/>
          <p:cNvSpPr/>
          <p:nvPr/>
        </p:nvSpPr>
        <p:spPr>
          <a:xfrm>
            <a:off x="640080" y="2651760"/>
            <a:ext cx="5486400" cy="365760"/>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SECTION 4 / 10</a:t>
            </a:r>
            <a:endParaRPr lang="en-US" sz="1300" dirty="0"/>
          </a:p>
        </p:txBody>
      </p:sp>
      <p:sp>
        <p:nvSpPr>
          <p:cNvPr id="5" name="Text 3"/>
          <p:cNvSpPr/>
          <p:nvPr/>
        </p:nvSpPr>
        <p:spPr>
          <a:xfrm>
            <a:off x="594360" y="2971800"/>
            <a:ext cx="10515600" cy="1005840"/>
          </a:xfrm>
          <a:prstGeom prst="rect">
            <a:avLst/>
          </a:prstGeom>
          <a:noFill/>
          <a:ln/>
        </p:spPr>
        <p:txBody>
          <a:bodyPr wrap="square" lIns="0" tIns="0" rIns="0" bIns="0" rtlCol="0" anchor="ctr"/>
          <a:lstStyle/>
          <a:p>
            <a:pPr marL="0" indent="0">
              <a:buNone/>
            </a:pPr>
            <a:r>
              <a:rPr lang="en-US" sz="3400" b="1" dirty="0">
                <a:solidFill>
                  <a:srgbClr val="FFFFFF"/>
                </a:solidFill>
                <a:latin typeface="Times New Roman" pitchFamily="34" charset="0"/>
                <a:ea typeface="Times New Roman" pitchFamily="34" charset="-122"/>
                <a:cs typeface="Times New Roman" pitchFamily="34" charset="-120"/>
              </a:rPr>
              <a:t>The static Keyword</a:t>
            </a:r>
            <a:endParaRPr lang="en-US" sz="3400" dirty="0"/>
          </a:p>
        </p:txBody>
      </p:sp>
      <p:sp>
        <p:nvSpPr>
          <p:cNvPr id="6" name="Text 4"/>
          <p:cNvSpPr/>
          <p:nvPr/>
        </p:nvSpPr>
        <p:spPr>
          <a:xfrm>
            <a:off x="640080" y="3977640"/>
            <a:ext cx="9144000" cy="548640"/>
          </a:xfrm>
          <a:prstGeom prst="rect">
            <a:avLst/>
          </a:prstGeom>
          <a:noFill/>
          <a:ln/>
        </p:spPr>
        <p:txBody>
          <a:bodyPr wrap="square" lIns="0" tIns="0" rIns="0" bIns="0" rtlCol="0" anchor="t"/>
          <a:lstStyle/>
          <a:p>
            <a:pPr marL="0" indent="0">
              <a:buNone/>
            </a:pPr>
            <a:r>
              <a:rPr lang="en-US" sz="1500" dirty="0">
                <a:solidFill>
                  <a:srgbClr val="8C93A0"/>
                </a:solidFill>
                <a:latin typeface="Times New Roman" pitchFamily="34" charset="0"/>
                <a:ea typeface="Times New Roman" pitchFamily="34" charset="-122"/>
                <a:cs typeface="Times New Roman" pitchFamily="34" charset="-120"/>
              </a:rPr>
              <a:t>Fields and methods that belong to the class itself</a:t>
            </a:r>
            <a:endParaRPr lang="en-US" sz="1500" dirty="0"/>
          </a:p>
        </p:txBody>
      </p:sp>
      <p:sp>
        <p:nvSpPr>
          <p:cNvPr id="7" name="Shape 5"/>
          <p:cNvSpPr/>
          <p:nvPr/>
        </p:nvSpPr>
        <p:spPr>
          <a:xfrm>
            <a:off x="0" y="0"/>
            <a:ext cx="12191695" cy="384048"/>
          </a:xfrm>
          <a:prstGeom prst="rect">
            <a:avLst/>
          </a:prstGeom>
          <a:solidFill>
            <a:srgbClr val="1B2A4A"/>
          </a:solidFill>
          <a:ln w="12700">
            <a:solidFill>
              <a:srgbClr val="1B2A4A"/>
            </a:solidFill>
            <a:prstDash val="solid"/>
          </a:ln>
        </p:spPr>
      </p:sp>
      <p:sp>
        <p:nvSpPr>
          <p:cNvPr id="8" name="Text 6"/>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9" name="Shape 7"/>
          <p:cNvSpPr/>
          <p:nvPr/>
        </p:nvSpPr>
        <p:spPr>
          <a:xfrm>
            <a:off x="219456" y="301752"/>
            <a:ext cx="960120" cy="0"/>
          </a:xfrm>
          <a:prstGeom prst="line">
            <a:avLst/>
          </a:prstGeom>
          <a:noFill/>
          <a:ln w="9525">
            <a:solidFill>
              <a:srgbClr val="4A5570"/>
            </a:solidFill>
            <a:prstDash val="solid"/>
          </a:ln>
        </p:spPr>
      </p:sp>
      <p:sp>
        <p:nvSpPr>
          <p:cNvPr id="10" name="Text 8"/>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11" name="Text 9"/>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12" name="Text 10"/>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13" name="Shape 11"/>
          <p:cNvSpPr/>
          <p:nvPr/>
        </p:nvSpPr>
        <p:spPr>
          <a:xfrm>
            <a:off x="0" y="6291072"/>
            <a:ext cx="12191695" cy="566928"/>
          </a:xfrm>
          <a:prstGeom prst="rect">
            <a:avLst/>
          </a:prstGeom>
          <a:solidFill>
            <a:srgbClr val="1B2A4A"/>
          </a:solidFill>
          <a:ln w="12700">
            <a:solidFill>
              <a:srgbClr val="1B2A4A"/>
            </a:solidFill>
            <a:prstDash val="solid"/>
          </a:ln>
        </p:spPr>
      </p:sp>
      <p:sp>
        <p:nvSpPr>
          <p:cNvPr id="14" name="Text 12"/>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15" name="Text 13"/>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CONCEPT</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What Does static Mean?</a:t>
            </a:r>
            <a:endParaRPr lang="en-US" sz="2700" dirty="0"/>
          </a:p>
        </p:txBody>
      </p:sp>
      <p:sp>
        <p:nvSpPr>
          <p:cNvPr id="4" name="Shape 2"/>
          <p:cNvSpPr/>
          <p:nvPr/>
        </p:nvSpPr>
        <p:spPr>
          <a:xfrm>
            <a:off x="594360" y="1691640"/>
            <a:ext cx="10607040" cy="853440"/>
          </a:xfrm>
          <a:prstGeom prst="roundRect">
            <a:avLst>
              <a:gd name="adj" fmla="val 4100"/>
            </a:avLst>
          </a:prstGeom>
          <a:solidFill>
            <a:srgbClr val="F5F6FA"/>
          </a:solidFill>
          <a:ln w="9525">
            <a:solidFill>
              <a:srgbClr val="E4E7EE"/>
            </a:solidFill>
            <a:prstDash val="solid"/>
          </a:ln>
        </p:spPr>
      </p:sp>
      <p:sp>
        <p:nvSpPr>
          <p:cNvPr id="5" name="Shape 3"/>
          <p:cNvSpPr/>
          <p:nvPr/>
        </p:nvSpPr>
        <p:spPr>
          <a:xfrm>
            <a:off x="777240" y="1874520"/>
            <a:ext cx="109728" cy="109728"/>
          </a:xfrm>
          <a:prstGeom prst="ellipse">
            <a:avLst/>
          </a:prstGeom>
          <a:solidFill>
            <a:srgbClr val="E8590C"/>
          </a:solidFill>
          <a:ln w="12700">
            <a:solidFill>
              <a:srgbClr val="000000"/>
            </a:solidFill>
            <a:prstDash val="solid"/>
          </a:ln>
        </p:spPr>
      </p:sp>
      <p:sp>
        <p:nvSpPr>
          <p:cNvPr id="6" name="Text 4"/>
          <p:cNvSpPr/>
          <p:nvPr/>
        </p:nvSpPr>
        <p:spPr>
          <a:xfrm>
            <a:off x="1051560" y="1764792"/>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Belongs to the class, not to any one object</a:t>
            </a:r>
            <a:endParaRPr lang="en-US" sz="1500" dirty="0"/>
          </a:p>
        </p:txBody>
      </p:sp>
      <p:sp>
        <p:nvSpPr>
          <p:cNvPr id="7" name="Text 5"/>
          <p:cNvSpPr/>
          <p:nvPr/>
        </p:nvSpPr>
        <p:spPr>
          <a:xfrm>
            <a:off x="1051560" y="2057400"/>
            <a:ext cx="9966960" cy="917448"/>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A static member exists exactly once, shared by every object of the class, rather than being duplicated per object.</a:t>
            </a:r>
            <a:endParaRPr lang="en-US" sz="1250" dirty="0"/>
          </a:p>
        </p:txBody>
      </p:sp>
      <p:sp>
        <p:nvSpPr>
          <p:cNvPr id="8" name="Shape 6"/>
          <p:cNvSpPr/>
          <p:nvPr/>
        </p:nvSpPr>
        <p:spPr>
          <a:xfrm>
            <a:off x="594360" y="3194304"/>
            <a:ext cx="10607040" cy="853440"/>
          </a:xfrm>
          <a:prstGeom prst="roundRect">
            <a:avLst>
              <a:gd name="adj" fmla="val 4100"/>
            </a:avLst>
          </a:prstGeom>
          <a:solidFill>
            <a:srgbClr val="F5F6FA"/>
          </a:solidFill>
          <a:ln w="9525">
            <a:solidFill>
              <a:srgbClr val="E4E7EE"/>
            </a:solidFill>
            <a:prstDash val="solid"/>
          </a:ln>
        </p:spPr>
      </p:sp>
      <p:sp>
        <p:nvSpPr>
          <p:cNvPr id="9" name="Shape 7"/>
          <p:cNvSpPr/>
          <p:nvPr/>
        </p:nvSpPr>
        <p:spPr>
          <a:xfrm>
            <a:off x="777240" y="3377184"/>
            <a:ext cx="109728" cy="109728"/>
          </a:xfrm>
          <a:prstGeom prst="ellipse">
            <a:avLst/>
          </a:prstGeom>
          <a:solidFill>
            <a:srgbClr val="E8590C"/>
          </a:solidFill>
          <a:ln w="12700">
            <a:solidFill>
              <a:srgbClr val="000000"/>
            </a:solidFill>
            <a:prstDash val="solid"/>
          </a:ln>
        </p:spPr>
      </p:sp>
      <p:sp>
        <p:nvSpPr>
          <p:cNvPr id="10" name="Text 8"/>
          <p:cNvSpPr/>
          <p:nvPr/>
        </p:nvSpPr>
        <p:spPr>
          <a:xfrm>
            <a:off x="1051560" y="3267456"/>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Accessible without creating an object</a:t>
            </a:r>
            <a:endParaRPr lang="en-US" sz="1500" dirty="0"/>
          </a:p>
        </p:txBody>
      </p:sp>
      <p:sp>
        <p:nvSpPr>
          <p:cNvPr id="11" name="Text 9"/>
          <p:cNvSpPr/>
          <p:nvPr/>
        </p:nvSpPr>
        <p:spPr>
          <a:xfrm>
            <a:off x="1051560" y="3560064"/>
            <a:ext cx="9966960" cy="917448"/>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Static members can be reached directly through the class name, even before any object exists.</a:t>
            </a:r>
            <a:endParaRPr lang="en-US" sz="1250" dirty="0"/>
          </a:p>
        </p:txBody>
      </p:sp>
      <p:sp>
        <p:nvSpPr>
          <p:cNvPr id="12" name="Shape 10"/>
          <p:cNvSpPr/>
          <p:nvPr/>
        </p:nvSpPr>
        <p:spPr>
          <a:xfrm>
            <a:off x="594360" y="4696968"/>
            <a:ext cx="10607040" cy="853440"/>
          </a:xfrm>
          <a:prstGeom prst="roundRect">
            <a:avLst>
              <a:gd name="adj" fmla="val 4100"/>
            </a:avLst>
          </a:prstGeom>
          <a:solidFill>
            <a:srgbClr val="F5F6FA"/>
          </a:solidFill>
          <a:ln w="9525">
            <a:solidFill>
              <a:srgbClr val="E4E7EE"/>
            </a:solidFill>
            <a:prstDash val="solid"/>
          </a:ln>
        </p:spPr>
      </p:sp>
      <p:sp>
        <p:nvSpPr>
          <p:cNvPr id="13" name="Shape 11"/>
          <p:cNvSpPr/>
          <p:nvPr/>
        </p:nvSpPr>
        <p:spPr>
          <a:xfrm>
            <a:off x="777240" y="4879848"/>
            <a:ext cx="109728" cy="109728"/>
          </a:xfrm>
          <a:prstGeom prst="ellipse">
            <a:avLst/>
          </a:prstGeom>
          <a:solidFill>
            <a:srgbClr val="E8590C"/>
          </a:solidFill>
          <a:ln w="12700">
            <a:solidFill>
              <a:srgbClr val="000000"/>
            </a:solidFill>
            <a:prstDash val="solid"/>
          </a:ln>
        </p:spPr>
      </p:sp>
      <p:sp>
        <p:nvSpPr>
          <p:cNvPr id="14" name="Text 12"/>
          <p:cNvSpPr/>
          <p:nvPr/>
        </p:nvSpPr>
        <p:spPr>
          <a:xfrm>
            <a:off x="1051560" y="4770120"/>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Used for shared data and utility behavior</a:t>
            </a:r>
            <a:endParaRPr lang="en-US" sz="1500" dirty="0"/>
          </a:p>
        </p:txBody>
      </p:sp>
      <p:sp>
        <p:nvSpPr>
          <p:cNvPr id="15" name="Text 13"/>
          <p:cNvSpPr/>
          <p:nvPr/>
        </p:nvSpPr>
        <p:spPr>
          <a:xfrm>
            <a:off x="1051560" y="5062728"/>
            <a:ext cx="9966960" cy="917448"/>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Counters, constants, and helper methods that do not depend on a specific object are common static uses.</a:t>
            </a:r>
            <a:endParaRPr lang="en-US" sz="1250" dirty="0"/>
          </a:p>
        </p:txBody>
      </p:sp>
      <p:sp>
        <p:nvSpPr>
          <p:cNvPr id="16" name="Shape 14"/>
          <p:cNvSpPr/>
          <p:nvPr/>
        </p:nvSpPr>
        <p:spPr>
          <a:xfrm>
            <a:off x="0" y="0"/>
            <a:ext cx="12191695" cy="384048"/>
          </a:xfrm>
          <a:prstGeom prst="rect">
            <a:avLst/>
          </a:prstGeom>
          <a:solidFill>
            <a:srgbClr val="1B2A4A"/>
          </a:solidFill>
          <a:ln w="12700">
            <a:solidFill>
              <a:srgbClr val="1B2A4A"/>
            </a:solidFill>
            <a:prstDash val="solid"/>
          </a:ln>
        </p:spPr>
      </p:sp>
      <p:sp>
        <p:nvSpPr>
          <p:cNvPr id="17" name="Text 15"/>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8" name="Shape 16"/>
          <p:cNvSpPr/>
          <p:nvPr/>
        </p:nvSpPr>
        <p:spPr>
          <a:xfrm>
            <a:off x="219456" y="301752"/>
            <a:ext cx="960120" cy="0"/>
          </a:xfrm>
          <a:prstGeom prst="line">
            <a:avLst/>
          </a:prstGeom>
          <a:noFill/>
          <a:ln w="9525">
            <a:solidFill>
              <a:srgbClr val="4A5570"/>
            </a:solidFill>
            <a:prstDash val="solid"/>
          </a:ln>
        </p:spPr>
      </p:sp>
      <p:sp>
        <p:nvSpPr>
          <p:cNvPr id="19" name="Text 17"/>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0" name="Text 18"/>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1" name="Text 19"/>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2" name="Shape 20"/>
          <p:cNvSpPr/>
          <p:nvPr/>
        </p:nvSpPr>
        <p:spPr>
          <a:xfrm>
            <a:off x="0" y="6291072"/>
            <a:ext cx="12191695" cy="566928"/>
          </a:xfrm>
          <a:prstGeom prst="rect">
            <a:avLst/>
          </a:prstGeom>
          <a:solidFill>
            <a:srgbClr val="1B2A4A"/>
          </a:solidFill>
          <a:ln w="12700">
            <a:solidFill>
              <a:srgbClr val="1B2A4A"/>
            </a:solidFill>
            <a:prstDash val="solid"/>
          </a:ln>
        </p:spPr>
      </p:sp>
      <p:sp>
        <p:nvSpPr>
          <p:cNvPr id="23" name="Text 21"/>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4" name="Text 22"/>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SHARED DATA</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Static Variables (Class Variables)</a:t>
            </a:r>
            <a:endParaRPr lang="en-US" sz="2700" dirty="0"/>
          </a:p>
        </p:txBody>
      </p:sp>
      <p:sp>
        <p:nvSpPr>
          <p:cNvPr id="4" name="Shape 2"/>
          <p:cNvSpPr/>
          <p:nvPr/>
        </p:nvSpPr>
        <p:spPr>
          <a:xfrm>
            <a:off x="594360" y="1600200"/>
            <a:ext cx="10607040" cy="896112"/>
          </a:xfrm>
          <a:prstGeom prst="roundRect">
            <a:avLst>
              <a:gd name="adj" fmla="val 6122"/>
            </a:avLst>
          </a:prstGeom>
          <a:solidFill>
            <a:srgbClr val="F5F6FA"/>
          </a:solidFill>
          <a:ln w="9525">
            <a:solidFill>
              <a:srgbClr val="E4E7EE"/>
            </a:solidFill>
            <a:prstDash val="solid"/>
          </a:ln>
        </p:spPr>
      </p:sp>
      <p:sp>
        <p:nvSpPr>
          <p:cNvPr id="5" name="Shape 3"/>
          <p:cNvSpPr/>
          <p:nvPr/>
        </p:nvSpPr>
        <p:spPr>
          <a:xfrm>
            <a:off x="804672" y="1755648"/>
            <a:ext cx="100584" cy="100584"/>
          </a:xfrm>
          <a:prstGeom prst="ellipse">
            <a:avLst/>
          </a:prstGeom>
          <a:solidFill>
            <a:srgbClr val="E8590C"/>
          </a:solidFill>
          <a:ln w="12700">
            <a:solidFill>
              <a:srgbClr val="000000"/>
            </a:solidFill>
            <a:prstDash val="solid"/>
          </a:ln>
        </p:spPr>
      </p:sp>
      <p:sp>
        <p:nvSpPr>
          <p:cNvPr id="6" name="Text 4"/>
          <p:cNvSpPr/>
          <p:nvPr/>
        </p:nvSpPr>
        <p:spPr>
          <a:xfrm>
            <a:off x="1051560" y="1655064"/>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A static variable is declared with the static keyword and is shared by every instance of the class.</a:t>
            </a:r>
            <a:endParaRPr lang="en-US" sz="1250" dirty="0"/>
          </a:p>
        </p:txBody>
      </p:sp>
      <p:sp>
        <p:nvSpPr>
          <p:cNvPr id="7" name="Shape 5"/>
          <p:cNvSpPr/>
          <p:nvPr/>
        </p:nvSpPr>
        <p:spPr>
          <a:xfrm>
            <a:off x="804672" y="2103120"/>
            <a:ext cx="100584" cy="100584"/>
          </a:xfrm>
          <a:prstGeom prst="ellipse">
            <a:avLst/>
          </a:prstGeom>
          <a:solidFill>
            <a:srgbClr val="E8590C"/>
          </a:solidFill>
          <a:ln w="12700">
            <a:solidFill>
              <a:srgbClr val="000000"/>
            </a:solidFill>
            <a:prstDash val="solid"/>
          </a:ln>
        </p:spPr>
      </p:sp>
      <p:sp>
        <p:nvSpPr>
          <p:cNvPr id="8" name="Text 6"/>
          <p:cNvSpPr/>
          <p:nvPr/>
        </p:nvSpPr>
        <p:spPr>
          <a:xfrm>
            <a:off x="1051560" y="2002536"/>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Changing it through one object changes it for all objects.</a:t>
            </a:r>
            <a:endParaRPr lang="en-US" sz="1250" dirty="0"/>
          </a:p>
        </p:txBody>
      </p:sp>
      <p:sp>
        <p:nvSpPr>
          <p:cNvPr id="9" name="Shape 7"/>
          <p:cNvSpPr/>
          <p:nvPr/>
        </p:nvSpPr>
        <p:spPr>
          <a:xfrm>
            <a:off x="594360" y="2642616"/>
            <a:ext cx="10607040" cy="3392424"/>
          </a:xfrm>
          <a:prstGeom prst="roundRect">
            <a:avLst>
              <a:gd name="adj" fmla="val 2156"/>
            </a:avLst>
          </a:prstGeom>
          <a:solidFill>
            <a:srgbClr val="1E1E2E"/>
          </a:solidFill>
          <a:ln w="12700">
            <a:solidFill>
              <a:srgbClr val="000000"/>
            </a:solidFill>
            <a:prstDash val="solid"/>
          </a:ln>
        </p:spPr>
      </p:sp>
      <p:sp>
        <p:nvSpPr>
          <p:cNvPr id="10" name="Shape 8"/>
          <p:cNvSpPr/>
          <p:nvPr/>
        </p:nvSpPr>
        <p:spPr>
          <a:xfrm>
            <a:off x="594360" y="2642616"/>
            <a:ext cx="10607040" cy="274320"/>
          </a:xfrm>
          <a:prstGeom prst="roundRect">
            <a:avLst>
              <a:gd name="adj" fmla="val 26667"/>
            </a:avLst>
          </a:prstGeom>
          <a:solidFill>
            <a:srgbClr val="17172A"/>
          </a:solidFill>
          <a:ln w="12700">
            <a:solidFill>
              <a:srgbClr val="000000"/>
            </a:solidFill>
            <a:prstDash val="solid"/>
          </a:ln>
        </p:spPr>
      </p:sp>
      <p:sp>
        <p:nvSpPr>
          <p:cNvPr id="11" name="Shape 9"/>
          <p:cNvSpPr/>
          <p:nvPr/>
        </p:nvSpPr>
        <p:spPr>
          <a:xfrm>
            <a:off x="594360" y="2843784"/>
            <a:ext cx="10607040" cy="73152"/>
          </a:xfrm>
          <a:prstGeom prst="rect">
            <a:avLst/>
          </a:prstGeom>
          <a:solidFill>
            <a:srgbClr val="17172A"/>
          </a:solidFill>
          <a:ln w="12700">
            <a:solidFill>
              <a:srgbClr val="000000"/>
            </a:solidFill>
            <a:prstDash val="solid"/>
          </a:ln>
        </p:spPr>
      </p:sp>
      <p:sp>
        <p:nvSpPr>
          <p:cNvPr id="12" name="Shape 10"/>
          <p:cNvSpPr/>
          <p:nvPr/>
        </p:nvSpPr>
        <p:spPr>
          <a:xfrm>
            <a:off x="722376" y="2741371"/>
            <a:ext cx="76810" cy="76810"/>
          </a:xfrm>
          <a:prstGeom prst="ellipse">
            <a:avLst/>
          </a:prstGeom>
          <a:solidFill>
            <a:srgbClr val="FF5F56"/>
          </a:solidFill>
          <a:ln w="12700">
            <a:solidFill>
              <a:srgbClr val="000000"/>
            </a:solidFill>
            <a:prstDash val="solid"/>
          </a:ln>
        </p:spPr>
      </p:sp>
      <p:sp>
        <p:nvSpPr>
          <p:cNvPr id="13" name="Shape 11"/>
          <p:cNvSpPr/>
          <p:nvPr/>
        </p:nvSpPr>
        <p:spPr>
          <a:xfrm>
            <a:off x="886968" y="2741371"/>
            <a:ext cx="76810" cy="76810"/>
          </a:xfrm>
          <a:prstGeom prst="ellipse">
            <a:avLst/>
          </a:prstGeom>
          <a:solidFill>
            <a:srgbClr val="FFBD2E"/>
          </a:solidFill>
          <a:ln w="12700">
            <a:solidFill>
              <a:srgbClr val="000000"/>
            </a:solidFill>
            <a:prstDash val="solid"/>
          </a:ln>
        </p:spPr>
      </p:sp>
      <p:sp>
        <p:nvSpPr>
          <p:cNvPr id="14" name="Shape 12"/>
          <p:cNvSpPr/>
          <p:nvPr/>
        </p:nvSpPr>
        <p:spPr>
          <a:xfrm>
            <a:off x="1051560" y="2741371"/>
            <a:ext cx="76810" cy="76810"/>
          </a:xfrm>
          <a:prstGeom prst="ellipse">
            <a:avLst/>
          </a:prstGeom>
          <a:solidFill>
            <a:srgbClr val="27C93F"/>
          </a:solidFill>
          <a:ln w="12700">
            <a:solidFill>
              <a:srgbClr val="000000"/>
            </a:solidFill>
            <a:prstDash val="solid"/>
          </a:ln>
        </p:spPr>
      </p:sp>
      <p:sp>
        <p:nvSpPr>
          <p:cNvPr id="15" name="Text 13"/>
          <p:cNvSpPr/>
          <p:nvPr/>
        </p:nvSpPr>
        <p:spPr>
          <a:xfrm>
            <a:off x="1371600" y="2642616"/>
            <a:ext cx="9692640" cy="274320"/>
          </a:xfrm>
          <a:prstGeom prst="rect">
            <a:avLst/>
          </a:prstGeom>
          <a:noFill/>
          <a:ln/>
        </p:spPr>
        <p:txBody>
          <a:bodyPr wrap="square" lIns="0" tIns="0" rIns="0" bIns="0" rtlCol="0" anchor="ctr"/>
          <a:lstStyle/>
          <a:p>
            <a:pPr marL="0" indent="0" algn="l">
              <a:buNone/>
            </a:pPr>
            <a:r>
              <a:rPr lang="en-US" sz="1000" dirty="0">
                <a:solidFill>
                  <a:srgbClr val="8A8FA3"/>
                </a:solidFill>
                <a:latin typeface="Courier New" pitchFamily="34" charset="0"/>
                <a:ea typeface="Courier New" pitchFamily="34" charset="-122"/>
                <a:cs typeface="Courier New" pitchFamily="34" charset="-120"/>
              </a:rPr>
              <a:t>Main.java</a:t>
            </a:r>
            <a:endParaRPr lang="en-US" sz="1000" dirty="0"/>
          </a:p>
        </p:txBody>
      </p:sp>
      <p:sp>
        <p:nvSpPr>
          <p:cNvPr id="16" name="Text 14"/>
          <p:cNvSpPr/>
          <p:nvPr/>
        </p:nvSpPr>
        <p:spPr>
          <a:xfrm>
            <a:off x="777240" y="2990088"/>
            <a:ext cx="10241280" cy="2971800"/>
          </a:xfrm>
          <a:prstGeom prst="rect">
            <a:avLst/>
          </a:prstGeom>
          <a:noFill/>
          <a:ln/>
        </p:spPr>
        <p:txBody>
          <a:bodyPr wrap="square" lIns="0" tIns="0" rIns="0" bIns="0" rtlCol="0" anchor="t"/>
          <a:lstStyle/>
          <a:p>
            <a:pPr marL="0" indent="0" algn="l">
              <a:lnSpc>
                <a:spcPct val="118000"/>
              </a:lnSpc>
              <a:buNone/>
            </a:pPr>
            <a:r>
              <a:rPr lang="en-US" sz="1500" b="1" dirty="0">
                <a:solidFill>
                  <a:srgbClr val="569CD6"/>
                </a:solidFill>
                <a:latin typeface="Courier New" pitchFamily="34" charset="0"/>
                <a:ea typeface="Courier New" pitchFamily="34" charset="-122"/>
                <a:cs typeface="Courier New" pitchFamily="34" charset="-120"/>
              </a:rPr>
              <a:t>public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class</a:t>
            </a:r>
            <a:r>
              <a:rPr lang="en-US" sz="1500" dirty="0">
                <a:solidFill>
                  <a:srgbClr val="D4D4D4"/>
                </a:solidFill>
                <a:latin typeface="Courier New" pitchFamily="34" charset="0"/>
                <a:ea typeface="Courier New" pitchFamily="34" charset="-122"/>
                <a:cs typeface="Courier New" pitchFamily="34" charset="-120"/>
              </a:rPr>
              <a:t> Car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static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int</a:t>
            </a:r>
            <a:r>
              <a:rPr lang="en-US" sz="1500" dirty="0">
                <a:solidFill>
                  <a:srgbClr val="D4D4D4"/>
                </a:solidFill>
                <a:latin typeface="Courier New" pitchFamily="34" charset="0"/>
                <a:ea typeface="Courier New" pitchFamily="34" charset="-122"/>
                <a:cs typeface="Courier New" pitchFamily="34" charset="-120"/>
              </a:rPr>
              <a:t> totalCars = </a:t>
            </a:r>
            <a:r>
              <a:rPr lang="en-US" sz="1500" dirty="0">
                <a:solidFill>
                  <a:srgbClr val="B5CEA8"/>
                </a:solidFill>
                <a:latin typeface="Courier New" pitchFamily="34" charset="0"/>
                <a:ea typeface="Courier New" pitchFamily="34" charset="-122"/>
                <a:cs typeface="Courier New" pitchFamily="34" charset="-120"/>
              </a:rPr>
              <a:t>0</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4EC9B0"/>
                </a:solidFill>
                <a:latin typeface="Courier New" pitchFamily="34" charset="0"/>
                <a:ea typeface="Courier New" pitchFamily="34" charset="-122"/>
                <a:cs typeface="Courier New" pitchFamily="34" charset="-120"/>
              </a:rPr>
              <a:t>String</a:t>
            </a:r>
            <a:r>
              <a:rPr lang="en-US" sz="1500" dirty="0">
                <a:solidFill>
                  <a:srgbClr val="D4D4D4"/>
                </a:solidFill>
                <a:latin typeface="Courier New" pitchFamily="34" charset="0"/>
                <a:ea typeface="Courier New" pitchFamily="34" charset="-122"/>
                <a:cs typeface="Courier New" pitchFamily="34" charset="-120"/>
              </a:rPr>
              <a:t> brand;</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DCDCAA"/>
                </a:solidFill>
                <a:latin typeface="Courier New" pitchFamily="34" charset="0"/>
                <a:ea typeface="Courier New" pitchFamily="34" charset="-122"/>
                <a:cs typeface="Courier New" pitchFamily="34" charset="-120"/>
              </a:rPr>
              <a:t>Car</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4EC9B0"/>
                </a:solidFill>
                <a:latin typeface="Courier New" pitchFamily="34" charset="0"/>
                <a:ea typeface="Courier New" pitchFamily="34" charset="-122"/>
                <a:cs typeface="Courier New" pitchFamily="34" charset="-120"/>
              </a:rPr>
              <a:t>String</a:t>
            </a:r>
            <a:r>
              <a:rPr lang="en-US" sz="1500" dirty="0">
                <a:solidFill>
                  <a:srgbClr val="D4D4D4"/>
                </a:solidFill>
                <a:latin typeface="Courier New" pitchFamily="34" charset="0"/>
                <a:ea typeface="Courier New" pitchFamily="34" charset="-122"/>
                <a:cs typeface="Courier New" pitchFamily="34" charset="-120"/>
              </a:rPr>
              <a:t> brand)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this</a:t>
            </a:r>
            <a:r>
              <a:rPr lang="en-US" sz="1500" dirty="0">
                <a:solidFill>
                  <a:srgbClr val="D4D4D4"/>
                </a:solidFill>
                <a:latin typeface="Courier New" pitchFamily="34" charset="0"/>
                <a:ea typeface="Courier New" pitchFamily="34" charset="-122"/>
                <a:cs typeface="Courier New" pitchFamily="34" charset="-120"/>
              </a:rPr>
              <a:t>.brand = brand;</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totalCars++;</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a:t>
            </a:r>
            <a:endParaRPr lang="en-US" sz="1500" dirty="0"/>
          </a:p>
        </p:txBody>
      </p:sp>
      <p:sp>
        <p:nvSpPr>
          <p:cNvPr id="17" name="Shape 15"/>
          <p:cNvSpPr/>
          <p:nvPr/>
        </p:nvSpPr>
        <p:spPr>
          <a:xfrm>
            <a:off x="0" y="0"/>
            <a:ext cx="12191695" cy="384048"/>
          </a:xfrm>
          <a:prstGeom prst="rect">
            <a:avLst/>
          </a:prstGeom>
          <a:solidFill>
            <a:srgbClr val="1B2A4A"/>
          </a:solidFill>
          <a:ln w="12700">
            <a:solidFill>
              <a:srgbClr val="1B2A4A"/>
            </a:solidFill>
            <a:prstDash val="solid"/>
          </a:ln>
        </p:spPr>
      </p:sp>
      <p:sp>
        <p:nvSpPr>
          <p:cNvPr id="18" name="Text 16"/>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9" name="Shape 17"/>
          <p:cNvSpPr/>
          <p:nvPr/>
        </p:nvSpPr>
        <p:spPr>
          <a:xfrm>
            <a:off x="219456" y="301752"/>
            <a:ext cx="960120" cy="0"/>
          </a:xfrm>
          <a:prstGeom prst="line">
            <a:avLst/>
          </a:prstGeom>
          <a:noFill/>
          <a:ln w="9525">
            <a:solidFill>
              <a:srgbClr val="4A5570"/>
            </a:solidFill>
            <a:prstDash val="solid"/>
          </a:ln>
        </p:spPr>
      </p:sp>
      <p:sp>
        <p:nvSpPr>
          <p:cNvPr id="20" name="Text 18"/>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1" name="Text 19"/>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2" name="Text 20"/>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3" name="Shape 21"/>
          <p:cNvSpPr/>
          <p:nvPr/>
        </p:nvSpPr>
        <p:spPr>
          <a:xfrm>
            <a:off x="0" y="6291072"/>
            <a:ext cx="12191695" cy="566928"/>
          </a:xfrm>
          <a:prstGeom prst="rect">
            <a:avLst/>
          </a:prstGeom>
          <a:solidFill>
            <a:srgbClr val="1B2A4A"/>
          </a:solidFill>
          <a:ln w="12700">
            <a:solidFill>
              <a:srgbClr val="1B2A4A"/>
            </a:solidFill>
            <a:prstDash val="solid"/>
          </a:ln>
        </p:spPr>
      </p:sp>
      <p:sp>
        <p:nvSpPr>
          <p:cNvPr id="24" name="Text 22"/>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5" name="Text 23"/>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SHARED BEHAVIOR</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Static Methods</a:t>
            </a:r>
            <a:endParaRPr lang="en-US" sz="2700" dirty="0"/>
          </a:p>
        </p:txBody>
      </p:sp>
      <p:sp>
        <p:nvSpPr>
          <p:cNvPr id="4" name="Shape 2"/>
          <p:cNvSpPr/>
          <p:nvPr/>
        </p:nvSpPr>
        <p:spPr>
          <a:xfrm>
            <a:off x="594360" y="1600200"/>
            <a:ext cx="10607040" cy="896112"/>
          </a:xfrm>
          <a:prstGeom prst="roundRect">
            <a:avLst>
              <a:gd name="adj" fmla="val 6122"/>
            </a:avLst>
          </a:prstGeom>
          <a:solidFill>
            <a:srgbClr val="F5F6FA"/>
          </a:solidFill>
          <a:ln w="9525">
            <a:solidFill>
              <a:srgbClr val="E4E7EE"/>
            </a:solidFill>
            <a:prstDash val="solid"/>
          </a:ln>
        </p:spPr>
      </p:sp>
      <p:sp>
        <p:nvSpPr>
          <p:cNvPr id="5" name="Shape 3"/>
          <p:cNvSpPr/>
          <p:nvPr/>
        </p:nvSpPr>
        <p:spPr>
          <a:xfrm>
            <a:off x="804672" y="1755648"/>
            <a:ext cx="100584" cy="100584"/>
          </a:xfrm>
          <a:prstGeom prst="ellipse">
            <a:avLst/>
          </a:prstGeom>
          <a:solidFill>
            <a:srgbClr val="E8590C"/>
          </a:solidFill>
          <a:ln w="12700">
            <a:solidFill>
              <a:srgbClr val="000000"/>
            </a:solidFill>
            <a:prstDash val="solid"/>
          </a:ln>
        </p:spPr>
      </p:sp>
      <p:sp>
        <p:nvSpPr>
          <p:cNvPr id="6" name="Text 4"/>
          <p:cNvSpPr/>
          <p:nvPr/>
        </p:nvSpPr>
        <p:spPr>
          <a:xfrm>
            <a:off x="1051560" y="1655064"/>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A static method is called through the class name and does not operate on any particular object.</a:t>
            </a:r>
            <a:endParaRPr lang="en-US" sz="1250" dirty="0"/>
          </a:p>
        </p:txBody>
      </p:sp>
      <p:sp>
        <p:nvSpPr>
          <p:cNvPr id="7" name="Shape 5"/>
          <p:cNvSpPr/>
          <p:nvPr/>
        </p:nvSpPr>
        <p:spPr>
          <a:xfrm>
            <a:off x="804672" y="2103120"/>
            <a:ext cx="100584" cy="100584"/>
          </a:xfrm>
          <a:prstGeom prst="ellipse">
            <a:avLst/>
          </a:prstGeom>
          <a:solidFill>
            <a:srgbClr val="E8590C"/>
          </a:solidFill>
          <a:ln w="12700">
            <a:solidFill>
              <a:srgbClr val="000000"/>
            </a:solidFill>
            <a:prstDash val="solid"/>
          </a:ln>
        </p:spPr>
      </p:sp>
      <p:sp>
        <p:nvSpPr>
          <p:cNvPr id="8" name="Text 6"/>
          <p:cNvSpPr/>
          <p:nvPr/>
        </p:nvSpPr>
        <p:spPr>
          <a:xfrm>
            <a:off x="1051560" y="2002536"/>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It can only access other static members directly, not instance fields or methods.</a:t>
            </a:r>
            <a:endParaRPr lang="en-US" sz="1250" dirty="0"/>
          </a:p>
        </p:txBody>
      </p:sp>
      <p:sp>
        <p:nvSpPr>
          <p:cNvPr id="9" name="Shape 7"/>
          <p:cNvSpPr/>
          <p:nvPr/>
        </p:nvSpPr>
        <p:spPr>
          <a:xfrm>
            <a:off x="594360" y="2642616"/>
            <a:ext cx="10607040" cy="3392424"/>
          </a:xfrm>
          <a:prstGeom prst="roundRect">
            <a:avLst>
              <a:gd name="adj" fmla="val 2156"/>
            </a:avLst>
          </a:prstGeom>
          <a:solidFill>
            <a:srgbClr val="1E1E2E"/>
          </a:solidFill>
          <a:ln w="12700">
            <a:solidFill>
              <a:srgbClr val="000000"/>
            </a:solidFill>
            <a:prstDash val="solid"/>
          </a:ln>
        </p:spPr>
      </p:sp>
      <p:sp>
        <p:nvSpPr>
          <p:cNvPr id="10" name="Shape 8"/>
          <p:cNvSpPr/>
          <p:nvPr/>
        </p:nvSpPr>
        <p:spPr>
          <a:xfrm>
            <a:off x="594360" y="2642616"/>
            <a:ext cx="10607040" cy="274320"/>
          </a:xfrm>
          <a:prstGeom prst="roundRect">
            <a:avLst>
              <a:gd name="adj" fmla="val 26667"/>
            </a:avLst>
          </a:prstGeom>
          <a:solidFill>
            <a:srgbClr val="17172A"/>
          </a:solidFill>
          <a:ln w="12700">
            <a:solidFill>
              <a:srgbClr val="000000"/>
            </a:solidFill>
            <a:prstDash val="solid"/>
          </a:ln>
        </p:spPr>
      </p:sp>
      <p:sp>
        <p:nvSpPr>
          <p:cNvPr id="11" name="Shape 9"/>
          <p:cNvSpPr/>
          <p:nvPr/>
        </p:nvSpPr>
        <p:spPr>
          <a:xfrm>
            <a:off x="594360" y="2843784"/>
            <a:ext cx="10607040" cy="73152"/>
          </a:xfrm>
          <a:prstGeom prst="rect">
            <a:avLst/>
          </a:prstGeom>
          <a:solidFill>
            <a:srgbClr val="17172A"/>
          </a:solidFill>
          <a:ln w="12700">
            <a:solidFill>
              <a:srgbClr val="000000"/>
            </a:solidFill>
            <a:prstDash val="solid"/>
          </a:ln>
        </p:spPr>
      </p:sp>
      <p:sp>
        <p:nvSpPr>
          <p:cNvPr id="12" name="Shape 10"/>
          <p:cNvSpPr/>
          <p:nvPr/>
        </p:nvSpPr>
        <p:spPr>
          <a:xfrm>
            <a:off x="722376" y="2741371"/>
            <a:ext cx="76810" cy="76810"/>
          </a:xfrm>
          <a:prstGeom prst="ellipse">
            <a:avLst/>
          </a:prstGeom>
          <a:solidFill>
            <a:srgbClr val="FF5F56"/>
          </a:solidFill>
          <a:ln w="12700">
            <a:solidFill>
              <a:srgbClr val="000000"/>
            </a:solidFill>
            <a:prstDash val="solid"/>
          </a:ln>
        </p:spPr>
      </p:sp>
      <p:sp>
        <p:nvSpPr>
          <p:cNvPr id="13" name="Shape 11"/>
          <p:cNvSpPr/>
          <p:nvPr/>
        </p:nvSpPr>
        <p:spPr>
          <a:xfrm>
            <a:off x="886968" y="2741371"/>
            <a:ext cx="76810" cy="76810"/>
          </a:xfrm>
          <a:prstGeom prst="ellipse">
            <a:avLst/>
          </a:prstGeom>
          <a:solidFill>
            <a:srgbClr val="FFBD2E"/>
          </a:solidFill>
          <a:ln w="12700">
            <a:solidFill>
              <a:srgbClr val="000000"/>
            </a:solidFill>
            <a:prstDash val="solid"/>
          </a:ln>
        </p:spPr>
      </p:sp>
      <p:sp>
        <p:nvSpPr>
          <p:cNvPr id="14" name="Shape 12"/>
          <p:cNvSpPr/>
          <p:nvPr/>
        </p:nvSpPr>
        <p:spPr>
          <a:xfrm>
            <a:off x="1051560" y="2741371"/>
            <a:ext cx="76810" cy="76810"/>
          </a:xfrm>
          <a:prstGeom prst="ellipse">
            <a:avLst/>
          </a:prstGeom>
          <a:solidFill>
            <a:srgbClr val="27C93F"/>
          </a:solidFill>
          <a:ln w="12700">
            <a:solidFill>
              <a:srgbClr val="000000"/>
            </a:solidFill>
            <a:prstDash val="solid"/>
          </a:ln>
        </p:spPr>
      </p:sp>
      <p:sp>
        <p:nvSpPr>
          <p:cNvPr id="15" name="Text 13"/>
          <p:cNvSpPr/>
          <p:nvPr/>
        </p:nvSpPr>
        <p:spPr>
          <a:xfrm>
            <a:off x="1371600" y="2642616"/>
            <a:ext cx="9692640" cy="274320"/>
          </a:xfrm>
          <a:prstGeom prst="rect">
            <a:avLst/>
          </a:prstGeom>
          <a:noFill/>
          <a:ln/>
        </p:spPr>
        <p:txBody>
          <a:bodyPr wrap="square" lIns="0" tIns="0" rIns="0" bIns="0" rtlCol="0" anchor="ctr"/>
          <a:lstStyle/>
          <a:p>
            <a:pPr marL="0" indent="0" algn="l">
              <a:buNone/>
            </a:pPr>
            <a:r>
              <a:rPr lang="en-US" sz="1000" dirty="0">
                <a:solidFill>
                  <a:srgbClr val="8A8FA3"/>
                </a:solidFill>
                <a:latin typeface="Courier New" pitchFamily="34" charset="0"/>
                <a:ea typeface="Courier New" pitchFamily="34" charset="-122"/>
                <a:cs typeface="Courier New" pitchFamily="34" charset="-120"/>
              </a:rPr>
              <a:t>Main.java</a:t>
            </a:r>
            <a:endParaRPr lang="en-US" sz="1000" dirty="0"/>
          </a:p>
        </p:txBody>
      </p:sp>
      <p:sp>
        <p:nvSpPr>
          <p:cNvPr id="16" name="Text 14"/>
          <p:cNvSpPr/>
          <p:nvPr/>
        </p:nvSpPr>
        <p:spPr>
          <a:xfrm>
            <a:off x="777240" y="2990088"/>
            <a:ext cx="10241280" cy="2971800"/>
          </a:xfrm>
          <a:prstGeom prst="rect">
            <a:avLst/>
          </a:prstGeom>
          <a:noFill/>
          <a:ln/>
        </p:spPr>
        <p:txBody>
          <a:bodyPr wrap="square" lIns="0" tIns="0" rIns="0" bIns="0" rtlCol="0" anchor="t"/>
          <a:lstStyle/>
          <a:p>
            <a:pPr marL="0" indent="0" algn="l">
              <a:lnSpc>
                <a:spcPct val="118000"/>
              </a:lnSpc>
              <a:buNone/>
            </a:pPr>
            <a:r>
              <a:rPr lang="en-US" sz="1500" b="1" dirty="0">
                <a:solidFill>
                  <a:srgbClr val="569CD6"/>
                </a:solidFill>
                <a:latin typeface="Courier New" pitchFamily="34" charset="0"/>
                <a:ea typeface="Courier New" pitchFamily="34" charset="-122"/>
                <a:cs typeface="Courier New" pitchFamily="34" charset="-120"/>
              </a:rPr>
              <a:t>public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class</a:t>
            </a:r>
            <a:r>
              <a:rPr lang="en-US" sz="1500" dirty="0">
                <a:solidFill>
                  <a:srgbClr val="D4D4D4"/>
                </a:solidFill>
                <a:latin typeface="Courier New" pitchFamily="34" charset="0"/>
                <a:ea typeface="Courier New" pitchFamily="34" charset="-122"/>
                <a:cs typeface="Courier New" pitchFamily="34" charset="-120"/>
              </a:rPr>
              <a:t> MathHelper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static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int</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DCDCAA"/>
                </a:solidFill>
                <a:latin typeface="Courier New" pitchFamily="34" charset="0"/>
                <a:ea typeface="Courier New" pitchFamily="34" charset="-122"/>
                <a:cs typeface="Courier New" pitchFamily="34" charset="-120"/>
              </a:rPr>
              <a:t>square</a:t>
            </a:r>
            <a:r>
              <a:rPr lang="en-US" sz="1500" dirty="0">
                <a:solidFill>
                  <a:srgbClr val="D4D4D4"/>
                </a:solidFill>
                <a:latin typeface="Courier New" pitchFamily="34" charset="0"/>
                <a:ea typeface="Courier New" pitchFamily="34" charset="-122"/>
                <a:cs typeface="Courier New" pitchFamily="34" charset="-120"/>
              </a:rPr>
              <a:t>(</a:t>
            </a:r>
            <a:r>
              <a:rPr lang="en-US" sz="1500" b="1" dirty="0">
                <a:solidFill>
                  <a:srgbClr val="569CD6"/>
                </a:solidFill>
                <a:latin typeface="Courier New" pitchFamily="34" charset="0"/>
                <a:ea typeface="Courier New" pitchFamily="34" charset="-122"/>
                <a:cs typeface="Courier New" pitchFamily="34" charset="-120"/>
              </a:rPr>
              <a:t>int</a:t>
            </a:r>
            <a:r>
              <a:rPr lang="en-US" sz="1500" dirty="0">
                <a:solidFill>
                  <a:srgbClr val="D4D4D4"/>
                </a:solidFill>
                <a:latin typeface="Courier New" pitchFamily="34" charset="0"/>
                <a:ea typeface="Courier New" pitchFamily="34" charset="-122"/>
                <a:cs typeface="Courier New" pitchFamily="34" charset="-120"/>
              </a:rPr>
              <a:t> n)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return</a:t>
            </a:r>
            <a:r>
              <a:rPr lang="en-US" sz="1500" dirty="0">
                <a:solidFill>
                  <a:srgbClr val="D4D4D4"/>
                </a:solidFill>
                <a:latin typeface="Courier New" pitchFamily="34" charset="0"/>
                <a:ea typeface="Courier New" pitchFamily="34" charset="-122"/>
                <a:cs typeface="Courier New" pitchFamily="34" charset="-120"/>
              </a:rPr>
              <a:t> n * n;</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public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static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void</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DCDCAA"/>
                </a:solidFill>
                <a:latin typeface="Courier New" pitchFamily="34" charset="0"/>
                <a:ea typeface="Courier New" pitchFamily="34" charset="-122"/>
                <a:cs typeface="Courier New" pitchFamily="34" charset="-120"/>
              </a:rPr>
              <a:t>main</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4EC9B0"/>
                </a:solidFill>
                <a:latin typeface="Courier New" pitchFamily="34" charset="0"/>
                <a:ea typeface="Courier New" pitchFamily="34" charset="-122"/>
                <a:cs typeface="Courier New" pitchFamily="34" charset="-120"/>
              </a:rPr>
              <a:t>String</a:t>
            </a:r>
            <a:r>
              <a:rPr lang="en-US" sz="1500" dirty="0">
                <a:solidFill>
                  <a:srgbClr val="D4D4D4"/>
                </a:solidFill>
                <a:latin typeface="Courier New" pitchFamily="34" charset="0"/>
                <a:ea typeface="Courier New" pitchFamily="34" charset="-122"/>
                <a:cs typeface="Courier New" pitchFamily="34" charset="-120"/>
              </a:rPr>
              <a:t>[] args)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int</a:t>
            </a:r>
            <a:r>
              <a:rPr lang="en-US" sz="1500" dirty="0">
                <a:solidFill>
                  <a:srgbClr val="D4D4D4"/>
                </a:solidFill>
                <a:latin typeface="Courier New" pitchFamily="34" charset="0"/>
                <a:ea typeface="Courier New" pitchFamily="34" charset="-122"/>
                <a:cs typeface="Courier New" pitchFamily="34" charset="-120"/>
              </a:rPr>
              <a:t> result = MathHelper.</a:t>
            </a:r>
            <a:r>
              <a:rPr lang="en-US" sz="1500" dirty="0">
                <a:solidFill>
                  <a:srgbClr val="DCDCAA"/>
                </a:solidFill>
                <a:latin typeface="Courier New" pitchFamily="34" charset="0"/>
                <a:ea typeface="Courier New" pitchFamily="34" charset="-122"/>
                <a:cs typeface="Courier New" pitchFamily="34" charset="-120"/>
              </a:rPr>
              <a:t>square</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B5CEA8"/>
                </a:solidFill>
                <a:latin typeface="Courier New" pitchFamily="34" charset="0"/>
                <a:ea typeface="Courier New" pitchFamily="34" charset="-122"/>
                <a:cs typeface="Courier New" pitchFamily="34" charset="-120"/>
              </a:rPr>
              <a:t>6</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4EC9B0"/>
                </a:solidFill>
                <a:latin typeface="Courier New" pitchFamily="34" charset="0"/>
                <a:ea typeface="Courier New" pitchFamily="34" charset="-122"/>
                <a:cs typeface="Courier New" pitchFamily="34" charset="-120"/>
              </a:rPr>
              <a:t>System</a:t>
            </a:r>
            <a:r>
              <a:rPr lang="en-US" sz="1500" dirty="0">
                <a:solidFill>
                  <a:srgbClr val="D4D4D4"/>
                </a:solidFill>
                <a:latin typeface="Courier New" pitchFamily="34" charset="0"/>
                <a:ea typeface="Courier New" pitchFamily="34" charset="-122"/>
                <a:cs typeface="Courier New" pitchFamily="34" charset="-120"/>
              </a:rPr>
              <a:t>.out.</a:t>
            </a:r>
            <a:r>
              <a:rPr lang="en-US" sz="1500" dirty="0">
                <a:solidFill>
                  <a:srgbClr val="DCDCAA"/>
                </a:solidFill>
                <a:latin typeface="Courier New" pitchFamily="34" charset="0"/>
                <a:ea typeface="Courier New" pitchFamily="34" charset="-122"/>
                <a:cs typeface="Courier New" pitchFamily="34" charset="-120"/>
              </a:rPr>
              <a:t>println</a:t>
            </a:r>
            <a:r>
              <a:rPr lang="en-US" sz="1500" dirty="0">
                <a:solidFill>
                  <a:srgbClr val="D4D4D4"/>
                </a:solidFill>
                <a:latin typeface="Courier New" pitchFamily="34" charset="0"/>
                <a:ea typeface="Courier New" pitchFamily="34" charset="-122"/>
                <a:cs typeface="Courier New" pitchFamily="34" charset="-120"/>
              </a:rPr>
              <a:t>(result);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a:t>
            </a:r>
            <a:endParaRPr lang="en-US" sz="1500" dirty="0"/>
          </a:p>
        </p:txBody>
      </p:sp>
      <p:sp>
        <p:nvSpPr>
          <p:cNvPr id="17" name="Shape 15"/>
          <p:cNvSpPr/>
          <p:nvPr/>
        </p:nvSpPr>
        <p:spPr>
          <a:xfrm>
            <a:off x="0" y="0"/>
            <a:ext cx="12191695" cy="384048"/>
          </a:xfrm>
          <a:prstGeom prst="rect">
            <a:avLst/>
          </a:prstGeom>
          <a:solidFill>
            <a:srgbClr val="1B2A4A"/>
          </a:solidFill>
          <a:ln w="12700">
            <a:solidFill>
              <a:srgbClr val="1B2A4A"/>
            </a:solidFill>
            <a:prstDash val="solid"/>
          </a:ln>
        </p:spPr>
      </p:sp>
      <p:sp>
        <p:nvSpPr>
          <p:cNvPr id="18" name="Text 16"/>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9" name="Shape 17"/>
          <p:cNvSpPr/>
          <p:nvPr/>
        </p:nvSpPr>
        <p:spPr>
          <a:xfrm>
            <a:off x="219456" y="301752"/>
            <a:ext cx="960120" cy="0"/>
          </a:xfrm>
          <a:prstGeom prst="line">
            <a:avLst/>
          </a:prstGeom>
          <a:noFill/>
          <a:ln w="9525">
            <a:solidFill>
              <a:srgbClr val="4A5570"/>
            </a:solidFill>
            <a:prstDash val="solid"/>
          </a:ln>
        </p:spPr>
      </p:sp>
      <p:sp>
        <p:nvSpPr>
          <p:cNvPr id="20" name="Text 18"/>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1" name="Text 19"/>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2" name="Text 20"/>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3" name="Shape 21"/>
          <p:cNvSpPr/>
          <p:nvPr/>
        </p:nvSpPr>
        <p:spPr>
          <a:xfrm>
            <a:off x="0" y="6291072"/>
            <a:ext cx="12191695" cy="566928"/>
          </a:xfrm>
          <a:prstGeom prst="rect">
            <a:avLst/>
          </a:prstGeom>
          <a:solidFill>
            <a:srgbClr val="1B2A4A"/>
          </a:solidFill>
          <a:ln w="12700">
            <a:solidFill>
              <a:srgbClr val="1B2A4A"/>
            </a:solidFill>
            <a:prstDash val="solid"/>
          </a:ln>
        </p:spPr>
      </p:sp>
      <p:sp>
        <p:nvSpPr>
          <p:cNvPr id="24" name="Text 22"/>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5" name="Text 23"/>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REACHING THEM</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Accessing Static Members</a:t>
            </a:r>
            <a:endParaRPr lang="en-US" sz="2700" dirty="0"/>
          </a:p>
        </p:txBody>
      </p:sp>
      <p:sp>
        <p:nvSpPr>
          <p:cNvPr id="4" name="Shape 2"/>
          <p:cNvSpPr/>
          <p:nvPr/>
        </p:nvSpPr>
        <p:spPr>
          <a:xfrm>
            <a:off x="594360" y="1600200"/>
            <a:ext cx="10607040" cy="896112"/>
          </a:xfrm>
          <a:prstGeom prst="roundRect">
            <a:avLst>
              <a:gd name="adj" fmla="val 6122"/>
            </a:avLst>
          </a:prstGeom>
          <a:solidFill>
            <a:srgbClr val="F5F6FA"/>
          </a:solidFill>
          <a:ln w="9525">
            <a:solidFill>
              <a:srgbClr val="E4E7EE"/>
            </a:solidFill>
            <a:prstDash val="solid"/>
          </a:ln>
        </p:spPr>
      </p:sp>
      <p:sp>
        <p:nvSpPr>
          <p:cNvPr id="5" name="Shape 3"/>
          <p:cNvSpPr/>
          <p:nvPr/>
        </p:nvSpPr>
        <p:spPr>
          <a:xfrm>
            <a:off x="804672" y="1755648"/>
            <a:ext cx="100584" cy="100584"/>
          </a:xfrm>
          <a:prstGeom prst="ellipse">
            <a:avLst/>
          </a:prstGeom>
          <a:solidFill>
            <a:srgbClr val="E8590C"/>
          </a:solidFill>
          <a:ln w="12700">
            <a:solidFill>
              <a:srgbClr val="000000"/>
            </a:solidFill>
            <a:prstDash val="solid"/>
          </a:ln>
        </p:spPr>
      </p:sp>
      <p:sp>
        <p:nvSpPr>
          <p:cNvPr id="6" name="Text 4"/>
          <p:cNvSpPr/>
          <p:nvPr/>
        </p:nvSpPr>
        <p:spPr>
          <a:xfrm>
            <a:off x="1051560" y="1655064"/>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Static members are usually accessed through the class name, such as ClassName.member.</a:t>
            </a:r>
            <a:endParaRPr lang="en-US" sz="1250" dirty="0"/>
          </a:p>
        </p:txBody>
      </p:sp>
      <p:sp>
        <p:nvSpPr>
          <p:cNvPr id="7" name="Shape 5"/>
          <p:cNvSpPr/>
          <p:nvPr/>
        </p:nvSpPr>
        <p:spPr>
          <a:xfrm>
            <a:off x="804672" y="2103120"/>
            <a:ext cx="100584" cy="100584"/>
          </a:xfrm>
          <a:prstGeom prst="ellipse">
            <a:avLst/>
          </a:prstGeom>
          <a:solidFill>
            <a:srgbClr val="E8590C"/>
          </a:solidFill>
          <a:ln w="12700">
            <a:solidFill>
              <a:srgbClr val="000000"/>
            </a:solidFill>
            <a:prstDash val="solid"/>
          </a:ln>
        </p:spPr>
      </p:sp>
      <p:sp>
        <p:nvSpPr>
          <p:cNvPr id="8" name="Text 6"/>
          <p:cNvSpPr/>
          <p:nvPr/>
        </p:nvSpPr>
        <p:spPr>
          <a:xfrm>
            <a:off x="1051560" y="2002536"/>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They can also be accessed through an object reference, though this is considered poor style.</a:t>
            </a:r>
            <a:endParaRPr lang="en-US" sz="1250" dirty="0"/>
          </a:p>
        </p:txBody>
      </p:sp>
      <p:sp>
        <p:nvSpPr>
          <p:cNvPr id="9" name="Shape 7"/>
          <p:cNvSpPr/>
          <p:nvPr/>
        </p:nvSpPr>
        <p:spPr>
          <a:xfrm>
            <a:off x="594360" y="2642616"/>
            <a:ext cx="10607040" cy="3392424"/>
          </a:xfrm>
          <a:prstGeom prst="roundRect">
            <a:avLst>
              <a:gd name="adj" fmla="val 2156"/>
            </a:avLst>
          </a:prstGeom>
          <a:solidFill>
            <a:srgbClr val="1E1E2E"/>
          </a:solidFill>
          <a:ln w="12700">
            <a:solidFill>
              <a:srgbClr val="000000"/>
            </a:solidFill>
            <a:prstDash val="solid"/>
          </a:ln>
        </p:spPr>
      </p:sp>
      <p:sp>
        <p:nvSpPr>
          <p:cNvPr id="10" name="Shape 8"/>
          <p:cNvSpPr/>
          <p:nvPr/>
        </p:nvSpPr>
        <p:spPr>
          <a:xfrm>
            <a:off x="594360" y="2642616"/>
            <a:ext cx="10607040" cy="274320"/>
          </a:xfrm>
          <a:prstGeom prst="roundRect">
            <a:avLst>
              <a:gd name="adj" fmla="val 26667"/>
            </a:avLst>
          </a:prstGeom>
          <a:solidFill>
            <a:srgbClr val="17172A"/>
          </a:solidFill>
          <a:ln w="12700">
            <a:solidFill>
              <a:srgbClr val="000000"/>
            </a:solidFill>
            <a:prstDash val="solid"/>
          </a:ln>
        </p:spPr>
      </p:sp>
      <p:sp>
        <p:nvSpPr>
          <p:cNvPr id="11" name="Shape 9"/>
          <p:cNvSpPr/>
          <p:nvPr/>
        </p:nvSpPr>
        <p:spPr>
          <a:xfrm>
            <a:off x="594360" y="2843784"/>
            <a:ext cx="10607040" cy="73152"/>
          </a:xfrm>
          <a:prstGeom prst="rect">
            <a:avLst/>
          </a:prstGeom>
          <a:solidFill>
            <a:srgbClr val="17172A"/>
          </a:solidFill>
          <a:ln w="12700">
            <a:solidFill>
              <a:srgbClr val="000000"/>
            </a:solidFill>
            <a:prstDash val="solid"/>
          </a:ln>
        </p:spPr>
      </p:sp>
      <p:sp>
        <p:nvSpPr>
          <p:cNvPr id="12" name="Shape 10"/>
          <p:cNvSpPr/>
          <p:nvPr/>
        </p:nvSpPr>
        <p:spPr>
          <a:xfrm>
            <a:off x="722376" y="2741371"/>
            <a:ext cx="76810" cy="76810"/>
          </a:xfrm>
          <a:prstGeom prst="ellipse">
            <a:avLst/>
          </a:prstGeom>
          <a:solidFill>
            <a:srgbClr val="FF5F56"/>
          </a:solidFill>
          <a:ln w="12700">
            <a:solidFill>
              <a:srgbClr val="000000"/>
            </a:solidFill>
            <a:prstDash val="solid"/>
          </a:ln>
        </p:spPr>
      </p:sp>
      <p:sp>
        <p:nvSpPr>
          <p:cNvPr id="13" name="Shape 11"/>
          <p:cNvSpPr/>
          <p:nvPr/>
        </p:nvSpPr>
        <p:spPr>
          <a:xfrm>
            <a:off x="886968" y="2741371"/>
            <a:ext cx="76810" cy="76810"/>
          </a:xfrm>
          <a:prstGeom prst="ellipse">
            <a:avLst/>
          </a:prstGeom>
          <a:solidFill>
            <a:srgbClr val="FFBD2E"/>
          </a:solidFill>
          <a:ln w="12700">
            <a:solidFill>
              <a:srgbClr val="000000"/>
            </a:solidFill>
            <a:prstDash val="solid"/>
          </a:ln>
        </p:spPr>
      </p:sp>
      <p:sp>
        <p:nvSpPr>
          <p:cNvPr id="14" name="Shape 12"/>
          <p:cNvSpPr/>
          <p:nvPr/>
        </p:nvSpPr>
        <p:spPr>
          <a:xfrm>
            <a:off x="1051560" y="2741371"/>
            <a:ext cx="76810" cy="76810"/>
          </a:xfrm>
          <a:prstGeom prst="ellipse">
            <a:avLst/>
          </a:prstGeom>
          <a:solidFill>
            <a:srgbClr val="27C93F"/>
          </a:solidFill>
          <a:ln w="12700">
            <a:solidFill>
              <a:srgbClr val="000000"/>
            </a:solidFill>
            <a:prstDash val="solid"/>
          </a:ln>
        </p:spPr>
      </p:sp>
      <p:sp>
        <p:nvSpPr>
          <p:cNvPr id="15" name="Text 13"/>
          <p:cNvSpPr/>
          <p:nvPr/>
        </p:nvSpPr>
        <p:spPr>
          <a:xfrm>
            <a:off x="1371600" y="2642616"/>
            <a:ext cx="9692640" cy="274320"/>
          </a:xfrm>
          <a:prstGeom prst="rect">
            <a:avLst/>
          </a:prstGeom>
          <a:noFill/>
          <a:ln/>
        </p:spPr>
        <p:txBody>
          <a:bodyPr wrap="square" lIns="0" tIns="0" rIns="0" bIns="0" rtlCol="0" anchor="ctr"/>
          <a:lstStyle/>
          <a:p>
            <a:pPr marL="0" indent="0" algn="l">
              <a:buNone/>
            </a:pPr>
            <a:r>
              <a:rPr lang="en-US" sz="1000" dirty="0">
                <a:solidFill>
                  <a:srgbClr val="8A8FA3"/>
                </a:solidFill>
                <a:latin typeface="Courier New" pitchFamily="34" charset="0"/>
                <a:ea typeface="Courier New" pitchFamily="34" charset="-122"/>
                <a:cs typeface="Courier New" pitchFamily="34" charset="-120"/>
              </a:rPr>
              <a:t>Main.java</a:t>
            </a:r>
            <a:endParaRPr lang="en-US" sz="1000" dirty="0"/>
          </a:p>
        </p:txBody>
      </p:sp>
      <p:sp>
        <p:nvSpPr>
          <p:cNvPr id="16" name="Text 14"/>
          <p:cNvSpPr/>
          <p:nvPr/>
        </p:nvSpPr>
        <p:spPr>
          <a:xfrm>
            <a:off x="777240" y="2990088"/>
            <a:ext cx="10241280" cy="2971800"/>
          </a:xfrm>
          <a:prstGeom prst="rect">
            <a:avLst/>
          </a:prstGeom>
          <a:noFill/>
          <a:ln/>
        </p:spPr>
        <p:txBody>
          <a:bodyPr wrap="square" lIns="0" tIns="0" rIns="0" bIns="0" rtlCol="0" anchor="t"/>
          <a:lstStyle/>
          <a:p>
            <a:pPr marL="0" indent="0" algn="l">
              <a:lnSpc>
                <a:spcPct val="118000"/>
              </a:lnSpc>
              <a:buNone/>
            </a:pPr>
            <a:r>
              <a:rPr lang="en-US" sz="1500" b="1" dirty="0">
                <a:solidFill>
                  <a:srgbClr val="569CD6"/>
                </a:solidFill>
                <a:latin typeface="Courier New" pitchFamily="34" charset="0"/>
                <a:ea typeface="Courier New" pitchFamily="34" charset="-122"/>
                <a:cs typeface="Courier New" pitchFamily="34" charset="-120"/>
              </a:rPr>
              <a:t>public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class</a:t>
            </a:r>
            <a:r>
              <a:rPr lang="en-US" sz="1500" dirty="0">
                <a:solidFill>
                  <a:srgbClr val="D4D4D4"/>
                </a:solidFill>
                <a:latin typeface="Courier New" pitchFamily="34" charset="0"/>
                <a:ea typeface="Courier New" pitchFamily="34" charset="-122"/>
                <a:cs typeface="Courier New" pitchFamily="34" charset="-120"/>
              </a:rPr>
              <a:t> Config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static</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4EC9B0"/>
                </a:solidFill>
                <a:latin typeface="Courier New" pitchFamily="34" charset="0"/>
                <a:ea typeface="Courier New" pitchFamily="34" charset="-122"/>
                <a:cs typeface="Courier New" pitchFamily="34" charset="-120"/>
              </a:rPr>
              <a:t>String</a:t>
            </a:r>
            <a:r>
              <a:rPr lang="en-US" sz="1500" dirty="0">
                <a:solidFill>
                  <a:srgbClr val="D4D4D4"/>
                </a:solidFill>
                <a:latin typeface="Courier New" pitchFamily="34" charset="0"/>
                <a:ea typeface="Courier New" pitchFamily="34" charset="-122"/>
                <a:cs typeface="Courier New" pitchFamily="34" charset="-120"/>
              </a:rPr>
              <a:t> appName = </a:t>
            </a:r>
            <a:r>
              <a:rPr lang="en-US" sz="1500" dirty="0">
                <a:solidFill>
                  <a:srgbClr val="CE9178"/>
                </a:solidFill>
                <a:latin typeface="Courier New" pitchFamily="34" charset="0"/>
                <a:ea typeface="Courier New" pitchFamily="34" charset="-122"/>
                <a:cs typeface="Courier New" pitchFamily="34" charset="-120"/>
              </a:rPr>
              <a:t>"EduBridge"</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b="1" dirty="0">
                <a:solidFill>
                  <a:srgbClr val="569CD6"/>
                </a:solidFill>
                <a:latin typeface="Courier New" pitchFamily="34" charset="0"/>
                <a:ea typeface="Courier New" pitchFamily="34" charset="-122"/>
                <a:cs typeface="Courier New" pitchFamily="34" charset="-120"/>
              </a:rPr>
              <a:t>public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class</a:t>
            </a:r>
            <a:r>
              <a:rPr lang="en-US" sz="1500" dirty="0">
                <a:solidFill>
                  <a:srgbClr val="D4D4D4"/>
                </a:solidFill>
                <a:latin typeface="Courier New" pitchFamily="34" charset="0"/>
                <a:ea typeface="Courier New" pitchFamily="34" charset="-122"/>
                <a:cs typeface="Courier New" pitchFamily="34" charset="-120"/>
              </a:rPr>
              <a:t> AccessDemo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public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static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void</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DCDCAA"/>
                </a:solidFill>
                <a:latin typeface="Courier New" pitchFamily="34" charset="0"/>
                <a:ea typeface="Courier New" pitchFamily="34" charset="-122"/>
                <a:cs typeface="Courier New" pitchFamily="34" charset="-120"/>
              </a:rPr>
              <a:t>main</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4EC9B0"/>
                </a:solidFill>
                <a:latin typeface="Courier New" pitchFamily="34" charset="0"/>
                <a:ea typeface="Courier New" pitchFamily="34" charset="-122"/>
                <a:cs typeface="Courier New" pitchFamily="34" charset="-120"/>
              </a:rPr>
              <a:t>String</a:t>
            </a:r>
            <a:r>
              <a:rPr lang="en-US" sz="1500" dirty="0">
                <a:solidFill>
                  <a:srgbClr val="D4D4D4"/>
                </a:solidFill>
                <a:latin typeface="Courier New" pitchFamily="34" charset="0"/>
                <a:ea typeface="Courier New" pitchFamily="34" charset="-122"/>
                <a:cs typeface="Courier New" pitchFamily="34" charset="-120"/>
              </a:rPr>
              <a:t>[] args)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4EC9B0"/>
                </a:solidFill>
                <a:latin typeface="Courier New" pitchFamily="34" charset="0"/>
                <a:ea typeface="Courier New" pitchFamily="34" charset="-122"/>
                <a:cs typeface="Courier New" pitchFamily="34" charset="-120"/>
              </a:rPr>
              <a:t>System</a:t>
            </a:r>
            <a:r>
              <a:rPr lang="en-US" sz="1500" dirty="0">
                <a:solidFill>
                  <a:srgbClr val="D4D4D4"/>
                </a:solidFill>
                <a:latin typeface="Courier New" pitchFamily="34" charset="0"/>
                <a:ea typeface="Courier New" pitchFamily="34" charset="-122"/>
                <a:cs typeface="Courier New" pitchFamily="34" charset="-120"/>
              </a:rPr>
              <a:t>.out.</a:t>
            </a:r>
            <a:r>
              <a:rPr lang="en-US" sz="1500" dirty="0">
                <a:solidFill>
                  <a:srgbClr val="DCDCAA"/>
                </a:solidFill>
                <a:latin typeface="Courier New" pitchFamily="34" charset="0"/>
                <a:ea typeface="Courier New" pitchFamily="34" charset="-122"/>
                <a:cs typeface="Courier New" pitchFamily="34" charset="-120"/>
              </a:rPr>
              <a:t>println</a:t>
            </a:r>
            <a:r>
              <a:rPr lang="en-US" sz="1500" dirty="0">
                <a:solidFill>
                  <a:srgbClr val="D4D4D4"/>
                </a:solidFill>
                <a:latin typeface="Courier New" pitchFamily="34" charset="0"/>
                <a:ea typeface="Courier New" pitchFamily="34" charset="-122"/>
                <a:cs typeface="Courier New" pitchFamily="34" charset="-120"/>
              </a:rPr>
              <a:t>(Config.appName);   </a:t>
            </a:r>
            <a:r>
              <a:rPr lang="en-US" sz="1500" i="1" dirty="0">
                <a:solidFill>
                  <a:srgbClr val="6A9955"/>
                </a:solidFill>
                <a:latin typeface="Courier New" pitchFamily="34" charset="0"/>
                <a:ea typeface="Courier New" pitchFamily="34" charset="-122"/>
                <a:cs typeface="Courier New" pitchFamily="34" charset="-120"/>
              </a:rPr>
              <a:t>// preferred style</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a:t>
            </a:r>
            <a:endParaRPr lang="en-US" sz="1500" dirty="0"/>
          </a:p>
        </p:txBody>
      </p:sp>
      <p:sp>
        <p:nvSpPr>
          <p:cNvPr id="17" name="Shape 15"/>
          <p:cNvSpPr/>
          <p:nvPr/>
        </p:nvSpPr>
        <p:spPr>
          <a:xfrm>
            <a:off x="0" y="0"/>
            <a:ext cx="12191695" cy="384048"/>
          </a:xfrm>
          <a:prstGeom prst="rect">
            <a:avLst/>
          </a:prstGeom>
          <a:solidFill>
            <a:srgbClr val="1B2A4A"/>
          </a:solidFill>
          <a:ln w="12700">
            <a:solidFill>
              <a:srgbClr val="1B2A4A"/>
            </a:solidFill>
            <a:prstDash val="solid"/>
          </a:ln>
        </p:spPr>
      </p:sp>
      <p:sp>
        <p:nvSpPr>
          <p:cNvPr id="18" name="Text 16"/>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9" name="Shape 17"/>
          <p:cNvSpPr/>
          <p:nvPr/>
        </p:nvSpPr>
        <p:spPr>
          <a:xfrm>
            <a:off x="219456" y="301752"/>
            <a:ext cx="960120" cy="0"/>
          </a:xfrm>
          <a:prstGeom prst="line">
            <a:avLst/>
          </a:prstGeom>
          <a:noFill/>
          <a:ln w="9525">
            <a:solidFill>
              <a:srgbClr val="4A5570"/>
            </a:solidFill>
            <a:prstDash val="solid"/>
          </a:ln>
        </p:spPr>
      </p:sp>
      <p:sp>
        <p:nvSpPr>
          <p:cNvPr id="20" name="Text 18"/>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1" name="Text 19"/>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2" name="Text 20"/>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3" name="Shape 21"/>
          <p:cNvSpPr/>
          <p:nvPr/>
        </p:nvSpPr>
        <p:spPr>
          <a:xfrm>
            <a:off x="0" y="6291072"/>
            <a:ext cx="12191695" cy="566928"/>
          </a:xfrm>
          <a:prstGeom prst="rect">
            <a:avLst/>
          </a:prstGeom>
          <a:solidFill>
            <a:srgbClr val="1B2A4A"/>
          </a:solidFill>
          <a:ln w="12700">
            <a:solidFill>
              <a:srgbClr val="1B2A4A"/>
            </a:solidFill>
            <a:prstDash val="solid"/>
          </a:ln>
        </p:spPr>
      </p:sp>
      <p:sp>
        <p:nvSpPr>
          <p:cNvPr id="24" name="Text 22"/>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5" name="Text 23"/>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COMPARISON</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Static vs. Instance Members</a:t>
            </a:r>
            <a:endParaRPr lang="en-US" sz="27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594360" y="1691640"/>
          <a:ext cx="10607040" cy="4343400"/>
        </p:xfrm>
        <a:graphic>
          <a:graphicData uri="http://schemas.openxmlformats.org/drawingml/2006/table">
            <a:tbl>
              <a:tblPr/>
              <a:tblGrid>
                <a:gridCol w="3535680">
                  <a:extLst>
                    <a:ext uri="{9D8B030D-6E8A-4147-A177-3AD203B41FA5}">
                      <a16:colId xmlns:a16="http://schemas.microsoft.com/office/drawing/2014/main" val="20000"/>
                    </a:ext>
                  </a:extLst>
                </a:gridCol>
                <a:gridCol w="3535680">
                  <a:extLst>
                    <a:ext uri="{9D8B030D-6E8A-4147-A177-3AD203B41FA5}">
                      <a16:colId xmlns:a16="http://schemas.microsoft.com/office/drawing/2014/main" val="20001"/>
                    </a:ext>
                  </a:extLst>
                </a:gridCol>
                <a:gridCol w="3535680">
                  <a:extLst>
                    <a:ext uri="{9D8B030D-6E8A-4147-A177-3AD203B41FA5}">
                      <a16:colId xmlns:a16="http://schemas.microsoft.com/office/drawing/2014/main" val="20002"/>
                    </a:ext>
                  </a:extLst>
                </a:gridCol>
              </a:tblGrid>
              <a:tr h="868680">
                <a:tc>
                  <a:txBody>
                    <a:bodyPr/>
                    <a:lstStyle/>
                    <a:p>
                      <a:pPr marL="0" indent="0" algn="l">
                        <a:buNone/>
                      </a:pPr>
                      <a:r>
                        <a:rPr lang="en-US" sz="1300" b="1" dirty="0">
                          <a:solidFill>
                            <a:srgbClr val="FFFFFF"/>
                          </a:solidFill>
                          <a:latin typeface="Times New Roman" pitchFamily="34" charset="0"/>
                          <a:ea typeface="Times New Roman" pitchFamily="34" charset="-122"/>
                          <a:cs typeface="Times New Roman" pitchFamily="34" charset="-120"/>
                        </a:rPr>
                        <a:t>Aspect</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1B2A4A"/>
                    </a:solidFill>
                  </a:tcPr>
                </a:tc>
                <a:tc>
                  <a:txBody>
                    <a:bodyPr/>
                    <a:lstStyle/>
                    <a:p>
                      <a:pPr marL="0" indent="0" algn="l">
                        <a:buNone/>
                      </a:pPr>
                      <a:r>
                        <a:rPr lang="en-US" sz="1300" b="1" dirty="0">
                          <a:solidFill>
                            <a:srgbClr val="FFFFFF"/>
                          </a:solidFill>
                          <a:latin typeface="Times New Roman" pitchFamily="34" charset="0"/>
                          <a:ea typeface="Times New Roman" pitchFamily="34" charset="-122"/>
                          <a:cs typeface="Times New Roman" pitchFamily="34" charset="-120"/>
                        </a:rPr>
                        <a:t>Static Member</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1B2A4A"/>
                    </a:solidFill>
                  </a:tcPr>
                </a:tc>
                <a:tc>
                  <a:txBody>
                    <a:bodyPr/>
                    <a:lstStyle/>
                    <a:p>
                      <a:pPr marL="0" indent="0" algn="l">
                        <a:buNone/>
                      </a:pPr>
                      <a:r>
                        <a:rPr lang="en-US" sz="1300" b="1" dirty="0">
                          <a:solidFill>
                            <a:srgbClr val="FFFFFF"/>
                          </a:solidFill>
                          <a:latin typeface="Times New Roman" pitchFamily="34" charset="0"/>
                          <a:ea typeface="Times New Roman" pitchFamily="34" charset="-122"/>
                          <a:cs typeface="Times New Roman" pitchFamily="34" charset="-120"/>
                        </a:rPr>
                        <a:t>Instance Member</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868680">
                <a:tc>
                  <a:txBody>
                    <a:bodyPr/>
                    <a:lstStyle/>
                    <a:p>
                      <a:pPr marL="0" indent="0" algn="l">
                        <a:buNone/>
                      </a:pPr>
                      <a:r>
                        <a:rPr lang="en-US" sz="1300" b="1" dirty="0">
                          <a:solidFill>
                            <a:srgbClr val="1A202C"/>
                          </a:solidFill>
                          <a:latin typeface="Times New Roman" pitchFamily="34" charset="0"/>
                          <a:ea typeface="Times New Roman" pitchFamily="34" charset="-122"/>
                          <a:cs typeface="Times New Roman" pitchFamily="34" charset="-120"/>
                        </a:rPr>
                        <a:t>Belongs to</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FFFFF"/>
                    </a:solidFill>
                  </a:tcPr>
                </a:tc>
                <a:tc>
                  <a:txBody>
                    <a:bodyPr/>
                    <a:lstStyle/>
                    <a:p>
                      <a:pPr marL="0" indent="0" algn="l">
                        <a:buNone/>
                      </a:pPr>
                      <a:r>
                        <a:rPr lang="en-US" sz="1300" dirty="0">
                          <a:solidFill>
                            <a:srgbClr val="3D4759"/>
                          </a:solidFill>
                          <a:latin typeface="Times New Roman" pitchFamily="34" charset="0"/>
                          <a:ea typeface="Times New Roman" pitchFamily="34" charset="-122"/>
                          <a:cs typeface="Times New Roman" pitchFamily="34" charset="-120"/>
                        </a:rPr>
                        <a:t>The class</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FFFFF"/>
                    </a:solidFill>
                  </a:tcPr>
                </a:tc>
                <a:tc>
                  <a:txBody>
                    <a:bodyPr/>
                    <a:lstStyle/>
                    <a:p>
                      <a:pPr marL="0" indent="0" algn="l">
                        <a:buNone/>
                      </a:pPr>
                      <a:r>
                        <a:rPr lang="en-US" sz="1300" dirty="0">
                          <a:solidFill>
                            <a:srgbClr val="3D4759"/>
                          </a:solidFill>
                          <a:latin typeface="Times New Roman" pitchFamily="34" charset="0"/>
                          <a:ea typeface="Times New Roman" pitchFamily="34" charset="-122"/>
                          <a:cs typeface="Times New Roman" pitchFamily="34" charset="-120"/>
                        </a:rPr>
                        <a:t>Each individual object</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868680">
                <a:tc>
                  <a:txBody>
                    <a:bodyPr/>
                    <a:lstStyle/>
                    <a:p>
                      <a:pPr marL="0" indent="0" algn="l">
                        <a:buNone/>
                      </a:pPr>
                      <a:r>
                        <a:rPr lang="en-US" sz="1300" b="1" dirty="0">
                          <a:solidFill>
                            <a:srgbClr val="1A202C"/>
                          </a:solidFill>
                          <a:latin typeface="Times New Roman" pitchFamily="34" charset="0"/>
                          <a:ea typeface="Times New Roman" pitchFamily="34" charset="-122"/>
                          <a:cs typeface="Times New Roman" pitchFamily="34" charset="-120"/>
                        </a:rPr>
                        <a:t>Copies in memory</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5F6FA"/>
                    </a:solidFill>
                  </a:tcPr>
                </a:tc>
                <a:tc>
                  <a:txBody>
                    <a:bodyPr/>
                    <a:lstStyle/>
                    <a:p>
                      <a:pPr marL="0" indent="0" algn="l">
                        <a:buNone/>
                      </a:pPr>
                      <a:r>
                        <a:rPr lang="en-US" sz="1300" dirty="0">
                          <a:solidFill>
                            <a:srgbClr val="3D4759"/>
                          </a:solidFill>
                          <a:latin typeface="Times New Roman" pitchFamily="34" charset="0"/>
                          <a:ea typeface="Times New Roman" pitchFamily="34" charset="-122"/>
                          <a:cs typeface="Times New Roman" pitchFamily="34" charset="-120"/>
                        </a:rPr>
                        <a:t>One, shared by all objects</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5F6FA"/>
                    </a:solidFill>
                  </a:tcPr>
                </a:tc>
                <a:tc>
                  <a:txBody>
                    <a:bodyPr/>
                    <a:lstStyle/>
                    <a:p>
                      <a:pPr marL="0" indent="0" algn="l">
                        <a:buNone/>
                      </a:pPr>
                      <a:r>
                        <a:rPr lang="en-US" sz="1300" dirty="0">
                          <a:solidFill>
                            <a:srgbClr val="3D4759"/>
                          </a:solidFill>
                          <a:latin typeface="Times New Roman" pitchFamily="34" charset="0"/>
                          <a:ea typeface="Times New Roman" pitchFamily="34" charset="-122"/>
                          <a:cs typeface="Times New Roman" pitchFamily="34" charset="-120"/>
                        </a:rPr>
                        <a:t>One per object</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5F6FA"/>
                    </a:solidFill>
                  </a:tcPr>
                </a:tc>
                <a:extLst>
                  <a:ext uri="{0D108BD9-81ED-4DB2-BD59-A6C34878D82A}">
                    <a16:rowId xmlns:a16="http://schemas.microsoft.com/office/drawing/2014/main" val="10002"/>
                  </a:ext>
                </a:extLst>
              </a:tr>
              <a:tr h="868680">
                <a:tc>
                  <a:txBody>
                    <a:bodyPr/>
                    <a:lstStyle/>
                    <a:p>
                      <a:pPr marL="0" indent="0" algn="l">
                        <a:buNone/>
                      </a:pPr>
                      <a:r>
                        <a:rPr lang="en-US" sz="1300" b="1" dirty="0">
                          <a:solidFill>
                            <a:srgbClr val="1A202C"/>
                          </a:solidFill>
                          <a:latin typeface="Times New Roman" pitchFamily="34" charset="0"/>
                          <a:ea typeface="Times New Roman" pitchFamily="34" charset="-122"/>
                          <a:cs typeface="Times New Roman" pitchFamily="34" charset="-120"/>
                        </a:rPr>
                        <a:t>Accessed through</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FFFFF"/>
                    </a:solidFill>
                  </a:tcPr>
                </a:tc>
                <a:tc>
                  <a:txBody>
                    <a:bodyPr/>
                    <a:lstStyle/>
                    <a:p>
                      <a:pPr marL="0" indent="0" algn="l">
                        <a:buNone/>
                      </a:pPr>
                      <a:r>
                        <a:rPr lang="en-US" sz="1300" dirty="0">
                          <a:solidFill>
                            <a:srgbClr val="3D4759"/>
                          </a:solidFill>
                          <a:latin typeface="Times New Roman" pitchFamily="34" charset="0"/>
                          <a:ea typeface="Times New Roman" pitchFamily="34" charset="-122"/>
                          <a:cs typeface="Times New Roman" pitchFamily="34" charset="-120"/>
                        </a:rPr>
                        <a:t>The class name</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FFFFF"/>
                    </a:solidFill>
                  </a:tcPr>
                </a:tc>
                <a:tc>
                  <a:txBody>
                    <a:bodyPr/>
                    <a:lstStyle/>
                    <a:p>
                      <a:pPr marL="0" indent="0" algn="l">
                        <a:buNone/>
                      </a:pPr>
                      <a:r>
                        <a:rPr lang="en-US" sz="1300" dirty="0">
                          <a:solidFill>
                            <a:srgbClr val="3D4759"/>
                          </a:solidFill>
                          <a:latin typeface="Times New Roman" pitchFamily="34" charset="0"/>
                          <a:ea typeface="Times New Roman" pitchFamily="34" charset="-122"/>
                          <a:cs typeface="Times New Roman" pitchFamily="34" charset="-120"/>
                        </a:rPr>
                        <a:t>An object reference</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868680">
                <a:tc>
                  <a:txBody>
                    <a:bodyPr/>
                    <a:lstStyle/>
                    <a:p>
                      <a:pPr marL="0" indent="0" algn="l">
                        <a:buNone/>
                      </a:pPr>
                      <a:r>
                        <a:rPr lang="en-US" sz="1300" b="1" dirty="0">
                          <a:solidFill>
                            <a:srgbClr val="1A202C"/>
                          </a:solidFill>
                          <a:latin typeface="Times New Roman" pitchFamily="34" charset="0"/>
                          <a:ea typeface="Times New Roman" pitchFamily="34" charset="-122"/>
                          <a:cs typeface="Times New Roman" pitchFamily="34" charset="-120"/>
                        </a:rPr>
                        <a:t>Can use this</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5F6FA"/>
                    </a:solidFill>
                  </a:tcPr>
                </a:tc>
                <a:tc>
                  <a:txBody>
                    <a:bodyPr/>
                    <a:lstStyle/>
                    <a:p>
                      <a:pPr marL="0" indent="0" algn="l">
                        <a:buNone/>
                      </a:pPr>
                      <a:r>
                        <a:rPr lang="en-US" sz="1300" dirty="0">
                          <a:solidFill>
                            <a:srgbClr val="3D4759"/>
                          </a:solidFill>
                          <a:latin typeface="Times New Roman" pitchFamily="34" charset="0"/>
                          <a:ea typeface="Times New Roman" pitchFamily="34" charset="-122"/>
                          <a:cs typeface="Times New Roman" pitchFamily="34" charset="-120"/>
                        </a:rPr>
                        <a:t>No</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5F6FA"/>
                    </a:solidFill>
                  </a:tcPr>
                </a:tc>
                <a:tc>
                  <a:txBody>
                    <a:bodyPr/>
                    <a:lstStyle/>
                    <a:p>
                      <a:pPr marL="0" indent="0" algn="l">
                        <a:buNone/>
                      </a:pPr>
                      <a:r>
                        <a:rPr lang="en-US" sz="1300" dirty="0">
                          <a:solidFill>
                            <a:srgbClr val="3D4759"/>
                          </a:solidFill>
                          <a:latin typeface="Times New Roman" pitchFamily="34" charset="0"/>
                          <a:ea typeface="Times New Roman" pitchFamily="34" charset="-122"/>
                          <a:cs typeface="Times New Roman" pitchFamily="34" charset="-120"/>
                        </a:rPr>
                        <a:t>Yes</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5F6FA"/>
                    </a:solidFill>
                  </a:tcPr>
                </a:tc>
                <a:extLst>
                  <a:ext uri="{0D108BD9-81ED-4DB2-BD59-A6C34878D82A}">
                    <a16:rowId xmlns:a16="http://schemas.microsoft.com/office/drawing/2014/main" val="10004"/>
                  </a:ext>
                </a:extLst>
              </a:tr>
            </a:tbl>
          </a:graphicData>
        </a:graphic>
      </p:graphicFrame>
      <p:sp>
        <p:nvSpPr>
          <p:cNvPr id="5" name="Shape 2"/>
          <p:cNvSpPr/>
          <p:nvPr/>
        </p:nvSpPr>
        <p:spPr>
          <a:xfrm>
            <a:off x="0" y="0"/>
            <a:ext cx="12191695" cy="384048"/>
          </a:xfrm>
          <a:prstGeom prst="rect">
            <a:avLst/>
          </a:prstGeom>
          <a:solidFill>
            <a:srgbClr val="1B2A4A"/>
          </a:solidFill>
          <a:ln w="12700">
            <a:solidFill>
              <a:srgbClr val="1B2A4A"/>
            </a:solidFill>
            <a:prstDash val="solid"/>
          </a:ln>
        </p:spPr>
      </p:sp>
      <p:sp>
        <p:nvSpPr>
          <p:cNvPr id="6" name="Text 3"/>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7" name="Shape 4"/>
          <p:cNvSpPr/>
          <p:nvPr/>
        </p:nvSpPr>
        <p:spPr>
          <a:xfrm>
            <a:off x="219456" y="301752"/>
            <a:ext cx="960120" cy="0"/>
          </a:xfrm>
          <a:prstGeom prst="line">
            <a:avLst/>
          </a:prstGeom>
          <a:noFill/>
          <a:ln w="9525">
            <a:solidFill>
              <a:srgbClr val="4A5570"/>
            </a:solidFill>
            <a:prstDash val="solid"/>
          </a:ln>
        </p:spPr>
      </p:sp>
      <p:sp>
        <p:nvSpPr>
          <p:cNvPr id="8" name="Text 5"/>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9" name="Text 6"/>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10" name="Text 7"/>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11" name="Shape 8"/>
          <p:cNvSpPr/>
          <p:nvPr/>
        </p:nvSpPr>
        <p:spPr>
          <a:xfrm>
            <a:off x="0" y="6291072"/>
            <a:ext cx="12191695" cy="566928"/>
          </a:xfrm>
          <a:prstGeom prst="rect">
            <a:avLst/>
          </a:prstGeom>
          <a:solidFill>
            <a:srgbClr val="1B2A4A"/>
          </a:solidFill>
          <a:ln w="12700">
            <a:solidFill>
              <a:srgbClr val="1B2A4A"/>
            </a:solidFill>
            <a:prstDash val="solid"/>
          </a:ln>
        </p:spPr>
      </p:sp>
      <p:sp>
        <p:nvSpPr>
          <p:cNvPr id="12" name="Text 9"/>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13" name="Text 10"/>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ONE-TIME SETUP</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Static Blocks</a:t>
            </a:r>
            <a:endParaRPr lang="en-US" sz="2700" dirty="0"/>
          </a:p>
        </p:txBody>
      </p:sp>
      <p:sp>
        <p:nvSpPr>
          <p:cNvPr id="4" name="Shape 2"/>
          <p:cNvSpPr/>
          <p:nvPr/>
        </p:nvSpPr>
        <p:spPr>
          <a:xfrm>
            <a:off x="594360" y="1600200"/>
            <a:ext cx="10607040" cy="896112"/>
          </a:xfrm>
          <a:prstGeom prst="roundRect">
            <a:avLst>
              <a:gd name="adj" fmla="val 6122"/>
            </a:avLst>
          </a:prstGeom>
          <a:solidFill>
            <a:srgbClr val="F5F6FA"/>
          </a:solidFill>
          <a:ln w="9525">
            <a:solidFill>
              <a:srgbClr val="E4E7EE"/>
            </a:solidFill>
            <a:prstDash val="solid"/>
          </a:ln>
        </p:spPr>
      </p:sp>
      <p:sp>
        <p:nvSpPr>
          <p:cNvPr id="5" name="Shape 3"/>
          <p:cNvSpPr/>
          <p:nvPr/>
        </p:nvSpPr>
        <p:spPr>
          <a:xfrm>
            <a:off x="804672" y="1755648"/>
            <a:ext cx="100584" cy="100584"/>
          </a:xfrm>
          <a:prstGeom prst="ellipse">
            <a:avLst/>
          </a:prstGeom>
          <a:solidFill>
            <a:srgbClr val="E8590C"/>
          </a:solidFill>
          <a:ln w="12700">
            <a:solidFill>
              <a:srgbClr val="000000"/>
            </a:solidFill>
            <a:prstDash val="solid"/>
          </a:ln>
        </p:spPr>
      </p:sp>
      <p:sp>
        <p:nvSpPr>
          <p:cNvPr id="6" name="Text 4"/>
          <p:cNvSpPr/>
          <p:nvPr/>
        </p:nvSpPr>
        <p:spPr>
          <a:xfrm>
            <a:off x="1051560" y="1655064"/>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A static block runs once, automatically, when the class is first loaded by the JVM.</a:t>
            </a:r>
            <a:endParaRPr lang="en-US" sz="1250" dirty="0"/>
          </a:p>
        </p:txBody>
      </p:sp>
      <p:sp>
        <p:nvSpPr>
          <p:cNvPr id="7" name="Shape 5"/>
          <p:cNvSpPr/>
          <p:nvPr/>
        </p:nvSpPr>
        <p:spPr>
          <a:xfrm>
            <a:off x="804672" y="2103120"/>
            <a:ext cx="100584" cy="100584"/>
          </a:xfrm>
          <a:prstGeom prst="ellipse">
            <a:avLst/>
          </a:prstGeom>
          <a:solidFill>
            <a:srgbClr val="E8590C"/>
          </a:solidFill>
          <a:ln w="12700">
            <a:solidFill>
              <a:srgbClr val="000000"/>
            </a:solidFill>
            <a:prstDash val="solid"/>
          </a:ln>
        </p:spPr>
      </p:sp>
      <p:sp>
        <p:nvSpPr>
          <p:cNvPr id="8" name="Text 6"/>
          <p:cNvSpPr/>
          <p:nvPr/>
        </p:nvSpPr>
        <p:spPr>
          <a:xfrm>
            <a:off x="1051560" y="2002536"/>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It is commonly used to initialize static data that needs more than a single expression.</a:t>
            </a:r>
            <a:endParaRPr lang="en-US" sz="1250" dirty="0"/>
          </a:p>
        </p:txBody>
      </p:sp>
      <p:sp>
        <p:nvSpPr>
          <p:cNvPr id="9" name="Shape 7"/>
          <p:cNvSpPr/>
          <p:nvPr/>
        </p:nvSpPr>
        <p:spPr>
          <a:xfrm>
            <a:off x="594360" y="2642616"/>
            <a:ext cx="10607040" cy="3392424"/>
          </a:xfrm>
          <a:prstGeom prst="roundRect">
            <a:avLst>
              <a:gd name="adj" fmla="val 2156"/>
            </a:avLst>
          </a:prstGeom>
          <a:solidFill>
            <a:srgbClr val="1E1E2E"/>
          </a:solidFill>
          <a:ln w="12700">
            <a:solidFill>
              <a:srgbClr val="000000"/>
            </a:solidFill>
            <a:prstDash val="solid"/>
          </a:ln>
        </p:spPr>
      </p:sp>
      <p:sp>
        <p:nvSpPr>
          <p:cNvPr id="10" name="Shape 8"/>
          <p:cNvSpPr/>
          <p:nvPr/>
        </p:nvSpPr>
        <p:spPr>
          <a:xfrm>
            <a:off x="594360" y="2642616"/>
            <a:ext cx="10607040" cy="274320"/>
          </a:xfrm>
          <a:prstGeom prst="roundRect">
            <a:avLst>
              <a:gd name="adj" fmla="val 26667"/>
            </a:avLst>
          </a:prstGeom>
          <a:solidFill>
            <a:srgbClr val="17172A"/>
          </a:solidFill>
          <a:ln w="12700">
            <a:solidFill>
              <a:srgbClr val="000000"/>
            </a:solidFill>
            <a:prstDash val="solid"/>
          </a:ln>
        </p:spPr>
      </p:sp>
      <p:sp>
        <p:nvSpPr>
          <p:cNvPr id="11" name="Shape 9"/>
          <p:cNvSpPr/>
          <p:nvPr/>
        </p:nvSpPr>
        <p:spPr>
          <a:xfrm>
            <a:off x="594360" y="2843784"/>
            <a:ext cx="10607040" cy="73152"/>
          </a:xfrm>
          <a:prstGeom prst="rect">
            <a:avLst/>
          </a:prstGeom>
          <a:solidFill>
            <a:srgbClr val="17172A"/>
          </a:solidFill>
          <a:ln w="12700">
            <a:solidFill>
              <a:srgbClr val="000000"/>
            </a:solidFill>
            <a:prstDash val="solid"/>
          </a:ln>
        </p:spPr>
      </p:sp>
      <p:sp>
        <p:nvSpPr>
          <p:cNvPr id="12" name="Shape 10"/>
          <p:cNvSpPr/>
          <p:nvPr/>
        </p:nvSpPr>
        <p:spPr>
          <a:xfrm>
            <a:off x="722376" y="2741371"/>
            <a:ext cx="76810" cy="76810"/>
          </a:xfrm>
          <a:prstGeom prst="ellipse">
            <a:avLst/>
          </a:prstGeom>
          <a:solidFill>
            <a:srgbClr val="FF5F56"/>
          </a:solidFill>
          <a:ln w="12700">
            <a:solidFill>
              <a:srgbClr val="000000"/>
            </a:solidFill>
            <a:prstDash val="solid"/>
          </a:ln>
        </p:spPr>
      </p:sp>
      <p:sp>
        <p:nvSpPr>
          <p:cNvPr id="13" name="Shape 11"/>
          <p:cNvSpPr/>
          <p:nvPr/>
        </p:nvSpPr>
        <p:spPr>
          <a:xfrm>
            <a:off x="886968" y="2741371"/>
            <a:ext cx="76810" cy="76810"/>
          </a:xfrm>
          <a:prstGeom prst="ellipse">
            <a:avLst/>
          </a:prstGeom>
          <a:solidFill>
            <a:srgbClr val="FFBD2E"/>
          </a:solidFill>
          <a:ln w="12700">
            <a:solidFill>
              <a:srgbClr val="000000"/>
            </a:solidFill>
            <a:prstDash val="solid"/>
          </a:ln>
        </p:spPr>
      </p:sp>
      <p:sp>
        <p:nvSpPr>
          <p:cNvPr id="14" name="Shape 12"/>
          <p:cNvSpPr/>
          <p:nvPr/>
        </p:nvSpPr>
        <p:spPr>
          <a:xfrm>
            <a:off x="1051560" y="2741371"/>
            <a:ext cx="76810" cy="76810"/>
          </a:xfrm>
          <a:prstGeom prst="ellipse">
            <a:avLst/>
          </a:prstGeom>
          <a:solidFill>
            <a:srgbClr val="27C93F"/>
          </a:solidFill>
          <a:ln w="12700">
            <a:solidFill>
              <a:srgbClr val="000000"/>
            </a:solidFill>
            <a:prstDash val="solid"/>
          </a:ln>
        </p:spPr>
      </p:sp>
      <p:sp>
        <p:nvSpPr>
          <p:cNvPr id="15" name="Text 13"/>
          <p:cNvSpPr/>
          <p:nvPr/>
        </p:nvSpPr>
        <p:spPr>
          <a:xfrm>
            <a:off x="1371600" y="2642616"/>
            <a:ext cx="9692640" cy="274320"/>
          </a:xfrm>
          <a:prstGeom prst="rect">
            <a:avLst/>
          </a:prstGeom>
          <a:noFill/>
          <a:ln/>
        </p:spPr>
        <p:txBody>
          <a:bodyPr wrap="square" lIns="0" tIns="0" rIns="0" bIns="0" rtlCol="0" anchor="ctr"/>
          <a:lstStyle/>
          <a:p>
            <a:pPr marL="0" indent="0" algn="l">
              <a:buNone/>
            </a:pPr>
            <a:r>
              <a:rPr lang="en-US" sz="1000" dirty="0">
                <a:solidFill>
                  <a:srgbClr val="8A8FA3"/>
                </a:solidFill>
                <a:latin typeface="Courier New" pitchFamily="34" charset="0"/>
                <a:ea typeface="Courier New" pitchFamily="34" charset="-122"/>
                <a:cs typeface="Courier New" pitchFamily="34" charset="-120"/>
              </a:rPr>
              <a:t>Main.java</a:t>
            </a:r>
            <a:endParaRPr lang="en-US" sz="1000" dirty="0"/>
          </a:p>
        </p:txBody>
      </p:sp>
      <p:sp>
        <p:nvSpPr>
          <p:cNvPr id="16" name="Text 14"/>
          <p:cNvSpPr/>
          <p:nvPr/>
        </p:nvSpPr>
        <p:spPr>
          <a:xfrm>
            <a:off x="777240" y="2990088"/>
            <a:ext cx="10241280" cy="2971800"/>
          </a:xfrm>
          <a:prstGeom prst="rect">
            <a:avLst/>
          </a:prstGeom>
          <a:noFill/>
          <a:ln/>
        </p:spPr>
        <p:txBody>
          <a:bodyPr wrap="square" lIns="0" tIns="0" rIns="0" bIns="0" rtlCol="0" anchor="t"/>
          <a:lstStyle/>
          <a:p>
            <a:pPr marL="0" indent="0" algn="l">
              <a:lnSpc>
                <a:spcPct val="118000"/>
              </a:lnSpc>
              <a:buNone/>
            </a:pPr>
            <a:r>
              <a:rPr lang="en-US" sz="1500" b="1" dirty="0">
                <a:solidFill>
                  <a:srgbClr val="569CD6"/>
                </a:solidFill>
                <a:latin typeface="Courier New" pitchFamily="34" charset="0"/>
                <a:ea typeface="Courier New" pitchFamily="34" charset="-122"/>
                <a:cs typeface="Courier New" pitchFamily="34" charset="-120"/>
              </a:rPr>
              <a:t>public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class</a:t>
            </a:r>
            <a:r>
              <a:rPr lang="en-US" sz="1500" dirty="0">
                <a:solidFill>
                  <a:srgbClr val="D4D4D4"/>
                </a:solidFill>
                <a:latin typeface="Courier New" pitchFamily="34" charset="0"/>
                <a:ea typeface="Courier New" pitchFamily="34" charset="-122"/>
                <a:cs typeface="Courier New" pitchFamily="34" charset="-120"/>
              </a:rPr>
              <a:t> AppConfig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static</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4EC9B0"/>
                </a:solidFill>
                <a:latin typeface="Courier New" pitchFamily="34" charset="0"/>
                <a:ea typeface="Courier New" pitchFamily="34" charset="-122"/>
                <a:cs typeface="Courier New" pitchFamily="34" charset="-120"/>
              </a:rPr>
              <a:t>String</a:t>
            </a:r>
            <a:r>
              <a:rPr lang="en-US" sz="1500" dirty="0">
                <a:solidFill>
                  <a:srgbClr val="D4D4D4"/>
                </a:solidFill>
                <a:latin typeface="Courier New" pitchFamily="34" charset="0"/>
                <a:ea typeface="Courier New" pitchFamily="34" charset="-122"/>
                <a:cs typeface="Courier New" pitchFamily="34" charset="-120"/>
              </a:rPr>
              <a:t> environment;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static</a:t>
            </a: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environment = </a:t>
            </a:r>
            <a:r>
              <a:rPr lang="en-US" sz="1500" dirty="0">
                <a:solidFill>
                  <a:srgbClr val="CE9178"/>
                </a:solidFill>
                <a:latin typeface="Courier New" pitchFamily="34" charset="0"/>
                <a:ea typeface="Courier New" pitchFamily="34" charset="-122"/>
                <a:cs typeface="Courier New" pitchFamily="34" charset="-120"/>
              </a:rPr>
              <a:t>"production"</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4EC9B0"/>
                </a:solidFill>
                <a:latin typeface="Courier New" pitchFamily="34" charset="0"/>
                <a:ea typeface="Courier New" pitchFamily="34" charset="-122"/>
                <a:cs typeface="Courier New" pitchFamily="34" charset="-120"/>
              </a:rPr>
              <a:t>System</a:t>
            </a:r>
            <a:r>
              <a:rPr lang="en-US" sz="1500" dirty="0">
                <a:solidFill>
                  <a:srgbClr val="D4D4D4"/>
                </a:solidFill>
                <a:latin typeface="Courier New" pitchFamily="34" charset="0"/>
                <a:ea typeface="Courier New" pitchFamily="34" charset="-122"/>
                <a:cs typeface="Courier New" pitchFamily="34" charset="-120"/>
              </a:rPr>
              <a:t>.out.</a:t>
            </a:r>
            <a:r>
              <a:rPr lang="en-US" sz="1500" dirty="0">
                <a:solidFill>
                  <a:srgbClr val="DCDCAA"/>
                </a:solidFill>
                <a:latin typeface="Courier New" pitchFamily="34" charset="0"/>
                <a:ea typeface="Courier New" pitchFamily="34" charset="-122"/>
                <a:cs typeface="Courier New" pitchFamily="34" charset="-120"/>
              </a:rPr>
              <a:t>println</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CE9178"/>
                </a:solidFill>
                <a:latin typeface="Courier New" pitchFamily="34" charset="0"/>
                <a:ea typeface="Courier New" pitchFamily="34" charset="-122"/>
                <a:cs typeface="Courier New" pitchFamily="34" charset="-120"/>
              </a:rPr>
              <a:t>"Static block ran."</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a:t>
            </a:r>
            <a:endParaRPr lang="en-US" sz="1500" dirty="0"/>
          </a:p>
        </p:txBody>
      </p:sp>
      <p:sp>
        <p:nvSpPr>
          <p:cNvPr id="17" name="Shape 15"/>
          <p:cNvSpPr/>
          <p:nvPr/>
        </p:nvSpPr>
        <p:spPr>
          <a:xfrm>
            <a:off x="0" y="0"/>
            <a:ext cx="12191695" cy="384048"/>
          </a:xfrm>
          <a:prstGeom prst="rect">
            <a:avLst/>
          </a:prstGeom>
          <a:solidFill>
            <a:srgbClr val="1B2A4A"/>
          </a:solidFill>
          <a:ln w="12700">
            <a:solidFill>
              <a:srgbClr val="1B2A4A"/>
            </a:solidFill>
            <a:prstDash val="solid"/>
          </a:ln>
        </p:spPr>
      </p:sp>
      <p:sp>
        <p:nvSpPr>
          <p:cNvPr id="18" name="Text 16"/>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9" name="Shape 17"/>
          <p:cNvSpPr/>
          <p:nvPr/>
        </p:nvSpPr>
        <p:spPr>
          <a:xfrm>
            <a:off x="219456" y="301752"/>
            <a:ext cx="960120" cy="0"/>
          </a:xfrm>
          <a:prstGeom prst="line">
            <a:avLst/>
          </a:prstGeom>
          <a:noFill/>
          <a:ln w="9525">
            <a:solidFill>
              <a:srgbClr val="4A5570"/>
            </a:solidFill>
            <a:prstDash val="solid"/>
          </a:ln>
        </p:spPr>
      </p:sp>
      <p:sp>
        <p:nvSpPr>
          <p:cNvPr id="20" name="Text 18"/>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1" name="Text 19"/>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2" name="Text 20"/>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3" name="Shape 21"/>
          <p:cNvSpPr/>
          <p:nvPr/>
        </p:nvSpPr>
        <p:spPr>
          <a:xfrm>
            <a:off x="0" y="6291072"/>
            <a:ext cx="12191695" cy="566928"/>
          </a:xfrm>
          <a:prstGeom prst="rect">
            <a:avLst/>
          </a:prstGeom>
          <a:solidFill>
            <a:srgbClr val="1B2A4A"/>
          </a:solidFill>
          <a:ln w="12700">
            <a:solidFill>
              <a:srgbClr val="1B2A4A"/>
            </a:solidFill>
            <a:prstDash val="solid"/>
          </a:ln>
        </p:spPr>
      </p:sp>
      <p:sp>
        <p:nvSpPr>
          <p:cNvPr id="24" name="Text 22"/>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5" name="Text 23"/>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FIXED VALUES</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Static Constants</a:t>
            </a:r>
            <a:endParaRPr lang="en-US" sz="2700" dirty="0"/>
          </a:p>
        </p:txBody>
      </p:sp>
      <p:sp>
        <p:nvSpPr>
          <p:cNvPr id="4" name="Shape 2"/>
          <p:cNvSpPr/>
          <p:nvPr/>
        </p:nvSpPr>
        <p:spPr>
          <a:xfrm>
            <a:off x="594360" y="1600200"/>
            <a:ext cx="10607040" cy="896112"/>
          </a:xfrm>
          <a:prstGeom prst="roundRect">
            <a:avLst>
              <a:gd name="adj" fmla="val 6122"/>
            </a:avLst>
          </a:prstGeom>
          <a:solidFill>
            <a:srgbClr val="F5F6FA"/>
          </a:solidFill>
          <a:ln w="9525">
            <a:solidFill>
              <a:srgbClr val="E4E7EE"/>
            </a:solidFill>
            <a:prstDash val="solid"/>
          </a:ln>
        </p:spPr>
      </p:sp>
      <p:sp>
        <p:nvSpPr>
          <p:cNvPr id="5" name="Shape 3"/>
          <p:cNvSpPr/>
          <p:nvPr/>
        </p:nvSpPr>
        <p:spPr>
          <a:xfrm>
            <a:off x="804672" y="1755648"/>
            <a:ext cx="100584" cy="100584"/>
          </a:xfrm>
          <a:prstGeom prst="ellipse">
            <a:avLst/>
          </a:prstGeom>
          <a:solidFill>
            <a:srgbClr val="E8590C"/>
          </a:solidFill>
          <a:ln w="12700">
            <a:solidFill>
              <a:srgbClr val="000000"/>
            </a:solidFill>
            <a:prstDash val="solid"/>
          </a:ln>
        </p:spPr>
      </p:sp>
      <p:sp>
        <p:nvSpPr>
          <p:cNvPr id="6" name="Text 4"/>
          <p:cNvSpPr/>
          <p:nvPr/>
        </p:nvSpPr>
        <p:spPr>
          <a:xfrm>
            <a:off x="1051560" y="1655064"/>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Combining static and final creates a single, shared, unchangeable value for the whole class.</a:t>
            </a:r>
            <a:endParaRPr lang="en-US" sz="1250" dirty="0"/>
          </a:p>
        </p:txBody>
      </p:sp>
      <p:sp>
        <p:nvSpPr>
          <p:cNvPr id="7" name="Shape 5"/>
          <p:cNvSpPr/>
          <p:nvPr/>
        </p:nvSpPr>
        <p:spPr>
          <a:xfrm>
            <a:off x="804672" y="2103120"/>
            <a:ext cx="100584" cy="100584"/>
          </a:xfrm>
          <a:prstGeom prst="ellipse">
            <a:avLst/>
          </a:prstGeom>
          <a:solidFill>
            <a:srgbClr val="E8590C"/>
          </a:solidFill>
          <a:ln w="12700">
            <a:solidFill>
              <a:srgbClr val="000000"/>
            </a:solidFill>
            <a:prstDash val="solid"/>
          </a:ln>
        </p:spPr>
      </p:sp>
      <p:sp>
        <p:nvSpPr>
          <p:cNvPr id="8" name="Text 6"/>
          <p:cNvSpPr/>
          <p:nvPr/>
        </p:nvSpPr>
        <p:spPr>
          <a:xfrm>
            <a:off x="1051560" y="2002536"/>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By convention, constant names are written in uppercase with underscores.</a:t>
            </a:r>
            <a:endParaRPr lang="en-US" sz="1250" dirty="0"/>
          </a:p>
        </p:txBody>
      </p:sp>
      <p:sp>
        <p:nvSpPr>
          <p:cNvPr id="9" name="Shape 7"/>
          <p:cNvSpPr/>
          <p:nvPr/>
        </p:nvSpPr>
        <p:spPr>
          <a:xfrm>
            <a:off x="594360" y="2642616"/>
            <a:ext cx="10607040" cy="3392424"/>
          </a:xfrm>
          <a:prstGeom prst="roundRect">
            <a:avLst>
              <a:gd name="adj" fmla="val 2156"/>
            </a:avLst>
          </a:prstGeom>
          <a:solidFill>
            <a:srgbClr val="1E1E2E"/>
          </a:solidFill>
          <a:ln w="12700">
            <a:solidFill>
              <a:srgbClr val="000000"/>
            </a:solidFill>
            <a:prstDash val="solid"/>
          </a:ln>
        </p:spPr>
      </p:sp>
      <p:sp>
        <p:nvSpPr>
          <p:cNvPr id="10" name="Shape 8"/>
          <p:cNvSpPr/>
          <p:nvPr/>
        </p:nvSpPr>
        <p:spPr>
          <a:xfrm>
            <a:off x="594360" y="2642616"/>
            <a:ext cx="10607040" cy="274320"/>
          </a:xfrm>
          <a:prstGeom prst="roundRect">
            <a:avLst>
              <a:gd name="adj" fmla="val 26667"/>
            </a:avLst>
          </a:prstGeom>
          <a:solidFill>
            <a:srgbClr val="17172A"/>
          </a:solidFill>
          <a:ln w="12700">
            <a:solidFill>
              <a:srgbClr val="000000"/>
            </a:solidFill>
            <a:prstDash val="solid"/>
          </a:ln>
        </p:spPr>
      </p:sp>
      <p:sp>
        <p:nvSpPr>
          <p:cNvPr id="11" name="Shape 9"/>
          <p:cNvSpPr/>
          <p:nvPr/>
        </p:nvSpPr>
        <p:spPr>
          <a:xfrm>
            <a:off x="594360" y="2843784"/>
            <a:ext cx="10607040" cy="73152"/>
          </a:xfrm>
          <a:prstGeom prst="rect">
            <a:avLst/>
          </a:prstGeom>
          <a:solidFill>
            <a:srgbClr val="17172A"/>
          </a:solidFill>
          <a:ln w="12700">
            <a:solidFill>
              <a:srgbClr val="000000"/>
            </a:solidFill>
            <a:prstDash val="solid"/>
          </a:ln>
        </p:spPr>
      </p:sp>
      <p:sp>
        <p:nvSpPr>
          <p:cNvPr id="12" name="Shape 10"/>
          <p:cNvSpPr/>
          <p:nvPr/>
        </p:nvSpPr>
        <p:spPr>
          <a:xfrm>
            <a:off x="722376" y="2741371"/>
            <a:ext cx="76810" cy="76810"/>
          </a:xfrm>
          <a:prstGeom prst="ellipse">
            <a:avLst/>
          </a:prstGeom>
          <a:solidFill>
            <a:srgbClr val="FF5F56"/>
          </a:solidFill>
          <a:ln w="12700">
            <a:solidFill>
              <a:srgbClr val="000000"/>
            </a:solidFill>
            <a:prstDash val="solid"/>
          </a:ln>
        </p:spPr>
      </p:sp>
      <p:sp>
        <p:nvSpPr>
          <p:cNvPr id="13" name="Shape 11"/>
          <p:cNvSpPr/>
          <p:nvPr/>
        </p:nvSpPr>
        <p:spPr>
          <a:xfrm>
            <a:off x="886968" y="2741371"/>
            <a:ext cx="76810" cy="76810"/>
          </a:xfrm>
          <a:prstGeom prst="ellipse">
            <a:avLst/>
          </a:prstGeom>
          <a:solidFill>
            <a:srgbClr val="FFBD2E"/>
          </a:solidFill>
          <a:ln w="12700">
            <a:solidFill>
              <a:srgbClr val="000000"/>
            </a:solidFill>
            <a:prstDash val="solid"/>
          </a:ln>
        </p:spPr>
      </p:sp>
      <p:sp>
        <p:nvSpPr>
          <p:cNvPr id="14" name="Shape 12"/>
          <p:cNvSpPr/>
          <p:nvPr/>
        </p:nvSpPr>
        <p:spPr>
          <a:xfrm>
            <a:off x="1051560" y="2741371"/>
            <a:ext cx="76810" cy="76810"/>
          </a:xfrm>
          <a:prstGeom prst="ellipse">
            <a:avLst/>
          </a:prstGeom>
          <a:solidFill>
            <a:srgbClr val="27C93F"/>
          </a:solidFill>
          <a:ln w="12700">
            <a:solidFill>
              <a:srgbClr val="000000"/>
            </a:solidFill>
            <a:prstDash val="solid"/>
          </a:ln>
        </p:spPr>
      </p:sp>
      <p:sp>
        <p:nvSpPr>
          <p:cNvPr id="15" name="Text 13"/>
          <p:cNvSpPr/>
          <p:nvPr/>
        </p:nvSpPr>
        <p:spPr>
          <a:xfrm>
            <a:off x="1371600" y="2642616"/>
            <a:ext cx="9692640" cy="274320"/>
          </a:xfrm>
          <a:prstGeom prst="rect">
            <a:avLst/>
          </a:prstGeom>
          <a:noFill/>
          <a:ln/>
        </p:spPr>
        <p:txBody>
          <a:bodyPr wrap="square" lIns="0" tIns="0" rIns="0" bIns="0" rtlCol="0" anchor="ctr"/>
          <a:lstStyle/>
          <a:p>
            <a:pPr marL="0" indent="0" algn="l">
              <a:buNone/>
            </a:pPr>
            <a:r>
              <a:rPr lang="en-US" sz="1000" dirty="0">
                <a:solidFill>
                  <a:srgbClr val="8A8FA3"/>
                </a:solidFill>
                <a:latin typeface="Courier New" pitchFamily="34" charset="0"/>
                <a:ea typeface="Courier New" pitchFamily="34" charset="-122"/>
                <a:cs typeface="Courier New" pitchFamily="34" charset="-120"/>
              </a:rPr>
              <a:t>Main.java</a:t>
            </a:r>
            <a:endParaRPr lang="en-US" sz="1000" dirty="0"/>
          </a:p>
        </p:txBody>
      </p:sp>
      <p:sp>
        <p:nvSpPr>
          <p:cNvPr id="16" name="Text 14"/>
          <p:cNvSpPr/>
          <p:nvPr/>
        </p:nvSpPr>
        <p:spPr>
          <a:xfrm>
            <a:off x="777240" y="2990088"/>
            <a:ext cx="10241280" cy="2971800"/>
          </a:xfrm>
          <a:prstGeom prst="rect">
            <a:avLst/>
          </a:prstGeom>
          <a:noFill/>
          <a:ln/>
        </p:spPr>
        <p:txBody>
          <a:bodyPr wrap="square" lIns="0" tIns="0" rIns="0" bIns="0" rtlCol="0" anchor="t"/>
          <a:lstStyle/>
          <a:p>
            <a:pPr marL="0" indent="0" algn="l">
              <a:lnSpc>
                <a:spcPct val="118000"/>
              </a:lnSpc>
              <a:buNone/>
            </a:pPr>
            <a:r>
              <a:rPr lang="en-US" sz="1500" b="1" dirty="0">
                <a:solidFill>
                  <a:srgbClr val="569CD6"/>
                </a:solidFill>
                <a:latin typeface="Courier New" pitchFamily="34" charset="0"/>
                <a:ea typeface="Courier New" pitchFamily="34" charset="-122"/>
                <a:cs typeface="Courier New" pitchFamily="34" charset="-120"/>
              </a:rPr>
              <a:t>public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class</a:t>
            </a:r>
            <a:r>
              <a:rPr lang="en-US" sz="1500" dirty="0">
                <a:solidFill>
                  <a:srgbClr val="D4D4D4"/>
                </a:solidFill>
                <a:latin typeface="Courier New" pitchFamily="34" charset="0"/>
                <a:ea typeface="Courier New" pitchFamily="34" charset="-122"/>
                <a:cs typeface="Courier New" pitchFamily="34" charset="-120"/>
              </a:rPr>
              <a:t> Physics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static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final</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double</a:t>
            </a:r>
            <a:r>
              <a:rPr lang="en-US" sz="1500" dirty="0">
                <a:solidFill>
                  <a:srgbClr val="D4D4D4"/>
                </a:solidFill>
                <a:latin typeface="Courier New" pitchFamily="34" charset="0"/>
                <a:ea typeface="Courier New" pitchFamily="34" charset="-122"/>
                <a:cs typeface="Courier New" pitchFamily="34" charset="-120"/>
              </a:rPr>
              <a:t> GRAVITY = </a:t>
            </a:r>
            <a:r>
              <a:rPr lang="en-US" sz="1500" dirty="0">
                <a:solidFill>
                  <a:srgbClr val="B5CEA8"/>
                </a:solidFill>
                <a:latin typeface="Courier New" pitchFamily="34" charset="0"/>
                <a:ea typeface="Courier New" pitchFamily="34" charset="-122"/>
                <a:cs typeface="Courier New" pitchFamily="34" charset="-120"/>
              </a:rPr>
              <a:t>9.8</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static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final</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4EC9B0"/>
                </a:solidFill>
                <a:latin typeface="Courier New" pitchFamily="34" charset="0"/>
                <a:ea typeface="Courier New" pitchFamily="34" charset="-122"/>
                <a:cs typeface="Courier New" pitchFamily="34" charset="-120"/>
              </a:rPr>
              <a:t>String</a:t>
            </a:r>
            <a:r>
              <a:rPr lang="en-US" sz="1500" dirty="0">
                <a:solidFill>
                  <a:srgbClr val="D4D4D4"/>
                </a:solidFill>
                <a:latin typeface="Courier New" pitchFamily="34" charset="0"/>
                <a:ea typeface="Courier New" pitchFamily="34" charset="-122"/>
                <a:cs typeface="Courier New" pitchFamily="34" charset="-120"/>
              </a:rPr>
              <a:t> UNIT = </a:t>
            </a:r>
            <a:r>
              <a:rPr lang="en-US" sz="1500" dirty="0">
                <a:solidFill>
                  <a:srgbClr val="CE9178"/>
                </a:solidFill>
                <a:latin typeface="Courier New" pitchFamily="34" charset="0"/>
                <a:ea typeface="Courier New" pitchFamily="34" charset="-122"/>
                <a:cs typeface="Courier New" pitchFamily="34" charset="-120"/>
              </a:rPr>
              <a:t>"m/s^2"</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b="1" dirty="0">
                <a:solidFill>
                  <a:srgbClr val="569CD6"/>
                </a:solidFill>
                <a:latin typeface="Courier New" pitchFamily="34" charset="0"/>
                <a:ea typeface="Courier New" pitchFamily="34" charset="-122"/>
                <a:cs typeface="Courier New" pitchFamily="34" charset="-120"/>
              </a:rPr>
              <a:t>public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class</a:t>
            </a:r>
            <a:r>
              <a:rPr lang="en-US" sz="1500" dirty="0">
                <a:solidFill>
                  <a:srgbClr val="D4D4D4"/>
                </a:solidFill>
                <a:latin typeface="Courier New" pitchFamily="34" charset="0"/>
                <a:ea typeface="Courier New" pitchFamily="34" charset="-122"/>
                <a:cs typeface="Courier New" pitchFamily="34" charset="-120"/>
              </a:rPr>
              <a:t> ConstantDemo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public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static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void</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DCDCAA"/>
                </a:solidFill>
                <a:latin typeface="Courier New" pitchFamily="34" charset="0"/>
                <a:ea typeface="Courier New" pitchFamily="34" charset="-122"/>
                <a:cs typeface="Courier New" pitchFamily="34" charset="-120"/>
              </a:rPr>
              <a:t>main</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4EC9B0"/>
                </a:solidFill>
                <a:latin typeface="Courier New" pitchFamily="34" charset="0"/>
                <a:ea typeface="Courier New" pitchFamily="34" charset="-122"/>
                <a:cs typeface="Courier New" pitchFamily="34" charset="-120"/>
              </a:rPr>
              <a:t>String</a:t>
            </a:r>
            <a:r>
              <a:rPr lang="en-US" sz="1500" dirty="0">
                <a:solidFill>
                  <a:srgbClr val="D4D4D4"/>
                </a:solidFill>
                <a:latin typeface="Courier New" pitchFamily="34" charset="0"/>
                <a:ea typeface="Courier New" pitchFamily="34" charset="-122"/>
                <a:cs typeface="Courier New" pitchFamily="34" charset="-120"/>
              </a:rPr>
              <a:t>[] args)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4EC9B0"/>
                </a:solidFill>
                <a:latin typeface="Courier New" pitchFamily="34" charset="0"/>
                <a:ea typeface="Courier New" pitchFamily="34" charset="-122"/>
                <a:cs typeface="Courier New" pitchFamily="34" charset="-120"/>
              </a:rPr>
              <a:t>System</a:t>
            </a:r>
            <a:r>
              <a:rPr lang="en-US" sz="1500" dirty="0">
                <a:solidFill>
                  <a:srgbClr val="D4D4D4"/>
                </a:solidFill>
                <a:latin typeface="Courier New" pitchFamily="34" charset="0"/>
                <a:ea typeface="Courier New" pitchFamily="34" charset="-122"/>
                <a:cs typeface="Courier New" pitchFamily="34" charset="-120"/>
              </a:rPr>
              <a:t>.out.</a:t>
            </a:r>
            <a:r>
              <a:rPr lang="en-US" sz="1500" dirty="0">
                <a:solidFill>
                  <a:srgbClr val="DCDCAA"/>
                </a:solidFill>
                <a:latin typeface="Courier New" pitchFamily="34" charset="0"/>
                <a:ea typeface="Courier New" pitchFamily="34" charset="-122"/>
                <a:cs typeface="Courier New" pitchFamily="34" charset="-120"/>
              </a:rPr>
              <a:t>println</a:t>
            </a:r>
            <a:r>
              <a:rPr lang="en-US" sz="1500" dirty="0">
                <a:solidFill>
                  <a:srgbClr val="D4D4D4"/>
                </a:solidFill>
                <a:latin typeface="Courier New" pitchFamily="34" charset="0"/>
                <a:ea typeface="Courier New" pitchFamily="34" charset="-122"/>
                <a:cs typeface="Courier New" pitchFamily="34" charset="-120"/>
              </a:rPr>
              <a:t>(Physics.GRAVITY + </a:t>
            </a:r>
            <a:r>
              <a:rPr lang="en-US" sz="1500" dirty="0">
                <a:solidFill>
                  <a:srgbClr val="CE9178"/>
                </a:solidFill>
                <a:latin typeface="Courier New" pitchFamily="34" charset="0"/>
                <a:ea typeface="Courier New" pitchFamily="34" charset="-122"/>
                <a:cs typeface="Courier New" pitchFamily="34" charset="-120"/>
              </a:rPr>
              <a:t>" "</a:t>
            </a:r>
            <a:r>
              <a:rPr lang="en-US" sz="1500" dirty="0">
                <a:solidFill>
                  <a:srgbClr val="D4D4D4"/>
                </a:solidFill>
                <a:latin typeface="Courier New" pitchFamily="34" charset="0"/>
                <a:ea typeface="Courier New" pitchFamily="34" charset="-122"/>
                <a:cs typeface="Courier New" pitchFamily="34" charset="-120"/>
              </a:rPr>
              <a:t> + Physics.UNIT);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a:t>
            </a:r>
            <a:endParaRPr lang="en-US" sz="1500" dirty="0"/>
          </a:p>
        </p:txBody>
      </p:sp>
      <p:sp>
        <p:nvSpPr>
          <p:cNvPr id="17" name="Shape 15"/>
          <p:cNvSpPr/>
          <p:nvPr/>
        </p:nvSpPr>
        <p:spPr>
          <a:xfrm>
            <a:off x="0" y="0"/>
            <a:ext cx="12191695" cy="384048"/>
          </a:xfrm>
          <a:prstGeom prst="rect">
            <a:avLst/>
          </a:prstGeom>
          <a:solidFill>
            <a:srgbClr val="1B2A4A"/>
          </a:solidFill>
          <a:ln w="12700">
            <a:solidFill>
              <a:srgbClr val="1B2A4A"/>
            </a:solidFill>
            <a:prstDash val="solid"/>
          </a:ln>
        </p:spPr>
      </p:sp>
      <p:sp>
        <p:nvSpPr>
          <p:cNvPr id="18" name="Text 16"/>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9" name="Shape 17"/>
          <p:cNvSpPr/>
          <p:nvPr/>
        </p:nvSpPr>
        <p:spPr>
          <a:xfrm>
            <a:off x="219456" y="301752"/>
            <a:ext cx="960120" cy="0"/>
          </a:xfrm>
          <a:prstGeom prst="line">
            <a:avLst/>
          </a:prstGeom>
          <a:noFill/>
          <a:ln w="9525">
            <a:solidFill>
              <a:srgbClr val="4A5570"/>
            </a:solidFill>
            <a:prstDash val="solid"/>
          </a:ln>
        </p:spPr>
      </p:sp>
      <p:sp>
        <p:nvSpPr>
          <p:cNvPr id="20" name="Text 18"/>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1" name="Text 19"/>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2" name="Text 20"/>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3" name="Shape 21"/>
          <p:cNvSpPr/>
          <p:nvPr/>
        </p:nvSpPr>
        <p:spPr>
          <a:xfrm>
            <a:off x="0" y="6291072"/>
            <a:ext cx="12191695" cy="566928"/>
          </a:xfrm>
          <a:prstGeom prst="rect">
            <a:avLst/>
          </a:prstGeom>
          <a:solidFill>
            <a:srgbClr val="1B2A4A"/>
          </a:solidFill>
          <a:ln w="12700">
            <a:solidFill>
              <a:srgbClr val="1B2A4A"/>
            </a:solidFill>
            <a:prstDash val="solid"/>
          </a:ln>
        </p:spPr>
      </p:sp>
      <p:sp>
        <p:nvSpPr>
          <p:cNvPr id="24" name="Text 22"/>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5" name="Text 23"/>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COMMON PITFALLS</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Mistakes to Avoid with static</a:t>
            </a:r>
            <a:endParaRPr lang="en-US" sz="2700" dirty="0"/>
          </a:p>
        </p:txBody>
      </p:sp>
      <p:sp>
        <p:nvSpPr>
          <p:cNvPr id="4" name="Shape 2"/>
          <p:cNvSpPr/>
          <p:nvPr/>
        </p:nvSpPr>
        <p:spPr>
          <a:xfrm>
            <a:off x="594360" y="1691640"/>
            <a:ext cx="10607040" cy="1338072"/>
          </a:xfrm>
          <a:prstGeom prst="roundRect">
            <a:avLst>
              <a:gd name="adj" fmla="val 4100"/>
            </a:avLst>
          </a:prstGeom>
          <a:solidFill>
            <a:srgbClr val="F5F6FA"/>
          </a:solidFill>
          <a:ln w="9525">
            <a:solidFill>
              <a:srgbClr val="E4E7EE"/>
            </a:solidFill>
            <a:prstDash val="solid"/>
          </a:ln>
        </p:spPr>
      </p:sp>
      <p:sp>
        <p:nvSpPr>
          <p:cNvPr id="5" name="Shape 3"/>
          <p:cNvSpPr/>
          <p:nvPr/>
        </p:nvSpPr>
        <p:spPr>
          <a:xfrm>
            <a:off x="777240" y="1874520"/>
            <a:ext cx="109728" cy="109728"/>
          </a:xfrm>
          <a:prstGeom prst="ellipse">
            <a:avLst/>
          </a:prstGeom>
          <a:solidFill>
            <a:srgbClr val="E8590C"/>
          </a:solidFill>
          <a:ln w="12700">
            <a:solidFill>
              <a:srgbClr val="000000"/>
            </a:solidFill>
            <a:prstDash val="solid"/>
          </a:ln>
        </p:spPr>
      </p:sp>
      <p:sp>
        <p:nvSpPr>
          <p:cNvPr id="6" name="Text 4"/>
          <p:cNvSpPr/>
          <p:nvPr/>
        </p:nvSpPr>
        <p:spPr>
          <a:xfrm>
            <a:off x="1051560" y="1764792"/>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Trying to access instance fields from a static method</a:t>
            </a:r>
            <a:endParaRPr lang="en-US" sz="1500" dirty="0"/>
          </a:p>
        </p:txBody>
      </p:sp>
      <p:sp>
        <p:nvSpPr>
          <p:cNvPr id="7" name="Text 5"/>
          <p:cNvSpPr/>
          <p:nvPr/>
        </p:nvSpPr>
        <p:spPr>
          <a:xfrm>
            <a:off x="1051560" y="2057400"/>
            <a:ext cx="9966960" cy="917448"/>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A static method has no this, so it cannot directly reach fields that belong to a specific object.</a:t>
            </a:r>
            <a:endParaRPr lang="en-US" sz="1250" dirty="0"/>
          </a:p>
        </p:txBody>
      </p:sp>
      <p:sp>
        <p:nvSpPr>
          <p:cNvPr id="8" name="Shape 6"/>
          <p:cNvSpPr/>
          <p:nvPr/>
        </p:nvSpPr>
        <p:spPr>
          <a:xfrm>
            <a:off x="594360" y="3194304"/>
            <a:ext cx="10607040" cy="1338072"/>
          </a:xfrm>
          <a:prstGeom prst="roundRect">
            <a:avLst>
              <a:gd name="adj" fmla="val 4100"/>
            </a:avLst>
          </a:prstGeom>
          <a:solidFill>
            <a:srgbClr val="F5F6FA"/>
          </a:solidFill>
          <a:ln w="9525">
            <a:solidFill>
              <a:srgbClr val="E4E7EE"/>
            </a:solidFill>
            <a:prstDash val="solid"/>
          </a:ln>
        </p:spPr>
      </p:sp>
      <p:sp>
        <p:nvSpPr>
          <p:cNvPr id="9" name="Shape 7"/>
          <p:cNvSpPr/>
          <p:nvPr/>
        </p:nvSpPr>
        <p:spPr>
          <a:xfrm>
            <a:off x="777240" y="3377184"/>
            <a:ext cx="109728" cy="109728"/>
          </a:xfrm>
          <a:prstGeom prst="ellipse">
            <a:avLst/>
          </a:prstGeom>
          <a:solidFill>
            <a:srgbClr val="E8590C"/>
          </a:solidFill>
          <a:ln w="12700">
            <a:solidFill>
              <a:srgbClr val="000000"/>
            </a:solidFill>
            <a:prstDash val="solid"/>
          </a:ln>
        </p:spPr>
      </p:sp>
      <p:sp>
        <p:nvSpPr>
          <p:cNvPr id="10" name="Text 8"/>
          <p:cNvSpPr/>
          <p:nvPr/>
        </p:nvSpPr>
        <p:spPr>
          <a:xfrm>
            <a:off x="1051560" y="3267456"/>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Overusing static for convenience</a:t>
            </a:r>
            <a:endParaRPr lang="en-US" sz="1500" dirty="0"/>
          </a:p>
        </p:txBody>
      </p:sp>
      <p:sp>
        <p:nvSpPr>
          <p:cNvPr id="11" name="Text 9"/>
          <p:cNvSpPr/>
          <p:nvPr/>
        </p:nvSpPr>
        <p:spPr>
          <a:xfrm>
            <a:off x="1051560" y="3560064"/>
            <a:ext cx="9966960" cy="917448"/>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Making everything static removes the benefits of objects, such as each one holding its own independent state.</a:t>
            </a:r>
            <a:endParaRPr lang="en-US" sz="1250" dirty="0"/>
          </a:p>
        </p:txBody>
      </p:sp>
      <p:sp>
        <p:nvSpPr>
          <p:cNvPr id="12" name="Shape 10"/>
          <p:cNvSpPr/>
          <p:nvPr/>
        </p:nvSpPr>
        <p:spPr>
          <a:xfrm>
            <a:off x="594360" y="4696968"/>
            <a:ext cx="10607040" cy="1338072"/>
          </a:xfrm>
          <a:prstGeom prst="roundRect">
            <a:avLst>
              <a:gd name="adj" fmla="val 4100"/>
            </a:avLst>
          </a:prstGeom>
          <a:solidFill>
            <a:srgbClr val="F5F6FA"/>
          </a:solidFill>
          <a:ln w="9525">
            <a:solidFill>
              <a:srgbClr val="E4E7EE"/>
            </a:solidFill>
            <a:prstDash val="solid"/>
          </a:ln>
        </p:spPr>
      </p:sp>
      <p:sp>
        <p:nvSpPr>
          <p:cNvPr id="13" name="Shape 11"/>
          <p:cNvSpPr/>
          <p:nvPr/>
        </p:nvSpPr>
        <p:spPr>
          <a:xfrm>
            <a:off x="777240" y="4879848"/>
            <a:ext cx="109728" cy="109728"/>
          </a:xfrm>
          <a:prstGeom prst="ellipse">
            <a:avLst/>
          </a:prstGeom>
          <a:solidFill>
            <a:srgbClr val="E8590C"/>
          </a:solidFill>
          <a:ln w="12700">
            <a:solidFill>
              <a:srgbClr val="000000"/>
            </a:solidFill>
            <a:prstDash val="solid"/>
          </a:ln>
        </p:spPr>
      </p:sp>
      <p:sp>
        <p:nvSpPr>
          <p:cNvPr id="14" name="Text 12"/>
          <p:cNvSpPr/>
          <p:nvPr/>
        </p:nvSpPr>
        <p:spPr>
          <a:xfrm>
            <a:off x="1051560" y="4770120"/>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Forgetting that static state is shared</a:t>
            </a:r>
            <a:endParaRPr lang="en-US" sz="1500" dirty="0"/>
          </a:p>
        </p:txBody>
      </p:sp>
      <p:sp>
        <p:nvSpPr>
          <p:cNvPr id="15" name="Text 13"/>
          <p:cNvSpPr/>
          <p:nvPr/>
        </p:nvSpPr>
        <p:spPr>
          <a:xfrm>
            <a:off x="1051560" y="5062728"/>
            <a:ext cx="9966960" cy="917448"/>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A bug in one part of a program can affect every other part that reads the same static variable.</a:t>
            </a:r>
            <a:endParaRPr lang="en-US" sz="1250" dirty="0"/>
          </a:p>
        </p:txBody>
      </p:sp>
      <p:sp>
        <p:nvSpPr>
          <p:cNvPr id="16" name="Shape 14"/>
          <p:cNvSpPr/>
          <p:nvPr/>
        </p:nvSpPr>
        <p:spPr>
          <a:xfrm>
            <a:off x="0" y="0"/>
            <a:ext cx="12191695" cy="384048"/>
          </a:xfrm>
          <a:prstGeom prst="rect">
            <a:avLst/>
          </a:prstGeom>
          <a:solidFill>
            <a:srgbClr val="1B2A4A"/>
          </a:solidFill>
          <a:ln w="12700">
            <a:solidFill>
              <a:srgbClr val="1B2A4A"/>
            </a:solidFill>
            <a:prstDash val="solid"/>
          </a:ln>
        </p:spPr>
      </p:sp>
      <p:sp>
        <p:nvSpPr>
          <p:cNvPr id="17" name="Text 15"/>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8" name="Shape 16"/>
          <p:cNvSpPr/>
          <p:nvPr/>
        </p:nvSpPr>
        <p:spPr>
          <a:xfrm>
            <a:off x="219456" y="301752"/>
            <a:ext cx="960120" cy="0"/>
          </a:xfrm>
          <a:prstGeom prst="line">
            <a:avLst/>
          </a:prstGeom>
          <a:noFill/>
          <a:ln w="9525">
            <a:solidFill>
              <a:srgbClr val="4A5570"/>
            </a:solidFill>
            <a:prstDash val="solid"/>
          </a:ln>
        </p:spPr>
      </p:sp>
      <p:sp>
        <p:nvSpPr>
          <p:cNvPr id="19" name="Text 17"/>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0" name="Text 18"/>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1" name="Text 19"/>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2" name="Shape 20"/>
          <p:cNvSpPr/>
          <p:nvPr/>
        </p:nvSpPr>
        <p:spPr>
          <a:xfrm>
            <a:off x="0" y="6291072"/>
            <a:ext cx="12191695" cy="566928"/>
          </a:xfrm>
          <a:prstGeom prst="rect">
            <a:avLst/>
          </a:prstGeom>
          <a:solidFill>
            <a:srgbClr val="1B2A4A"/>
          </a:solidFill>
          <a:ln w="12700">
            <a:solidFill>
              <a:srgbClr val="1B2A4A"/>
            </a:solidFill>
            <a:prstDash val="solid"/>
          </a:ln>
        </p:spPr>
      </p:sp>
      <p:sp>
        <p:nvSpPr>
          <p:cNvPr id="23" name="Text 21"/>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4" name="Text 22"/>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PRACTICE</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Practice: Counting Objects with a Static Field</a:t>
            </a:r>
            <a:endParaRPr lang="en-US" sz="2700" dirty="0"/>
          </a:p>
        </p:txBody>
      </p:sp>
      <p:sp>
        <p:nvSpPr>
          <p:cNvPr id="4" name="Text 2"/>
          <p:cNvSpPr/>
          <p:nvPr/>
        </p:nvSpPr>
        <p:spPr>
          <a:xfrm>
            <a:off x="594360" y="1600200"/>
            <a:ext cx="10607040" cy="365760"/>
          </a:xfrm>
          <a:prstGeom prst="rect">
            <a:avLst/>
          </a:prstGeom>
          <a:noFill/>
          <a:ln/>
        </p:spPr>
        <p:txBody>
          <a:bodyPr wrap="square" lIns="0" tIns="0" rIns="0" bIns="0" rtlCol="0" anchor="ctr"/>
          <a:lstStyle/>
          <a:p>
            <a:pPr marL="0" indent="0">
              <a:buNone/>
            </a:pPr>
            <a:r>
              <a:rPr lang="en-US" sz="1250" i="1" dirty="0">
                <a:solidFill>
                  <a:srgbClr val="5A6472"/>
                </a:solidFill>
                <a:latin typeface="Times New Roman" pitchFamily="34" charset="0"/>
                <a:ea typeface="Times New Roman" pitchFamily="34" charset="-122"/>
                <a:cs typeface="Times New Roman" pitchFamily="34" charset="-120"/>
              </a:rPr>
              <a:t>A static counter that tracks how many objects have been created.</a:t>
            </a:r>
            <a:endParaRPr lang="en-US" sz="1250" dirty="0"/>
          </a:p>
        </p:txBody>
      </p:sp>
      <p:sp>
        <p:nvSpPr>
          <p:cNvPr id="5" name="Shape 3"/>
          <p:cNvSpPr/>
          <p:nvPr/>
        </p:nvSpPr>
        <p:spPr>
          <a:xfrm>
            <a:off x="594360" y="2002536"/>
            <a:ext cx="7040880" cy="4032504"/>
          </a:xfrm>
          <a:prstGeom prst="roundRect">
            <a:avLst>
              <a:gd name="adj" fmla="val 1814"/>
            </a:avLst>
          </a:prstGeom>
          <a:solidFill>
            <a:srgbClr val="1E1E2E"/>
          </a:solidFill>
          <a:ln w="12700">
            <a:solidFill>
              <a:srgbClr val="000000"/>
            </a:solidFill>
            <a:prstDash val="solid"/>
          </a:ln>
        </p:spPr>
      </p:sp>
      <p:sp>
        <p:nvSpPr>
          <p:cNvPr id="6" name="Shape 4"/>
          <p:cNvSpPr/>
          <p:nvPr/>
        </p:nvSpPr>
        <p:spPr>
          <a:xfrm>
            <a:off x="594360" y="2002536"/>
            <a:ext cx="7040880" cy="274320"/>
          </a:xfrm>
          <a:prstGeom prst="roundRect">
            <a:avLst>
              <a:gd name="adj" fmla="val 26667"/>
            </a:avLst>
          </a:prstGeom>
          <a:solidFill>
            <a:srgbClr val="17172A"/>
          </a:solidFill>
          <a:ln w="12700">
            <a:solidFill>
              <a:srgbClr val="000000"/>
            </a:solidFill>
            <a:prstDash val="solid"/>
          </a:ln>
        </p:spPr>
      </p:sp>
      <p:sp>
        <p:nvSpPr>
          <p:cNvPr id="7" name="Shape 5"/>
          <p:cNvSpPr/>
          <p:nvPr/>
        </p:nvSpPr>
        <p:spPr>
          <a:xfrm>
            <a:off x="594360" y="2203704"/>
            <a:ext cx="7040880" cy="73152"/>
          </a:xfrm>
          <a:prstGeom prst="rect">
            <a:avLst/>
          </a:prstGeom>
          <a:solidFill>
            <a:srgbClr val="17172A"/>
          </a:solidFill>
          <a:ln w="12700">
            <a:solidFill>
              <a:srgbClr val="000000"/>
            </a:solidFill>
            <a:prstDash val="solid"/>
          </a:ln>
        </p:spPr>
      </p:sp>
      <p:sp>
        <p:nvSpPr>
          <p:cNvPr id="8" name="Shape 6"/>
          <p:cNvSpPr/>
          <p:nvPr/>
        </p:nvSpPr>
        <p:spPr>
          <a:xfrm>
            <a:off x="722376" y="2101291"/>
            <a:ext cx="76810" cy="76810"/>
          </a:xfrm>
          <a:prstGeom prst="ellipse">
            <a:avLst/>
          </a:prstGeom>
          <a:solidFill>
            <a:srgbClr val="FF5F56"/>
          </a:solidFill>
          <a:ln w="12700">
            <a:solidFill>
              <a:srgbClr val="000000"/>
            </a:solidFill>
            <a:prstDash val="solid"/>
          </a:ln>
        </p:spPr>
      </p:sp>
      <p:sp>
        <p:nvSpPr>
          <p:cNvPr id="9" name="Shape 7"/>
          <p:cNvSpPr/>
          <p:nvPr/>
        </p:nvSpPr>
        <p:spPr>
          <a:xfrm>
            <a:off x="886968" y="2101291"/>
            <a:ext cx="76810" cy="76810"/>
          </a:xfrm>
          <a:prstGeom prst="ellipse">
            <a:avLst/>
          </a:prstGeom>
          <a:solidFill>
            <a:srgbClr val="FFBD2E"/>
          </a:solidFill>
          <a:ln w="12700">
            <a:solidFill>
              <a:srgbClr val="000000"/>
            </a:solidFill>
            <a:prstDash val="solid"/>
          </a:ln>
        </p:spPr>
      </p:sp>
      <p:sp>
        <p:nvSpPr>
          <p:cNvPr id="10" name="Shape 8"/>
          <p:cNvSpPr/>
          <p:nvPr/>
        </p:nvSpPr>
        <p:spPr>
          <a:xfrm>
            <a:off x="1051560" y="2101291"/>
            <a:ext cx="76810" cy="76810"/>
          </a:xfrm>
          <a:prstGeom prst="ellipse">
            <a:avLst/>
          </a:prstGeom>
          <a:solidFill>
            <a:srgbClr val="27C93F"/>
          </a:solidFill>
          <a:ln w="12700">
            <a:solidFill>
              <a:srgbClr val="000000"/>
            </a:solidFill>
            <a:prstDash val="solid"/>
          </a:ln>
        </p:spPr>
      </p:sp>
      <p:sp>
        <p:nvSpPr>
          <p:cNvPr id="11" name="Text 9"/>
          <p:cNvSpPr/>
          <p:nvPr/>
        </p:nvSpPr>
        <p:spPr>
          <a:xfrm>
            <a:off x="1371600" y="2002536"/>
            <a:ext cx="6126480" cy="274320"/>
          </a:xfrm>
          <a:prstGeom prst="rect">
            <a:avLst/>
          </a:prstGeom>
          <a:noFill/>
          <a:ln/>
        </p:spPr>
        <p:txBody>
          <a:bodyPr wrap="square" lIns="0" tIns="0" rIns="0" bIns="0" rtlCol="0" anchor="ctr"/>
          <a:lstStyle/>
          <a:p>
            <a:pPr marL="0" indent="0" algn="l">
              <a:buNone/>
            </a:pPr>
            <a:r>
              <a:rPr lang="en-US" sz="1000" dirty="0">
                <a:solidFill>
                  <a:srgbClr val="8A8FA3"/>
                </a:solidFill>
                <a:latin typeface="Courier New" pitchFamily="34" charset="0"/>
                <a:ea typeface="Courier New" pitchFamily="34" charset="-122"/>
                <a:cs typeface="Courier New" pitchFamily="34" charset="-120"/>
              </a:rPr>
              <a:t>Main.java</a:t>
            </a:r>
            <a:endParaRPr lang="en-US" sz="1000" dirty="0"/>
          </a:p>
        </p:txBody>
      </p:sp>
      <p:sp>
        <p:nvSpPr>
          <p:cNvPr id="12" name="Text 10"/>
          <p:cNvSpPr/>
          <p:nvPr/>
        </p:nvSpPr>
        <p:spPr>
          <a:xfrm>
            <a:off x="777240" y="2350008"/>
            <a:ext cx="6675120" cy="3611880"/>
          </a:xfrm>
          <a:prstGeom prst="rect">
            <a:avLst/>
          </a:prstGeom>
          <a:noFill/>
          <a:ln/>
        </p:spPr>
        <p:txBody>
          <a:bodyPr wrap="square" lIns="0" tIns="0" rIns="0" bIns="0" rtlCol="0" anchor="t"/>
          <a:lstStyle/>
          <a:p>
            <a:pPr marL="0" indent="0" algn="l">
              <a:lnSpc>
                <a:spcPct val="118000"/>
              </a:lnSpc>
              <a:buNone/>
            </a:pPr>
            <a:r>
              <a:rPr lang="en-US" sz="1400" b="1" dirty="0">
                <a:solidFill>
                  <a:srgbClr val="569CD6"/>
                </a:solidFill>
                <a:latin typeface="Courier New" pitchFamily="34" charset="0"/>
                <a:ea typeface="Courier New" pitchFamily="34" charset="-122"/>
                <a:cs typeface="Courier New" pitchFamily="34" charset="-120"/>
              </a:rPr>
              <a:t>public</a:t>
            </a:r>
            <a:r>
              <a:rPr lang="en-US" sz="1400" dirty="0">
                <a:solidFill>
                  <a:srgbClr val="D4D4D4"/>
                </a:solidFill>
                <a:latin typeface="Courier New" pitchFamily="34" charset="0"/>
                <a:ea typeface="Courier New" pitchFamily="34" charset="-122"/>
                <a:cs typeface="Courier New" pitchFamily="34" charset="-120"/>
              </a:rPr>
              <a:t> </a:t>
            </a:r>
            <a:r>
              <a:rPr lang="en-US" sz="1400" b="1" dirty="0">
                <a:solidFill>
                  <a:srgbClr val="569CD6"/>
                </a:solidFill>
                <a:latin typeface="Courier New" pitchFamily="34" charset="0"/>
                <a:ea typeface="Courier New" pitchFamily="34" charset="-122"/>
                <a:cs typeface="Courier New" pitchFamily="34" charset="-120"/>
              </a:rPr>
              <a:t>class</a:t>
            </a:r>
            <a:r>
              <a:rPr lang="en-US" sz="1400" dirty="0">
                <a:solidFill>
                  <a:srgbClr val="D4D4D4"/>
                </a:solidFill>
                <a:latin typeface="Courier New" pitchFamily="34" charset="0"/>
                <a:ea typeface="Courier New" pitchFamily="34" charset="-122"/>
                <a:cs typeface="Courier New" pitchFamily="34" charset="-120"/>
              </a:rPr>
              <a:t> Widget {</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a:t>
            </a:r>
            <a:r>
              <a:rPr lang="en-US" sz="1400" b="1" dirty="0">
                <a:solidFill>
                  <a:srgbClr val="569CD6"/>
                </a:solidFill>
                <a:latin typeface="Courier New" pitchFamily="34" charset="0"/>
                <a:ea typeface="Courier New" pitchFamily="34" charset="-122"/>
                <a:cs typeface="Courier New" pitchFamily="34" charset="-120"/>
              </a:rPr>
              <a:t>static</a:t>
            </a:r>
            <a:r>
              <a:rPr lang="en-US" sz="1400" dirty="0">
                <a:solidFill>
                  <a:srgbClr val="D4D4D4"/>
                </a:solidFill>
                <a:latin typeface="Courier New" pitchFamily="34" charset="0"/>
                <a:ea typeface="Courier New" pitchFamily="34" charset="-122"/>
                <a:cs typeface="Courier New" pitchFamily="34" charset="-120"/>
              </a:rPr>
              <a:t> </a:t>
            </a:r>
            <a:r>
              <a:rPr lang="en-US" sz="1400" b="1" dirty="0">
                <a:solidFill>
                  <a:srgbClr val="569CD6"/>
                </a:solidFill>
                <a:latin typeface="Courier New" pitchFamily="34" charset="0"/>
                <a:ea typeface="Courier New" pitchFamily="34" charset="-122"/>
                <a:cs typeface="Courier New" pitchFamily="34" charset="-120"/>
              </a:rPr>
              <a:t>int</a:t>
            </a:r>
            <a:r>
              <a:rPr lang="en-US" sz="1400" dirty="0">
                <a:solidFill>
                  <a:srgbClr val="D4D4D4"/>
                </a:solidFill>
                <a:latin typeface="Courier New" pitchFamily="34" charset="0"/>
                <a:ea typeface="Courier New" pitchFamily="34" charset="-122"/>
                <a:cs typeface="Courier New" pitchFamily="34" charset="-120"/>
              </a:rPr>
              <a:t> count = </a:t>
            </a:r>
            <a:r>
              <a:rPr lang="en-US" sz="1400" dirty="0">
                <a:solidFill>
                  <a:srgbClr val="B5CEA8"/>
                </a:solidFill>
                <a:latin typeface="Courier New" pitchFamily="34" charset="0"/>
                <a:ea typeface="Courier New" pitchFamily="34" charset="-122"/>
                <a:cs typeface="Courier New" pitchFamily="34" charset="-120"/>
              </a:rPr>
              <a:t>0</a:t>
            </a:r>
            <a:r>
              <a:rPr lang="en-US" sz="1400" dirty="0">
                <a:solidFill>
                  <a:srgbClr val="D4D4D4"/>
                </a:solidFill>
                <a:latin typeface="Courier New" pitchFamily="34" charset="0"/>
                <a:ea typeface="Courier New" pitchFamily="34" charset="-122"/>
                <a:cs typeface="Courier New" pitchFamily="34" charset="-120"/>
              </a:rPr>
              <a:t>;</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a:t>
            </a:r>
            <a:r>
              <a:rPr lang="en-US" sz="1400" dirty="0">
                <a:solidFill>
                  <a:srgbClr val="DCDCAA"/>
                </a:solidFill>
                <a:latin typeface="Courier New" pitchFamily="34" charset="0"/>
                <a:ea typeface="Courier New" pitchFamily="34" charset="-122"/>
                <a:cs typeface="Courier New" pitchFamily="34" charset="-120"/>
              </a:rPr>
              <a:t>Widget</a:t>
            </a:r>
            <a:r>
              <a:rPr lang="en-US" sz="1400" dirty="0">
                <a:solidFill>
                  <a:srgbClr val="D4D4D4"/>
                </a:solidFill>
                <a:latin typeface="Courier New" pitchFamily="34" charset="0"/>
                <a:ea typeface="Courier New" pitchFamily="34" charset="-122"/>
                <a:cs typeface="Courier New" pitchFamily="34" charset="-120"/>
              </a:rPr>
              <a:t>() {</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count++;</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a:t>
            </a:r>
            <a:r>
              <a:rPr lang="en-US" sz="1400" b="1" dirty="0">
                <a:solidFill>
                  <a:srgbClr val="569CD6"/>
                </a:solidFill>
                <a:latin typeface="Courier New" pitchFamily="34" charset="0"/>
                <a:ea typeface="Courier New" pitchFamily="34" charset="-122"/>
                <a:cs typeface="Courier New" pitchFamily="34" charset="-120"/>
              </a:rPr>
              <a:t>public</a:t>
            </a:r>
            <a:r>
              <a:rPr lang="en-US" sz="1400" dirty="0">
                <a:solidFill>
                  <a:srgbClr val="D4D4D4"/>
                </a:solidFill>
                <a:latin typeface="Courier New" pitchFamily="34" charset="0"/>
                <a:ea typeface="Courier New" pitchFamily="34" charset="-122"/>
                <a:cs typeface="Courier New" pitchFamily="34" charset="-120"/>
              </a:rPr>
              <a:t> </a:t>
            </a:r>
            <a:r>
              <a:rPr lang="en-US" sz="1400" b="1" dirty="0">
                <a:solidFill>
                  <a:srgbClr val="569CD6"/>
                </a:solidFill>
                <a:latin typeface="Courier New" pitchFamily="34" charset="0"/>
                <a:ea typeface="Courier New" pitchFamily="34" charset="-122"/>
                <a:cs typeface="Courier New" pitchFamily="34" charset="-120"/>
              </a:rPr>
              <a:t>static</a:t>
            </a:r>
            <a:r>
              <a:rPr lang="en-US" sz="1400" dirty="0">
                <a:solidFill>
                  <a:srgbClr val="D4D4D4"/>
                </a:solidFill>
                <a:latin typeface="Courier New" pitchFamily="34" charset="0"/>
                <a:ea typeface="Courier New" pitchFamily="34" charset="-122"/>
                <a:cs typeface="Courier New" pitchFamily="34" charset="-120"/>
              </a:rPr>
              <a:t> </a:t>
            </a:r>
            <a:r>
              <a:rPr lang="en-US" sz="1400" b="1" dirty="0">
                <a:solidFill>
                  <a:srgbClr val="569CD6"/>
                </a:solidFill>
                <a:latin typeface="Courier New" pitchFamily="34" charset="0"/>
                <a:ea typeface="Courier New" pitchFamily="34" charset="-122"/>
                <a:cs typeface="Courier New" pitchFamily="34" charset="-120"/>
              </a:rPr>
              <a:t>void</a:t>
            </a:r>
            <a:r>
              <a:rPr lang="en-US" sz="1400" dirty="0">
                <a:solidFill>
                  <a:srgbClr val="D4D4D4"/>
                </a:solidFill>
                <a:latin typeface="Courier New" pitchFamily="34" charset="0"/>
                <a:ea typeface="Courier New" pitchFamily="34" charset="-122"/>
                <a:cs typeface="Courier New" pitchFamily="34" charset="-120"/>
              </a:rPr>
              <a:t> </a:t>
            </a:r>
            <a:r>
              <a:rPr lang="en-US" sz="1400" dirty="0">
                <a:solidFill>
                  <a:srgbClr val="DCDCAA"/>
                </a:solidFill>
                <a:latin typeface="Courier New" pitchFamily="34" charset="0"/>
                <a:ea typeface="Courier New" pitchFamily="34" charset="-122"/>
                <a:cs typeface="Courier New" pitchFamily="34" charset="-120"/>
              </a:rPr>
              <a:t>main</a:t>
            </a:r>
            <a:r>
              <a:rPr lang="en-US" sz="1400" dirty="0">
                <a:solidFill>
                  <a:srgbClr val="D4D4D4"/>
                </a:solidFill>
                <a:latin typeface="Courier New" pitchFamily="34" charset="0"/>
                <a:ea typeface="Courier New" pitchFamily="34" charset="-122"/>
                <a:cs typeface="Courier New" pitchFamily="34" charset="-120"/>
              </a:rPr>
              <a:t>(</a:t>
            </a:r>
            <a:r>
              <a:rPr lang="en-US" sz="1400" dirty="0">
                <a:solidFill>
                  <a:srgbClr val="4EC9B0"/>
                </a:solidFill>
                <a:latin typeface="Courier New" pitchFamily="34" charset="0"/>
                <a:ea typeface="Courier New" pitchFamily="34" charset="-122"/>
                <a:cs typeface="Courier New" pitchFamily="34" charset="-120"/>
              </a:rPr>
              <a:t>String</a:t>
            </a:r>
            <a:r>
              <a:rPr lang="en-US" sz="1400" dirty="0">
                <a:solidFill>
                  <a:srgbClr val="D4D4D4"/>
                </a:solidFill>
                <a:latin typeface="Courier New" pitchFamily="34" charset="0"/>
                <a:ea typeface="Courier New" pitchFamily="34" charset="-122"/>
                <a:cs typeface="Courier New" pitchFamily="34" charset="-120"/>
              </a:rPr>
              <a:t>[] args) {</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a:t>
            </a:r>
            <a:r>
              <a:rPr lang="en-US" sz="1400" b="1" dirty="0">
                <a:solidFill>
                  <a:srgbClr val="569CD6"/>
                </a:solidFill>
                <a:latin typeface="Courier New" pitchFamily="34" charset="0"/>
                <a:ea typeface="Courier New" pitchFamily="34" charset="-122"/>
                <a:cs typeface="Courier New" pitchFamily="34" charset="-120"/>
              </a:rPr>
              <a:t>new</a:t>
            </a:r>
            <a:r>
              <a:rPr lang="en-US" sz="1400" dirty="0">
                <a:solidFill>
                  <a:srgbClr val="D4D4D4"/>
                </a:solidFill>
                <a:latin typeface="Courier New" pitchFamily="34" charset="0"/>
                <a:ea typeface="Courier New" pitchFamily="34" charset="-122"/>
                <a:cs typeface="Courier New" pitchFamily="34" charset="-120"/>
              </a:rPr>
              <a:t> </a:t>
            </a:r>
            <a:r>
              <a:rPr lang="en-US" sz="1400" dirty="0">
                <a:solidFill>
                  <a:srgbClr val="DCDCAA"/>
                </a:solidFill>
                <a:latin typeface="Courier New" pitchFamily="34" charset="0"/>
                <a:ea typeface="Courier New" pitchFamily="34" charset="-122"/>
                <a:cs typeface="Courier New" pitchFamily="34" charset="-120"/>
              </a:rPr>
              <a:t>Widget</a:t>
            </a:r>
            <a:r>
              <a:rPr lang="en-US" sz="1400" dirty="0">
                <a:solidFill>
                  <a:srgbClr val="D4D4D4"/>
                </a:solidFill>
                <a:latin typeface="Courier New" pitchFamily="34" charset="0"/>
                <a:ea typeface="Courier New" pitchFamily="34" charset="-122"/>
                <a:cs typeface="Courier New" pitchFamily="34" charset="-120"/>
              </a:rPr>
              <a:t>();</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a:t>
            </a:r>
            <a:r>
              <a:rPr lang="en-US" sz="1400" b="1" dirty="0">
                <a:solidFill>
                  <a:srgbClr val="569CD6"/>
                </a:solidFill>
                <a:latin typeface="Courier New" pitchFamily="34" charset="0"/>
                <a:ea typeface="Courier New" pitchFamily="34" charset="-122"/>
                <a:cs typeface="Courier New" pitchFamily="34" charset="-120"/>
              </a:rPr>
              <a:t>new</a:t>
            </a:r>
            <a:r>
              <a:rPr lang="en-US" sz="1400" dirty="0">
                <a:solidFill>
                  <a:srgbClr val="D4D4D4"/>
                </a:solidFill>
                <a:latin typeface="Courier New" pitchFamily="34" charset="0"/>
                <a:ea typeface="Courier New" pitchFamily="34" charset="-122"/>
                <a:cs typeface="Courier New" pitchFamily="34" charset="-120"/>
              </a:rPr>
              <a:t> </a:t>
            </a:r>
            <a:r>
              <a:rPr lang="en-US" sz="1400" dirty="0">
                <a:solidFill>
                  <a:srgbClr val="DCDCAA"/>
                </a:solidFill>
                <a:latin typeface="Courier New" pitchFamily="34" charset="0"/>
                <a:ea typeface="Courier New" pitchFamily="34" charset="-122"/>
                <a:cs typeface="Courier New" pitchFamily="34" charset="-120"/>
              </a:rPr>
              <a:t>Widget</a:t>
            </a:r>
            <a:r>
              <a:rPr lang="en-US" sz="1400" dirty="0">
                <a:solidFill>
                  <a:srgbClr val="D4D4D4"/>
                </a:solidFill>
                <a:latin typeface="Courier New" pitchFamily="34" charset="0"/>
                <a:ea typeface="Courier New" pitchFamily="34" charset="-122"/>
                <a:cs typeface="Courier New" pitchFamily="34" charset="-120"/>
              </a:rPr>
              <a:t>();</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a:t>
            </a:r>
            <a:r>
              <a:rPr lang="en-US" sz="1400" b="1" dirty="0">
                <a:solidFill>
                  <a:srgbClr val="569CD6"/>
                </a:solidFill>
                <a:latin typeface="Courier New" pitchFamily="34" charset="0"/>
                <a:ea typeface="Courier New" pitchFamily="34" charset="-122"/>
                <a:cs typeface="Courier New" pitchFamily="34" charset="-120"/>
              </a:rPr>
              <a:t>new</a:t>
            </a:r>
            <a:r>
              <a:rPr lang="en-US" sz="1400" dirty="0">
                <a:solidFill>
                  <a:srgbClr val="D4D4D4"/>
                </a:solidFill>
                <a:latin typeface="Courier New" pitchFamily="34" charset="0"/>
                <a:ea typeface="Courier New" pitchFamily="34" charset="-122"/>
                <a:cs typeface="Courier New" pitchFamily="34" charset="-120"/>
              </a:rPr>
              <a:t> </a:t>
            </a:r>
            <a:r>
              <a:rPr lang="en-US" sz="1400" dirty="0">
                <a:solidFill>
                  <a:srgbClr val="DCDCAA"/>
                </a:solidFill>
                <a:latin typeface="Courier New" pitchFamily="34" charset="0"/>
                <a:ea typeface="Courier New" pitchFamily="34" charset="-122"/>
                <a:cs typeface="Courier New" pitchFamily="34" charset="-120"/>
              </a:rPr>
              <a:t>Widget</a:t>
            </a:r>
            <a:r>
              <a:rPr lang="en-US" sz="1400" dirty="0">
                <a:solidFill>
                  <a:srgbClr val="D4D4D4"/>
                </a:solidFill>
                <a:latin typeface="Courier New" pitchFamily="34" charset="0"/>
                <a:ea typeface="Courier New" pitchFamily="34" charset="-122"/>
                <a:cs typeface="Courier New" pitchFamily="34" charset="-120"/>
              </a:rPr>
              <a:t>();</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a:t>
            </a:r>
            <a:r>
              <a:rPr lang="en-US" sz="1400" dirty="0">
                <a:solidFill>
                  <a:srgbClr val="4EC9B0"/>
                </a:solidFill>
                <a:latin typeface="Courier New" pitchFamily="34" charset="0"/>
                <a:ea typeface="Courier New" pitchFamily="34" charset="-122"/>
                <a:cs typeface="Courier New" pitchFamily="34" charset="-120"/>
              </a:rPr>
              <a:t>System</a:t>
            </a:r>
            <a:r>
              <a:rPr lang="en-US" sz="1400" dirty="0">
                <a:solidFill>
                  <a:srgbClr val="D4D4D4"/>
                </a:solidFill>
                <a:latin typeface="Courier New" pitchFamily="34" charset="0"/>
                <a:ea typeface="Courier New" pitchFamily="34" charset="-122"/>
                <a:cs typeface="Courier New" pitchFamily="34" charset="-120"/>
              </a:rPr>
              <a:t>.out.</a:t>
            </a:r>
            <a:r>
              <a:rPr lang="en-US" sz="1400" dirty="0">
                <a:solidFill>
                  <a:srgbClr val="DCDCAA"/>
                </a:solidFill>
                <a:latin typeface="Courier New" pitchFamily="34" charset="0"/>
                <a:ea typeface="Courier New" pitchFamily="34" charset="-122"/>
                <a:cs typeface="Courier New" pitchFamily="34" charset="-120"/>
              </a:rPr>
              <a:t>println</a:t>
            </a:r>
            <a:r>
              <a:rPr lang="en-US" sz="1400" dirty="0">
                <a:solidFill>
                  <a:srgbClr val="D4D4D4"/>
                </a:solidFill>
                <a:latin typeface="Courier New" pitchFamily="34" charset="0"/>
                <a:ea typeface="Courier New" pitchFamily="34" charset="-122"/>
                <a:cs typeface="Courier New" pitchFamily="34" charset="-120"/>
              </a:rPr>
              <a:t>(</a:t>
            </a:r>
            <a:r>
              <a:rPr lang="en-US" sz="1400" dirty="0">
                <a:solidFill>
                  <a:srgbClr val="CE9178"/>
                </a:solidFill>
                <a:latin typeface="Courier New" pitchFamily="34" charset="0"/>
                <a:ea typeface="Courier New" pitchFamily="34" charset="-122"/>
                <a:cs typeface="Courier New" pitchFamily="34" charset="-120"/>
              </a:rPr>
              <a:t>"Widgets created: "</a:t>
            </a:r>
            <a:r>
              <a:rPr lang="en-US" sz="1400" dirty="0">
                <a:solidFill>
                  <a:srgbClr val="D4D4D4"/>
                </a:solidFill>
                <a:latin typeface="Courier New" pitchFamily="34" charset="0"/>
                <a:ea typeface="Courier New" pitchFamily="34" charset="-122"/>
                <a:cs typeface="Courier New" pitchFamily="34" charset="-120"/>
              </a:rPr>
              <a:t> + count);</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a:t>
            </a:r>
            <a:endParaRPr lang="en-US" sz="1400" dirty="0"/>
          </a:p>
        </p:txBody>
      </p:sp>
      <p:sp>
        <p:nvSpPr>
          <p:cNvPr id="13" name="Shape 11"/>
          <p:cNvSpPr/>
          <p:nvPr/>
        </p:nvSpPr>
        <p:spPr>
          <a:xfrm>
            <a:off x="7909560" y="2002536"/>
            <a:ext cx="3886200" cy="4032504"/>
          </a:xfrm>
          <a:prstGeom prst="roundRect">
            <a:avLst>
              <a:gd name="adj" fmla="val 1882"/>
            </a:avLst>
          </a:prstGeom>
          <a:solidFill>
            <a:srgbClr val="181C24"/>
          </a:solidFill>
          <a:ln w="12700">
            <a:solidFill>
              <a:srgbClr val="000000"/>
            </a:solidFill>
            <a:prstDash val="solid"/>
          </a:ln>
        </p:spPr>
      </p:sp>
      <p:sp>
        <p:nvSpPr>
          <p:cNvPr id="14" name="Text 12"/>
          <p:cNvSpPr/>
          <p:nvPr/>
        </p:nvSpPr>
        <p:spPr>
          <a:xfrm>
            <a:off x="8074152" y="2130552"/>
            <a:ext cx="3557016" cy="274320"/>
          </a:xfrm>
          <a:prstGeom prst="rect">
            <a:avLst/>
          </a:prstGeom>
          <a:noFill/>
          <a:ln/>
        </p:spPr>
        <p:txBody>
          <a:bodyPr wrap="square" lIns="0" tIns="0" rIns="0" bIns="0" rtlCol="0" anchor="ctr"/>
          <a:lstStyle/>
          <a:p>
            <a:pPr marL="0" indent="0">
              <a:buNone/>
            </a:pPr>
            <a:r>
              <a:rPr lang="en-US" sz="1000" b="1" kern="0" spc="100" dirty="0">
                <a:solidFill>
                  <a:srgbClr val="E8590C"/>
                </a:solidFill>
                <a:latin typeface="Times New Roman" pitchFamily="34" charset="0"/>
                <a:ea typeface="Times New Roman" pitchFamily="34" charset="-122"/>
                <a:cs typeface="Times New Roman" pitchFamily="34" charset="-120"/>
              </a:rPr>
              <a:t>CONSOLE OUTPUT</a:t>
            </a:r>
            <a:endParaRPr lang="en-US" sz="1000" dirty="0"/>
          </a:p>
        </p:txBody>
      </p:sp>
      <p:sp>
        <p:nvSpPr>
          <p:cNvPr id="15" name="Text 13"/>
          <p:cNvSpPr/>
          <p:nvPr/>
        </p:nvSpPr>
        <p:spPr>
          <a:xfrm>
            <a:off x="8074152" y="2459736"/>
            <a:ext cx="3557016" cy="3429000"/>
          </a:xfrm>
          <a:prstGeom prst="rect">
            <a:avLst/>
          </a:prstGeom>
          <a:noFill/>
          <a:ln/>
        </p:spPr>
        <p:txBody>
          <a:bodyPr wrap="square" lIns="0" tIns="0" rIns="0" bIns="0" rtlCol="0" anchor="t"/>
          <a:lstStyle/>
          <a:p>
            <a:pPr marL="0" indent="0">
              <a:lnSpc>
                <a:spcPct val="130000"/>
              </a:lnSpc>
              <a:buNone/>
            </a:pPr>
            <a:r>
              <a:rPr lang="en-US" sz="1300" dirty="0">
                <a:solidFill>
                  <a:srgbClr val="D8E6D0"/>
                </a:solidFill>
                <a:latin typeface="Courier New" pitchFamily="34" charset="0"/>
                <a:ea typeface="Courier New" pitchFamily="34" charset="-122"/>
                <a:cs typeface="Courier New" pitchFamily="34" charset="-120"/>
              </a:rPr>
              <a:t>Widgets created: 3</a:t>
            </a:r>
            <a:endParaRPr lang="en-US" sz="1300" dirty="0"/>
          </a:p>
        </p:txBody>
      </p:sp>
      <p:sp>
        <p:nvSpPr>
          <p:cNvPr id="16" name="Shape 14"/>
          <p:cNvSpPr/>
          <p:nvPr/>
        </p:nvSpPr>
        <p:spPr>
          <a:xfrm>
            <a:off x="0" y="0"/>
            <a:ext cx="12191695" cy="384048"/>
          </a:xfrm>
          <a:prstGeom prst="rect">
            <a:avLst/>
          </a:prstGeom>
          <a:solidFill>
            <a:srgbClr val="1B2A4A"/>
          </a:solidFill>
          <a:ln w="12700">
            <a:solidFill>
              <a:srgbClr val="1B2A4A"/>
            </a:solidFill>
            <a:prstDash val="solid"/>
          </a:ln>
        </p:spPr>
      </p:sp>
      <p:sp>
        <p:nvSpPr>
          <p:cNvPr id="17" name="Text 15"/>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8" name="Shape 16"/>
          <p:cNvSpPr/>
          <p:nvPr/>
        </p:nvSpPr>
        <p:spPr>
          <a:xfrm>
            <a:off x="219456" y="301752"/>
            <a:ext cx="960120" cy="0"/>
          </a:xfrm>
          <a:prstGeom prst="line">
            <a:avLst/>
          </a:prstGeom>
          <a:noFill/>
          <a:ln w="9525">
            <a:solidFill>
              <a:srgbClr val="4A5570"/>
            </a:solidFill>
            <a:prstDash val="solid"/>
          </a:ln>
        </p:spPr>
      </p:sp>
      <p:sp>
        <p:nvSpPr>
          <p:cNvPr id="19" name="Text 17"/>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0" name="Text 18"/>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1" name="Text 19"/>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2" name="Shape 20"/>
          <p:cNvSpPr/>
          <p:nvPr/>
        </p:nvSpPr>
        <p:spPr>
          <a:xfrm>
            <a:off x="0" y="6291072"/>
            <a:ext cx="12191695" cy="566928"/>
          </a:xfrm>
          <a:prstGeom prst="rect">
            <a:avLst/>
          </a:prstGeom>
          <a:solidFill>
            <a:srgbClr val="1B2A4A"/>
          </a:solidFill>
          <a:ln w="12700">
            <a:solidFill>
              <a:srgbClr val="1B2A4A"/>
            </a:solidFill>
            <a:prstDash val="solid"/>
          </a:ln>
        </p:spPr>
      </p:sp>
      <p:sp>
        <p:nvSpPr>
          <p:cNvPr id="23" name="Text 21"/>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4" name="Text 22"/>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181C24"/>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81C24"/>
          </a:solidFill>
          <a:ln w="12700">
            <a:solidFill>
              <a:srgbClr val="181C24"/>
            </a:solidFill>
            <a:prstDash val="solid"/>
          </a:ln>
        </p:spPr>
      </p:sp>
      <p:sp>
        <p:nvSpPr>
          <p:cNvPr id="3" name="Shape 1"/>
          <p:cNvSpPr/>
          <p:nvPr/>
        </p:nvSpPr>
        <p:spPr>
          <a:xfrm>
            <a:off x="0" y="3246120"/>
            <a:ext cx="12191695" cy="18288"/>
          </a:xfrm>
          <a:prstGeom prst="rect">
            <a:avLst/>
          </a:prstGeom>
          <a:solidFill>
            <a:srgbClr val="2A2F3B"/>
          </a:solidFill>
          <a:ln w="12700">
            <a:solidFill>
              <a:srgbClr val="000000"/>
            </a:solidFill>
            <a:prstDash val="solid"/>
          </a:ln>
        </p:spPr>
      </p:sp>
      <p:sp>
        <p:nvSpPr>
          <p:cNvPr id="4" name="Text 2"/>
          <p:cNvSpPr/>
          <p:nvPr/>
        </p:nvSpPr>
        <p:spPr>
          <a:xfrm>
            <a:off x="640080" y="2651760"/>
            <a:ext cx="5486400" cy="365760"/>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SECTION 5 / 10</a:t>
            </a:r>
            <a:endParaRPr lang="en-US" sz="1300" dirty="0"/>
          </a:p>
        </p:txBody>
      </p:sp>
      <p:sp>
        <p:nvSpPr>
          <p:cNvPr id="5" name="Text 3"/>
          <p:cNvSpPr/>
          <p:nvPr/>
        </p:nvSpPr>
        <p:spPr>
          <a:xfrm>
            <a:off x="594360" y="2971800"/>
            <a:ext cx="10515600" cy="1005840"/>
          </a:xfrm>
          <a:prstGeom prst="rect">
            <a:avLst/>
          </a:prstGeom>
          <a:noFill/>
          <a:ln/>
        </p:spPr>
        <p:txBody>
          <a:bodyPr wrap="square" lIns="0" tIns="0" rIns="0" bIns="0" rtlCol="0" anchor="ctr"/>
          <a:lstStyle/>
          <a:p>
            <a:pPr marL="0" indent="0">
              <a:buNone/>
            </a:pPr>
            <a:r>
              <a:rPr lang="en-US" sz="3400" b="1" dirty="0">
                <a:solidFill>
                  <a:srgbClr val="FFFFFF"/>
                </a:solidFill>
                <a:latin typeface="Times New Roman" pitchFamily="34" charset="0"/>
                <a:ea typeface="Times New Roman" pitchFamily="34" charset="-122"/>
                <a:cs typeface="Times New Roman" pitchFamily="34" charset="-120"/>
              </a:rPr>
              <a:t>Access Modifiers and Encapsulation</a:t>
            </a:r>
            <a:endParaRPr lang="en-US" sz="3400" dirty="0"/>
          </a:p>
        </p:txBody>
      </p:sp>
      <p:sp>
        <p:nvSpPr>
          <p:cNvPr id="6" name="Text 4"/>
          <p:cNvSpPr/>
          <p:nvPr/>
        </p:nvSpPr>
        <p:spPr>
          <a:xfrm>
            <a:off x="640080" y="3977640"/>
            <a:ext cx="9144000" cy="548640"/>
          </a:xfrm>
          <a:prstGeom prst="rect">
            <a:avLst/>
          </a:prstGeom>
          <a:noFill/>
          <a:ln/>
        </p:spPr>
        <p:txBody>
          <a:bodyPr wrap="square" lIns="0" tIns="0" rIns="0" bIns="0" rtlCol="0" anchor="t"/>
          <a:lstStyle/>
          <a:p>
            <a:pPr marL="0" indent="0">
              <a:buNone/>
            </a:pPr>
            <a:r>
              <a:rPr lang="en-US" sz="1500" dirty="0">
                <a:solidFill>
                  <a:srgbClr val="8C93A0"/>
                </a:solidFill>
                <a:latin typeface="Times New Roman" pitchFamily="34" charset="0"/>
                <a:ea typeface="Times New Roman" pitchFamily="34" charset="-122"/>
                <a:cs typeface="Times New Roman" pitchFamily="34" charset="-120"/>
              </a:rPr>
              <a:t>Controlling visibility, and protecting an object's internal state</a:t>
            </a:r>
            <a:endParaRPr lang="en-US" sz="1500" dirty="0"/>
          </a:p>
        </p:txBody>
      </p:sp>
      <p:sp>
        <p:nvSpPr>
          <p:cNvPr id="7" name="Shape 5"/>
          <p:cNvSpPr/>
          <p:nvPr/>
        </p:nvSpPr>
        <p:spPr>
          <a:xfrm>
            <a:off x="0" y="0"/>
            <a:ext cx="12191695" cy="384048"/>
          </a:xfrm>
          <a:prstGeom prst="rect">
            <a:avLst/>
          </a:prstGeom>
          <a:solidFill>
            <a:srgbClr val="1B2A4A"/>
          </a:solidFill>
          <a:ln w="12700">
            <a:solidFill>
              <a:srgbClr val="1B2A4A"/>
            </a:solidFill>
            <a:prstDash val="solid"/>
          </a:ln>
        </p:spPr>
      </p:sp>
      <p:sp>
        <p:nvSpPr>
          <p:cNvPr id="8" name="Text 6"/>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9" name="Shape 7"/>
          <p:cNvSpPr/>
          <p:nvPr/>
        </p:nvSpPr>
        <p:spPr>
          <a:xfrm>
            <a:off x="219456" y="301752"/>
            <a:ext cx="960120" cy="0"/>
          </a:xfrm>
          <a:prstGeom prst="line">
            <a:avLst/>
          </a:prstGeom>
          <a:noFill/>
          <a:ln w="9525">
            <a:solidFill>
              <a:srgbClr val="4A5570"/>
            </a:solidFill>
            <a:prstDash val="solid"/>
          </a:ln>
        </p:spPr>
      </p:sp>
      <p:sp>
        <p:nvSpPr>
          <p:cNvPr id="10" name="Text 8"/>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11" name="Text 9"/>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12" name="Text 10"/>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13" name="Shape 11"/>
          <p:cNvSpPr/>
          <p:nvPr/>
        </p:nvSpPr>
        <p:spPr>
          <a:xfrm>
            <a:off x="0" y="6291072"/>
            <a:ext cx="12191695" cy="566928"/>
          </a:xfrm>
          <a:prstGeom prst="rect">
            <a:avLst/>
          </a:prstGeom>
          <a:solidFill>
            <a:srgbClr val="1B2A4A"/>
          </a:solidFill>
          <a:ln w="12700">
            <a:solidFill>
              <a:srgbClr val="1B2A4A"/>
            </a:solidFill>
            <a:prstDash val="solid"/>
          </a:ln>
        </p:spPr>
      </p:sp>
      <p:sp>
        <p:nvSpPr>
          <p:cNvPr id="14" name="Text 12"/>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15" name="Text 13"/>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CONCEPT</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What Are Access Modifiers?</a:t>
            </a:r>
            <a:endParaRPr lang="en-US" sz="2700" dirty="0"/>
          </a:p>
        </p:txBody>
      </p:sp>
      <p:sp>
        <p:nvSpPr>
          <p:cNvPr id="4" name="Shape 2"/>
          <p:cNvSpPr/>
          <p:nvPr/>
        </p:nvSpPr>
        <p:spPr>
          <a:xfrm>
            <a:off x="594360" y="1691640"/>
            <a:ext cx="10607040" cy="2089404"/>
          </a:xfrm>
          <a:prstGeom prst="roundRect">
            <a:avLst>
              <a:gd name="adj" fmla="val 2626"/>
            </a:avLst>
          </a:prstGeom>
          <a:solidFill>
            <a:srgbClr val="F5F6FA"/>
          </a:solidFill>
          <a:ln w="9525">
            <a:solidFill>
              <a:srgbClr val="E4E7EE"/>
            </a:solidFill>
            <a:prstDash val="solid"/>
          </a:ln>
        </p:spPr>
      </p:sp>
      <p:sp>
        <p:nvSpPr>
          <p:cNvPr id="5" name="Shape 3"/>
          <p:cNvSpPr/>
          <p:nvPr/>
        </p:nvSpPr>
        <p:spPr>
          <a:xfrm>
            <a:off x="777240" y="1874520"/>
            <a:ext cx="109728" cy="109728"/>
          </a:xfrm>
          <a:prstGeom prst="ellipse">
            <a:avLst/>
          </a:prstGeom>
          <a:solidFill>
            <a:srgbClr val="E8590C"/>
          </a:solidFill>
          <a:ln w="12700">
            <a:solidFill>
              <a:srgbClr val="000000"/>
            </a:solidFill>
            <a:prstDash val="solid"/>
          </a:ln>
        </p:spPr>
      </p:sp>
      <p:sp>
        <p:nvSpPr>
          <p:cNvPr id="6" name="Text 4"/>
          <p:cNvSpPr/>
          <p:nvPr/>
        </p:nvSpPr>
        <p:spPr>
          <a:xfrm>
            <a:off x="1051560" y="1764792"/>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Keywords that control visibility</a:t>
            </a:r>
            <a:endParaRPr lang="en-US" sz="1500" dirty="0"/>
          </a:p>
        </p:txBody>
      </p:sp>
      <p:sp>
        <p:nvSpPr>
          <p:cNvPr id="7" name="Text 5"/>
          <p:cNvSpPr/>
          <p:nvPr/>
        </p:nvSpPr>
        <p:spPr>
          <a:xfrm>
            <a:off x="1051560" y="2057400"/>
            <a:ext cx="9966960" cy="1668780"/>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Access modifiers decide which other classes are allowed to see and use a field, method, or class.</a:t>
            </a:r>
            <a:endParaRPr lang="en-US" sz="1250" dirty="0"/>
          </a:p>
        </p:txBody>
      </p:sp>
      <p:sp>
        <p:nvSpPr>
          <p:cNvPr id="8" name="Shape 6"/>
          <p:cNvSpPr/>
          <p:nvPr/>
        </p:nvSpPr>
        <p:spPr>
          <a:xfrm>
            <a:off x="594360" y="3945636"/>
            <a:ext cx="10607040" cy="2089404"/>
          </a:xfrm>
          <a:prstGeom prst="roundRect">
            <a:avLst>
              <a:gd name="adj" fmla="val 2626"/>
            </a:avLst>
          </a:prstGeom>
          <a:solidFill>
            <a:srgbClr val="F5F6FA"/>
          </a:solidFill>
          <a:ln w="9525">
            <a:solidFill>
              <a:srgbClr val="E4E7EE"/>
            </a:solidFill>
            <a:prstDash val="solid"/>
          </a:ln>
        </p:spPr>
      </p:sp>
      <p:sp>
        <p:nvSpPr>
          <p:cNvPr id="9" name="Shape 7"/>
          <p:cNvSpPr/>
          <p:nvPr/>
        </p:nvSpPr>
        <p:spPr>
          <a:xfrm>
            <a:off x="777240" y="4128516"/>
            <a:ext cx="109728" cy="109728"/>
          </a:xfrm>
          <a:prstGeom prst="ellipse">
            <a:avLst/>
          </a:prstGeom>
          <a:solidFill>
            <a:srgbClr val="E8590C"/>
          </a:solidFill>
          <a:ln w="12700">
            <a:solidFill>
              <a:srgbClr val="000000"/>
            </a:solidFill>
            <a:prstDash val="solid"/>
          </a:ln>
        </p:spPr>
      </p:sp>
      <p:sp>
        <p:nvSpPr>
          <p:cNvPr id="10" name="Text 8"/>
          <p:cNvSpPr/>
          <p:nvPr/>
        </p:nvSpPr>
        <p:spPr>
          <a:xfrm>
            <a:off x="1051560" y="4018788"/>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Four levels exist in Java</a:t>
            </a:r>
            <a:endParaRPr lang="en-US" sz="1500" dirty="0"/>
          </a:p>
        </p:txBody>
      </p:sp>
      <p:sp>
        <p:nvSpPr>
          <p:cNvPr id="11" name="Text 9"/>
          <p:cNvSpPr/>
          <p:nvPr/>
        </p:nvSpPr>
        <p:spPr>
          <a:xfrm>
            <a:off x="1051560" y="4311396"/>
            <a:ext cx="9966960" cy="1668780"/>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public, protected, default (no keyword), and private, ordered from most open to most restricted.</a:t>
            </a:r>
            <a:endParaRPr lang="en-US" sz="1250" dirty="0"/>
          </a:p>
        </p:txBody>
      </p:sp>
      <p:sp>
        <p:nvSpPr>
          <p:cNvPr id="12" name="Shape 10"/>
          <p:cNvSpPr/>
          <p:nvPr/>
        </p:nvSpPr>
        <p:spPr>
          <a:xfrm>
            <a:off x="0" y="0"/>
            <a:ext cx="12191695" cy="384048"/>
          </a:xfrm>
          <a:prstGeom prst="rect">
            <a:avLst/>
          </a:prstGeom>
          <a:solidFill>
            <a:srgbClr val="1B2A4A"/>
          </a:solidFill>
          <a:ln w="12700">
            <a:solidFill>
              <a:srgbClr val="1B2A4A"/>
            </a:solidFill>
            <a:prstDash val="solid"/>
          </a:ln>
        </p:spPr>
      </p:sp>
      <p:sp>
        <p:nvSpPr>
          <p:cNvPr id="13" name="Text 11"/>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4" name="Shape 12"/>
          <p:cNvSpPr/>
          <p:nvPr/>
        </p:nvSpPr>
        <p:spPr>
          <a:xfrm>
            <a:off x="219456" y="301752"/>
            <a:ext cx="960120" cy="0"/>
          </a:xfrm>
          <a:prstGeom prst="line">
            <a:avLst/>
          </a:prstGeom>
          <a:noFill/>
          <a:ln w="9525">
            <a:solidFill>
              <a:srgbClr val="4A5570"/>
            </a:solidFill>
            <a:prstDash val="solid"/>
          </a:ln>
        </p:spPr>
      </p:sp>
      <p:sp>
        <p:nvSpPr>
          <p:cNvPr id="15" name="Text 13"/>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16" name="Text 14"/>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17" name="Text 15"/>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18" name="Shape 16"/>
          <p:cNvSpPr/>
          <p:nvPr/>
        </p:nvSpPr>
        <p:spPr>
          <a:xfrm>
            <a:off x="0" y="6291072"/>
            <a:ext cx="12191695" cy="566928"/>
          </a:xfrm>
          <a:prstGeom prst="rect">
            <a:avLst/>
          </a:prstGeom>
          <a:solidFill>
            <a:srgbClr val="1B2A4A"/>
          </a:solidFill>
          <a:ln w="12700">
            <a:solidFill>
              <a:srgbClr val="1B2A4A"/>
            </a:solidFill>
            <a:prstDash val="solid"/>
          </a:ln>
        </p:spPr>
      </p:sp>
      <p:sp>
        <p:nvSpPr>
          <p:cNvPr id="19" name="Text 17"/>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0" name="Text 18"/>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MOST OPEN</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The public Modifier</a:t>
            </a:r>
            <a:endParaRPr lang="en-US" sz="2700" dirty="0"/>
          </a:p>
        </p:txBody>
      </p:sp>
      <p:sp>
        <p:nvSpPr>
          <p:cNvPr id="4" name="Shape 2"/>
          <p:cNvSpPr/>
          <p:nvPr/>
        </p:nvSpPr>
        <p:spPr>
          <a:xfrm>
            <a:off x="594360" y="1600200"/>
            <a:ext cx="10607040" cy="896112"/>
          </a:xfrm>
          <a:prstGeom prst="roundRect">
            <a:avLst>
              <a:gd name="adj" fmla="val 6122"/>
            </a:avLst>
          </a:prstGeom>
          <a:solidFill>
            <a:srgbClr val="F5F6FA"/>
          </a:solidFill>
          <a:ln w="9525">
            <a:solidFill>
              <a:srgbClr val="E4E7EE"/>
            </a:solidFill>
            <a:prstDash val="solid"/>
          </a:ln>
        </p:spPr>
      </p:sp>
      <p:sp>
        <p:nvSpPr>
          <p:cNvPr id="5" name="Shape 3"/>
          <p:cNvSpPr/>
          <p:nvPr/>
        </p:nvSpPr>
        <p:spPr>
          <a:xfrm>
            <a:off x="804672" y="1755648"/>
            <a:ext cx="100584" cy="100584"/>
          </a:xfrm>
          <a:prstGeom prst="ellipse">
            <a:avLst/>
          </a:prstGeom>
          <a:solidFill>
            <a:srgbClr val="E8590C"/>
          </a:solidFill>
          <a:ln w="12700">
            <a:solidFill>
              <a:srgbClr val="000000"/>
            </a:solidFill>
            <a:prstDash val="solid"/>
          </a:ln>
        </p:spPr>
      </p:sp>
      <p:sp>
        <p:nvSpPr>
          <p:cNvPr id="6" name="Text 4"/>
          <p:cNvSpPr/>
          <p:nvPr/>
        </p:nvSpPr>
        <p:spPr>
          <a:xfrm>
            <a:off x="1051560" y="1655064"/>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public members can be accessed from any other class, in any package.</a:t>
            </a:r>
            <a:endParaRPr lang="en-US" sz="1250" dirty="0"/>
          </a:p>
        </p:txBody>
      </p:sp>
      <p:sp>
        <p:nvSpPr>
          <p:cNvPr id="7" name="Shape 5"/>
          <p:cNvSpPr/>
          <p:nvPr/>
        </p:nvSpPr>
        <p:spPr>
          <a:xfrm>
            <a:off x="804672" y="2103120"/>
            <a:ext cx="100584" cy="100584"/>
          </a:xfrm>
          <a:prstGeom prst="ellipse">
            <a:avLst/>
          </a:prstGeom>
          <a:solidFill>
            <a:srgbClr val="E8590C"/>
          </a:solidFill>
          <a:ln w="12700">
            <a:solidFill>
              <a:srgbClr val="000000"/>
            </a:solidFill>
            <a:prstDash val="solid"/>
          </a:ln>
        </p:spPr>
      </p:sp>
      <p:sp>
        <p:nvSpPr>
          <p:cNvPr id="8" name="Text 6"/>
          <p:cNvSpPr/>
          <p:nvPr/>
        </p:nvSpPr>
        <p:spPr>
          <a:xfrm>
            <a:off x="1051560" y="2002536"/>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Classes, methods, and fields that form a class's intended interface are usually public.</a:t>
            </a:r>
            <a:endParaRPr lang="en-US" sz="1250" dirty="0"/>
          </a:p>
        </p:txBody>
      </p:sp>
      <p:sp>
        <p:nvSpPr>
          <p:cNvPr id="9" name="Shape 7"/>
          <p:cNvSpPr/>
          <p:nvPr/>
        </p:nvSpPr>
        <p:spPr>
          <a:xfrm>
            <a:off x="594360" y="2642616"/>
            <a:ext cx="10607040" cy="3392424"/>
          </a:xfrm>
          <a:prstGeom prst="roundRect">
            <a:avLst>
              <a:gd name="adj" fmla="val 2156"/>
            </a:avLst>
          </a:prstGeom>
          <a:solidFill>
            <a:srgbClr val="1E1E2E"/>
          </a:solidFill>
          <a:ln w="12700">
            <a:solidFill>
              <a:srgbClr val="000000"/>
            </a:solidFill>
            <a:prstDash val="solid"/>
          </a:ln>
        </p:spPr>
      </p:sp>
      <p:sp>
        <p:nvSpPr>
          <p:cNvPr id="10" name="Shape 8"/>
          <p:cNvSpPr/>
          <p:nvPr/>
        </p:nvSpPr>
        <p:spPr>
          <a:xfrm>
            <a:off x="594360" y="2642616"/>
            <a:ext cx="10607040" cy="274320"/>
          </a:xfrm>
          <a:prstGeom prst="roundRect">
            <a:avLst>
              <a:gd name="adj" fmla="val 26667"/>
            </a:avLst>
          </a:prstGeom>
          <a:solidFill>
            <a:srgbClr val="17172A"/>
          </a:solidFill>
          <a:ln w="12700">
            <a:solidFill>
              <a:srgbClr val="000000"/>
            </a:solidFill>
            <a:prstDash val="solid"/>
          </a:ln>
        </p:spPr>
      </p:sp>
      <p:sp>
        <p:nvSpPr>
          <p:cNvPr id="11" name="Shape 9"/>
          <p:cNvSpPr/>
          <p:nvPr/>
        </p:nvSpPr>
        <p:spPr>
          <a:xfrm>
            <a:off x="594360" y="2843784"/>
            <a:ext cx="10607040" cy="73152"/>
          </a:xfrm>
          <a:prstGeom prst="rect">
            <a:avLst/>
          </a:prstGeom>
          <a:solidFill>
            <a:srgbClr val="17172A"/>
          </a:solidFill>
          <a:ln w="12700">
            <a:solidFill>
              <a:srgbClr val="000000"/>
            </a:solidFill>
            <a:prstDash val="solid"/>
          </a:ln>
        </p:spPr>
      </p:sp>
      <p:sp>
        <p:nvSpPr>
          <p:cNvPr id="12" name="Shape 10"/>
          <p:cNvSpPr/>
          <p:nvPr/>
        </p:nvSpPr>
        <p:spPr>
          <a:xfrm>
            <a:off x="722376" y="2741371"/>
            <a:ext cx="76810" cy="76810"/>
          </a:xfrm>
          <a:prstGeom prst="ellipse">
            <a:avLst/>
          </a:prstGeom>
          <a:solidFill>
            <a:srgbClr val="FF5F56"/>
          </a:solidFill>
          <a:ln w="12700">
            <a:solidFill>
              <a:srgbClr val="000000"/>
            </a:solidFill>
            <a:prstDash val="solid"/>
          </a:ln>
        </p:spPr>
      </p:sp>
      <p:sp>
        <p:nvSpPr>
          <p:cNvPr id="13" name="Shape 11"/>
          <p:cNvSpPr/>
          <p:nvPr/>
        </p:nvSpPr>
        <p:spPr>
          <a:xfrm>
            <a:off x="886968" y="2741371"/>
            <a:ext cx="76810" cy="76810"/>
          </a:xfrm>
          <a:prstGeom prst="ellipse">
            <a:avLst/>
          </a:prstGeom>
          <a:solidFill>
            <a:srgbClr val="FFBD2E"/>
          </a:solidFill>
          <a:ln w="12700">
            <a:solidFill>
              <a:srgbClr val="000000"/>
            </a:solidFill>
            <a:prstDash val="solid"/>
          </a:ln>
        </p:spPr>
      </p:sp>
      <p:sp>
        <p:nvSpPr>
          <p:cNvPr id="14" name="Shape 12"/>
          <p:cNvSpPr/>
          <p:nvPr/>
        </p:nvSpPr>
        <p:spPr>
          <a:xfrm>
            <a:off x="1051560" y="2741371"/>
            <a:ext cx="76810" cy="76810"/>
          </a:xfrm>
          <a:prstGeom prst="ellipse">
            <a:avLst/>
          </a:prstGeom>
          <a:solidFill>
            <a:srgbClr val="27C93F"/>
          </a:solidFill>
          <a:ln w="12700">
            <a:solidFill>
              <a:srgbClr val="000000"/>
            </a:solidFill>
            <a:prstDash val="solid"/>
          </a:ln>
        </p:spPr>
      </p:sp>
      <p:sp>
        <p:nvSpPr>
          <p:cNvPr id="15" name="Text 13"/>
          <p:cNvSpPr/>
          <p:nvPr/>
        </p:nvSpPr>
        <p:spPr>
          <a:xfrm>
            <a:off x="1371600" y="2642616"/>
            <a:ext cx="9692640" cy="274320"/>
          </a:xfrm>
          <a:prstGeom prst="rect">
            <a:avLst/>
          </a:prstGeom>
          <a:noFill/>
          <a:ln/>
        </p:spPr>
        <p:txBody>
          <a:bodyPr wrap="square" lIns="0" tIns="0" rIns="0" bIns="0" rtlCol="0" anchor="ctr"/>
          <a:lstStyle/>
          <a:p>
            <a:pPr marL="0" indent="0" algn="l">
              <a:buNone/>
            </a:pPr>
            <a:r>
              <a:rPr lang="en-US" sz="1000" dirty="0">
                <a:solidFill>
                  <a:srgbClr val="8A8FA3"/>
                </a:solidFill>
                <a:latin typeface="Courier New" pitchFamily="34" charset="0"/>
                <a:ea typeface="Courier New" pitchFamily="34" charset="-122"/>
                <a:cs typeface="Courier New" pitchFamily="34" charset="-120"/>
              </a:rPr>
              <a:t>Main.java</a:t>
            </a:r>
            <a:endParaRPr lang="en-US" sz="1000" dirty="0"/>
          </a:p>
        </p:txBody>
      </p:sp>
      <p:sp>
        <p:nvSpPr>
          <p:cNvPr id="16" name="Text 14"/>
          <p:cNvSpPr/>
          <p:nvPr/>
        </p:nvSpPr>
        <p:spPr>
          <a:xfrm>
            <a:off x="777240" y="2990088"/>
            <a:ext cx="10241280" cy="2971800"/>
          </a:xfrm>
          <a:prstGeom prst="rect">
            <a:avLst/>
          </a:prstGeom>
          <a:noFill/>
          <a:ln/>
        </p:spPr>
        <p:txBody>
          <a:bodyPr wrap="square" lIns="0" tIns="0" rIns="0" bIns="0" rtlCol="0" anchor="t"/>
          <a:lstStyle/>
          <a:p>
            <a:pPr marL="0" indent="0" algn="l">
              <a:lnSpc>
                <a:spcPct val="118000"/>
              </a:lnSpc>
              <a:buNone/>
            </a:pPr>
            <a:r>
              <a:rPr lang="en-US" sz="1500" b="1" dirty="0">
                <a:solidFill>
                  <a:srgbClr val="569CD6"/>
                </a:solidFill>
                <a:latin typeface="Courier New" pitchFamily="34" charset="0"/>
                <a:ea typeface="Courier New" pitchFamily="34" charset="-122"/>
                <a:cs typeface="Courier New" pitchFamily="34" charset="-120"/>
              </a:rPr>
              <a:t>public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class</a:t>
            </a:r>
            <a:r>
              <a:rPr lang="en-US" sz="1500" dirty="0">
                <a:solidFill>
                  <a:srgbClr val="D4D4D4"/>
                </a:solidFill>
                <a:latin typeface="Courier New" pitchFamily="34" charset="0"/>
                <a:ea typeface="Courier New" pitchFamily="34" charset="-122"/>
                <a:cs typeface="Courier New" pitchFamily="34" charset="-120"/>
              </a:rPr>
              <a:t> Car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public</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4EC9B0"/>
                </a:solidFill>
                <a:latin typeface="Courier New" pitchFamily="34" charset="0"/>
                <a:ea typeface="Courier New" pitchFamily="34" charset="-122"/>
                <a:cs typeface="Courier New" pitchFamily="34" charset="-120"/>
              </a:rPr>
              <a:t>String</a:t>
            </a:r>
            <a:r>
              <a:rPr lang="en-US" sz="1500" dirty="0">
                <a:solidFill>
                  <a:srgbClr val="D4D4D4"/>
                </a:solidFill>
                <a:latin typeface="Courier New" pitchFamily="34" charset="0"/>
                <a:ea typeface="Courier New" pitchFamily="34" charset="-122"/>
                <a:cs typeface="Courier New" pitchFamily="34" charset="-120"/>
              </a:rPr>
              <a:t> brand;</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public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void</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DCDCAA"/>
                </a:solidFill>
                <a:latin typeface="Courier New" pitchFamily="34" charset="0"/>
                <a:ea typeface="Courier New" pitchFamily="34" charset="-122"/>
                <a:cs typeface="Courier New" pitchFamily="34" charset="-120"/>
              </a:rPr>
              <a:t>honk</a:t>
            </a: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4EC9B0"/>
                </a:solidFill>
                <a:latin typeface="Courier New" pitchFamily="34" charset="0"/>
                <a:ea typeface="Courier New" pitchFamily="34" charset="-122"/>
                <a:cs typeface="Courier New" pitchFamily="34" charset="-120"/>
              </a:rPr>
              <a:t>System</a:t>
            </a:r>
            <a:r>
              <a:rPr lang="en-US" sz="1500" dirty="0">
                <a:solidFill>
                  <a:srgbClr val="D4D4D4"/>
                </a:solidFill>
                <a:latin typeface="Courier New" pitchFamily="34" charset="0"/>
                <a:ea typeface="Courier New" pitchFamily="34" charset="-122"/>
                <a:cs typeface="Courier New" pitchFamily="34" charset="-120"/>
              </a:rPr>
              <a:t>.out.</a:t>
            </a:r>
            <a:r>
              <a:rPr lang="en-US" sz="1500" dirty="0">
                <a:solidFill>
                  <a:srgbClr val="DCDCAA"/>
                </a:solidFill>
                <a:latin typeface="Courier New" pitchFamily="34" charset="0"/>
                <a:ea typeface="Courier New" pitchFamily="34" charset="-122"/>
                <a:cs typeface="Courier New" pitchFamily="34" charset="-120"/>
              </a:rPr>
              <a:t>println</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CE9178"/>
                </a:solidFill>
                <a:latin typeface="Courier New" pitchFamily="34" charset="0"/>
                <a:ea typeface="Courier New" pitchFamily="34" charset="-122"/>
                <a:cs typeface="Courier New" pitchFamily="34" charset="-120"/>
              </a:rPr>
              <a:t>"Beep!"</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a:t>
            </a:r>
            <a:endParaRPr lang="en-US" sz="1500" dirty="0"/>
          </a:p>
        </p:txBody>
      </p:sp>
      <p:sp>
        <p:nvSpPr>
          <p:cNvPr id="17" name="Shape 15"/>
          <p:cNvSpPr/>
          <p:nvPr/>
        </p:nvSpPr>
        <p:spPr>
          <a:xfrm>
            <a:off x="0" y="0"/>
            <a:ext cx="12191695" cy="384048"/>
          </a:xfrm>
          <a:prstGeom prst="rect">
            <a:avLst/>
          </a:prstGeom>
          <a:solidFill>
            <a:srgbClr val="1B2A4A"/>
          </a:solidFill>
          <a:ln w="12700">
            <a:solidFill>
              <a:srgbClr val="1B2A4A"/>
            </a:solidFill>
            <a:prstDash val="solid"/>
          </a:ln>
        </p:spPr>
      </p:sp>
      <p:sp>
        <p:nvSpPr>
          <p:cNvPr id="18" name="Text 16"/>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9" name="Shape 17"/>
          <p:cNvSpPr/>
          <p:nvPr/>
        </p:nvSpPr>
        <p:spPr>
          <a:xfrm>
            <a:off x="219456" y="301752"/>
            <a:ext cx="960120" cy="0"/>
          </a:xfrm>
          <a:prstGeom prst="line">
            <a:avLst/>
          </a:prstGeom>
          <a:noFill/>
          <a:ln w="9525">
            <a:solidFill>
              <a:srgbClr val="4A5570"/>
            </a:solidFill>
            <a:prstDash val="solid"/>
          </a:ln>
        </p:spPr>
      </p:sp>
      <p:sp>
        <p:nvSpPr>
          <p:cNvPr id="20" name="Text 18"/>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1" name="Text 19"/>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2" name="Text 20"/>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3" name="Shape 21"/>
          <p:cNvSpPr/>
          <p:nvPr/>
        </p:nvSpPr>
        <p:spPr>
          <a:xfrm>
            <a:off x="0" y="6291072"/>
            <a:ext cx="12191695" cy="566928"/>
          </a:xfrm>
          <a:prstGeom prst="rect">
            <a:avLst/>
          </a:prstGeom>
          <a:solidFill>
            <a:srgbClr val="1B2A4A"/>
          </a:solidFill>
          <a:ln w="12700">
            <a:solidFill>
              <a:srgbClr val="1B2A4A"/>
            </a:solidFill>
            <a:prstDash val="solid"/>
          </a:ln>
        </p:spPr>
      </p:sp>
      <p:sp>
        <p:nvSpPr>
          <p:cNvPr id="24" name="Text 22"/>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5" name="Text 23"/>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MOST RESTRICTED</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The private Modifier</a:t>
            </a:r>
            <a:endParaRPr lang="en-US" sz="2700" dirty="0"/>
          </a:p>
        </p:txBody>
      </p:sp>
      <p:sp>
        <p:nvSpPr>
          <p:cNvPr id="4" name="Shape 2"/>
          <p:cNvSpPr/>
          <p:nvPr/>
        </p:nvSpPr>
        <p:spPr>
          <a:xfrm>
            <a:off x="594360" y="1600200"/>
            <a:ext cx="10607040" cy="896112"/>
          </a:xfrm>
          <a:prstGeom prst="roundRect">
            <a:avLst>
              <a:gd name="adj" fmla="val 6122"/>
            </a:avLst>
          </a:prstGeom>
          <a:solidFill>
            <a:srgbClr val="F5F6FA"/>
          </a:solidFill>
          <a:ln w="9525">
            <a:solidFill>
              <a:srgbClr val="E4E7EE"/>
            </a:solidFill>
            <a:prstDash val="solid"/>
          </a:ln>
        </p:spPr>
      </p:sp>
      <p:sp>
        <p:nvSpPr>
          <p:cNvPr id="5" name="Shape 3"/>
          <p:cNvSpPr/>
          <p:nvPr/>
        </p:nvSpPr>
        <p:spPr>
          <a:xfrm>
            <a:off x="804672" y="1755648"/>
            <a:ext cx="100584" cy="100584"/>
          </a:xfrm>
          <a:prstGeom prst="ellipse">
            <a:avLst/>
          </a:prstGeom>
          <a:solidFill>
            <a:srgbClr val="E8590C"/>
          </a:solidFill>
          <a:ln w="12700">
            <a:solidFill>
              <a:srgbClr val="000000"/>
            </a:solidFill>
            <a:prstDash val="solid"/>
          </a:ln>
        </p:spPr>
      </p:sp>
      <p:sp>
        <p:nvSpPr>
          <p:cNvPr id="6" name="Text 4"/>
          <p:cNvSpPr/>
          <p:nvPr/>
        </p:nvSpPr>
        <p:spPr>
          <a:xfrm>
            <a:off x="1051560" y="1655064"/>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private members can only be accessed from inside their own class.</a:t>
            </a:r>
            <a:endParaRPr lang="en-US" sz="1250" dirty="0"/>
          </a:p>
        </p:txBody>
      </p:sp>
      <p:sp>
        <p:nvSpPr>
          <p:cNvPr id="7" name="Shape 5"/>
          <p:cNvSpPr/>
          <p:nvPr/>
        </p:nvSpPr>
        <p:spPr>
          <a:xfrm>
            <a:off x="804672" y="2103120"/>
            <a:ext cx="100584" cy="100584"/>
          </a:xfrm>
          <a:prstGeom prst="ellipse">
            <a:avLst/>
          </a:prstGeom>
          <a:solidFill>
            <a:srgbClr val="E8590C"/>
          </a:solidFill>
          <a:ln w="12700">
            <a:solidFill>
              <a:srgbClr val="000000"/>
            </a:solidFill>
            <a:prstDash val="solid"/>
          </a:ln>
        </p:spPr>
      </p:sp>
      <p:sp>
        <p:nvSpPr>
          <p:cNvPr id="8" name="Text 6"/>
          <p:cNvSpPr/>
          <p:nvPr/>
        </p:nvSpPr>
        <p:spPr>
          <a:xfrm>
            <a:off x="1051560" y="2002536"/>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This is the standard choice for fields that should only be reached through getters and setters.</a:t>
            </a:r>
            <a:endParaRPr lang="en-US" sz="1250" dirty="0"/>
          </a:p>
        </p:txBody>
      </p:sp>
      <p:sp>
        <p:nvSpPr>
          <p:cNvPr id="9" name="Shape 7"/>
          <p:cNvSpPr/>
          <p:nvPr/>
        </p:nvSpPr>
        <p:spPr>
          <a:xfrm>
            <a:off x="594360" y="2642616"/>
            <a:ext cx="10607040" cy="3392424"/>
          </a:xfrm>
          <a:prstGeom prst="roundRect">
            <a:avLst>
              <a:gd name="adj" fmla="val 2156"/>
            </a:avLst>
          </a:prstGeom>
          <a:solidFill>
            <a:srgbClr val="1E1E2E"/>
          </a:solidFill>
          <a:ln w="12700">
            <a:solidFill>
              <a:srgbClr val="000000"/>
            </a:solidFill>
            <a:prstDash val="solid"/>
          </a:ln>
        </p:spPr>
      </p:sp>
      <p:sp>
        <p:nvSpPr>
          <p:cNvPr id="10" name="Shape 8"/>
          <p:cNvSpPr/>
          <p:nvPr/>
        </p:nvSpPr>
        <p:spPr>
          <a:xfrm>
            <a:off x="594360" y="2642616"/>
            <a:ext cx="10607040" cy="274320"/>
          </a:xfrm>
          <a:prstGeom prst="roundRect">
            <a:avLst>
              <a:gd name="adj" fmla="val 26667"/>
            </a:avLst>
          </a:prstGeom>
          <a:solidFill>
            <a:srgbClr val="17172A"/>
          </a:solidFill>
          <a:ln w="12700">
            <a:solidFill>
              <a:srgbClr val="000000"/>
            </a:solidFill>
            <a:prstDash val="solid"/>
          </a:ln>
        </p:spPr>
      </p:sp>
      <p:sp>
        <p:nvSpPr>
          <p:cNvPr id="11" name="Shape 9"/>
          <p:cNvSpPr/>
          <p:nvPr/>
        </p:nvSpPr>
        <p:spPr>
          <a:xfrm>
            <a:off x="594360" y="2843784"/>
            <a:ext cx="10607040" cy="73152"/>
          </a:xfrm>
          <a:prstGeom prst="rect">
            <a:avLst/>
          </a:prstGeom>
          <a:solidFill>
            <a:srgbClr val="17172A"/>
          </a:solidFill>
          <a:ln w="12700">
            <a:solidFill>
              <a:srgbClr val="000000"/>
            </a:solidFill>
            <a:prstDash val="solid"/>
          </a:ln>
        </p:spPr>
      </p:sp>
      <p:sp>
        <p:nvSpPr>
          <p:cNvPr id="12" name="Shape 10"/>
          <p:cNvSpPr/>
          <p:nvPr/>
        </p:nvSpPr>
        <p:spPr>
          <a:xfrm>
            <a:off x="722376" y="2741371"/>
            <a:ext cx="76810" cy="76810"/>
          </a:xfrm>
          <a:prstGeom prst="ellipse">
            <a:avLst/>
          </a:prstGeom>
          <a:solidFill>
            <a:srgbClr val="FF5F56"/>
          </a:solidFill>
          <a:ln w="12700">
            <a:solidFill>
              <a:srgbClr val="000000"/>
            </a:solidFill>
            <a:prstDash val="solid"/>
          </a:ln>
        </p:spPr>
      </p:sp>
      <p:sp>
        <p:nvSpPr>
          <p:cNvPr id="13" name="Shape 11"/>
          <p:cNvSpPr/>
          <p:nvPr/>
        </p:nvSpPr>
        <p:spPr>
          <a:xfrm>
            <a:off x="886968" y="2741371"/>
            <a:ext cx="76810" cy="76810"/>
          </a:xfrm>
          <a:prstGeom prst="ellipse">
            <a:avLst/>
          </a:prstGeom>
          <a:solidFill>
            <a:srgbClr val="FFBD2E"/>
          </a:solidFill>
          <a:ln w="12700">
            <a:solidFill>
              <a:srgbClr val="000000"/>
            </a:solidFill>
            <a:prstDash val="solid"/>
          </a:ln>
        </p:spPr>
      </p:sp>
      <p:sp>
        <p:nvSpPr>
          <p:cNvPr id="14" name="Shape 12"/>
          <p:cNvSpPr/>
          <p:nvPr/>
        </p:nvSpPr>
        <p:spPr>
          <a:xfrm>
            <a:off x="1051560" y="2741371"/>
            <a:ext cx="76810" cy="76810"/>
          </a:xfrm>
          <a:prstGeom prst="ellipse">
            <a:avLst/>
          </a:prstGeom>
          <a:solidFill>
            <a:srgbClr val="27C93F"/>
          </a:solidFill>
          <a:ln w="12700">
            <a:solidFill>
              <a:srgbClr val="000000"/>
            </a:solidFill>
            <a:prstDash val="solid"/>
          </a:ln>
        </p:spPr>
      </p:sp>
      <p:sp>
        <p:nvSpPr>
          <p:cNvPr id="15" name="Text 13"/>
          <p:cNvSpPr/>
          <p:nvPr/>
        </p:nvSpPr>
        <p:spPr>
          <a:xfrm>
            <a:off x="1371600" y="2642616"/>
            <a:ext cx="9692640" cy="274320"/>
          </a:xfrm>
          <a:prstGeom prst="rect">
            <a:avLst/>
          </a:prstGeom>
          <a:noFill/>
          <a:ln/>
        </p:spPr>
        <p:txBody>
          <a:bodyPr wrap="square" lIns="0" tIns="0" rIns="0" bIns="0" rtlCol="0" anchor="ctr"/>
          <a:lstStyle/>
          <a:p>
            <a:pPr marL="0" indent="0" algn="l">
              <a:buNone/>
            </a:pPr>
            <a:r>
              <a:rPr lang="en-US" sz="1000" dirty="0">
                <a:solidFill>
                  <a:srgbClr val="8A8FA3"/>
                </a:solidFill>
                <a:latin typeface="Courier New" pitchFamily="34" charset="0"/>
                <a:ea typeface="Courier New" pitchFamily="34" charset="-122"/>
                <a:cs typeface="Courier New" pitchFamily="34" charset="-120"/>
              </a:rPr>
              <a:t>Main.java</a:t>
            </a:r>
            <a:endParaRPr lang="en-US" sz="1000" dirty="0"/>
          </a:p>
        </p:txBody>
      </p:sp>
      <p:sp>
        <p:nvSpPr>
          <p:cNvPr id="16" name="Text 14"/>
          <p:cNvSpPr/>
          <p:nvPr/>
        </p:nvSpPr>
        <p:spPr>
          <a:xfrm>
            <a:off x="777240" y="2990088"/>
            <a:ext cx="10241280" cy="2971800"/>
          </a:xfrm>
          <a:prstGeom prst="rect">
            <a:avLst/>
          </a:prstGeom>
          <a:noFill/>
          <a:ln/>
        </p:spPr>
        <p:txBody>
          <a:bodyPr wrap="square" lIns="0" tIns="0" rIns="0" bIns="0" rtlCol="0" anchor="t"/>
          <a:lstStyle/>
          <a:p>
            <a:pPr marL="0" indent="0" algn="l">
              <a:lnSpc>
                <a:spcPct val="118000"/>
              </a:lnSpc>
              <a:buNone/>
            </a:pPr>
            <a:r>
              <a:rPr lang="en-US" sz="1500" b="1" dirty="0">
                <a:solidFill>
                  <a:srgbClr val="569CD6"/>
                </a:solidFill>
                <a:latin typeface="Courier New" pitchFamily="34" charset="0"/>
                <a:ea typeface="Courier New" pitchFamily="34" charset="-122"/>
                <a:cs typeface="Courier New" pitchFamily="34" charset="-120"/>
              </a:rPr>
              <a:t>public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class</a:t>
            </a:r>
            <a:r>
              <a:rPr lang="en-US" sz="1500" dirty="0">
                <a:solidFill>
                  <a:srgbClr val="D4D4D4"/>
                </a:solidFill>
                <a:latin typeface="Courier New" pitchFamily="34" charset="0"/>
                <a:ea typeface="Courier New" pitchFamily="34" charset="-122"/>
                <a:cs typeface="Courier New" pitchFamily="34" charset="-120"/>
              </a:rPr>
              <a:t> Account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private</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double</a:t>
            </a:r>
            <a:r>
              <a:rPr lang="en-US" sz="1500" dirty="0">
                <a:solidFill>
                  <a:srgbClr val="D4D4D4"/>
                </a:solidFill>
                <a:latin typeface="Courier New" pitchFamily="34" charset="0"/>
                <a:ea typeface="Courier New" pitchFamily="34" charset="-122"/>
                <a:cs typeface="Courier New" pitchFamily="34" charset="-120"/>
              </a:rPr>
              <a:t> balance;</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private</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void</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DCDCAA"/>
                </a:solidFill>
                <a:latin typeface="Courier New" pitchFamily="34" charset="0"/>
                <a:ea typeface="Courier New" pitchFamily="34" charset="-122"/>
                <a:cs typeface="Courier New" pitchFamily="34" charset="-120"/>
              </a:rPr>
              <a:t>logChange</a:t>
            </a: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4EC9B0"/>
                </a:solidFill>
                <a:latin typeface="Courier New" pitchFamily="34" charset="0"/>
                <a:ea typeface="Courier New" pitchFamily="34" charset="-122"/>
                <a:cs typeface="Courier New" pitchFamily="34" charset="-120"/>
              </a:rPr>
              <a:t>System</a:t>
            </a:r>
            <a:r>
              <a:rPr lang="en-US" sz="1500" dirty="0">
                <a:solidFill>
                  <a:srgbClr val="D4D4D4"/>
                </a:solidFill>
                <a:latin typeface="Courier New" pitchFamily="34" charset="0"/>
                <a:ea typeface="Courier New" pitchFamily="34" charset="-122"/>
                <a:cs typeface="Courier New" pitchFamily="34" charset="-120"/>
              </a:rPr>
              <a:t>.out.</a:t>
            </a:r>
            <a:r>
              <a:rPr lang="en-US" sz="1500" dirty="0">
                <a:solidFill>
                  <a:srgbClr val="DCDCAA"/>
                </a:solidFill>
                <a:latin typeface="Courier New" pitchFamily="34" charset="0"/>
                <a:ea typeface="Courier New" pitchFamily="34" charset="-122"/>
                <a:cs typeface="Courier New" pitchFamily="34" charset="-120"/>
              </a:rPr>
              <a:t>println</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CE9178"/>
                </a:solidFill>
                <a:latin typeface="Courier New" pitchFamily="34" charset="0"/>
                <a:ea typeface="Courier New" pitchFamily="34" charset="-122"/>
                <a:cs typeface="Courier New" pitchFamily="34" charset="-120"/>
              </a:rPr>
              <a:t>"Balance changed."</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a:t>
            </a:r>
            <a:endParaRPr lang="en-US" sz="1500" dirty="0"/>
          </a:p>
        </p:txBody>
      </p:sp>
      <p:sp>
        <p:nvSpPr>
          <p:cNvPr id="17" name="Shape 15"/>
          <p:cNvSpPr/>
          <p:nvPr/>
        </p:nvSpPr>
        <p:spPr>
          <a:xfrm>
            <a:off x="0" y="0"/>
            <a:ext cx="12191695" cy="384048"/>
          </a:xfrm>
          <a:prstGeom prst="rect">
            <a:avLst/>
          </a:prstGeom>
          <a:solidFill>
            <a:srgbClr val="1B2A4A"/>
          </a:solidFill>
          <a:ln w="12700">
            <a:solidFill>
              <a:srgbClr val="1B2A4A"/>
            </a:solidFill>
            <a:prstDash val="solid"/>
          </a:ln>
        </p:spPr>
      </p:sp>
      <p:sp>
        <p:nvSpPr>
          <p:cNvPr id="18" name="Text 16"/>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9" name="Shape 17"/>
          <p:cNvSpPr/>
          <p:nvPr/>
        </p:nvSpPr>
        <p:spPr>
          <a:xfrm>
            <a:off x="219456" y="301752"/>
            <a:ext cx="960120" cy="0"/>
          </a:xfrm>
          <a:prstGeom prst="line">
            <a:avLst/>
          </a:prstGeom>
          <a:noFill/>
          <a:ln w="9525">
            <a:solidFill>
              <a:srgbClr val="4A5570"/>
            </a:solidFill>
            <a:prstDash val="solid"/>
          </a:ln>
        </p:spPr>
      </p:sp>
      <p:sp>
        <p:nvSpPr>
          <p:cNvPr id="20" name="Text 18"/>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1" name="Text 19"/>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2" name="Text 20"/>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3" name="Shape 21"/>
          <p:cNvSpPr/>
          <p:nvPr/>
        </p:nvSpPr>
        <p:spPr>
          <a:xfrm>
            <a:off x="0" y="6291072"/>
            <a:ext cx="12191695" cy="566928"/>
          </a:xfrm>
          <a:prstGeom prst="rect">
            <a:avLst/>
          </a:prstGeom>
          <a:solidFill>
            <a:srgbClr val="1B2A4A"/>
          </a:solidFill>
          <a:ln w="12700">
            <a:solidFill>
              <a:srgbClr val="1B2A4A"/>
            </a:solidFill>
            <a:prstDash val="solid"/>
          </a:ln>
        </p:spPr>
      </p:sp>
      <p:sp>
        <p:nvSpPr>
          <p:cNvPr id="24" name="Text 22"/>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5" name="Text 23"/>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FOR SUBCLASSES</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The protected Modifier</a:t>
            </a:r>
            <a:endParaRPr lang="en-US" sz="2700" dirty="0"/>
          </a:p>
        </p:txBody>
      </p:sp>
      <p:sp>
        <p:nvSpPr>
          <p:cNvPr id="4" name="Shape 2"/>
          <p:cNvSpPr/>
          <p:nvPr/>
        </p:nvSpPr>
        <p:spPr>
          <a:xfrm>
            <a:off x="594360" y="1600200"/>
            <a:ext cx="10607040" cy="896112"/>
          </a:xfrm>
          <a:prstGeom prst="roundRect">
            <a:avLst>
              <a:gd name="adj" fmla="val 6122"/>
            </a:avLst>
          </a:prstGeom>
          <a:solidFill>
            <a:srgbClr val="F5F6FA"/>
          </a:solidFill>
          <a:ln w="9525">
            <a:solidFill>
              <a:srgbClr val="E4E7EE"/>
            </a:solidFill>
            <a:prstDash val="solid"/>
          </a:ln>
        </p:spPr>
      </p:sp>
      <p:sp>
        <p:nvSpPr>
          <p:cNvPr id="5" name="Shape 3"/>
          <p:cNvSpPr/>
          <p:nvPr/>
        </p:nvSpPr>
        <p:spPr>
          <a:xfrm>
            <a:off x="804672" y="1755648"/>
            <a:ext cx="100584" cy="100584"/>
          </a:xfrm>
          <a:prstGeom prst="ellipse">
            <a:avLst/>
          </a:prstGeom>
          <a:solidFill>
            <a:srgbClr val="E8590C"/>
          </a:solidFill>
          <a:ln w="12700">
            <a:solidFill>
              <a:srgbClr val="000000"/>
            </a:solidFill>
            <a:prstDash val="solid"/>
          </a:ln>
        </p:spPr>
      </p:sp>
      <p:sp>
        <p:nvSpPr>
          <p:cNvPr id="6" name="Text 4"/>
          <p:cNvSpPr/>
          <p:nvPr/>
        </p:nvSpPr>
        <p:spPr>
          <a:xfrm>
            <a:off x="1051560" y="1655064"/>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protected members are accessible within the same package, and also from subclasses in other packages.</a:t>
            </a:r>
            <a:endParaRPr lang="en-US" sz="1250" dirty="0"/>
          </a:p>
        </p:txBody>
      </p:sp>
      <p:sp>
        <p:nvSpPr>
          <p:cNvPr id="7" name="Shape 5"/>
          <p:cNvSpPr/>
          <p:nvPr/>
        </p:nvSpPr>
        <p:spPr>
          <a:xfrm>
            <a:off x="804672" y="2103120"/>
            <a:ext cx="100584" cy="100584"/>
          </a:xfrm>
          <a:prstGeom prst="ellipse">
            <a:avLst/>
          </a:prstGeom>
          <a:solidFill>
            <a:srgbClr val="E8590C"/>
          </a:solidFill>
          <a:ln w="12700">
            <a:solidFill>
              <a:srgbClr val="000000"/>
            </a:solidFill>
            <a:prstDash val="solid"/>
          </a:ln>
        </p:spPr>
      </p:sp>
      <p:sp>
        <p:nvSpPr>
          <p:cNvPr id="8" name="Text 6"/>
          <p:cNvSpPr/>
          <p:nvPr/>
        </p:nvSpPr>
        <p:spPr>
          <a:xfrm>
            <a:off x="1051560" y="2002536"/>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It is commonly used for members meant to be extended by subclasses later.</a:t>
            </a:r>
            <a:endParaRPr lang="en-US" sz="1250" dirty="0"/>
          </a:p>
        </p:txBody>
      </p:sp>
      <p:sp>
        <p:nvSpPr>
          <p:cNvPr id="9" name="Shape 7"/>
          <p:cNvSpPr/>
          <p:nvPr/>
        </p:nvSpPr>
        <p:spPr>
          <a:xfrm>
            <a:off x="594360" y="2642616"/>
            <a:ext cx="10607040" cy="3392424"/>
          </a:xfrm>
          <a:prstGeom prst="roundRect">
            <a:avLst>
              <a:gd name="adj" fmla="val 2156"/>
            </a:avLst>
          </a:prstGeom>
          <a:solidFill>
            <a:srgbClr val="1E1E2E"/>
          </a:solidFill>
          <a:ln w="12700">
            <a:solidFill>
              <a:srgbClr val="000000"/>
            </a:solidFill>
            <a:prstDash val="solid"/>
          </a:ln>
        </p:spPr>
      </p:sp>
      <p:sp>
        <p:nvSpPr>
          <p:cNvPr id="10" name="Shape 8"/>
          <p:cNvSpPr/>
          <p:nvPr/>
        </p:nvSpPr>
        <p:spPr>
          <a:xfrm>
            <a:off x="594360" y="2642616"/>
            <a:ext cx="10607040" cy="274320"/>
          </a:xfrm>
          <a:prstGeom prst="roundRect">
            <a:avLst>
              <a:gd name="adj" fmla="val 26667"/>
            </a:avLst>
          </a:prstGeom>
          <a:solidFill>
            <a:srgbClr val="17172A"/>
          </a:solidFill>
          <a:ln w="12700">
            <a:solidFill>
              <a:srgbClr val="000000"/>
            </a:solidFill>
            <a:prstDash val="solid"/>
          </a:ln>
        </p:spPr>
      </p:sp>
      <p:sp>
        <p:nvSpPr>
          <p:cNvPr id="11" name="Shape 9"/>
          <p:cNvSpPr/>
          <p:nvPr/>
        </p:nvSpPr>
        <p:spPr>
          <a:xfrm>
            <a:off x="594360" y="2843784"/>
            <a:ext cx="10607040" cy="73152"/>
          </a:xfrm>
          <a:prstGeom prst="rect">
            <a:avLst/>
          </a:prstGeom>
          <a:solidFill>
            <a:srgbClr val="17172A"/>
          </a:solidFill>
          <a:ln w="12700">
            <a:solidFill>
              <a:srgbClr val="000000"/>
            </a:solidFill>
            <a:prstDash val="solid"/>
          </a:ln>
        </p:spPr>
      </p:sp>
      <p:sp>
        <p:nvSpPr>
          <p:cNvPr id="12" name="Shape 10"/>
          <p:cNvSpPr/>
          <p:nvPr/>
        </p:nvSpPr>
        <p:spPr>
          <a:xfrm>
            <a:off x="722376" y="2741371"/>
            <a:ext cx="76810" cy="76810"/>
          </a:xfrm>
          <a:prstGeom prst="ellipse">
            <a:avLst/>
          </a:prstGeom>
          <a:solidFill>
            <a:srgbClr val="FF5F56"/>
          </a:solidFill>
          <a:ln w="12700">
            <a:solidFill>
              <a:srgbClr val="000000"/>
            </a:solidFill>
            <a:prstDash val="solid"/>
          </a:ln>
        </p:spPr>
      </p:sp>
      <p:sp>
        <p:nvSpPr>
          <p:cNvPr id="13" name="Shape 11"/>
          <p:cNvSpPr/>
          <p:nvPr/>
        </p:nvSpPr>
        <p:spPr>
          <a:xfrm>
            <a:off x="886968" y="2741371"/>
            <a:ext cx="76810" cy="76810"/>
          </a:xfrm>
          <a:prstGeom prst="ellipse">
            <a:avLst/>
          </a:prstGeom>
          <a:solidFill>
            <a:srgbClr val="FFBD2E"/>
          </a:solidFill>
          <a:ln w="12700">
            <a:solidFill>
              <a:srgbClr val="000000"/>
            </a:solidFill>
            <a:prstDash val="solid"/>
          </a:ln>
        </p:spPr>
      </p:sp>
      <p:sp>
        <p:nvSpPr>
          <p:cNvPr id="14" name="Shape 12"/>
          <p:cNvSpPr/>
          <p:nvPr/>
        </p:nvSpPr>
        <p:spPr>
          <a:xfrm>
            <a:off x="1051560" y="2741371"/>
            <a:ext cx="76810" cy="76810"/>
          </a:xfrm>
          <a:prstGeom prst="ellipse">
            <a:avLst/>
          </a:prstGeom>
          <a:solidFill>
            <a:srgbClr val="27C93F"/>
          </a:solidFill>
          <a:ln w="12700">
            <a:solidFill>
              <a:srgbClr val="000000"/>
            </a:solidFill>
            <a:prstDash val="solid"/>
          </a:ln>
        </p:spPr>
      </p:sp>
      <p:sp>
        <p:nvSpPr>
          <p:cNvPr id="15" name="Text 13"/>
          <p:cNvSpPr/>
          <p:nvPr/>
        </p:nvSpPr>
        <p:spPr>
          <a:xfrm>
            <a:off x="1371600" y="2642616"/>
            <a:ext cx="9692640" cy="274320"/>
          </a:xfrm>
          <a:prstGeom prst="rect">
            <a:avLst/>
          </a:prstGeom>
          <a:noFill/>
          <a:ln/>
        </p:spPr>
        <p:txBody>
          <a:bodyPr wrap="square" lIns="0" tIns="0" rIns="0" bIns="0" rtlCol="0" anchor="ctr"/>
          <a:lstStyle/>
          <a:p>
            <a:pPr marL="0" indent="0" algn="l">
              <a:buNone/>
            </a:pPr>
            <a:r>
              <a:rPr lang="en-US" sz="1000" dirty="0">
                <a:solidFill>
                  <a:srgbClr val="8A8FA3"/>
                </a:solidFill>
                <a:latin typeface="Courier New" pitchFamily="34" charset="0"/>
                <a:ea typeface="Courier New" pitchFamily="34" charset="-122"/>
                <a:cs typeface="Courier New" pitchFamily="34" charset="-120"/>
              </a:rPr>
              <a:t>Main.java</a:t>
            </a:r>
            <a:endParaRPr lang="en-US" sz="1000" dirty="0"/>
          </a:p>
        </p:txBody>
      </p:sp>
      <p:sp>
        <p:nvSpPr>
          <p:cNvPr id="16" name="Text 14"/>
          <p:cNvSpPr/>
          <p:nvPr/>
        </p:nvSpPr>
        <p:spPr>
          <a:xfrm>
            <a:off x="777240" y="2990088"/>
            <a:ext cx="10241280" cy="2971800"/>
          </a:xfrm>
          <a:prstGeom prst="rect">
            <a:avLst/>
          </a:prstGeom>
          <a:noFill/>
          <a:ln/>
        </p:spPr>
        <p:txBody>
          <a:bodyPr wrap="square" lIns="0" tIns="0" rIns="0" bIns="0" rtlCol="0" anchor="t"/>
          <a:lstStyle/>
          <a:p>
            <a:pPr marL="0" indent="0" algn="l">
              <a:lnSpc>
                <a:spcPct val="118000"/>
              </a:lnSpc>
              <a:buNone/>
            </a:pPr>
            <a:r>
              <a:rPr lang="en-US" sz="1500" b="1" dirty="0">
                <a:solidFill>
                  <a:srgbClr val="569CD6"/>
                </a:solidFill>
                <a:latin typeface="Courier New" pitchFamily="34" charset="0"/>
                <a:ea typeface="Courier New" pitchFamily="34" charset="-122"/>
                <a:cs typeface="Courier New" pitchFamily="34" charset="-120"/>
              </a:rPr>
              <a:t>public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class</a:t>
            </a:r>
            <a:r>
              <a:rPr lang="en-US" sz="1500" dirty="0">
                <a:solidFill>
                  <a:srgbClr val="D4D4D4"/>
                </a:solidFill>
                <a:latin typeface="Courier New" pitchFamily="34" charset="0"/>
                <a:ea typeface="Courier New" pitchFamily="34" charset="-122"/>
                <a:cs typeface="Courier New" pitchFamily="34" charset="-120"/>
              </a:rPr>
              <a:t> Vehicle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protected</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int</a:t>
            </a:r>
            <a:r>
              <a:rPr lang="en-US" sz="1500" dirty="0">
                <a:solidFill>
                  <a:srgbClr val="D4D4D4"/>
                </a:solidFill>
                <a:latin typeface="Courier New" pitchFamily="34" charset="0"/>
                <a:ea typeface="Courier New" pitchFamily="34" charset="-122"/>
                <a:cs typeface="Courier New" pitchFamily="34" charset="-120"/>
              </a:rPr>
              <a:t> maxSpeed;</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protected</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void</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DCDCAA"/>
                </a:solidFill>
                <a:latin typeface="Courier New" pitchFamily="34" charset="0"/>
                <a:ea typeface="Courier New" pitchFamily="34" charset="-122"/>
                <a:cs typeface="Courier New" pitchFamily="34" charset="-120"/>
              </a:rPr>
              <a:t>setMaxSpeed</a:t>
            </a:r>
            <a:r>
              <a:rPr lang="en-US" sz="1500" dirty="0">
                <a:solidFill>
                  <a:srgbClr val="D4D4D4"/>
                </a:solidFill>
                <a:latin typeface="Courier New" pitchFamily="34" charset="0"/>
                <a:ea typeface="Courier New" pitchFamily="34" charset="-122"/>
                <a:cs typeface="Courier New" pitchFamily="34" charset="-120"/>
              </a:rPr>
              <a:t>(</a:t>
            </a:r>
            <a:r>
              <a:rPr lang="en-US" sz="1500" b="1" dirty="0">
                <a:solidFill>
                  <a:srgbClr val="569CD6"/>
                </a:solidFill>
                <a:latin typeface="Courier New" pitchFamily="34" charset="0"/>
                <a:ea typeface="Courier New" pitchFamily="34" charset="-122"/>
                <a:cs typeface="Courier New" pitchFamily="34" charset="-120"/>
              </a:rPr>
              <a:t>int</a:t>
            </a:r>
            <a:r>
              <a:rPr lang="en-US" sz="1500" dirty="0">
                <a:solidFill>
                  <a:srgbClr val="D4D4D4"/>
                </a:solidFill>
                <a:latin typeface="Courier New" pitchFamily="34" charset="0"/>
                <a:ea typeface="Courier New" pitchFamily="34" charset="-122"/>
                <a:cs typeface="Courier New" pitchFamily="34" charset="-120"/>
              </a:rPr>
              <a:t> speed)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maxSpeed = speed;</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a:t>
            </a:r>
            <a:endParaRPr lang="en-US" sz="1500" dirty="0"/>
          </a:p>
        </p:txBody>
      </p:sp>
      <p:sp>
        <p:nvSpPr>
          <p:cNvPr id="17" name="Shape 15"/>
          <p:cNvSpPr/>
          <p:nvPr/>
        </p:nvSpPr>
        <p:spPr>
          <a:xfrm>
            <a:off x="0" y="0"/>
            <a:ext cx="12191695" cy="384048"/>
          </a:xfrm>
          <a:prstGeom prst="rect">
            <a:avLst/>
          </a:prstGeom>
          <a:solidFill>
            <a:srgbClr val="1B2A4A"/>
          </a:solidFill>
          <a:ln w="12700">
            <a:solidFill>
              <a:srgbClr val="1B2A4A"/>
            </a:solidFill>
            <a:prstDash val="solid"/>
          </a:ln>
        </p:spPr>
      </p:sp>
      <p:sp>
        <p:nvSpPr>
          <p:cNvPr id="18" name="Text 16"/>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9" name="Shape 17"/>
          <p:cNvSpPr/>
          <p:nvPr/>
        </p:nvSpPr>
        <p:spPr>
          <a:xfrm>
            <a:off x="219456" y="301752"/>
            <a:ext cx="960120" cy="0"/>
          </a:xfrm>
          <a:prstGeom prst="line">
            <a:avLst/>
          </a:prstGeom>
          <a:noFill/>
          <a:ln w="9525">
            <a:solidFill>
              <a:srgbClr val="4A5570"/>
            </a:solidFill>
            <a:prstDash val="solid"/>
          </a:ln>
        </p:spPr>
      </p:sp>
      <p:sp>
        <p:nvSpPr>
          <p:cNvPr id="20" name="Text 18"/>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1" name="Text 19"/>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2" name="Text 20"/>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3" name="Shape 21"/>
          <p:cNvSpPr/>
          <p:nvPr/>
        </p:nvSpPr>
        <p:spPr>
          <a:xfrm>
            <a:off x="0" y="6291072"/>
            <a:ext cx="12191695" cy="566928"/>
          </a:xfrm>
          <a:prstGeom prst="rect">
            <a:avLst/>
          </a:prstGeom>
          <a:solidFill>
            <a:srgbClr val="1B2A4A"/>
          </a:solidFill>
          <a:ln w="12700">
            <a:solidFill>
              <a:srgbClr val="1B2A4A"/>
            </a:solidFill>
            <a:prstDash val="solid"/>
          </a:ln>
        </p:spPr>
      </p:sp>
      <p:sp>
        <p:nvSpPr>
          <p:cNvPr id="24" name="Text 22"/>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5" name="Text 23"/>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NO KEYWORD</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Default (Package-Private) Access</a:t>
            </a:r>
            <a:endParaRPr lang="en-US" sz="2700" dirty="0"/>
          </a:p>
        </p:txBody>
      </p:sp>
      <p:sp>
        <p:nvSpPr>
          <p:cNvPr id="4" name="Shape 2"/>
          <p:cNvSpPr/>
          <p:nvPr/>
        </p:nvSpPr>
        <p:spPr>
          <a:xfrm>
            <a:off x="594360" y="1600200"/>
            <a:ext cx="10607040" cy="896112"/>
          </a:xfrm>
          <a:prstGeom prst="roundRect">
            <a:avLst>
              <a:gd name="adj" fmla="val 6122"/>
            </a:avLst>
          </a:prstGeom>
          <a:solidFill>
            <a:srgbClr val="F5F6FA"/>
          </a:solidFill>
          <a:ln w="9525">
            <a:solidFill>
              <a:srgbClr val="E4E7EE"/>
            </a:solidFill>
            <a:prstDash val="solid"/>
          </a:ln>
        </p:spPr>
      </p:sp>
      <p:sp>
        <p:nvSpPr>
          <p:cNvPr id="5" name="Shape 3"/>
          <p:cNvSpPr/>
          <p:nvPr/>
        </p:nvSpPr>
        <p:spPr>
          <a:xfrm>
            <a:off x="804672" y="1755648"/>
            <a:ext cx="100584" cy="100584"/>
          </a:xfrm>
          <a:prstGeom prst="ellipse">
            <a:avLst/>
          </a:prstGeom>
          <a:solidFill>
            <a:srgbClr val="E8590C"/>
          </a:solidFill>
          <a:ln w="12700">
            <a:solidFill>
              <a:srgbClr val="000000"/>
            </a:solidFill>
            <a:prstDash val="solid"/>
          </a:ln>
        </p:spPr>
      </p:sp>
      <p:sp>
        <p:nvSpPr>
          <p:cNvPr id="6" name="Text 4"/>
          <p:cNvSpPr/>
          <p:nvPr/>
        </p:nvSpPr>
        <p:spPr>
          <a:xfrm>
            <a:off x="1051560" y="1655064"/>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Leaving off an access modifier gives default access, visible only within the same package.</a:t>
            </a:r>
            <a:endParaRPr lang="en-US" sz="1250" dirty="0"/>
          </a:p>
        </p:txBody>
      </p:sp>
      <p:sp>
        <p:nvSpPr>
          <p:cNvPr id="7" name="Shape 5"/>
          <p:cNvSpPr/>
          <p:nvPr/>
        </p:nvSpPr>
        <p:spPr>
          <a:xfrm>
            <a:off x="804672" y="2103120"/>
            <a:ext cx="100584" cy="100584"/>
          </a:xfrm>
          <a:prstGeom prst="ellipse">
            <a:avLst/>
          </a:prstGeom>
          <a:solidFill>
            <a:srgbClr val="E8590C"/>
          </a:solidFill>
          <a:ln w="12700">
            <a:solidFill>
              <a:srgbClr val="000000"/>
            </a:solidFill>
            <a:prstDash val="solid"/>
          </a:ln>
        </p:spPr>
      </p:sp>
      <p:sp>
        <p:nvSpPr>
          <p:cNvPr id="8" name="Text 6"/>
          <p:cNvSpPr/>
          <p:nvPr/>
        </p:nvSpPr>
        <p:spPr>
          <a:xfrm>
            <a:off x="1051560" y="2002536"/>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This is often used for helper classes and methods not meant to be used outside their package.</a:t>
            </a:r>
            <a:endParaRPr lang="en-US" sz="1250" dirty="0"/>
          </a:p>
        </p:txBody>
      </p:sp>
      <p:sp>
        <p:nvSpPr>
          <p:cNvPr id="9" name="Shape 7"/>
          <p:cNvSpPr/>
          <p:nvPr/>
        </p:nvSpPr>
        <p:spPr>
          <a:xfrm>
            <a:off x="594360" y="2642616"/>
            <a:ext cx="10607040" cy="3392424"/>
          </a:xfrm>
          <a:prstGeom prst="roundRect">
            <a:avLst>
              <a:gd name="adj" fmla="val 2156"/>
            </a:avLst>
          </a:prstGeom>
          <a:solidFill>
            <a:srgbClr val="1E1E2E"/>
          </a:solidFill>
          <a:ln w="12700">
            <a:solidFill>
              <a:srgbClr val="000000"/>
            </a:solidFill>
            <a:prstDash val="solid"/>
          </a:ln>
        </p:spPr>
      </p:sp>
      <p:sp>
        <p:nvSpPr>
          <p:cNvPr id="10" name="Shape 8"/>
          <p:cNvSpPr/>
          <p:nvPr/>
        </p:nvSpPr>
        <p:spPr>
          <a:xfrm>
            <a:off x="594360" y="2642616"/>
            <a:ext cx="10607040" cy="274320"/>
          </a:xfrm>
          <a:prstGeom prst="roundRect">
            <a:avLst>
              <a:gd name="adj" fmla="val 26667"/>
            </a:avLst>
          </a:prstGeom>
          <a:solidFill>
            <a:srgbClr val="17172A"/>
          </a:solidFill>
          <a:ln w="12700">
            <a:solidFill>
              <a:srgbClr val="000000"/>
            </a:solidFill>
            <a:prstDash val="solid"/>
          </a:ln>
        </p:spPr>
      </p:sp>
      <p:sp>
        <p:nvSpPr>
          <p:cNvPr id="11" name="Shape 9"/>
          <p:cNvSpPr/>
          <p:nvPr/>
        </p:nvSpPr>
        <p:spPr>
          <a:xfrm>
            <a:off x="594360" y="2843784"/>
            <a:ext cx="10607040" cy="73152"/>
          </a:xfrm>
          <a:prstGeom prst="rect">
            <a:avLst/>
          </a:prstGeom>
          <a:solidFill>
            <a:srgbClr val="17172A"/>
          </a:solidFill>
          <a:ln w="12700">
            <a:solidFill>
              <a:srgbClr val="000000"/>
            </a:solidFill>
            <a:prstDash val="solid"/>
          </a:ln>
        </p:spPr>
      </p:sp>
      <p:sp>
        <p:nvSpPr>
          <p:cNvPr id="12" name="Shape 10"/>
          <p:cNvSpPr/>
          <p:nvPr/>
        </p:nvSpPr>
        <p:spPr>
          <a:xfrm>
            <a:off x="722376" y="2741371"/>
            <a:ext cx="76810" cy="76810"/>
          </a:xfrm>
          <a:prstGeom prst="ellipse">
            <a:avLst/>
          </a:prstGeom>
          <a:solidFill>
            <a:srgbClr val="FF5F56"/>
          </a:solidFill>
          <a:ln w="12700">
            <a:solidFill>
              <a:srgbClr val="000000"/>
            </a:solidFill>
            <a:prstDash val="solid"/>
          </a:ln>
        </p:spPr>
      </p:sp>
      <p:sp>
        <p:nvSpPr>
          <p:cNvPr id="13" name="Shape 11"/>
          <p:cNvSpPr/>
          <p:nvPr/>
        </p:nvSpPr>
        <p:spPr>
          <a:xfrm>
            <a:off x="886968" y="2741371"/>
            <a:ext cx="76810" cy="76810"/>
          </a:xfrm>
          <a:prstGeom prst="ellipse">
            <a:avLst/>
          </a:prstGeom>
          <a:solidFill>
            <a:srgbClr val="FFBD2E"/>
          </a:solidFill>
          <a:ln w="12700">
            <a:solidFill>
              <a:srgbClr val="000000"/>
            </a:solidFill>
            <a:prstDash val="solid"/>
          </a:ln>
        </p:spPr>
      </p:sp>
      <p:sp>
        <p:nvSpPr>
          <p:cNvPr id="14" name="Shape 12"/>
          <p:cNvSpPr/>
          <p:nvPr/>
        </p:nvSpPr>
        <p:spPr>
          <a:xfrm>
            <a:off x="1051560" y="2741371"/>
            <a:ext cx="76810" cy="76810"/>
          </a:xfrm>
          <a:prstGeom prst="ellipse">
            <a:avLst/>
          </a:prstGeom>
          <a:solidFill>
            <a:srgbClr val="27C93F"/>
          </a:solidFill>
          <a:ln w="12700">
            <a:solidFill>
              <a:srgbClr val="000000"/>
            </a:solidFill>
            <a:prstDash val="solid"/>
          </a:ln>
        </p:spPr>
      </p:sp>
      <p:sp>
        <p:nvSpPr>
          <p:cNvPr id="15" name="Text 13"/>
          <p:cNvSpPr/>
          <p:nvPr/>
        </p:nvSpPr>
        <p:spPr>
          <a:xfrm>
            <a:off x="1371600" y="2642616"/>
            <a:ext cx="9692640" cy="274320"/>
          </a:xfrm>
          <a:prstGeom prst="rect">
            <a:avLst/>
          </a:prstGeom>
          <a:noFill/>
          <a:ln/>
        </p:spPr>
        <p:txBody>
          <a:bodyPr wrap="square" lIns="0" tIns="0" rIns="0" bIns="0" rtlCol="0" anchor="ctr"/>
          <a:lstStyle/>
          <a:p>
            <a:pPr marL="0" indent="0" algn="l">
              <a:buNone/>
            </a:pPr>
            <a:r>
              <a:rPr lang="en-US" sz="1000" dirty="0">
                <a:solidFill>
                  <a:srgbClr val="8A8FA3"/>
                </a:solidFill>
                <a:latin typeface="Courier New" pitchFamily="34" charset="0"/>
                <a:ea typeface="Courier New" pitchFamily="34" charset="-122"/>
                <a:cs typeface="Courier New" pitchFamily="34" charset="-120"/>
              </a:rPr>
              <a:t>Main.java</a:t>
            </a:r>
            <a:endParaRPr lang="en-US" sz="1000" dirty="0"/>
          </a:p>
        </p:txBody>
      </p:sp>
      <p:sp>
        <p:nvSpPr>
          <p:cNvPr id="16" name="Text 14"/>
          <p:cNvSpPr/>
          <p:nvPr/>
        </p:nvSpPr>
        <p:spPr>
          <a:xfrm>
            <a:off x="777240" y="2990088"/>
            <a:ext cx="10241280" cy="2971800"/>
          </a:xfrm>
          <a:prstGeom prst="rect">
            <a:avLst/>
          </a:prstGeom>
          <a:noFill/>
          <a:ln/>
        </p:spPr>
        <p:txBody>
          <a:bodyPr wrap="square" lIns="0" tIns="0" rIns="0" bIns="0" rtlCol="0" anchor="t"/>
          <a:lstStyle/>
          <a:p>
            <a:pPr marL="0" indent="0" algn="l">
              <a:lnSpc>
                <a:spcPct val="118000"/>
              </a:lnSpc>
              <a:buNone/>
            </a:pPr>
            <a:r>
              <a:rPr lang="en-US" sz="1500" b="1" dirty="0">
                <a:solidFill>
                  <a:srgbClr val="569CD6"/>
                </a:solidFill>
                <a:latin typeface="Courier New" pitchFamily="34" charset="0"/>
                <a:ea typeface="Courier New" pitchFamily="34" charset="-122"/>
                <a:cs typeface="Courier New" pitchFamily="34" charset="-120"/>
              </a:rPr>
              <a:t>class</a:t>
            </a:r>
            <a:r>
              <a:rPr lang="en-US" sz="1500" dirty="0">
                <a:solidFill>
                  <a:srgbClr val="D4D4D4"/>
                </a:solidFill>
                <a:latin typeface="Courier New" pitchFamily="34" charset="0"/>
                <a:ea typeface="Courier New" pitchFamily="34" charset="-122"/>
                <a:cs typeface="Courier New" pitchFamily="34" charset="-120"/>
              </a:rPr>
              <a:t> Helper {                 </a:t>
            </a:r>
            <a:r>
              <a:rPr lang="en-US" sz="1500" i="1" dirty="0">
                <a:solidFill>
                  <a:srgbClr val="6A9955"/>
                </a:solidFill>
                <a:latin typeface="Courier New" pitchFamily="34" charset="0"/>
                <a:ea typeface="Courier New" pitchFamily="34" charset="-122"/>
                <a:cs typeface="Courier New" pitchFamily="34" charset="-120"/>
              </a:rPr>
              <a:t>// default access, package-private class</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void</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DCDCAA"/>
                </a:solidFill>
                <a:latin typeface="Courier New" pitchFamily="34" charset="0"/>
                <a:ea typeface="Courier New" pitchFamily="34" charset="-122"/>
                <a:cs typeface="Courier New" pitchFamily="34" charset="-120"/>
              </a:rPr>
              <a:t>assist</a:t>
            </a:r>
            <a:r>
              <a:rPr lang="en-US" sz="1500" dirty="0">
                <a:solidFill>
                  <a:srgbClr val="D4D4D4"/>
                </a:solidFill>
                <a:latin typeface="Courier New" pitchFamily="34" charset="0"/>
                <a:ea typeface="Courier New" pitchFamily="34" charset="-122"/>
                <a:cs typeface="Courier New" pitchFamily="34" charset="-120"/>
              </a:rPr>
              <a:t>() {              </a:t>
            </a:r>
            <a:r>
              <a:rPr lang="en-US" sz="1500" i="1" dirty="0">
                <a:solidFill>
                  <a:srgbClr val="6A9955"/>
                </a:solidFill>
                <a:latin typeface="Courier New" pitchFamily="34" charset="0"/>
                <a:ea typeface="Courier New" pitchFamily="34" charset="-122"/>
                <a:cs typeface="Courier New" pitchFamily="34" charset="-120"/>
              </a:rPr>
              <a:t>// default access method</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4EC9B0"/>
                </a:solidFill>
                <a:latin typeface="Courier New" pitchFamily="34" charset="0"/>
                <a:ea typeface="Courier New" pitchFamily="34" charset="-122"/>
                <a:cs typeface="Courier New" pitchFamily="34" charset="-120"/>
              </a:rPr>
              <a:t>System</a:t>
            </a:r>
            <a:r>
              <a:rPr lang="en-US" sz="1500" dirty="0">
                <a:solidFill>
                  <a:srgbClr val="D4D4D4"/>
                </a:solidFill>
                <a:latin typeface="Courier New" pitchFamily="34" charset="0"/>
                <a:ea typeface="Courier New" pitchFamily="34" charset="-122"/>
                <a:cs typeface="Courier New" pitchFamily="34" charset="-120"/>
              </a:rPr>
              <a:t>.out.</a:t>
            </a:r>
            <a:r>
              <a:rPr lang="en-US" sz="1500" dirty="0">
                <a:solidFill>
                  <a:srgbClr val="DCDCAA"/>
                </a:solidFill>
                <a:latin typeface="Courier New" pitchFamily="34" charset="0"/>
                <a:ea typeface="Courier New" pitchFamily="34" charset="-122"/>
                <a:cs typeface="Courier New" pitchFamily="34" charset="-120"/>
              </a:rPr>
              <a:t>println</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CE9178"/>
                </a:solidFill>
                <a:latin typeface="Courier New" pitchFamily="34" charset="0"/>
                <a:ea typeface="Courier New" pitchFamily="34" charset="-122"/>
                <a:cs typeface="Courier New" pitchFamily="34" charset="-120"/>
              </a:rPr>
              <a:t>"Helping."</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a:t>
            </a:r>
            <a:endParaRPr lang="en-US" sz="1500" dirty="0"/>
          </a:p>
        </p:txBody>
      </p:sp>
      <p:sp>
        <p:nvSpPr>
          <p:cNvPr id="17" name="Shape 15"/>
          <p:cNvSpPr/>
          <p:nvPr/>
        </p:nvSpPr>
        <p:spPr>
          <a:xfrm>
            <a:off x="0" y="0"/>
            <a:ext cx="12191695" cy="384048"/>
          </a:xfrm>
          <a:prstGeom prst="rect">
            <a:avLst/>
          </a:prstGeom>
          <a:solidFill>
            <a:srgbClr val="1B2A4A"/>
          </a:solidFill>
          <a:ln w="12700">
            <a:solidFill>
              <a:srgbClr val="1B2A4A"/>
            </a:solidFill>
            <a:prstDash val="solid"/>
          </a:ln>
        </p:spPr>
      </p:sp>
      <p:sp>
        <p:nvSpPr>
          <p:cNvPr id="18" name="Text 16"/>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9" name="Shape 17"/>
          <p:cNvSpPr/>
          <p:nvPr/>
        </p:nvSpPr>
        <p:spPr>
          <a:xfrm>
            <a:off x="219456" y="301752"/>
            <a:ext cx="960120" cy="0"/>
          </a:xfrm>
          <a:prstGeom prst="line">
            <a:avLst/>
          </a:prstGeom>
          <a:noFill/>
          <a:ln w="9525">
            <a:solidFill>
              <a:srgbClr val="4A5570"/>
            </a:solidFill>
            <a:prstDash val="solid"/>
          </a:ln>
        </p:spPr>
      </p:sp>
      <p:sp>
        <p:nvSpPr>
          <p:cNvPr id="20" name="Text 18"/>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1" name="Text 19"/>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2" name="Text 20"/>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3" name="Shape 21"/>
          <p:cNvSpPr/>
          <p:nvPr/>
        </p:nvSpPr>
        <p:spPr>
          <a:xfrm>
            <a:off x="0" y="6291072"/>
            <a:ext cx="12191695" cy="566928"/>
          </a:xfrm>
          <a:prstGeom prst="rect">
            <a:avLst/>
          </a:prstGeom>
          <a:solidFill>
            <a:srgbClr val="1B2A4A"/>
          </a:solidFill>
          <a:ln w="12700">
            <a:solidFill>
              <a:srgbClr val="1B2A4A"/>
            </a:solidFill>
            <a:prstDash val="solid"/>
          </a:ln>
        </p:spPr>
      </p:sp>
      <p:sp>
        <p:nvSpPr>
          <p:cNvPr id="24" name="Text 22"/>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5" name="Text 23"/>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REFERENCE</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Access Modifiers Summary</a:t>
            </a:r>
            <a:endParaRPr lang="en-US" sz="27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594360" y="1691640"/>
          <a:ext cx="10607040" cy="4343400"/>
        </p:xfrm>
        <a:graphic>
          <a:graphicData uri="http://schemas.openxmlformats.org/drawingml/2006/table">
            <a:tbl>
              <a:tblPr/>
              <a:tblGrid>
                <a:gridCol w="2651760">
                  <a:extLst>
                    <a:ext uri="{9D8B030D-6E8A-4147-A177-3AD203B41FA5}">
                      <a16:colId xmlns:a16="http://schemas.microsoft.com/office/drawing/2014/main" val="20000"/>
                    </a:ext>
                  </a:extLst>
                </a:gridCol>
                <a:gridCol w="2651760">
                  <a:extLst>
                    <a:ext uri="{9D8B030D-6E8A-4147-A177-3AD203B41FA5}">
                      <a16:colId xmlns:a16="http://schemas.microsoft.com/office/drawing/2014/main" val="20001"/>
                    </a:ext>
                  </a:extLst>
                </a:gridCol>
                <a:gridCol w="2651760">
                  <a:extLst>
                    <a:ext uri="{9D8B030D-6E8A-4147-A177-3AD203B41FA5}">
                      <a16:colId xmlns:a16="http://schemas.microsoft.com/office/drawing/2014/main" val="20002"/>
                    </a:ext>
                  </a:extLst>
                </a:gridCol>
                <a:gridCol w="2651760">
                  <a:extLst>
                    <a:ext uri="{9D8B030D-6E8A-4147-A177-3AD203B41FA5}">
                      <a16:colId xmlns:a16="http://schemas.microsoft.com/office/drawing/2014/main" val="20003"/>
                    </a:ext>
                  </a:extLst>
                </a:gridCol>
              </a:tblGrid>
              <a:tr h="868680">
                <a:tc>
                  <a:txBody>
                    <a:bodyPr/>
                    <a:lstStyle/>
                    <a:p>
                      <a:pPr marL="0" indent="0" algn="l">
                        <a:buNone/>
                      </a:pPr>
                      <a:r>
                        <a:rPr lang="en-US" sz="1300" b="1" dirty="0">
                          <a:solidFill>
                            <a:srgbClr val="FFFFFF"/>
                          </a:solidFill>
                          <a:latin typeface="Times New Roman" pitchFamily="34" charset="0"/>
                          <a:ea typeface="Times New Roman" pitchFamily="34" charset="-122"/>
                          <a:cs typeface="Times New Roman" pitchFamily="34" charset="-120"/>
                        </a:rPr>
                        <a:t>Modifier</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1B2A4A"/>
                    </a:solidFill>
                  </a:tcPr>
                </a:tc>
                <a:tc>
                  <a:txBody>
                    <a:bodyPr/>
                    <a:lstStyle/>
                    <a:p>
                      <a:pPr marL="0" indent="0" algn="l">
                        <a:buNone/>
                      </a:pPr>
                      <a:r>
                        <a:rPr lang="en-US" sz="1300" b="1" dirty="0">
                          <a:solidFill>
                            <a:srgbClr val="FFFFFF"/>
                          </a:solidFill>
                          <a:latin typeface="Times New Roman" pitchFamily="34" charset="0"/>
                          <a:ea typeface="Times New Roman" pitchFamily="34" charset="-122"/>
                          <a:cs typeface="Times New Roman" pitchFamily="34" charset="-120"/>
                        </a:rPr>
                        <a:t>Same Class</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1B2A4A"/>
                    </a:solidFill>
                  </a:tcPr>
                </a:tc>
                <a:tc>
                  <a:txBody>
                    <a:bodyPr/>
                    <a:lstStyle/>
                    <a:p>
                      <a:pPr marL="0" indent="0" algn="l">
                        <a:buNone/>
                      </a:pPr>
                      <a:r>
                        <a:rPr lang="en-US" sz="1300" b="1" dirty="0">
                          <a:solidFill>
                            <a:srgbClr val="FFFFFF"/>
                          </a:solidFill>
                          <a:latin typeface="Times New Roman" pitchFamily="34" charset="0"/>
                          <a:ea typeface="Times New Roman" pitchFamily="34" charset="-122"/>
                          <a:cs typeface="Times New Roman" pitchFamily="34" charset="-120"/>
                        </a:rPr>
                        <a:t>Same Package</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1B2A4A"/>
                    </a:solidFill>
                  </a:tcPr>
                </a:tc>
                <a:tc>
                  <a:txBody>
                    <a:bodyPr/>
                    <a:lstStyle/>
                    <a:p>
                      <a:pPr marL="0" indent="0" algn="l">
                        <a:buNone/>
                      </a:pPr>
                      <a:r>
                        <a:rPr lang="en-US" sz="1300" b="1" dirty="0">
                          <a:solidFill>
                            <a:srgbClr val="FFFFFF"/>
                          </a:solidFill>
                          <a:latin typeface="Times New Roman" pitchFamily="34" charset="0"/>
                          <a:ea typeface="Times New Roman" pitchFamily="34" charset="-122"/>
                          <a:cs typeface="Times New Roman" pitchFamily="34" charset="-120"/>
                        </a:rPr>
                        <a:t>Other Package</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868680">
                <a:tc>
                  <a:txBody>
                    <a:bodyPr/>
                    <a:lstStyle/>
                    <a:p>
                      <a:pPr marL="0" indent="0" algn="l">
                        <a:buNone/>
                      </a:pPr>
                      <a:r>
                        <a:rPr lang="en-US" sz="1300" b="1" dirty="0">
                          <a:solidFill>
                            <a:srgbClr val="1A202C"/>
                          </a:solidFill>
                          <a:latin typeface="Times New Roman" pitchFamily="34" charset="0"/>
                          <a:ea typeface="Times New Roman" pitchFamily="34" charset="-122"/>
                          <a:cs typeface="Times New Roman" pitchFamily="34" charset="-120"/>
                        </a:rPr>
                        <a:t>public</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FFFFF"/>
                    </a:solidFill>
                  </a:tcPr>
                </a:tc>
                <a:tc>
                  <a:txBody>
                    <a:bodyPr/>
                    <a:lstStyle/>
                    <a:p>
                      <a:pPr marL="0" indent="0" algn="l">
                        <a:buNone/>
                      </a:pPr>
                      <a:r>
                        <a:rPr lang="en-US" sz="1300" dirty="0">
                          <a:solidFill>
                            <a:srgbClr val="3D4759"/>
                          </a:solidFill>
                          <a:latin typeface="Times New Roman" pitchFamily="34" charset="0"/>
                          <a:ea typeface="Times New Roman" pitchFamily="34" charset="-122"/>
                          <a:cs typeface="Times New Roman" pitchFamily="34" charset="-120"/>
                        </a:rPr>
                        <a:t>Yes</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FFFFF"/>
                    </a:solidFill>
                  </a:tcPr>
                </a:tc>
                <a:tc>
                  <a:txBody>
                    <a:bodyPr/>
                    <a:lstStyle/>
                    <a:p>
                      <a:pPr marL="0" indent="0" algn="l">
                        <a:buNone/>
                      </a:pPr>
                      <a:r>
                        <a:rPr lang="en-US" sz="1300" dirty="0">
                          <a:solidFill>
                            <a:srgbClr val="3D4759"/>
                          </a:solidFill>
                          <a:latin typeface="Times New Roman" pitchFamily="34" charset="0"/>
                          <a:ea typeface="Times New Roman" pitchFamily="34" charset="-122"/>
                          <a:cs typeface="Times New Roman" pitchFamily="34" charset="-120"/>
                        </a:rPr>
                        <a:t>Yes</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FFFFF"/>
                    </a:solidFill>
                  </a:tcPr>
                </a:tc>
                <a:tc>
                  <a:txBody>
                    <a:bodyPr/>
                    <a:lstStyle/>
                    <a:p>
                      <a:pPr marL="0" indent="0" algn="l">
                        <a:buNone/>
                      </a:pPr>
                      <a:r>
                        <a:rPr lang="en-US" sz="1300" dirty="0">
                          <a:solidFill>
                            <a:srgbClr val="3D4759"/>
                          </a:solidFill>
                          <a:latin typeface="Times New Roman" pitchFamily="34" charset="0"/>
                          <a:ea typeface="Times New Roman" pitchFamily="34" charset="-122"/>
                          <a:cs typeface="Times New Roman" pitchFamily="34" charset="-120"/>
                        </a:rPr>
                        <a:t>Yes</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868680">
                <a:tc>
                  <a:txBody>
                    <a:bodyPr/>
                    <a:lstStyle/>
                    <a:p>
                      <a:pPr marL="0" indent="0" algn="l">
                        <a:buNone/>
                      </a:pPr>
                      <a:r>
                        <a:rPr lang="en-US" sz="1300" b="1" dirty="0">
                          <a:solidFill>
                            <a:srgbClr val="1A202C"/>
                          </a:solidFill>
                          <a:latin typeface="Times New Roman" pitchFamily="34" charset="0"/>
                          <a:ea typeface="Times New Roman" pitchFamily="34" charset="-122"/>
                          <a:cs typeface="Times New Roman" pitchFamily="34" charset="-120"/>
                        </a:rPr>
                        <a:t>protected</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5F6FA"/>
                    </a:solidFill>
                  </a:tcPr>
                </a:tc>
                <a:tc>
                  <a:txBody>
                    <a:bodyPr/>
                    <a:lstStyle/>
                    <a:p>
                      <a:pPr marL="0" indent="0" algn="l">
                        <a:buNone/>
                      </a:pPr>
                      <a:r>
                        <a:rPr lang="en-US" sz="1300" dirty="0">
                          <a:solidFill>
                            <a:srgbClr val="3D4759"/>
                          </a:solidFill>
                          <a:latin typeface="Times New Roman" pitchFamily="34" charset="0"/>
                          <a:ea typeface="Times New Roman" pitchFamily="34" charset="-122"/>
                          <a:cs typeface="Times New Roman" pitchFamily="34" charset="-120"/>
                        </a:rPr>
                        <a:t>Yes</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5F6FA"/>
                    </a:solidFill>
                  </a:tcPr>
                </a:tc>
                <a:tc>
                  <a:txBody>
                    <a:bodyPr/>
                    <a:lstStyle/>
                    <a:p>
                      <a:pPr marL="0" indent="0" algn="l">
                        <a:buNone/>
                      </a:pPr>
                      <a:r>
                        <a:rPr lang="en-US" sz="1300" dirty="0">
                          <a:solidFill>
                            <a:srgbClr val="3D4759"/>
                          </a:solidFill>
                          <a:latin typeface="Times New Roman" pitchFamily="34" charset="0"/>
                          <a:ea typeface="Times New Roman" pitchFamily="34" charset="-122"/>
                          <a:cs typeface="Times New Roman" pitchFamily="34" charset="-120"/>
                        </a:rPr>
                        <a:t>Yes</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5F6FA"/>
                    </a:solidFill>
                  </a:tcPr>
                </a:tc>
                <a:tc>
                  <a:txBody>
                    <a:bodyPr/>
                    <a:lstStyle/>
                    <a:p>
                      <a:pPr marL="0" indent="0" algn="l">
                        <a:buNone/>
                      </a:pPr>
                      <a:r>
                        <a:rPr lang="en-US" sz="1300" dirty="0">
                          <a:solidFill>
                            <a:srgbClr val="3D4759"/>
                          </a:solidFill>
                          <a:latin typeface="Times New Roman" pitchFamily="34" charset="0"/>
                          <a:ea typeface="Times New Roman" pitchFamily="34" charset="-122"/>
                          <a:cs typeface="Times New Roman" pitchFamily="34" charset="-120"/>
                        </a:rPr>
                        <a:t>Only via subclass</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5F6FA"/>
                    </a:solidFill>
                  </a:tcPr>
                </a:tc>
                <a:extLst>
                  <a:ext uri="{0D108BD9-81ED-4DB2-BD59-A6C34878D82A}">
                    <a16:rowId xmlns:a16="http://schemas.microsoft.com/office/drawing/2014/main" val="10002"/>
                  </a:ext>
                </a:extLst>
              </a:tr>
              <a:tr h="868680">
                <a:tc>
                  <a:txBody>
                    <a:bodyPr/>
                    <a:lstStyle/>
                    <a:p>
                      <a:pPr marL="0" indent="0" algn="l">
                        <a:buNone/>
                      </a:pPr>
                      <a:r>
                        <a:rPr lang="en-US" sz="1300" b="1" dirty="0">
                          <a:solidFill>
                            <a:srgbClr val="1A202C"/>
                          </a:solidFill>
                          <a:latin typeface="Times New Roman" pitchFamily="34" charset="0"/>
                          <a:ea typeface="Times New Roman" pitchFamily="34" charset="-122"/>
                          <a:cs typeface="Times New Roman" pitchFamily="34" charset="-120"/>
                        </a:rPr>
                        <a:t>default</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FFFFF"/>
                    </a:solidFill>
                  </a:tcPr>
                </a:tc>
                <a:tc>
                  <a:txBody>
                    <a:bodyPr/>
                    <a:lstStyle/>
                    <a:p>
                      <a:pPr marL="0" indent="0" algn="l">
                        <a:buNone/>
                      </a:pPr>
                      <a:r>
                        <a:rPr lang="en-US" sz="1300" dirty="0">
                          <a:solidFill>
                            <a:srgbClr val="3D4759"/>
                          </a:solidFill>
                          <a:latin typeface="Times New Roman" pitchFamily="34" charset="0"/>
                          <a:ea typeface="Times New Roman" pitchFamily="34" charset="-122"/>
                          <a:cs typeface="Times New Roman" pitchFamily="34" charset="-120"/>
                        </a:rPr>
                        <a:t>Yes</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FFFFF"/>
                    </a:solidFill>
                  </a:tcPr>
                </a:tc>
                <a:tc>
                  <a:txBody>
                    <a:bodyPr/>
                    <a:lstStyle/>
                    <a:p>
                      <a:pPr marL="0" indent="0" algn="l">
                        <a:buNone/>
                      </a:pPr>
                      <a:r>
                        <a:rPr lang="en-US" sz="1300" dirty="0">
                          <a:solidFill>
                            <a:srgbClr val="3D4759"/>
                          </a:solidFill>
                          <a:latin typeface="Times New Roman" pitchFamily="34" charset="0"/>
                          <a:ea typeface="Times New Roman" pitchFamily="34" charset="-122"/>
                          <a:cs typeface="Times New Roman" pitchFamily="34" charset="-120"/>
                        </a:rPr>
                        <a:t>Yes</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FFFFF"/>
                    </a:solidFill>
                  </a:tcPr>
                </a:tc>
                <a:tc>
                  <a:txBody>
                    <a:bodyPr/>
                    <a:lstStyle/>
                    <a:p>
                      <a:pPr marL="0" indent="0" algn="l">
                        <a:buNone/>
                      </a:pPr>
                      <a:r>
                        <a:rPr lang="en-US" sz="1300" dirty="0">
                          <a:solidFill>
                            <a:srgbClr val="3D4759"/>
                          </a:solidFill>
                          <a:latin typeface="Times New Roman" pitchFamily="34" charset="0"/>
                          <a:ea typeface="Times New Roman" pitchFamily="34" charset="-122"/>
                          <a:cs typeface="Times New Roman" pitchFamily="34" charset="-120"/>
                        </a:rPr>
                        <a:t>No</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868680">
                <a:tc>
                  <a:txBody>
                    <a:bodyPr/>
                    <a:lstStyle/>
                    <a:p>
                      <a:pPr marL="0" indent="0" algn="l">
                        <a:buNone/>
                      </a:pPr>
                      <a:r>
                        <a:rPr lang="en-US" sz="1300" b="1" dirty="0">
                          <a:solidFill>
                            <a:srgbClr val="1A202C"/>
                          </a:solidFill>
                          <a:latin typeface="Times New Roman" pitchFamily="34" charset="0"/>
                          <a:ea typeface="Times New Roman" pitchFamily="34" charset="-122"/>
                          <a:cs typeface="Times New Roman" pitchFamily="34" charset="-120"/>
                        </a:rPr>
                        <a:t>private</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5F6FA"/>
                    </a:solidFill>
                  </a:tcPr>
                </a:tc>
                <a:tc>
                  <a:txBody>
                    <a:bodyPr/>
                    <a:lstStyle/>
                    <a:p>
                      <a:pPr marL="0" indent="0" algn="l">
                        <a:buNone/>
                      </a:pPr>
                      <a:r>
                        <a:rPr lang="en-US" sz="1300" dirty="0">
                          <a:solidFill>
                            <a:srgbClr val="3D4759"/>
                          </a:solidFill>
                          <a:latin typeface="Times New Roman" pitchFamily="34" charset="0"/>
                          <a:ea typeface="Times New Roman" pitchFamily="34" charset="-122"/>
                          <a:cs typeface="Times New Roman" pitchFamily="34" charset="-120"/>
                        </a:rPr>
                        <a:t>Yes</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5F6FA"/>
                    </a:solidFill>
                  </a:tcPr>
                </a:tc>
                <a:tc>
                  <a:txBody>
                    <a:bodyPr/>
                    <a:lstStyle/>
                    <a:p>
                      <a:pPr marL="0" indent="0" algn="l">
                        <a:buNone/>
                      </a:pPr>
                      <a:r>
                        <a:rPr lang="en-US" sz="1300" dirty="0">
                          <a:solidFill>
                            <a:srgbClr val="3D4759"/>
                          </a:solidFill>
                          <a:latin typeface="Times New Roman" pitchFamily="34" charset="0"/>
                          <a:ea typeface="Times New Roman" pitchFamily="34" charset="-122"/>
                          <a:cs typeface="Times New Roman" pitchFamily="34" charset="-120"/>
                        </a:rPr>
                        <a:t>No</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5F6FA"/>
                    </a:solidFill>
                  </a:tcPr>
                </a:tc>
                <a:tc>
                  <a:txBody>
                    <a:bodyPr/>
                    <a:lstStyle/>
                    <a:p>
                      <a:pPr marL="0" indent="0" algn="l">
                        <a:buNone/>
                      </a:pPr>
                      <a:r>
                        <a:rPr lang="en-US" sz="1300" dirty="0">
                          <a:solidFill>
                            <a:srgbClr val="3D4759"/>
                          </a:solidFill>
                          <a:latin typeface="Times New Roman" pitchFamily="34" charset="0"/>
                          <a:ea typeface="Times New Roman" pitchFamily="34" charset="-122"/>
                          <a:cs typeface="Times New Roman" pitchFamily="34" charset="-120"/>
                        </a:rPr>
                        <a:t>No</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5F6FA"/>
                    </a:solidFill>
                  </a:tcPr>
                </a:tc>
                <a:extLst>
                  <a:ext uri="{0D108BD9-81ED-4DB2-BD59-A6C34878D82A}">
                    <a16:rowId xmlns:a16="http://schemas.microsoft.com/office/drawing/2014/main" val="10004"/>
                  </a:ext>
                </a:extLst>
              </a:tr>
            </a:tbl>
          </a:graphicData>
        </a:graphic>
      </p:graphicFrame>
      <p:sp>
        <p:nvSpPr>
          <p:cNvPr id="5" name="Shape 2"/>
          <p:cNvSpPr/>
          <p:nvPr/>
        </p:nvSpPr>
        <p:spPr>
          <a:xfrm>
            <a:off x="0" y="0"/>
            <a:ext cx="12191695" cy="384048"/>
          </a:xfrm>
          <a:prstGeom prst="rect">
            <a:avLst/>
          </a:prstGeom>
          <a:solidFill>
            <a:srgbClr val="1B2A4A"/>
          </a:solidFill>
          <a:ln w="12700">
            <a:solidFill>
              <a:srgbClr val="1B2A4A"/>
            </a:solidFill>
            <a:prstDash val="solid"/>
          </a:ln>
        </p:spPr>
      </p:sp>
      <p:sp>
        <p:nvSpPr>
          <p:cNvPr id="6" name="Text 3"/>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7" name="Shape 4"/>
          <p:cNvSpPr/>
          <p:nvPr/>
        </p:nvSpPr>
        <p:spPr>
          <a:xfrm>
            <a:off x="219456" y="301752"/>
            <a:ext cx="960120" cy="0"/>
          </a:xfrm>
          <a:prstGeom prst="line">
            <a:avLst/>
          </a:prstGeom>
          <a:noFill/>
          <a:ln w="9525">
            <a:solidFill>
              <a:srgbClr val="4A5570"/>
            </a:solidFill>
            <a:prstDash val="solid"/>
          </a:ln>
        </p:spPr>
      </p:sp>
      <p:sp>
        <p:nvSpPr>
          <p:cNvPr id="8" name="Text 5"/>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9" name="Text 6"/>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10" name="Text 7"/>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11" name="Shape 8"/>
          <p:cNvSpPr/>
          <p:nvPr/>
        </p:nvSpPr>
        <p:spPr>
          <a:xfrm>
            <a:off x="0" y="6291072"/>
            <a:ext cx="12191695" cy="566928"/>
          </a:xfrm>
          <a:prstGeom prst="rect">
            <a:avLst/>
          </a:prstGeom>
          <a:solidFill>
            <a:srgbClr val="1B2A4A"/>
          </a:solidFill>
          <a:ln w="12700">
            <a:solidFill>
              <a:srgbClr val="1B2A4A"/>
            </a:solidFill>
            <a:prstDash val="solid"/>
          </a:ln>
        </p:spPr>
      </p:sp>
      <p:sp>
        <p:nvSpPr>
          <p:cNvPr id="12" name="Text 9"/>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13" name="Text 10"/>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CONCEPT</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What Is Encapsulation?</a:t>
            </a:r>
            <a:endParaRPr lang="en-US" sz="2700" dirty="0"/>
          </a:p>
        </p:txBody>
      </p:sp>
      <p:sp>
        <p:nvSpPr>
          <p:cNvPr id="4" name="Shape 2"/>
          <p:cNvSpPr/>
          <p:nvPr/>
        </p:nvSpPr>
        <p:spPr>
          <a:xfrm>
            <a:off x="594360" y="1691640"/>
            <a:ext cx="10607040" cy="1338072"/>
          </a:xfrm>
          <a:prstGeom prst="roundRect">
            <a:avLst>
              <a:gd name="adj" fmla="val 4100"/>
            </a:avLst>
          </a:prstGeom>
          <a:solidFill>
            <a:srgbClr val="F5F6FA"/>
          </a:solidFill>
          <a:ln w="9525">
            <a:solidFill>
              <a:srgbClr val="E4E7EE"/>
            </a:solidFill>
            <a:prstDash val="solid"/>
          </a:ln>
        </p:spPr>
      </p:sp>
      <p:sp>
        <p:nvSpPr>
          <p:cNvPr id="5" name="Shape 3"/>
          <p:cNvSpPr/>
          <p:nvPr/>
        </p:nvSpPr>
        <p:spPr>
          <a:xfrm>
            <a:off x="777240" y="1874520"/>
            <a:ext cx="109728" cy="109728"/>
          </a:xfrm>
          <a:prstGeom prst="ellipse">
            <a:avLst/>
          </a:prstGeom>
          <a:solidFill>
            <a:srgbClr val="E8590C"/>
          </a:solidFill>
          <a:ln w="12700">
            <a:solidFill>
              <a:srgbClr val="000000"/>
            </a:solidFill>
            <a:prstDash val="solid"/>
          </a:ln>
        </p:spPr>
      </p:sp>
      <p:sp>
        <p:nvSpPr>
          <p:cNvPr id="6" name="Text 4"/>
          <p:cNvSpPr/>
          <p:nvPr/>
        </p:nvSpPr>
        <p:spPr>
          <a:xfrm>
            <a:off x="1051560" y="1764792"/>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Bundling data with the code that manages it</a:t>
            </a:r>
            <a:endParaRPr lang="en-US" sz="1500" dirty="0"/>
          </a:p>
        </p:txBody>
      </p:sp>
      <p:sp>
        <p:nvSpPr>
          <p:cNvPr id="7" name="Text 5"/>
          <p:cNvSpPr/>
          <p:nvPr/>
        </p:nvSpPr>
        <p:spPr>
          <a:xfrm>
            <a:off x="1051560" y="2057400"/>
            <a:ext cx="9966960" cy="917448"/>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Encapsulation keeps a class's fields and the methods that operate on them together in one place.</a:t>
            </a:r>
            <a:endParaRPr lang="en-US" sz="1250" dirty="0"/>
          </a:p>
        </p:txBody>
      </p:sp>
      <p:sp>
        <p:nvSpPr>
          <p:cNvPr id="8" name="Shape 6"/>
          <p:cNvSpPr/>
          <p:nvPr/>
        </p:nvSpPr>
        <p:spPr>
          <a:xfrm>
            <a:off x="594360" y="3194304"/>
            <a:ext cx="10607040" cy="1338072"/>
          </a:xfrm>
          <a:prstGeom prst="roundRect">
            <a:avLst>
              <a:gd name="adj" fmla="val 4100"/>
            </a:avLst>
          </a:prstGeom>
          <a:solidFill>
            <a:srgbClr val="F5F6FA"/>
          </a:solidFill>
          <a:ln w="9525">
            <a:solidFill>
              <a:srgbClr val="E4E7EE"/>
            </a:solidFill>
            <a:prstDash val="solid"/>
          </a:ln>
        </p:spPr>
      </p:sp>
      <p:sp>
        <p:nvSpPr>
          <p:cNvPr id="9" name="Shape 7"/>
          <p:cNvSpPr/>
          <p:nvPr/>
        </p:nvSpPr>
        <p:spPr>
          <a:xfrm>
            <a:off x="777240" y="3377184"/>
            <a:ext cx="109728" cy="109728"/>
          </a:xfrm>
          <a:prstGeom prst="ellipse">
            <a:avLst/>
          </a:prstGeom>
          <a:solidFill>
            <a:srgbClr val="E8590C"/>
          </a:solidFill>
          <a:ln w="12700">
            <a:solidFill>
              <a:srgbClr val="000000"/>
            </a:solidFill>
            <a:prstDash val="solid"/>
          </a:ln>
        </p:spPr>
      </p:sp>
      <p:sp>
        <p:nvSpPr>
          <p:cNvPr id="10" name="Text 8"/>
          <p:cNvSpPr/>
          <p:nvPr/>
        </p:nvSpPr>
        <p:spPr>
          <a:xfrm>
            <a:off x="1051560" y="3267456"/>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Hiding internal details from the outside</a:t>
            </a:r>
            <a:endParaRPr lang="en-US" sz="1500" dirty="0"/>
          </a:p>
        </p:txBody>
      </p:sp>
      <p:sp>
        <p:nvSpPr>
          <p:cNvPr id="11" name="Text 9"/>
          <p:cNvSpPr/>
          <p:nvPr/>
        </p:nvSpPr>
        <p:spPr>
          <a:xfrm>
            <a:off x="1051560" y="3560064"/>
            <a:ext cx="9966960" cy="917448"/>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Other code interacts with an object only through its public methods, not by touching its fields directly.</a:t>
            </a:r>
            <a:endParaRPr lang="en-US" sz="1250" dirty="0"/>
          </a:p>
        </p:txBody>
      </p:sp>
      <p:sp>
        <p:nvSpPr>
          <p:cNvPr id="12" name="Shape 10"/>
          <p:cNvSpPr/>
          <p:nvPr/>
        </p:nvSpPr>
        <p:spPr>
          <a:xfrm>
            <a:off x="594360" y="4696968"/>
            <a:ext cx="10607040" cy="1338072"/>
          </a:xfrm>
          <a:prstGeom prst="roundRect">
            <a:avLst>
              <a:gd name="adj" fmla="val 4100"/>
            </a:avLst>
          </a:prstGeom>
          <a:solidFill>
            <a:srgbClr val="F5F6FA"/>
          </a:solidFill>
          <a:ln w="9525">
            <a:solidFill>
              <a:srgbClr val="E4E7EE"/>
            </a:solidFill>
            <a:prstDash val="solid"/>
          </a:ln>
        </p:spPr>
      </p:sp>
      <p:sp>
        <p:nvSpPr>
          <p:cNvPr id="13" name="Shape 11"/>
          <p:cNvSpPr/>
          <p:nvPr/>
        </p:nvSpPr>
        <p:spPr>
          <a:xfrm>
            <a:off x="777240" y="4879848"/>
            <a:ext cx="109728" cy="109728"/>
          </a:xfrm>
          <a:prstGeom prst="ellipse">
            <a:avLst/>
          </a:prstGeom>
          <a:solidFill>
            <a:srgbClr val="E8590C"/>
          </a:solidFill>
          <a:ln w="12700">
            <a:solidFill>
              <a:srgbClr val="000000"/>
            </a:solidFill>
            <a:prstDash val="solid"/>
          </a:ln>
        </p:spPr>
      </p:sp>
      <p:sp>
        <p:nvSpPr>
          <p:cNvPr id="14" name="Text 12"/>
          <p:cNvSpPr/>
          <p:nvPr/>
        </p:nvSpPr>
        <p:spPr>
          <a:xfrm>
            <a:off x="1051560" y="4770120"/>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One of the core principles of object-oriented design</a:t>
            </a:r>
            <a:endParaRPr lang="en-US" sz="1500" dirty="0"/>
          </a:p>
        </p:txBody>
      </p:sp>
      <p:sp>
        <p:nvSpPr>
          <p:cNvPr id="15" name="Text 13"/>
          <p:cNvSpPr/>
          <p:nvPr/>
        </p:nvSpPr>
        <p:spPr>
          <a:xfrm>
            <a:off x="1051560" y="5062728"/>
            <a:ext cx="9966960" cy="917448"/>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Along with inheritance and polymorphism, covered later in this session, encapsulation shapes well-structured Java programs.</a:t>
            </a:r>
            <a:endParaRPr lang="en-US" sz="1250" dirty="0"/>
          </a:p>
        </p:txBody>
      </p:sp>
      <p:sp>
        <p:nvSpPr>
          <p:cNvPr id="16" name="Shape 14"/>
          <p:cNvSpPr/>
          <p:nvPr/>
        </p:nvSpPr>
        <p:spPr>
          <a:xfrm>
            <a:off x="0" y="0"/>
            <a:ext cx="12191695" cy="384048"/>
          </a:xfrm>
          <a:prstGeom prst="rect">
            <a:avLst/>
          </a:prstGeom>
          <a:solidFill>
            <a:srgbClr val="1B2A4A"/>
          </a:solidFill>
          <a:ln w="12700">
            <a:solidFill>
              <a:srgbClr val="1B2A4A"/>
            </a:solidFill>
            <a:prstDash val="solid"/>
          </a:ln>
        </p:spPr>
      </p:sp>
      <p:sp>
        <p:nvSpPr>
          <p:cNvPr id="17" name="Text 15"/>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8" name="Shape 16"/>
          <p:cNvSpPr/>
          <p:nvPr/>
        </p:nvSpPr>
        <p:spPr>
          <a:xfrm>
            <a:off x="219456" y="301752"/>
            <a:ext cx="960120" cy="0"/>
          </a:xfrm>
          <a:prstGeom prst="line">
            <a:avLst/>
          </a:prstGeom>
          <a:noFill/>
          <a:ln w="9525">
            <a:solidFill>
              <a:srgbClr val="4A5570"/>
            </a:solidFill>
            <a:prstDash val="solid"/>
          </a:ln>
        </p:spPr>
      </p:sp>
      <p:sp>
        <p:nvSpPr>
          <p:cNvPr id="19" name="Text 17"/>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0" name="Text 18"/>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1" name="Text 19"/>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2" name="Shape 20"/>
          <p:cNvSpPr/>
          <p:nvPr/>
        </p:nvSpPr>
        <p:spPr>
          <a:xfrm>
            <a:off x="0" y="6291072"/>
            <a:ext cx="12191695" cy="566928"/>
          </a:xfrm>
          <a:prstGeom prst="rect">
            <a:avLst/>
          </a:prstGeom>
          <a:solidFill>
            <a:srgbClr val="1B2A4A"/>
          </a:solidFill>
          <a:ln w="12700">
            <a:solidFill>
              <a:srgbClr val="1B2A4A"/>
            </a:solidFill>
            <a:prstDash val="solid"/>
          </a:ln>
        </p:spPr>
      </p:sp>
      <p:sp>
        <p:nvSpPr>
          <p:cNvPr id="23" name="Text 21"/>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4" name="Text 22"/>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CONTROLLED ACCESS</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Getter and Setter Methods</a:t>
            </a:r>
            <a:endParaRPr lang="en-US" sz="2700" dirty="0"/>
          </a:p>
        </p:txBody>
      </p:sp>
      <p:sp>
        <p:nvSpPr>
          <p:cNvPr id="4" name="Shape 2"/>
          <p:cNvSpPr/>
          <p:nvPr/>
        </p:nvSpPr>
        <p:spPr>
          <a:xfrm>
            <a:off x="594360" y="1600200"/>
            <a:ext cx="10607040" cy="896112"/>
          </a:xfrm>
          <a:prstGeom prst="roundRect">
            <a:avLst>
              <a:gd name="adj" fmla="val 6122"/>
            </a:avLst>
          </a:prstGeom>
          <a:solidFill>
            <a:srgbClr val="F5F6FA"/>
          </a:solidFill>
          <a:ln w="9525">
            <a:solidFill>
              <a:srgbClr val="E4E7EE"/>
            </a:solidFill>
            <a:prstDash val="solid"/>
          </a:ln>
        </p:spPr>
      </p:sp>
      <p:sp>
        <p:nvSpPr>
          <p:cNvPr id="5" name="Shape 3"/>
          <p:cNvSpPr/>
          <p:nvPr/>
        </p:nvSpPr>
        <p:spPr>
          <a:xfrm>
            <a:off x="804672" y="1755648"/>
            <a:ext cx="100584" cy="100584"/>
          </a:xfrm>
          <a:prstGeom prst="ellipse">
            <a:avLst/>
          </a:prstGeom>
          <a:solidFill>
            <a:srgbClr val="E8590C"/>
          </a:solidFill>
          <a:ln w="12700">
            <a:solidFill>
              <a:srgbClr val="000000"/>
            </a:solidFill>
            <a:prstDash val="solid"/>
          </a:ln>
        </p:spPr>
      </p:sp>
      <p:sp>
        <p:nvSpPr>
          <p:cNvPr id="6" name="Text 4"/>
          <p:cNvSpPr/>
          <p:nvPr/>
        </p:nvSpPr>
        <p:spPr>
          <a:xfrm>
            <a:off x="1051560" y="1655064"/>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A getter is a public method that returns the value of a private field.</a:t>
            </a:r>
            <a:endParaRPr lang="en-US" sz="1250" dirty="0"/>
          </a:p>
        </p:txBody>
      </p:sp>
      <p:sp>
        <p:nvSpPr>
          <p:cNvPr id="7" name="Shape 5"/>
          <p:cNvSpPr/>
          <p:nvPr/>
        </p:nvSpPr>
        <p:spPr>
          <a:xfrm>
            <a:off x="804672" y="2103120"/>
            <a:ext cx="100584" cy="100584"/>
          </a:xfrm>
          <a:prstGeom prst="ellipse">
            <a:avLst/>
          </a:prstGeom>
          <a:solidFill>
            <a:srgbClr val="E8590C"/>
          </a:solidFill>
          <a:ln w="12700">
            <a:solidFill>
              <a:srgbClr val="000000"/>
            </a:solidFill>
            <a:prstDash val="solid"/>
          </a:ln>
        </p:spPr>
      </p:sp>
      <p:sp>
        <p:nvSpPr>
          <p:cNvPr id="8" name="Text 6"/>
          <p:cNvSpPr/>
          <p:nvPr/>
        </p:nvSpPr>
        <p:spPr>
          <a:xfrm>
            <a:off x="1051560" y="2002536"/>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A setter is a public method that updates the value of a private field.</a:t>
            </a:r>
            <a:endParaRPr lang="en-US" sz="1250" dirty="0"/>
          </a:p>
        </p:txBody>
      </p:sp>
      <p:sp>
        <p:nvSpPr>
          <p:cNvPr id="9" name="Shape 7"/>
          <p:cNvSpPr/>
          <p:nvPr/>
        </p:nvSpPr>
        <p:spPr>
          <a:xfrm>
            <a:off x="594360" y="2642616"/>
            <a:ext cx="10607040" cy="3392424"/>
          </a:xfrm>
          <a:prstGeom prst="roundRect">
            <a:avLst>
              <a:gd name="adj" fmla="val 2156"/>
            </a:avLst>
          </a:prstGeom>
          <a:solidFill>
            <a:srgbClr val="1E1E2E"/>
          </a:solidFill>
          <a:ln w="12700">
            <a:solidFill>
              <a:srgbClr val="000000"/>
            </a:solidFill>
            <a:prstDash val="solid"/>
          </a:ln>
        </p:spPr>
      </p:sp>
      <p:sp>
        <p:nvSpPr>
          <p:cNvPr id="10" name="Shape 8"/>
          <p:cNvSpPr/>
          <p:nvPr/>
        </p:nvSpPr>
        <p:spPr>
          <a:xfrm>
            <a:off x="594360" y="2642616"/>
            <a:ext cx="10607040" cy="274320"/>
          </a:xfrm>
          <a:prstGeom prst="roundRect">
            <a:avLst>
              <a:gd name="adj" fmla="val 26667"/>
            </a:avLst>
          </a:prstGeom>
          <a:solidFill>
            <a:srgbClr val="17172A"/>
          </a:solidFill>
          <a:ln w="12700">
            <a:solidFill>
              <a:srgbClr val="000000"/>
            </a:solidFill>
            <a:prstDash val="solid"/>
          </a:ln>
        </p:spPr>
      </p:sp>
      <p:sp>
        <p:nvSpPr>
          <p:cNvPr id="11" name="Shape 9"/>
          <p:cNvSpPr/>
          <p:nvPr/>
        </p:nvSpPr>
        <p:spPr>
          <a:xfrm>
            <a:off x="594360" y="2843784"/>
            <a:ext cx="10607040" cy="73152"/>
          </a:xfrm>
          <a:prstGeom prst="rect">
            <a:avLst/>
          </a:prstGeom>
          <a:solidFill>
            <a:srgbClr val="17172A"/>
          </a:solidFill>
          <a:ln w="12700">
            <a:solidFill>
              <a:srgbClr val="000000"/>
            </a:solidFill>
            <a:prstDash val="solid"/>
          </a:ln>
        </p:spPr>
      </p:sp>
      <p:sp>
        <p:nvSpPr>
          <p:cNvPr id="12" name="Shape 10"/>
          <p:cNvSpPr/>
          <p:nvPr/>
        </p:nvSpPr>
        <p:spPr>
          <a:xfrm>
            <a:off x="722376" y="2741371"/>
            <a:ext cx="76810" cy="76810"/>
          </a:xfrm>
          <a:prstGeom prst="ellipse">
            <a:avLst/>
          </a:prstGeom>
          <a:solidFill>
            <a:srgbClr val="FF5F56"/>
          </a:solidFill>
          <a:ln w="12700">
            <a:solidFill>
              <a:srgbClr val="000000"/>
            </a:solidFill>
            <a:prstDash val="solid"/>
          </a:ln>
        </p:spPr>
      </p:sp>
      <p:sp>
        <p:nvSpPr>
          <p:cNvPr id="13" name="Shape 11"/>
          <p:cNvSpPr/>
          <p:nvPr/>
        </p:nvSpPr>
        <p:spPr>
          <a:xfrm>
            <a:off x="886968" y="2741371"/>
            <a:ext cx="76810" cy="76810"/>
          </a:xfrm>
          <a:prstGeom prst="ellipse">
            <a:avLst/>
          </a:prstGeom>
          <a:solidFill>
            <a:srgbClr val="FFBD2E"/>
          </a:solidFill>
          <a:ln w="12700">
            <a:solidFill>
              <a:srgbClr val="000000"/>
            </a:solidFill>
            <a:prstDash val="solid"/>
          </a:ln>
        </p:spPr>
      </p:sp>
      <p:sp>
        <p:nvSpPr>
          <p:cNvPr id="14" name="Shape 12"/>
          <p:cNvSpPr/>
          <p:nvPr/>
        </p:nvSpPr>
        <p:spPr>
          <a:xfrm>
            <a:off x="1051560" y="2741371"/>
            <a:ext cx="76810" cy="76810"/>
          </a:xfrm>
          <a:prstGeom prst="ellipse">
            <a:avLst/>
          </a:prstGeom>
          <a:solidFill>
            <a:srgbClr val="27C93F"/>
          </a:solidFill>
          <a:ln w="12700">
            <a:solidFill>
              <a:srgbClr val="000000"/>
            </a:solidFill>
            <a:prstDash val="solid"/>
          </a:ln>
        </p:spPr>
      </p:sp>
      <p:sp>
        <p:nvSpPr>
          <p:cNvPr id="15" name="Text 13"/>
          <p:cNvSpPr/>
          <p:nvPr/>
        </p:nvSpPr>
        <p:spPr>
          <a:xfrm>
            <a:off x="1371600" y="2642616"/>
            <a:ext cx="9692640" cy="274320"/>
          </a:xfrm>
          <a:prstGeom prst="rect">
            <a:avLst/>
          </a:prstGeom>
          <a:noFill/>
          <a:ln/>
        </p:spPr>
        <p:txBody>
          <a:bodyPr wrap="square" lIns="0" tIns="0" rIns="0" bIns="0" rtlCol="0" anchor="ctr"/>
          <a:lstStyle/>
          <a:p>
            <a:pPr marL="0" indent="0" algn="l">
              <a:buNone/>
            </a:pPr>
            <a:r>
              <a:rPr lang="en-US" sz="1000" dirty="0">
                <a:solidFill>
                  <a:srgbClr val="8A8FA3"/>
                </a:solidFill>
                <a:latin typeface="Courier New" pitchFamily="34" charset="0"/>
                <a:ea typeface="Courier New" pitchFamily="34" charset="-122"/>
                <a:cs typeface="Courier New" pitchFamily="34" charset="-120"/>
              </a:rPr>
              <a:t>Main.java</a:t>
            </a:r>
            <a:endParaRPr lang="en-US" sz="1000" dirty="0"/>
          </a:p>
        </p:txBody>
      </p:sp>
      <p:sp>
        <p:nvSpPr>
          <p:cNvPr id="16" name="Text 14"/>
          <p:cNvSpPr/>
          <p:nvPr/>
        </p:nvSpPr>
        <p:spPr>
          <a:xfrm>
            <a:off x="777240" y="2990088"/>
            <a:ext cx="10241280" cy="2971800"/>
          </a:xfrm>
          <a:prstGeom prst="rect">
            <a:avLst/>
          </a:prstGeom>
          <a:noFill/>
          <a:ln/>
        </p:spPr>
        <p:txBody>
          <a:bodyPr wrap="square" lIns="0" tIns="0" rIns="0" bIns="0" rtlCol="0" anchor="t"/>
          <a:lstStyle/>
          <a:p>
            <a:pPr marL="0" indent="0" algn="l">
              <a:lnSpc>
                <a:spcPct val="118000"/>
              </a:lnSpc>
              <a:buNone/>
            </a:pPr>
            <a:r>
              <a:rPr lang="en-US" sz="1500" b="1" dirty="0">
                <a:solidFill>
                  <a:srgbClr val="569CD6"/>
                </a:solidFill>
                <a:latin typeface="Courier New" pitchFamily="34" charset="0"/>
                <a:ea typeface="Courier New" pitchFamily="34" charset="-122"/>
                <a:cs typeface="Courier New" pitchFamily="34" charset="-120"/>
              </a:rPr>
              <a:t>public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class</a:t>
            </a:r>
            <a:r>
              <a:rPr lang="en-US" sz="1500" dirty="0">
                <a:solidFill>
                  <a:srgbClr val="D4D4D4"/>
                </a:solidFill>
                <a:latin typeface="Courier New" pitchFamily="34" charset="0"/>
                <a:ea typeface="Courier New" pitchFamily="34" charset="-122"/>
                <a:cs typeface="Courier New" pitchFamily="34" charset="-120"/>
              </a:rPr>
              <a:t> Account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private</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double</a:t>
            </a:r>
            <a:r>
              <a:rPr lang="en-US" sz="1500" dirty="0">
                <a:solidFill>
                  <a:srgbClr val="D4D4D4"/>
                </a:solidFill>
                <a:latin typeface="Courier New" pitchFamily="34" charset="0"/>
                <a:ea typeface="Courier New" pitchFamily="34" charset="-122"/>
                <a:cs typeface="Courier New" pitchFamily="34" charset="-120"/>
              </a:rPr>
              <a:t> balance;</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double</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DCDCAA"/>
                </a:solidFill>
                <a:latin typeface="Courier New" pitchFamily="34" charset="0"/>
                <a:ea typeface="Courier New" pitchFamily="34" charset="-122"/>
                <a:cs typeface="Courier New" pitchFamily="34" charset="-120"/>
              </a:rPr>
              <a:t>getBalance</a:t>
            </a: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return</a:t>
            </a:r>
            <a:r>
              <a:rPr lang="en-US" sz="1500" dirty="0">
                <a:solidFill>
                  <a:srgbClr val="D4D4D4"/>
                </a:solidFill>
                <a:latin typeface="Courier New" pitchFamily="34" charset="0"/>
                <a:ea typeface="Courier New" pitchFamily="34" charset="-122"/>
                <a:cs typeface="Courier New" pitchFamily="34" charset="-120"/>
              </a:rPr>
              <a:t> balance;</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void</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DCDCAA"/>
                </a:solidFill>
                <a:latin typeface="Courier New" pitchFamily="34" charset="0"/>
                <a:ea typeface="Courier New" pitchFamily="34" charset="-122"/>
                <a:cs typeface="Courier New" pitchFamily="34" charset="-120"/>
              </a:rPr>
              <a:t>setBalance</a:t>
            </a:r>
            <a:r>
              <a:rPr lang="en-US" sz="1500" dirty="0">
                <a:solidFill>
                  <a:srgbClr val="D4D4D4"/>
                </a:solidFill>
                <a:latin typeface="Courier New" pitchFamily="34" charset="0"/>
                <a:ea typeface="Courier New" pitchFamily="34" charset="-122"/>
                <a:cs typeface="Courier New" pitchFamily="34" charset="-120"/>
              </a:rPr>
              <a:t>(</a:t>
            </a:r>
            <a:r>
              <a:rPr lang="en-US" sz="1500" b="1" dirty="0">
                <a:solidFill>
                  <a:srgbClr val="569CD6"/>
                </a:solidFill>
                <a:latin typeface="Courier New" pitchFamily="34" charset="0"/>
                <a:ea typeface="Courier New" pitchFamily="34" charset="-122"/>
                <a:cs typeface="Courier New" pitchFamily="34" charset="-120"/>
              </a:rPr>
              <a:t>double</a:t>
            </a:r>
            <a:r>
              <a:rPr lang="en-US" sz="1500" dirty="0">
                <a:solidFill>
                  <a:srgbClr val="D4D4D4"/>
                </a:solidFill>
                <a:latin typeface="Courier New" pitchFamily="34" charset="0"/>
                <a:ea typeface="Courier New" pitchFamily="34" charset="-122"/>
                <a:cs typeface="Courier New" pitchFamily="34" charset="-120"/>
              </a:rPr>
              <a:t> balance)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this</a:t>
            </a:r>
            <a:r>
              <a:rPr lang="en-US" sz="1500" dirty="0">
                <a:solidFill>
                  <a:srgbClr val="D4D4D4"/>
                </a:solidFill>
                <a:latin typeface="Courier New" pitchFamily="34" charset="0"/>
                <a:ea typeface="Courier New" pitchFamily="34" charset="-122"/>
                <a:cs typeface="Courier New" pitchFamily="34" charset="-120"/>
              </a:rPr>
              <a:t>.balance = balance;</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a:t>
            </a:r>
            <a:endParaRPr lang="en-US" sz="1500" dirty="0"/>
          </a:p>
        </p:txBody>
      </p:sp>
      <p:sp>
        <p:nvSpPr>
          <p:cNvPr id="17" name="Shape 15"/>
          <p:cNvSpPr/>
          <p:nvPr/>
        </p:nvSpPr>
        <p:spPr>
          <a:xfrm>
            <a:off x="0" y="0"/>
            <a:ext cx="12191695" cy="384048"/>
          </a:xfrm>
          <a:prstGeom prst="rect">
            <a:avLst/>
          </a:prstGeom>
          <a:solidFill>
            <a:srgbClr val="1B2A4A"/>
          </a:solidFill>
          <a:ln w="12700">
            <a:solidFill>
              <a:srgbClr val="1B2A4A"/>
            </a:solidFill>
            <a:prstDash val="solid"/>
          </a:ln>
        </p:spPr>
      </p:sp>
      <p:sp>
        <p:nvSpPr>
          <p:cNvPr id="18" name="Text 16"/>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9" name="Shape 17"/>
          <p:cNvSpPr/>
          <p:nvPr/>
        </p:nvSpPr>
        <p:spPr>
          <a:xfrm>
            <a:off x="219456" y="301752"/>
            <a:ext cx="960120" cy="0"/>
          </a:xfrm>
          <a:prstGeom prst="line">
            <a:avLst/>
          </a:prstGeom>
          <a:noFill/>
          <a:ln w="9525">
            <a:solidFill>
              <a:srgbClr val="4A5570"/>
            </a:solidFill>
            <a:prstDash val="solid"/>
          </a:ln>
        </p:spPr>
      </p:sp>
      <p:sp>
        <p:nvSpPr>
          <p:cNvPr id="20" name="Text 18"/>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1" name="Text 19"/>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2" name="Text 20"/>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3" name="Shape 21"/>
          <p:cNvSpPr/>
          <p:nvPr/>
        </p:nvSpPr>
        <p:spPr>
          <a:xfrm>
            <a:off x="0" y="6291072"/>
            <a:ext cx="12191695" cy="566928"/>
          </a:xfrm>
          <a:prstGeom prst="rect">
            <a:avLst/>
          </a:prstGeom>
          <a:solidFill>
            <a:srgbClr val="1B2A4A"/>
          </a:solidFill>
          <a:ln w="12700">
            <a:solidFill>
              <a:srgbClr val="1B2A4A"/>
            </a:solidFill>
            <a:prstDash val="solid"/>
          </a:ln>
        </p:spPr>
      </p:sp>
      <p:sp>
        <p:nvSpPr>
          <p:cNvPr id="24" name="Text 22"/>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5" name="Text 23"/>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GUARDING DATA</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Validation Inside Setters</a:t>
            </a:r>
            <a:endParaRPr lang="en-US" sz="2700" dirty="0"/>
          </a:p>
        </p:txBody>
      </p:sp>
      <p:sp>
        <p:nvSpPr>
          <p:cNvPr id="4" name="Shape 2"/>
          <p:cNvSpPr/>
          <p:nvPr/>
        </p:nvSpPr>
        <p:spPr>
          <a:xfrm>
            <a:off x="594360" y="1600200"/>
            <a:ext cx="10607040" cy="896112"/>
          </a:xfrm>
          <a:prstGeom prst="roundRect">
            <a:avLst>
              <a:gd name="adj" fmla="val 6122"/>
            </a:avLst>
          </a:prstGeom>
          <a:solidFill>
            <a:srgbClr val="F5F6FA"/>
          </a:solidFill>
          <a:ln w="9525">
            <a:solidFill>
              <a:srgbClr val="E4E7EE"/>
            </a:solidFill>
            <a:prstDash val="solid"/>
          </a:ln>
        </p:spPr>
      </p:sp>
      <p:sp>
        <p:nvSpPr>
          <p:cNvPr id="5" name="Shape 3"/>
          <p:cNvSpPr/>
          <p:nvPr/>
        </p:nvSpPr>
        <p:spPr>
          <a:xfrm>
            <a:off x="804672" y="1755648"/>
            <a:ext cx="100584" cy="100584"/>
          </a:xfrm>
          <a:prstGeom prst="ellipse">
            <a:avLst/>
          </a:prstGeom>
          <a:solidFill>
            <a:srgbClr val="E8590C"/>
          </a:solidFill>
          <a:ln w="12700">
            <a:solidFill>
              <a:srgbClr val="000000"/>
            </a:solidFill>
            <a:prstDash val="solid"/>
          </a:ln>
        </p:spPr>
      </p:sp>
      <p:sp>
        <p:nvSpPr>
          <p:cNvPr id="6" name="Text 4"/>
          <p:cNvSpPr/>
          <p:nvPr/>
        </p:nvSpPr>
        <p:spPr>
          <a:xfrm>
            <a:off x="1051560" y="1655064"/>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A setter is a natural place to reject invalid values before they are stored.</a:t>
            </a:r>
            <a:endParaRPr lang="en-US" sz="1250" dirty="0"/>
          </a:p>
        </p:txBody>
      </p:sp>
      <p:sp>
        <p:nvSpPr>
          <p:cNvPr id="7" name="Shape 5"/>
          <p:cNvSpPr/>
          <p:nvPr/>
        </p:nvSpPr>
        <p:spPr>
          <a:xfrm>
            <a:off x="804672" y="2103120"/>
            <a:ext cx="100584" cy="100584"/>
          </a:xfrm>
          <a:prstGeom prst="ellipse">
            <a:avLst/>
          </a:prstGeom>
          <a:solidFill>
            <a:srgbClr val="E8590C"/>
          </a:solidFill>
          <a:ln w="12700">
            <a:solidFill>
              <a:srgbClr val="000000"/>
            </a:solidFill>
            <a:prstDash val="solid"/>
          </a:ln>
        </p:spPr>
      </p:sp>
      <p:sp>
        <p:nvSpPr>
          <p:cNvPr id="8" name="Text 6"/>
          <p:cNvSpPr/>
          <p:nvPr/>
        </p:nvSpPr>
        <p:spPr>
          <a:xfrm>
            <a:off x="1051560" y="2002536"/>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This kind of check is impossible to enforce on a public field.</a:t>
            </a:r>
            <a:endParaRPr lang="en-US" sz="1250" dirty="0"/>
          </a:p>
        </p:txBody>
      </p:sp>
      <p:sp>
        <p:nvSpPr>
          <p:cNvPr id="9" name="Shape 7"/>
          <p:cNvSpPr/>
          <p:nvPr/>
        </p:nvSpPr>
        <p:spPr>
          <a:xfrm>
            <a:off x="594360" y="2642616"/>
            <a:ext cx="10607040" cy="3392424"/>
          </a:xfrm>
          <a:prstGeom prst="roundRect">
            <a:avLst>
              <a:gd name="adj" fmla="val 2156"/>
            </a:avLst>
          </a:prstGeom>
          <a:solidFill>
            <a:srgbClr val="1E1E2E"/>
          </a:solidFill>
          <a:ln w="12700">
            <a:solidFill>
              <a:srgbClr val="000000"/>
            </a:solidFill>
            <a:prstDash val="solid"/>
          </a:ln>
        </p:spPr>
      </p:sp>
      <p:sp>
        <p:nvSpPr>
          <p:cNvPr id="10" name="Shape 8"/>
          <p:cNvSpPr/>
          <p:nvPr/>
        </p:nvSpPr>
        <p:spPr>
          <a:xfrm>
            <a:off x="594360" y="2642616"/>
            <a:ext cx="10607040" cy="274320"/>
          </a:xfrm>
          <a:prstGeom prst="roundRect">
            <a:avLst>
              <a:gd name="adj" fmla="val 26667"/>
            </a:avLst>
          </a:prstGeom>
          <a:solidFill>
            <a:srgbClr val="17172A"/>
          </a:solidFill>
          <a:ln w="12700">
            <a:solidFill>
              <a:srgbClr val="000000"/>
            </a:solidFill>
            <a:prstDash val="solid"/>
          </a:ln>
        </p:spPr>
      </p:sp>
      <p:sp>
        <p:nvSpPr>
          <p:cNvPr id="11" name="Shape 9"/>
          <p:cNvSpPr/>
          <p:nvPr/>
        </p:nvSpPr>
        <p:spPr>
          <a:xfrm>
            <a:off x="594360" y="2843784"/>
            <a:ext cx="10607040" cy="73152"/>
          </a:xfrm>
          <a:prstGeom prst="rect">
            <a:avLst/>
          </a:prstGeom>
          <a:solidFill>
            <a:srgbClr val="17172A"/>
          </a:solidFill>
          <a:ln w="12700">
            <a:solidFill>
              <a:srgbClr val="000000"/>
            </a:solidFill>
            <a:prstDash val="solid"/>
          </a:ln>
        </p:spPr>
      </p:sp>
      <p:sp>
        <p:nvSpPr>
          <p:cNvPr id="12" name="Shape 10"/>
          <p:cNvSpPr/>
          <p:nvPr/>
        </p:nvSpPr>
        <p:spPr>
          <a:xfrm>
            <a:off x="722376" y="2741371"/>
            <a:ext cx="76810" cy="76810"/>
          </a:xfrm>
          <a:prstGeom prst="ellipse">
            <a:avLst/>
          </a:prstGeom>
          <a:solidFill>
            <a:srgbClr val="FF5F56"/>
          </a:solidFill>
          <a:ln w="12700">
            <a:solidFill>
              <a:srgbClr val="000000"/>
            </a:solidFill>
            <a:prstDash val="solid"/>
          </a:ln>
        </p:spPr>
      </p:sp>
      <p:sp>
        <p:nvSpPr>
          <p:cNvPr id="13" name="Shape 11"/>
          <p:cNvSpPr/>
          <p:nvPr/>
        </p:nvSpPr>
        <p:spPr>
          <a:xfrm>
            <a:off x="886968" y="2741371"/>
            <a:ext cx="76810" cy="76810"/>
          </a:xfrm>
          <a:prstGeom prst="ellipse">
            <a:avLst/>
          </a:prstGeom>
          <a:solidFill>
            <a:srgbClr val="FFBD2E"/>
          </a:solidFill>
          <a:ln w="12700">
            <a:solidFill>
              <a:srgbClr val="000000"/>
            </a:solidFill>
            <a:prstDash val="solid"/>
          </a:ln>
        </p:spPr>
      </p:sp>
      <p:sp>
        <p:nvSpPr>
          <p:cNvPr id="14" name="Shape 12"/>
          <p:cNvSpPr/>
          <p:nvPr/>
        </p:nvSpPr>
        <p:spPr>
          <a:xfrm>
            <a:off x="1051560" y="2741371"/>
            <a:ext cx="76810" cy="76810"/>
          </a:xfrm>
          <a:prstGeom prst="ellipse">
            <a:avLst/>
          </a:prstGeom>
          <a:solidFill>
            <a:srgbClr val="27C93F"/>
          </a:solidFill>
          <a:ln w="12700">
            <a:solidFill>
              <a:srgbClr val="000000"/>
            </a:solidFill>
            <a:prstDash val="solid"/>
          </a:ln>
        </p:spPr>
      </p:sp>
      <p:sp>
        <p:nvSpPr>
          <p:cNvPr id="15" name="Text 13"/>
          <p:cNvSpPr/>
          <p:nvPr/>
        </p:nvSpPr>
        <p:spPr>
          <a:xfrm>
            <a:off x="1371600" y="2642616"/>
            <a:ext cx="9692640" cy="274320"/>
          </a:xfrm>
          <a:prstGeom prst="rect">
            <a:avLst/>
          </a:prstGeom>
          <a:noFill/>
          <a:ln/>
        </p:spPr>
        <p:txBody>
          <a:bodyPr wrap="square" lIns="0" tIns="0" rIns="0" bIns="0" rtlCol="0" anchor="ctr"/>
          <a:lstStyle/>
          <a:p>
            <a:pPr marL="0" indent="0" algn="l">
              <a:buNone/>
            </a:pPr>
            <a:r>
              <a:rPr lang="en-US" sz="1000" dirty="0">
                <a:solidFill>
                  <a:srgbClr val="8A8FA3"/>
                </a:solidFill>
                <a:latin typeface="Courier New" pitchFamily="34" charset="0"/>
                <a:ea typeface="Courier New" pitchFamily="34" charset="-122"/>
                <a:cs typeface="Courier New" pitchFamily="34" charset="-120"/>
              </a:rPr>
              <a:t>Main.java</a:t>
            </a:r>
            <a:endParaRPr lang="en-US" sz="1000" dirty="0"/>
          </a:p>
        </p:txBody>
      </p:sp>
      <p:sp>
        <p:nvSpPr>
          <p:cNvPr id="16" name="Text 14"/>
          <p:cNvSpPr/>
          <p:nvPr/>
        </p:nvSpPr>
        <p:spPr>
          <a:xfrm>
            <a:off x="777240" y="2990088"/>
            <a:ext cx="10241280" cy="2971800"/>
          </a:xfrm>
          <a:prstGeom prst="rect">
            <a:avLst/>
          </a:prstGeom>
          <a:noFill/>
          <a:ln/>
        </p:spPr>
        <p:txBody>
          <a:bodyPr wrap="square" lIns="0" tIns="0" rIns="0" bIns="0" rtlCol="0" anchor="t"/>
          <a:lstStyle/>
          <a:p>
            <a:pPr marL="0" indent="0" algn="l">
              <a:lnSpc>
                <a:spcPct val="118000"/>
              </a:lnSpc>
              <a:buNone/>
            </a:pPr>
            <a:r>
              <a:rPr lang="en-US" sz="1500" b="1" dirty="0">
                <a:solidFill>
                  <a:srgbClr val="569CD6"/>
                </a:solidFill>
                <a:latin typeface="Courier New" pitchFamily="34" charset="0"/>
                <a:ea typeface="Courier New" pitchFamily="34" charset="-122"/>
                <a:cs typeface="Courier New" pitchFamily="34" charset="-120"/>
              </a:rPr>
              <a:t>public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class</a:t>
            </a:r>
            <a:r>
              <a:rPr lang="en-US" sz="1500" dirty="0">
                <a:solidFill>
                  <a:srgbClr val="D4D4D4"/>
                </a:solidFill>
                <a:latin typeface="Courier New" pitchFamily="34" charset="0"/>
                <a:ea typeface="Courier New" pitchFamily="34" charset="-122"/>
                <a:cs typeface="Courier New" pitchFamily="34" charset="-120"/>
              </a:rPr>
              <a:t> Account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private</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double</a:t>
            </a:r>
            <a:r>
              <a:rPr lang="en-US" sz="1500" dirty="0">
                <a:solidFill>
                  <a:srgbClr val="D4D4D4"/>
                </a:solidFill>
                <a:latin typeface="Courier New" pitchFamily="34" charset="0"/>
                <a:ea typeface="Courier New" pitchFamily="34" charset="-122"/>
                <a:cs typeface="Courier New" pitchFamily="34" charset="-120"/>
              </a:rPr>
              <a:t> balance;</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void</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DCDCAA"/>
                </a:solidFill>
                <a:latin typeface="Courier New" pitchFamily="34" charset="0"/>
                <a:ea typeface="Courier New" pitchFamily="34" charset="-122"/>
                <a:cs typeface="Courier New" pitchFamily="34" charset="-120"/>
              </a:rPr>
              <a:t>setBalance</a:t>
            </a:r>
            <a:r>
              <a:rPr lang="en-US" sz="1500" dirty="0">
                <a:solidFill>
                  <a:srgbClr val="D4D4D4"/>
                </a:solidFill>
                <a:latin typeface="Courier New" pitchFamily="34" charset="0"/>
                <a:ea typeface="Courier New" pitchFamily="34" charset="-122"/>
                <a:cs typeface="Courier New" pitchFamily="34" charset="-120"/>
              </a:rPr>
              <a:t>(</a:t>
            </a:r>
            <a:r>
              <a:rPr lang="en-US" sz="1500" b="1" dirty="0">
                <a:solidFill>
                  <a:srgbClr val="569CD6"/>
                </a:solidFill>
                <a:latin typeface="Courier New" pitchFamily="34" charset="0"/>
                <a:ea typeface="Courier New" pitchFamily="34" charset="-122"/>
                <a:cs typeface="Courier New" pitchFamily="34" charset="-120"/>
              </a:rPr>
              <a:t>double</a:t>
            </a:r>
            <a:r>
              <a:rPr lang="en-US" sz="1500" dirty="0">
                <a:solidFill>
                  <a:srgbClr val="D4D4D4"/>
                </a:solidFill>
                <a:latin typeface="Courier New" pitchFamily="34" charset="0"/>
                <a:ea typeface="Courier New" pitchFamily="34" charset="-122"/>
                <a:cs typeface="Courier New" pitchFamily="34" charset="-120"/>
              </a:rPr>
              <a:t> balance)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if</a:t>
            </a:r>
            <a:r>
              <a:rPr lang="en-US" sz="1500" dirty="0">
                <a:solidFill>
                  <a:srgbClr val="D4D4D4"/>
                </a:solidFill>
                <a:latin typeface="Courier New" pitchFamily="34" charset="0"/>
                <a:ea typeface="Courier New" pitchFamily="34" charset="-122"/>
                <a:cs typeface="Courier New" pitchFamily="34" charset="-120"/>
              </a:rPr>
              <a:t> (balance &lt; </a:t>
            </a:r>
            <a:r>
              <a:rPr lang="en-US" sz="1500" dirty="0">
                <a:solidFill>
                  <a:srgbClr val="B5CEA8"/>
                </a:solidFill>
                <a:latin typeface="Courier New" pitchFamily="34" charset="0"/>
                <a:ea typeface="Courier New" pitchFamily="34" charset="-122"/>
                <a:cs typeface="Courier New" pitchFamily="34" charset="-120"/>
              </a:rPr>
              <a:t>0</a:t>
            </a: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4EC9B0"/>
                </a:solidFill>
                <a:latin typeface="Courier New" pitchFamily="34" charset="0"/>
                <a:ea typeface="Courier New" pitchFamily="34" charset="-122"/>
                <a:cs typeface="Courier New" pitchFamily="34" charset="-120"/>
              </a:rPr>
              <a:t>System</a:t>
            </a:r>
            <a:r>
              <a:rPr lang="en-US" sz="1500" dirty="0">
                <a:solidFill>
                  <a:srgbClr val="D4D4D4"/>
                </a:solidFill>
                <a:latin typeface="Courier New" pitchFamily="34" charset="0"/>
                <a:ea typeface="Courier New" pitchFamily="34" charset="-122"/>
                <a:cs typeface="Courier New" pitchFamily="34" charset="-120"/>
              </a:rPr>
              <a:t>.out.</a:t>
            </a:r>
            <a:r>
              <a:rPr lang="en-US" sz="1500" dirty="0">
                <a:solidFill>
                  <a:srgbClr val="DCDCAA"/>
                </a:solidFill>
                <a:latin typeface="Courier New" pitchFamily="34" charset="0"/>
                <a:ea typeface="Courier New" pitchFamily="34" charset="-122"/>
                <a:cs typeface="Courier New" pitchFamily="34" charset="-120"/>
              </a:rPr>
              <a:t>println</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CE9178"/>
                </a:solidFill>
                <a:latin typeface="Courier New" pitchFamily="34" charset="0"/>
                <a:ea typeface="Courier New" pitchFamily="34" charset="-122"/>
                <a:cs typeface="Courier New" pitchFamily="34" charset="-120"/>
              </a:rPr>
              <a:t>"Balance cannot be negative."</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return</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this</a:t>
            </a:r>
            <a:r>
              <a:rPr lang="en-US" sz="1500" dirty="0">
                <a:solidFill>
                  <a:srgbClr val="D4D4D4"/>
                </a:solidFill>
                <a:latin typeface="Courier New" pitchFamily="34" charset="0"/>
                <a:ea typeface="Courier New" pitchFamily="34" charset="-122"/>
                <a:cs typeface="Courier New" pitchFamily="34" charset="-120"/>
              </a:rPr>
              <a:t>.balance = balance;</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a:t>
            </a:r>
            <a:endParaRPr lang="en-US" sz="1500" dirty="0"/>
          </a:p>
        </p:txBody>
      </p:sp>
      <p:sp>
        <p:nvSpPr>
          <p:cNvPr id="17" name="Shape 15"/>
          <p:cNvSpPr/>
          <p:nvPr/>
        </p:nvSpPr>
        <p:spPr>
          <a:xfrm>
            <a:off x="0" y="0"/>
            <a:ext cx="12191695" cy="384048"/>
          </a:xfrm>
          <a:prstGeom prst="rect">
            <a:avLst/>
          </a:prstGeom>
          <a:solidFill>
            <a:srgbClr val="1B2A4A"/>
          </a:solidFill>
          <a:ln w="12700">
            <a:solidFill>
              <a:srgbClr val="1B2A4A"/>
            </a:solidFill>
            <a:prstDash val="solid"/>
          </a:ln>
        </p:spPr>
      </p:sp>
      <p:sp>
        <p:nvSpPr>
          <p:cNvPr id="18" name="Text 16"/>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9" name="Shape 17"/>
          <p:cNvSpPr/>
          <p:nvPr/>
        </p:nvSpPr>
        <p:spPr>
          <a:xfrm>
            <a:off x="219456" y="301752"/>
            <a:ext cx="960120" cy="0"/>
          </a:xfrm>
          <a:prstGeom prst="line">
            <a:avLst/>
          </a:prstGeom>
          <a:noFill/>
          <a:ln w="9525">
            <a:solidFill>
              <a:srgbClr val="4A5570"/>
            </a:solidFill>
            <a:prstDash val="solid"/>
          </a:ln>
        </p:spPr>
      </p:sp>
      <p:sp>
        <p:nvSpPr>
          <p:cNvPr id="20" name="Text 18"/>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1" name="Text 19"/>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2" name="Text 20"/>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3" name="Shape 21"/>
          <p:cNvSpPr/>
          <p:nvPr/>
        </p:nvSpPr>
        <p:spPr>
          <a:xfrm>
            <a:off x="0" y="6291072"/>
            <a:ext cx="12191695" cy="566928"/>
          </a:xfrm>
          <a:prstGeom prst="rect">
            <a:avLst/>
          </a:prstGeom>
          <a:solidFill>
            <a:srgbClr val="1B2A4A"/>
          </a:solidFill>
          <a:ln w="12700">
            <a:solidFill>
              <a:srgbClr val="1B2A4A"/>
            </a:solidFill>
            <a:prstDash val="solid"/>
          </a:ln>
        </p:spPr>
      </p:sp>
      <p:sp>
        <p:nvSpPr>
          <p:cNvPr id="24" name="Text 22"/>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5" name="Text 23"/>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PAYOFF</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Benefits of Encapsulation</a:t>
            </a:r>
            <a:endParaRPr lang="en-US" sz="2700" dirty="0"/>
          </a:p>
        </p:txBody>
      </p:sp>
      <p:sp>
        <p:nvSpPr>
          <p:cNvPr id="4" name="Shape 2"/>
          <p:cNvSpPr/>
          <p:nvPr/>
        </p:nvSpPr>
        <p:spPr>
          <a:xfrm>
            <a:off x="594360" y="1691640"/>
            <a:ext cx="10607040" cy="1338072"/>
          </a:xfrm>
          <a:prstGeom prst="roundRect">
            <a:avLst>
              <a:gd name="adj" fmla="val 4100"/>
            </a:avLst>
          </a:prstGeom>
          <a:solidFill>
            <a:srgbClr val="F5F6FA"/>
          </a:solidFill>
          <a:ln w="9525">
            <a:solidFill>
              <a:srgbClr val="E4E7EE"/>
            </a:solidFill>
            <a:prstDash val="solid"/>
          </a:ln>
        </p:spPr>
      </p:sp>
      <p:sp>
        <p:nvSpPr>
          <p:cNvPr id="5" name="Shape 3"/>
          <p:cNvSpPr/>
          <p:nvPr/>
        </p:nvSpPr>
        <p:spPr>
          <a:xfrm>
            <a:off x="777240" y="1874520"/>
            <a:ext cx="109728" cy="109728"/>
          </a:xfrm>
          <a:prstGeom prst="ellipse">
            <a:avLst/>
          </a:prstGeom>
          <a:solidFill>
            <a:srgbClr val="E8590C"/>
          </a:solidFill>
          <a:ln w="12700">
            <a:solidFill>
              <a:srgbClr val="000000"/>
            </a:solidFill>
            <a:prstDash val="solid"/>
          </a:ln>
        </p:spPr>
      </p:sp>
      <p:sp>
        <p:nvSpPr>
          <p:cNvPr id="6" name="Text 4"/>
          <p:cNvSpPr/>
          <p:nvPr/>
        </p:nvSpPr>
        <p:spPr>
          <a:xfrm>
            <a:off x="1051560" y="1764792"/>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Data integrity</a:t>
            </a:r>
            <a:endParaRPr lang="en-US" sz="1500" dirty="0"/>
          </a:p>
        </p:txBody>
      </p:sp>
      <p:sp>
        <p:nvSpPr>
          <p:cNvPr id="7" name="Text 5"/>
          <p:cNvSpPr/>
          <p:nvPr/>
        </p:nvSpPr>
        <p:spPr>
          <a:xfrm>
            <a:off x="1051560" y="2057400"/>
            <a:ext cx="9966960" cy="917448"/>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Fields can only reach valid states, since every change passes through controlled methods.</a:t>
            </a:r>
            <a:endParaRPr lang="en-US" sz="1250" dirty="0"/>
          </a:p>
        </p:txBody>
      </p:sp>
      <p:sp>
        <p:nvSpPr>
          <p:cNvPr id="8" name="Shape 6"/>
          <p:cNvSpPr/>
          <p:nvPr/>
        </p:nvSpPr>
        <p:spPr>
          <a:xfrm>
            <a:off x="594360" y="3194304"/>
            <a:ext cx="10607040" cy="1338072"/>
          </a:xfrm>
          <a:prstGeom prst="roundRect">
            <a:avLst>
              <a:gd name="adj" fmla="val 4100"/>
            </a:avLst>
          </a:prstGeom>
          <a:solidFill>
            <a:srgbClr val="F5F6FA"/>
          </a:solidFill>
          <a:ln w="9525">
            <a:solidFill>
              <a:srgbClr val="E4E7EE"/>
            </a:solidFill>
            <a:prstDash val="solid"/>
          </a:ln>
        </p:spPr>
      </p:sp>
      <p:sp>
        <p:nvSpPr>
          <p:cNvPr id="9" name="Shape 7"/>
          <p:cNvSpPr/>
          <p:nvPr/>
        </p:nvSpPr>
        <p:spPr>
          <a:xfrm>
            <a:off x="777240" y="3377184"/>
            <a:ext cx="109728" cy="109728"/>
          </a:xfrm>
          <a:prstGeom prst="ellipse">
            <a:avLst/>
          </a:prstGeom>
          <a:solidFill>
            <a:srgbClr val="E8590C"/>
          </a:solidFill>
          <a:ln w="12700">
            <a:solidFill>
              <a:srgbClr val="000000"/>
            </a:solidFill>
            <a:prstDash val="solid"/>
          </a:ln>
        </p:spPr>
      </p:sp>
      <p:sp>
        <p:nvSpPr>
          <p:cNvPr id="10" name="Text 8"/>
          <p:cNvSpPr/>
          <p:nvPr/>
        </p:nvSpPr>
        <p:spPr>
          <a:xfrm>
            <a:off x="1051560" y="3267456"/>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Flexibility to change internals</a:t>
            </a:r>
            <a:endParaRPr lang="en-US" sz="1500" dirty="0"/>
          </a:p>
        </p:txBody>
      </p:sp>
      <p:sp>
        <p:nvSpPr>
          <p:cNvPr id="11" name="Text 9"/>
          <p:cNvSpPr/>
          <p:nvPr/>
        </p:nvSpPr>
        <p:spPr>
          <a:xfrm>
            <a:off x="1051560" y="3560064"/>
            <a:ext cx="9966960" cy="917448"/>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The private representation of a class can be reworked freely without affecting the code that uses it.</a:t>
            </a:r>
            <a:endParaRPr lang="en-US" sz="1250" dirty="0"/>
          </a:p>
        </p:txBody>
      </p:sp>
      <p:sp>
        <p:nvSpPr>
          <p:cNvPr id="12" name="Shape 10"/>
          <p:cNvSpPr/>
          <p:nvPr/>
        </p:nvSpPr>
        <p:spPr>
          <a:xfrm>
            <a:off x="594360" y="4696968"/>
            <a:ext cx="10607040" cy="1338072"/>
          </a:xfrm>
          <a:prstGeom prst="roundRect">
            <a:avLst>
              <a:gd name="adj" fmla="val 4100"/>
            </a:avLst>
          </a:prstGeom>
          <a:solidFill>
            <a:srgbClr val="F5F6FA"/>
          </a:solidFill>
          <a:ln w="9525">
            <a:solidFill>
              <a:srgbClr val="E4E7EE"/>
            </a:solidFill>
            <a:prstDash val="solid"/>
          </a:ln>
        </p:spPr>
      </p:sp>
      <p:sp>
        <p:nvSpPr>
          <p:cNvPr id="13" name="Shape 11"/>
          <p:cNvSpPr/>
          <p:nvPr/>
        </p:nvSpPr>
        <p:spPr>
          <a:xfrm>
            <a:off x="777240" y="4879848"/>
            <a:ext cx="109728" cy="109728"/>
          </a:xfrm>
          <a:prstGeom prst="ellipse">
            <a:avLst/>
          </a:prstGeom>
          <a:solidFill>
            <a:srgbClr val="E8590C"/>
          </a:solidFill>
          <a:ln w="12700">
            <a:solidFill>
              <a:srgbClr val="000000"/>
            </a:solidFill>
            <a:prstDash val="solid"/>
          </a:ln>
        </p:spPr>
      </p:sp>
      <p:sp>
        <p:nvSpPr>
          <p:cNvPr id="14" name="Text 12"/>
          <p:cNvSpPr/>
          <p:nvPr/>
        </p:nvSpPr>
        <p:spPr>
          <a:xfrm>
            <a:off x="1051560" y="4770120"/>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Easier debugging</a:t>
            </a:r>
            <a:endParaRPr lang="en-US" sz="1500" dirty="0"/>
          </a:p>
        </p:txBody>
      </p:sp>
      <p:sp>
        <p:nvSpPr>
          <p:cNvPr id="15" name="Text 13"/>
          <p:cNvSpPr/>
          <p:nvPr/>
        </p:nvSpPr>
        <p:spPr>
          <a:xfrm>
            <a:off x="1051560" y="5062728"/>
            <a:ext cx="9966960" cy="917448"/>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When a field holds an unexpected value, there is only one place, its setter, where that could have happened.</a:t>
            </a:r>
            <a:endParaRPr lang="en-US" sz="1250" dirty="0"/>
          </a:p>
        </p:txBody>
      </p:sp>
      <p:sp>
        <p:nvSpPr>
          <p:cNvPr id="16" name="Shape 14"/>
          <p:cNvSpPr/>
          <p:nvPr/>
        </p:nvSpPr>
        <p:spPr>
          <a:xfrm>
            <a:off x="0" y="0"/>
            <a:ext cx="12191695" cy="384048"/>
          </a:xfrm>
          <a:prstGeom prst="rect">
            <a:avLst/>
          </a:prstGeom>
          <a:solidFill>
            <a:srgbClr val="1B2A4A"/>
          </a:solidFill>
          <a:ln w="12700">
            <a:solidFill>
              <a:srgbClr val="1B2A4A"/>
            </a:solidFill>
            <a:prstDash val="solid"/>
          </a:ln>
        </p:spPr>
      </p:sp>
      <p:sp>
        <p:nvSpPr>
          <p:cNvPr id="17" name="Text 15"/>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8" name="Shape 16"/>
          <p:cNvSpPr/>
          <p:nvPr/>
        </p:nvSpPr>
        <p:spPr>
          <a:xfrm>
            <a:off x="219456" y="301752"/>
            <a:ext cx="960120" cy="0"/>
          </a:xfrm>
          <a:prstGeom prst="line">
            <a:avLst/>
          </a:prstGeom>
          <a:noFill/>
          <a:ln w="9525">
            <a:solidFill>
              <a:srgbClr val="4A5570"/>
            </a:solidFill>
            <a:prstDash val="solid"/>
          </a:ln>
        </p:spPr>
      </p:sp>
      <p:sp>
        <p:nvSpPr>
          <p:cNvPr id="19" name="Text 17"/>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0" name="Text 18"/>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1" name="Text 19"/>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2" name="Shape 20"/>
          <p:cNvSpPr/>
          <p:nvPr/>
        </p:nvSpPr>
        <p:spPr>
          <a:xfrm>
            <a:off x="0" y="6291072"/>
            <a:ext cx="12191695" cy="566928"/>
          </a:xfrm>
          <a:prstGeom prst="rect">
            <a:avLst/>
          </a:prstGeom>
          <a:solidFill>
            <a:srgbClr val="1B2A4A"/>
          </a:solidFill>
          <a:ln w="12700">
            <a:solidFill>
              <a:srgbClr val="1B2A4A"/>
            </a:solidFill>
            <a:prstDash val="solid"/>
          </a:ln>
        </p:spPr>
      </p:sp>
      <p:sp>
        <p:nvSpPr>
          <p:cNvPr id="23" name="Text 21"/>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4" name="Text 22"/>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PRACTICE</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Practice: Encapsulating a BankAccount Class</a:t>
            </a:r>
            <a:endParaRPr lang="en-US" sz="2700" dirty="0"/>
          </a:p>
        </p:txBody>
      </p:sp>
      <p:sp>
        <p:nvSpPr>
          <p:cNvPr id="4" name="Text 2"/>
          <p:cNvSpPr/>
          <p:nvPr/>
        </p:nvSpPr>
        <p:spPr>
          <a:xfrm>
            <a:off x="594360" y="1600200"/>
            <a:ext cx="10607040" cy="365760"/>
          </a:xfrm>
          <a:prstGeom prst="rect">
            <a:avLst/>
          </a:prstGeom>
          <a:noFill/>
          <a:ln/>
        </p:spPr>
        <p:txBody>
          <a:bodyPr wrap="square" lIns="0" tIns="0" rIns="0" bIns="0" rtlCol="0" anchor="ctr"/>
          <a:lstStyle/>
          <a:p>
            <a:pPr marL="0" indent="0">
              <a:buNone/>
            </a:pPr>
            <a:r>
              <a:rPr lang="en-US" sz="1250" i="1" dirty="0">
                <a:solidFill>
                  <a:srgbClr val="5A6472"/>
                </a:solidFill>
                <a:latin typeface="Times New Roman" pitchFamily="34" charset="0"/>
                <a:ea typeface="Times New Roman" pitchFamily="34" charset="-122"/>
                <a:cs typeface="Times New Roman" pitchFamily="34" charset="-120"/>
              </a:rPr>
              <a:t>Private balance, controlled through a getter and a validating setter.</a:t>
            </a:r>
            <a:endParaRPr lang="en-US" sz="1250" dirty="0"/>
          </a:p>
        </p:txBody>
      </p:sp>
      <p:sp>
        <p:nvSpPr>
          <p:cNvPr id="5" name="Shape 3"/>
          <p:cNvSpPr/>
          <p:nvPr/>
        </p:nvSpPr>
        <p:spPr>
          <a:xfrm>
            <a:off x="594360" y="2002536"/>
            <a:ext cx="7040880" cy="4032504"/>
          </a:xfrm>
          <a:prstGeom prst="roundRect">
            <a:avLst>
              <a:gd name="adj" fmla="val 1814"/>
            </a:avLst>
          </a:prstGeom>
          <a:solidFill>
            <a:srgbClr val="1E1E2E"/>
          </a:solidFill>
          <a:ln w="12700">
            <a:solidFill>
              <a:srgbClr val="000000"/>
            </a:solidFill>
            <a:prstDash val="solid"/>
          </a:ln>
        </p:spPr>
      </p:sp>
      <p:sp>
        <p:nvSpPr>
          <p:cNvPr id="6" name="Shape 4"/>
          <p:cNvSpPr/>
          <p:nvPr/>
        </p:nvSpPr>
        <p:spPr>
          <a:xfrm>
            <a:off x="594360" y="2002536"/>
            <a:ext cx="7040880" cy="274320"/>
          </a:xfrm>
          <a:prstGeom prst="roundRect">
            <a:avLst>
              <a:gd name="adj" fmla="val 26667"/>
            </a:avLst>
          </a:prstGeom>
          <a:solidFill>
            <a:srgbClr val="17172A"/>
          </a:solidFill>
          <a:ln w="12700">
            <a:solidFill>
              <a:srgbClr val="000000"/>
            </a:solidFill>
            <a:prstDash val="solid"/>
          </a:ln>
        </p:spPr>
      </p:sp>
      <p:sp>
        <p:nvSpPr>
          <p:cNvPr id="7" name="Shape 5"/>
          <p:cNvSpPr/>
          <p:nvPr/>
        </p:nvSpPr>
        <p:spPr>
          <a:xfrm>
            <a:off x="594360" y="2203704"/>
            <a:ext cx="7040880" cy="73152"/>
          </a:xfrm>
          <a:prstGeom prst="rect">
            <a:avLst/>
          </a:prstGeom>
          <a:solidFill>
            <a:srgbClr val="17172A"/>
          </a:solidFill>
          <a:ln w="12700">
            <a:solidFill>
              <a:srgbClr val="000000"/>
            </a:solidFill>
            <a:prstDash val="solid"/>
          </a:ln>
        </p:spPr>
      </p:sp>
      <p:sp>
        <p:nvSpPr>
          <p:cNvPr id="8" name="Shape 6"/>
          <p:cNvSpPr/>
          <p:nvPr/>
        </p:nvSpPr>
        <p:spPr>
          <a:xfrm>
            <a:off x="722376" y="2101291"/>
            <a:ext cx="76810" cy="76810"/>
          </a:xfrm>
          <a:prstGeom prst="ellipse">
            <a:avLst/>
          </a:prstGeom>
          <a:solidFill>
            <a:srgbClr val="FF5F56"/>
          </a:solidFill>
          <a:ln w="12700">
            <a:solidFill>
              <a:srgbClr val="000000"/>
            </a:solidFill>
            <a:prstDash val="solid"/>
          </a:ln>
        </p:spPr>
      </p:sp>
      <p:sp>
        <p:nvSpPr>
          <p:cNvPr id="9" name="Shape 7"/>
          <p:cNvSpPr/>
          <p:nvPr/>
        </p:nvSpPr>
        <p:spPr>
          <a:xfrm>
            <a:off x="886968" y="2101291"/>
            <a:ext cx="76810" cy="76810"/>
          </a:xfrm>
          <a:prstGeom prst="ellipse">
            <a:avLst/>
          </a:prstGeom>
          <a:solidFill>
            <a:srgbClr val="FFBD2E"/>
          </a:solidFill>
          <a:ln w="12700">
            <a:solidFill>
              <a:srgbClr val="000000"/>
            </a:solidFill>
            <a:prstDash val="solid"/>
          </a:ln>
        </p:spPr>
      </p:sp>
      <p:sp>
        <p:nvSpPr>
          <p:cNvPr id="10" name="Shape 8"/>
          <p:cNvSpPr/>
          <p:nvPr/>
        </p:nvSpPr>
        <p:spPr>
          <a:xfrm>
            <a:off x="1051560" y="2101291"/>
            <a:ext cx="76810" cy="76810"/>
          </a:xfrm>
          <a:prstGeom prst="ellipse">
            <a:avLst/>
          </a:prstGeom>
          <a:solidFill>
            <a:srgbClr val="27C93F"/>
          </a:solidFill>
          <a:ln w="12700">
            <a:solidFill>
              <a:srgbClr val="000000"/>
            </a:solidFill>
            <a:prstDash val="solid"/>
          </a:ln>
        </p:spPr>
      </p:sp>
      <p:sp>
        <p:nvSpPr>
          <p:cNvPr id="11" name="Text 9"/>
          <p:cNvSpPr/>
          <p:nvPr/>
        </p:nvSpPr>
        <p:spPr>
          <a:xfrm>
            <a:off x="1371600" y="2002536"/>
            <a:ext cx="6126480" cy="274320"/>
          </a:xfrm>
          <a:prstGeom prst="rect">
            <a:avLst/>
          </a:prstGeom>
          <a:noFill/>
          <a:ln/>
        </p:spPr>
        <p:txBody>
          <a:bodyPr wrap="square" lIns="0" tIns="0" rIns="0" bIns="0" rtlCol="0" anchor="ctr"/>
          <a:lstStyle/>
          <a:p>
            <a:pPr marL="0" indent="0" algn="l">
              <a:buNone/>
            </a:pPr>
            <a:r>
              <a:rPr lang="en-US" sz="1000" dirty="0">
                <a:solidFill>
                  <a:srgbClr val="8A8FA3"/>
                </a:solidFill>
                <a:latin typeface="Courier New" pitchFamily="34" charset="0"/>
                <a:ea typeface="Courier New" pitchFamily="34" charset="-122"/>
                <a:cs typeface="Courier New" pitchFamily="34" charset="-120"/>
              </a:rPr>
              <a:t>Main.java</a:t>
            </a:r>
            <a:endParaRPr lang="en-US" sz="1000" dirty="0"/>
          </a:p>
        </p:txBody>
      </p:sp>
      <p:sp>
        <p:nvSpPr>
          <p:cNvPr id="12" name="Text 10"/>
          <p:cNvSpPr/>
          <p:nvPr/>
        </p:nvSpPr>
        <p:spPr>
          <a:xfrm>
            <a:off x="777240" y="2350008"/>
            <a:ext cx="6675120" cy="3611880"/>
          </a:xfrm>
          <a:prstGeom prst="rect">
            <a:avLst/>
          </a:prstGeom>
          <a:noFill/>
          <a:ln/>
        </p:spPr>
        <p:txBody>
          <a:bodyPr wrap="square" lIns="0" tIns="0" rIns="0" bIns="0" rtlCol="0" anchor="t"/>
          <a:lstStyle/>
          <a:p>
            <a:pPr marL="0" indent="0" algn="l">
              <a:lnSpc>
                <a:spcPct val="118000"/>
              </a:lnSpc>
              <a:buNone/>
            </a:pPr>
            <a:r>
              <a:rPr lang="en-US" sz="1000" b="1" dirty="0">
                <a:solidFill>
                  <a:srgbClr val="569CD6"/>
                </a:solidFill>
                <a:latin typeface="Courier New" pitchFamily="34" charset="0"/>
                <a:ea typeface="Courier New" pitchFamily="34" charset="-122"/>
                <a:cs typeface="Courier New" pitchFamily="34" charset="-120"/>
              </a:rPr>
              <a:t>public</a:t>
            </a:r>
            <a:r>
              <a:rPr lang="en-US" sz="1000" dirty="0">
                <a:solidFill>
                  <a:srgbClr val="D4D4D4"/>
                </a:solidFill>
                <a:latin typeface="Courier New" pitchFamily="34" charset="0"/>
                <a:ea typeface="Courier New" pitchFamily="34" charset="-122"/>
                <a:cs typeface="Courier New" pitchFamily="34" charset="-120"/>
              </a:rPr>
              <a:t> </a:t>
            </a:r>
            <a:r>
              <a:rPr lang="en-US" sz="1000" b="1" dirty="0">
                <a:solidFill>
                  <a:srgbClr val="569CD6"/>
                </a:solidFill>
                <a:latin typeface="Courier New" pitchFamily="34" charset="0"/>
                <a:ea typeface="Courier New" pitchFamily="34" charset="-122"/>
                <a:cs typeface="Courier New" pitchFamily="34" charset="-120"/>
              </a:rPr>
              <a:t>class</a:t>
            </a:r>
            <a:r>
              <a:rPr lang="en-US" sz="1000" dirty="0">
                <a:solidFill>
                  <a:srgbClr val="D4D4D4"/>
                </a:solidFill>
                <a:latin typeface="Courier New" pitchFamily="34" charset="0"/>
                <a:ea typeface="Courier New" pitchFamily="34" charset="-122"/>
                <a:cs typeface="Courier New" pitchFamily="34" charset="-120"/>
              </a:rPr>
              <a:t> BankAccount {</a:t>
            </a:r>
            <a:endParaRPr lang="en-US" sz="1000" dirty="0"/>
          </a:p>
          <a:p>
            <a:pPr marL="0" indent="0" algn="l">
              <a:lnSpc>
                <a:spcPct val="118000"/>
              </a:lnSpc>
              <a:buNone/>
            </a:pPr>
            <a:r>
              <a:rPr lang="en-US" sz="1000" dirty="0">
                <a:solidFill>
                  <a:srgbClr val="D4D4D4"/>
                </a:solidFill>
                <a:latin typeface="Courier New" pitchFamily="34" charset="0"/>
                <a:ea typeface="Courier New" pitchFamily="34" charset="-122"/>
                <a:cs typeface="Courier New" pitchFamily="34" charset="-120"/>
              </a:rPr>
              <a:t>    </a:t>
            </a:r>
            <a:r>
              <a:rPr lang="en-US" sz="1000" b="1" dirty="0">
                <a:solidFill>
                  <a:srgbClr val="569CD6"/>
                </a:solidFill>
                <a:latin typeface="Courier New" pitchFamily="34" charset="0"/>
                <a:ea typeface="Courier New" pitchFamily="34" charset="-122"/>
                <a:cs typeface="Courier New" pitchFamily="34" charset="-120"/>
              </a:rPr>
              <a:t>private</a:t>
            </a:r>
            <a:r>
              <a:rPr lang="en-US" sz="1000" dirty="0">
                <a:solidFill>
                  <a:srgbClr val="D4D4D4"/>
                </a:solidFill>
                <a:latin typeface="Courier New" pitchFamily="34" charset="0"/>
                <a:ea typeface="Courier New" pitchFamily="34" charset="-122"/>
                <a:cs typeface="Courier New" pitchFamily="34" charset="-120"/>
              </a:rPr>
              <a:t> </a:t>
            </a:r>
            <a:r>
              <a:rPr lang="en-US" sz="1000" b="1" dirty="0">
                <a:solidFill>
                  <a:srgbClr val="569CD6"/>
                </a:solidFill>
                <a:latin typeface="Courier New" pitchFamily="34" charset="0"/>
                <a:ea typeface="Courier New" pitchFamily="34" charset="-122"/>
                <a:cs typeface="Courier New" pitchFamily="34" charset="-120"/>
              </a:rPr>
              <a:t>double</a:t>
            </a:r>
            <a:r>
              <a:rPr lang="en-US" sz="1000" dirty="0">
                <a:solidFill>
                  <a:srgbClr val="D4D4D4"/>
                </a:solidFill>
                <a:latin typeface="Courier New" pitchFamily="34" charset="0"/>
                <a:ea typeface="Courier New" pitchFamily="34" charset="-122"/>
                <a:cs typeface="Courier New" pitchFamily="34" charset="-120"/>
              </a:rPr>
              <a:t> balance;</a:t>
            </a:r>
            <a:endParaRPr lang="en-US" sz="1000" dirty="0"/>
          </a:p>
          <a:p>
            <a:pPr marL="0" indent="0" algn="l">
              <a:lnSpc>
                <a:spcPct val="118000"/>
              </a:lnSpc>
              <a:buNone/>
            </a:pPr>
            <a:r>
              <a:rPr lang="en-US" sz="1000" dirty="0">
                <a:solidFill>
                  <a:srgbClr val="D4D4D4"/>
                </a:solidFill>
                <a:latin typeface="Courier New" pitchFamily="34" charset="0"/>
                <a:ea typeface="Courier New" pitchFamily="34" charset="-122"/>
                <a:cs typeface="Courier New" pitchFamily="34" charset="-120"/>
              </a:rPr>
              <a:t> </a:t>
            </a:r>
            <a:endParaRPr lang="en-US" sz="1000" dirty="0"/>
          </a:p>
          <a:p>
            <a:pPr marL="0" indent="0" algn="l">
              <a:lnSpc>
                <a:spcPct val="118000"/>
              </a:lnSpc>
              <a:buNone/>
            </a:pPr>
            <a:r>
              <a:rPr lang="en-US" sz="1000" dirty="0">
                <a:solidFill>
                  <a:srgbClr val="D4D4D4"/>
                </a:solidFill>
                <a:latin typeface="Courier New" pitchFamily="34" charset="0"/>
                <a:ea typeface="Courier New" pitchFamily="34" charset="-122"/>
                <a:cs typeface="Courier New" pitchFamily="34" charset="-120"/>
              </a:rPr>
              <a:t>    </a:t>
            </a:r>
            <a:r>
              <a:rPr lang="en-US" sz="1000" b="1" dirty="0">
                <a:solidFill>
                  <a:srgbClr val="569CD6"/>
                </a:solidFill>
                <a:latin typeface="Courier New" pitchFamily="34" charset="0"/>
                <a:ea typeface="Courier New" pitchFamily="34" charset="-122"/>
                <a:cs typeface="Courier New" pitchFamily="34" charset="-120"/>
              </a:rPr>
              <a:t>void</a:t>
            </a:r>
            <a:r>
              <a:rPr lang="en-US" sz="1000" dirty="0">
                <a:solidFill>
                  <a:srgbClr val="D4D4D4"/>
                </a:solidFill>
                <a:latin typeface="Courier New" pitchFamily="34" charset="0"/>
                <a:ea typeface="Courier New" pitchFamily="34" charset="-122"/>
                <a:cs typeface="Courier New" pitchFamily="34" charset="-120"/>
              </a:rPr>
              <a:t> </a:t>
            </a:r>
            <a:r>
              <a:rPr lang="en-US" sz="1000" dirty="0">
                <a:solidFill>
                  <a:srgbClr val="DCDCAA"/>
                </a:solidFill>
                <a:latin typeface="Courier New" pitchFamily="34" charset="0"/>
                <a:ea typeface="Courier New" pitchFamily="34" charset="-122"/>
                <a:cs typeface="Courier New" pitchFamily="34" charset="-120"/>
              </a:rPr>
              <a:t>deposit</a:t>
            </a:r>
            <a:r>
              <a:rPr lang="en-US" sz="1000" dirty="0">
                <a:solidFill>
                  <a:srgbClr val="D4D4D4"/>
                </a:solidFill>
                <a:latin typeface="Courier New" pitchFamily="34" charset="0"/>
                <a:ea typeface="Courier New" pitchFamily="34" charset="-122"/>
                <a:cs typeface="Courier New" pitchFamily="34" charset="-120"/>
              </a:rPr>
              <a:t>(</a:t>
            </a:r>
            <a:r>
              <a:rPr lang="en-US" sz="1000" b="1" dirty="0">
                <a:solidFill>
                  <a:srgbClr val="569CD6"/>
                </a:solidFill>
                <a:latin typeface="Courier New" pitchFamily="34" charset="0"/>
                <a:ea typeface="Courier New" pitchFamily="34" charset="-122"/>
                <a:cs typeface="Courier New" pitchFamily="34" charset="-120"/>
              </a:rPr>
              <a:t>double</a:t>
            </a:r>
            <a:r>
              <a:rPr lang="en-US" sz="1000" dirty="0">
                <a:solidFill>
                  <a:srgbClr val="D4D4D4"/>
                </a:solidFill>
                <a:latin typeface="Courier New" pitchFamily="34" charset="0"/>
                <a:ea typeface="Courier New" pitchFamily="34" charset="-122"/>
                <a:cs typeface="Courier New" pitchFamily="34" charset="-120"/>
              </a:rPr>
              <a:t> amount) {</a:t>
            </a:r>
            <a:endParaRPr lang="en-US" sz="1000" dirty="0"/>
          </a:p>
          <a:p>
            <a:pPr marL="0" indent="0" algn="l">
              <a:lnSpc>
                <a:spcPct val="118000"/>
              </a:lnSpc>
              <a:buNone/>
            </a:pPr>
            <a:r>
              <a:rPr lang="en-US" sz="1000" dirty="0">
                <a:solidFill>
                  <a:srgbClr val="D4D4D4"/>
                </a:solidFill>
                <a:latin typeface="Courier New" pitchFamily="34" charset="0"/>
                <a:ea typeface="Courier New" pitchFamily="34" charset="-122"/>
                <a:cs typeface="Courier New" pitchFamily="34" charset="-120"/>
              </a:rPr>
              <a:t>        </a:t>
            </a:r>
            <a:r>
              <a:rPr lang="en-US" sz="1000" b="1" dirty="0">
                <a:solidFill>
                  <a:srgbClr val="569CD6"/>
                </a:solidFill>
                <a:latin typeface="Courier New" pitchFamily="34" charset="0"/>
                <a:ea typeface="Courier New" pitchFamily="34" charset="-122"/>
                <a:cs typeface="Courier New" pitchFamily="34" charset="-120"/>
              </a:rPr>
              <a:t>if</a:t>
            </a:r>
            <a:r>
              <a:rPr lang="en-US" sz="1000" dirty="0">
                <a:solidFill>
                  <a:srgbClr val="D4D4D4"/>
                </a:solidFill>
                <a:latin typeface="Courier New" pitchFamily="34" charset="0"/>
                <a:ea typeface="Courier New" pitchFamily="34" charset="-122"/>
                <a:cs typeface="Courier New" pitchFamily="34" charset="-120"/>
              </a:rPr>
              <a:t> (amount &gt; </a:t>
            </a:r>
            <a:r>
              <a:rPr lang="en-US" sz="1000" dirty="0">
                <a:solidFill>
                  <a:srgbClr val="B5CEA8"/>
                </a:solidFill>
                <a:latin typeface="Courier New" pitchFamily="34" charset="0"/>
                <a:ea typeface="Courier New" pitchFamily="34" charset="-122"/>
                <a:cs typeface="Courier New" pitchFamily="34" charset="-120"/>
              </a:rPr>
              <a:t>0</a:t>
            </a:r>
            <a:r>
              <a:rPr lang="en-US" sz="1000" dirty="0">
                <a:solidFill>
                  <a:srgbClr val="D4D4D4"/>
                </a:solidFill>
                <a:latin typeface="Courier New" pitchFamily="34" charset="0"/>
                <a:ea typeface="Courier New" pitchFamily="34" charset="-122"/>
                <a:cs typeface="Courier New" pitchFamily="34" charset="-120"/>
              </a:rPr>
              <a:t>) {</a:t>
            </a:r>
            <a:endParaRPr lang="en-US" sz="1000" dirty="0"/>
          </a:p>
          <a:p>
            <a:pPr marL="0" indent="0" algn="l">
              <a:lnSpc>
                <a:spcPct val="118000"/>
              </a:lnSpc>
              <a:buNone/>
            </a:pPr>
            <a:r>
              <a:rPr lang="en-US" sz="1000" dirty="0">
                <a:solidFill>
                  <a:srgbClr val="D4D4D4"/>
                </a:solidFill>
                <a:latin typeface="Courier New" pitchFamily="34" charset="0"/>
                <a:ea typeface="Courier New" pitchFamily="34" charset="-122"/>
                <a:cs typeface="Courier New" pitchFamily="34" charset="-120"/>
              </a:rPr>
              <a:t>            balance += amount;</a:t>
            </a:r>
            <a:endParaRPr lang="en-US" sz="1000" dirty="0"/>
          </a:p>
          <a:p>
            <a:pPr marL="0" indent="0" algn="l">
              <a:lnSpc>
                <a:spcPct val="118000"/>
              </a:lnSpc>
              <a:buNone/>
            </a:pPr>
            <a:r>
              <a:rPr lang="en-US" sz="1000" dirty="0">
                <a:solidFill>
                  <a:srgbClr val="D4D4D4"/>
                </a:solidFill>
                <a:latin typeface="Courier New" pitchFamily="34" charset="0"/>
                <a:ea typeface="Courier New" pitchFamily="34" charset="-122"/>
                <a:cs typeface="Courier New" pitchFamily="34" charset="-120"/>
              </a:rPr>
              <a:t>        }</a:t>
            </a:r>
            <a:endParaRPr lang="en-US" sz="1000" dirty="0"/>
          </a:p>
          <a:p>
            <a:pPr marL="0" indent="0" algn="l">
              <a:lnSpc>
                <a:spcPct val="118000"/>
              </a:lnSpc>
              <a:buNone/>
            </a:pPr>
            <a:r>
              <a:rPr lang="en-US" sz="1000" dirty="0">
                <a:solidFill>
                  <a:srgbClr val="D4D4D4"/>
                </a:solidFill>
                <a:latin typeface="Courier New" pitchFamily="34" charset="0"/>
                <a:ea typeface="Courier New" pitchFamily="34" charset="-122"/>
                <a:cs typeface="Courier New" pitchFamily="34" charset="-120"/>
              </a:rPr>
              <a:t>    }</a:t>
            </a:r>
            <a:endParaRPr lang="en-US" sz="1000" dirty="0"/>
          </a:p>
          <a:p>
            <a:pPr marL="0" indent="0" algn="l">
              <a:lnSpc>
                <a:spcPct val="118000"/>
              </a:lnSpc>
              <a:buNone/>
            </a:pPr>
            <a:r>
              <a:rPr lang="en-US" sz="1000" dirty="0">
                <a:solidFill>
                  <a:srgbClr val="D4D4D4"/>
                </a:solidFill>
                <a:latin typeface="Courier New" pitchFamily="34" charset="0"/>
                <a:ea typeface="Courier New" pitchFamily="34" charset="-122"/>
                <a:cs typeface="Courier New" pitchFamily="34" charset="-120"/>
              </a:rPr>
              <a:t> </a:t>
            </a:r>
            <a:endParaRPr lang="en-US" sz="1000" dirty="0"/>
          </a:p>
          <a:p>
            <a:pPr marL="0" indent="0" algn="l">
              <a:lnSpc>
                <a:spcPct val="118000"/>
              </a:lnSpc>
              <a:buNone/>
            </a:pPr>
            <a:r>
              <a:rPr lang="en-US" sz="1000" dirty="0">
                <a:solidFill>
                  <a:srgbClr val="D4D4D4"/>
                </a:solidFill>
                <a:latin typeface="Courier New" pitchFamily="34" charset="0"/>
                <a:ea typeface="Courier New" pitchFamily="34" charset="-122"/>
                <a:cs typeface="Courier New" pitchFamily="34" charset="-120"/>
              </a:rPr>
              <a:t>    </a:t>
            </a:r>
            <a:r>
              <a:rPr lang="en-US" sz="1000" b="1" dirty="0">
                <a:solidFill>
                  <a:srgbClr val="569CD6"/>
                </a:solidFill>
                <a:latin typeface="Courier New" pitchFamily="34" charset="0"/>
                <a:ea typeface="Courier New" pitchFamily="34" charset="-122"/>
                <a:cs typeface="Courier New" pitchFamily="34" charset="-120"/>
              </a:rPr>
              <a:t>double</a:t>
            </a:r>
            <a:r>
              <a:rPr lang="en-US" sz="1000" dirty="0">
                <a:solidFill>
                  <a:srgbClr val="D4D4D4"/>
                </a:solidFill>
                <a:latin typeface="Courier New" pitchFamily="34" charset="0"/>
                <a:ea typeface="Courier New" pitchFamily="34" charset="-122"/>
                <a:cs typeface="Courier New" pitchFamily="34" charset="-120"/>
              </a:rPr>
              <a:t> </a:t>
            </a:r>
            <a:r>
              <a:rPr lang="en-US" sz="1000" dirty="0">
                <a:solidFill>
                  <a:srgbClr val="DCDCAA"/>
                </a:solidFill>
                <a:latin typeface="Courier New" pitchFamily="34" charset="0"/>
                <a:ea typeface="Courier New" pitchFamily="34" charset="-122"/>
                <a:cs typeface="Courier New" pitchFamily="34" charset="-120"/>
              </a:rPr>
              <a:t>getBalance</a:t>
            </a:r>
            <a:r>
              <a:rPr lang="en-US" sz="1000" dirty="0">
                <a:solidFill>
                  <a:srgbClr val="D4D4D4"/>
                </a:solidFill>
                <a:latin typeface="Courier New" pitchFamily="34" charset="0"/>
                <a:ea typeface="Courier New" pitchFamily="34" charset="-122"/>
                <a:cs typeface="Courier New" pitchFamily="34" charset="-120"/>
              </a:rPr>
              <a:t>() {</a:t>
            </a:r>
            <a:endParaRPr lang="en-US" sz="1000" dirty="0"/>
          </a:p>
          <a:p>
            <a:pPr marL="0" indent="0" algn="l">
              <a:lnSpc>
                <a:spcPct val="118000"/>
              </a:lnSpc>
              <a:buNone/>
            </a:pPr>
            <a:r>
              <a:rPr lang="en-US" sz="1000" dirty="0">
                <a:solidFill>
                  <a:srgbClr val="D4D4D4"/>
                </a:solidFill>
                <a:latin typeface="Courier New" pitchFamily="34" charset="0"/>
                <a:ea typeface="Courier New" pitchFamily="34" charset="-122"/>
                <a:cs typeface="Courier New" pitchFamily="34" charset="-120"/>
              </a:rPr>
              <a:t>        </a:t>
            </a:r>
            <a:r>
              <a:rPr lang="en-US" sz="1000" b="1" dirty="0">
                <a:solidFill>
                  <a:srgbClr val="569CD6"/>
                </a:solidFill>
                <a:latin typeface="Courier New" pitchFamily="34" charset="0"/>
                <a:ea typeface="Courier New" pitchFamily="34" charset="-122"/>
                <a:cs typeface="Courier New" pitchFamily="34" charset="-120"/>
              </a:rPr>
              <a:t>return</a:t>
            </a:r>
            <a:r>
              <a:rPr lang="en-US" sz="1000" dirty="0">
                <a:solidFill>
                  <a:srgbClr val="D4D4D4"/>
                </a:solidFill>
                <a:latin typeface="Courier New" pitchFamily="34" charset="0"/>
                <a:ea typeface="Courier New" pitchFamily="34" charset="-122"/>
                <a:cs typeface="Courier New" pitchFamily="34" charset="-120"/>
              </a:rPr>
              <a:t> balance;</a:t>
            </a:r>
            <a:endParaRPr lang="en-US" sz="1000" dirty="0"/>
          </a:p>
          <a:p>
            <a:pPr marL="0" indent="0" algn="l">
              <a:lnSpc>
                <a:spcPct val="118000"/>
              </a:lnSpc>
              <a:buNone/>
            </a:pPr>
            <a:r>
              <a:rPr lang="en-US" sz="1000" dirty="0">
                <a:solidFill>
                  <a:srgbClr val="D4D4D4"/>
                </a:solidFill>
                <a:latin typeface="Courier New" pitchFamily="34" charset="0"/>
                <a:ea typeface="Courier New" pitchFamily="34" charset="-122"/>
                <a:cs typeface="Courier New" pitchFamily="34" charset="-120"/>
              </a:rPr>
              <a:t>    }</a:t>
            </a:r>
            <a:endParaRPr lang="en-US" sz="1000" dirty="0"/>
          </a:p>
          <a:p>
            <a:pPr marL="0" indent="0" algn="l">
              <a:lnSpc>
                <a:spcPct val="118000"/>
              </a:lnSpc>
              <a:buNone/>
            </a:pPr>
            <a:r>
              <a:rPr lang="en-US" sz="1000" dirty="0">
                <a:solidFill>
                  <a:srgbClr val="D4D4D4"/>
                </a:solidFill>
                <a:latin typeface="Courier New" pitchFamily="34" charset="0"/>
                <a:ea typeface="Courier New" pitchFamily="34" charset="-122"/>
                <a:cs typeface="Courier New" pitchFamily="34" charset="-120"/>
              </a:rPr>
              <a:t> </a:t>
            </a:r>
            <a:endParaRPr lang="en-US" sz="1000" dirty="0"/>
          </a:p>
          <a:p>
            <a:pPr marL="0" indent="0" algn="l">
              <a:lnSpc>
                <a:spcPct val="118000"/>
              </a:lnSpc>
              <a:buNone/>
            </a:pPr>
            <a:r>
              <a:rPr lang="en-US" sz="1000" dirty="0">
                <a:solidFill>
                  <a:srgbClr val="D4D4D4"/>
                </a:solidFill>
                <a:latin typeface="Courier New" pitchFamily="34" charset="0"/>
                <a:ea typeface="Courier New" pitchFamily="34" charset="-122"/>
                <a:cs typeface="Courier New" pitchFamily="34" charset="-120"/>
              </a:rPr>
              <a:t>    </a:t>
            </a:r>
            <a:r>
              <a:rPr lang="en-US" sz="1000" b="1" dirty="0">
                <a:solidFill>
                  <a:srgbClr val="569CD6"/>
                </a:solidFill>
                <a:latin typeface="Courier New" pitchFamily="34" charset="0"/>
                <a:ea typeface="Courier New" pitchFamily="34" charset="-122"/>
                <a:cs typeface="Courier New" pitchFamily="34" charset="-120"/>
              </a:rPr>
              <a:t>public</a:t>
            </a:r>
            <a:r>
              <a:rPr lang="en-US" sz="1000" dirty="0">
                <a:solidFill>
                  <a:srgbClr val="D4D4D4"/>
                </a:solidFill>
                <a:latin typeface="Courier New" pitchFamily="34" charset="0"/>
                <a:ea typeface="Courier New" pitchFamily="34" charset="-122"/>
                <a:cs typeface="Courier New" pitchFamily="34" charset="-120"/>
              </a:rPr>
              <a:t> </a:t>
            </a:r>
            <a:r>
              <a:rPr lang="en-US" sz="1000" b="1" dirty="0">
                <a:solidFill>
                  <a:srgbClr val="569CD6"/>
                </a:solidFill>
                <a:latin typeface="Courier New" pitchFamily="34" charset="0"/>
                <a:ea typeface="Courier New" pitchFamily="34" charset="-122"/>
                <a:cs typeface="Courier New" pitchFamily="34" charset="-120"/>
              </a:rPr>
              <a:t>static</a:t>
            </a:r>
            <a:r>
              <a:rPr lang="en-US" sz="1000" dirty="0">
                <a:solidFill>
                  <a:srgbClr val="D4D4D4"/>
                </a:solidFill>
                <a:latin typeface="Courier New" pitchFamily="34" charset="0"/>
                <a:ea typeface="Courier New" pitchFamily="34" charset="-122"/>
                <a:cs typeface="Courier New" pitchFamily="34" charset="-120"/>
              </a:rPr>
              <a:t> </a:t>
            </a:r>
            <a:r>
              <a:rPr lang="en-US" sz="1000" b="1" dirty="0">
                <a:solidFill>
                  <a:srgbClr val="569CD6"/>
                </a:solidFill>
                <a:latin typeface="Courier New" pitchFamily="34" charset="0"/>
                <a:ea typeface="Courier New" pitchFamily="34" charset="-122"/>
                <a:cs typeface="Courier New" pitchFamily="34" charset="-120"/>
              </a:rPr>
              <a:t>void</a:t>
            </a:r>
            <a:r>
              <a:rPr lang="en-US" sz="1000" dirty="0">
                <a:solidFill>
                  <a:srgbClr val="D4D4D4"/>
                </a:solidFill>
                <a:latin typeface="Courier New" pitchFamily="34" charset="0"/>
                <a:ea typeface="Courier New" pitchFamily="34" charset="-122"/>
                <a:cs typeface="Courier New" pitchFamily="34" charset="-120"/>
              </a:rPr>
              <a:t> </a:t>
            </a:r>
            <a:r>
              <a:rPr lang="en-US" sz="1000" dirty="0">
                <a:solidFill>
                  <a:srgbClr val="DCDCAA"/>
                </a:solidFill>
                <a:latin typeface="Courier New" pitchFamily="34" charset="0"/>
                <a:ea typeface="Courier New" pitchFamily="34" charset="-122"/>
                <a:cs typeface="Courier New" pitchFamily="34" charset="-120"/>
              </a:rPr>
              <a:t>main</a:t>
            </a:r>
            <a:r>
              <a:rPr lang="en-US" sz="1000" dirty="0">
                <a:solidFill>
                  <a:srgbClr val="D4D4D4"/>
                </a:solidFill>
                <a:latin typeface="Courier New" pitchFamily="34" charset="0"/>
                <a:ea typeface="Courier New" pitchFamily="34" charset="-122"/>
                <a:cs typeface="Courier New" pitchFamily="34" charset="-120"/>
              </a:rPr>
              <a:t>(</a:t>
            </a:r>
            <a:r>
              <a:rPr lang="en-US" sz="1000" dirty="0">
                <a:solidFill>
                  <a:srgbClr val="4EC9B0"/>
                </a:solidFill>
                <a:latin typeface="Courier New" pitchFamily="34" charset="0"/>
                <a:ea typeface="Courier New" pitchFamily="34" charset="-122"/>
                <a:cs typeface="Courier New" pitchFamily="34" charset="-120"/>
              </a:rPr>
              <a:t>String</a:t>
            </a:r>
            <a:r>
              <a:rPr lang="en-US" sz="1000" dirty="0">
                <a:solidFill>
                  <a:srgbClr val="D4D4D4"/>
                </a:solidFill>
                <a:latin typeface="Courier New" pitchFamily="34" charset="0"/>
                <a:ea typeface="Courier New" pitchFamily="34" charset="-122"/>
                <a:cs typeface="Courier New" pitchFamily="34" charset="-120"/>
              </a:rPr>
              <a:t>[] args) {</a:t>
            </a:r>
            <a:endParaRPr lang="en-US" sz="1000" dirty="0"/>
          </a:p>
          <a:p>
            <a:pPr marL="0" indent="0" algn="l">
              <a:lnSpc>
                <a:spcPct val="118000"/>
              </a:lnSpc>
              <a:buNone/>
            </a:pPr>
            <a:r>
              <a:rPr lang="en-US" sz="1000" dirty="0">
                <a:solidFill>
                  <a:srgbClr val="D4D4D4"/>
                </a:solidFill>
                <a:latin typeface="Courier New" pitchFamily="34" charset="0"/>
                <a:ea typeface="Courier New" pitchFamily="34" charset="-122"/>
                <a:cs typeface="Courier New" pitchFamily="34" charset="-120"/>
              </a:rPr>
              <a:t>        BankAccount acc = </a:t>
            </a:r>
            <a:r>
              <a:rPr lang="en-US" sz="1000" b="1" dirty="0">
                <a:solidFill>
                  <a:srgbClr val="569CD6"/>
                </a:solidFill>
                <a:latin typeface="Courier New" pitchFamily="34" charset="0"/>
                <a:ea typeface="Courier New" pitchFamily="34" charset="-122"/>
                <a:cs typeface="Courier New" pitchFamily="34" charset="-120"/>
              </a:rPr>
              <a:t>new</a:t>
            </a:r>
            <a:r>
              <a:rPr lang="en-US" sz="1000" dirty="0">
                <a:solidFill>
                  <a:srgbClr val="D4D4D4"/>
                </a:solidFill>
                <a:latin typeface="Courier New" pitchFamily="34" charset="0"/>
                <a:ea typeface="Courier New" pitchFamily="34" charset="-122"/>
                <a:cs typeface="Courier New" pitchFamily="34" charset="-120"/>
              </a:rPr>
              <a:t> </a:t>
            </a:r>
            <a:r>
              <a:rPr lang="en-US" sz="1000" dirty="0">
                <a:solidFill>
                  <a:srgbClr val="DCDCAA"/>
                </a:solidFill>
                <a:latin typeface="Courier New" pitchFamily="34" charset="0"/>
                <a:ea typeface="Courier New" pitchFamily="34" charset="-122"/>
                <a:cs typeface="Courier New" pitchFamily="34" charset="-120"/>
              </a:rPr>
              <a:t>BankAccount</a:t>
            </a:r>
            <a:r>
              <a:rPr lang="en-US" sz="1000" dirty="0">
                <a:solidFill>
                  <a:srgbClr val="D4D4D4"/>
                </a:solidFill>
                <a:latin typeface="Courier New" pitchFamily="34" charset="0"/>
                <a:ea typeface="Courier New" pitchFamily="34" charset="-122"/>
                <a:cs typeface="Courier New" pitchFamily="34" charset="-120"/>
              </a:rPr>
              <a:t>();</a:t>
            </a:r>
            <a:endParaRPr lang="en-US" sz="1000" dirty="0"/>
          </a:p>
          <a:p>
            <a:pPr marL="0" indent="0" algn="l">
              <a:lnSpc>
                <a:spcPct val="118000"/>
              </a:lnSpc>
              <a:buNone/>
            </a:pPr>
            <a:r>
              <a:rPr lang="en-US" sz="1000" dirty="0">
                <a:solidFill>
                  <a:srgbClr val="D4D4D4"/>
                </a:solidFill>
                <a:latin typeface="Courier New" pitchFamily="34" charset="0"/>
                <a:ea typeface="Courier New" pitchFamily="34" charset="-122"/>
                <a:cs typeface="Courier New" pitchFamily="34" charset="-120"/>
              </a:rPr>
              <a:t>        acc.</a:t>
            </a:r>
            <a:r>
              <a:rPr lang="en-US" sz="1000" dirty="0">
                <a:solidFill>
                  <a:srgbClr val="DCDCAA"/>
                </a:solidFill>
                <a:latin typeface="Courier New" pitchFamily="34" charset="0"/>
                <a:ea typeface="Courier New" pitchFamily="34" charset="-122"/>
                <a:cs typeface="Courier New" pitchFamily="34" charset="-120"/>
              </a:rPr>
              <a:t>deposit</a:t>
            </a:r>
            <a:r>
              <a:rPr lang="en-US" sz="1000" dirty="0">
                <a:solidFill>
                  <a:srgbClr val="D4D4D4"/>
                </a:solidFill>
                <a:latin typeface="Courier New" pitchFamily="34" charset="0"/>
                <a:ea typeface="Courier New" pitchFamily="34" charset="-122"/>
                <a:cs typeface="Courier New" pitchFamily="34" charset="-120"/>
              </a:rPr>
              <a:t>(</a:t>
            </a:r>
            <a:r>
              <a:rPr lang="en-US" sz="1000" dirty="0">
                <a:solidFill>
                  <a:srgbClr val="B5CEA8"/>
                </a:solidFill>
                <a:latin typeface="Courier New" pitchFamily="34" charset="0"/>
                <a:ea typeface="Courier New" pitchFamily="34" charset="-122"/>
                <a:cs typeface="Courier New" pitchFamily="34" charset="-120"/>
              </a:rPr>
              <a:t>100</a:t>
            </a:r>
            <a:r>
              <a:rPr lang="en-US" sz="1000" dirty="0">
                <a:solidFill>
                  <a:srgbClr val="D4D4D4"/>
                </a:solidFill>
                <a:latin typeface="Courier New" pitchFamily="34" charset="0"/>
                <a:ea typeface="Courier New" pitchFamily="34" charset="-122"/>
                <a:cs typeface="Courier New" pitchFamily="34" charset="-120"/>
              </a:rPr>
              <a:t>);</a:t>
            </a:r>
            <a:endParaRPr lang="en-US" sz="1000" dirty="0"/>
          </a:p>
          <a:p>
            <a:pPr marL="0" indent="0" algn="l">
              <a:lnSpc>
                <a:spcPct val="118000"/>
              </a:lnSpc>
              <a:buNone/>
            </a:pPr>
            <a:r>
              <a:rPr lang="en-US" sz="1000" dirty="0">
                <a:solidFill>
                  <a:srgbClr val="D4D4D4"/>
                </a:solidFill>
                <a:latin typeface="Courier New" pitchFamily="34" charset="0"/>
                <a:ea typeface="Courier New" pitchFamily="34" charset="-122"/>
                <a:cs typeface="Courier New" pitchFamily="34" charset="-120"/>
              </a:rPr>
              <a:t>        acc.</a:t>
            </a:r>
            <a:r>
              <a:rPr lang="en-US" sz="1000" dirty="0">
                <a:solidFill>
                  <a:srgbClr val="DCDCAA"/>
                </a:solidFill>
                <a:latin typeface="Courier New" pitchFamily="34" charset="0"/>
                <a:ea typeface="Courier New" pitchFamily="34" charset="-122"/>
                <a:cs typeface="Courier New" pitchFamily="34" charset="-120"/>
              </a:rPr>
              <a:t>deposit</a:t>
            </a:r>
            <a:r>
              <a:rPr lang="en-US" sz="1000" dirty="0">
                <a:solidFill>
                  <a:srgbClr val="D4D4D4"/>
                </a:solidFill>
                <a:latin typeface="Courier New" pitchFamily="34" charset="0"/>
                <a:ea typeface="Courier New" pitchFamily="34" charset="-122"/>
                <a:cs typeface="Courier New" pitchFamily="34" charset="-120"/>
              </a:rPr>
              <a:t>(-</a:t>
            </a:r>
            <a:r>
              <a:rPr lang="en-US" sz="1000" dirty="0">
                <a:solidFill>
                  <a:srgbClr val="B5CEA8"/>
                </a:solidFill>
                <a:latin typeface="Courier New" pitchFamily="34" charset="0"/>
                <a:ea typeface="Courier New" pitchFamily="34" charset="-122"/>
                <a:cs typeface="Courier New" pitchFamily="34" charset="-120"/>
              </a:rPr>
              <a:t>50</a:t>
            </a:r>
            <a:r>
              <a:rPr lang="en-US" sz="1000" dirty="0">
                <a:solidFill>
                  <a:srgbClr val="D4D4D4"/>
                </a:solidFill>
                <a:latin typeface="Courier New" pitchFamily="34" charset="0"/>
                <a:ea typeface="Courier New" pitchFamily="34" charset="-122"/>
                <a:cs typeface="Courier New" pitchFamily="34" charset="-120"/>
              </a:rPr>
              <a:t>);</a:t>
            </a:r>
            <a:endParaRPr lang="en-US" sz="1000" dirty="0"/>
          </a:p>
          <a:p>
            <a:pPr marL="0" indent="0" algn="l">
              <a:lnSpc>
                <a:spcPct val="118000"/>
              </a:lnSpc>
              <a:buNone/>
            </a:pPr>
            <a:r>
              <a:rPr lang="en-US" sz="1000" dirty="0">
                <a:solidFill>
                  <a:srgbClr val="D4D4D4"/>
                </a:solidFill>
                <a:latin typeface="Courier New" pitchFamily="34" charset="0"/>
                <a:ea typeface="Courier New" pitchFamily="34" charset="-122"/>
                <a:cs typeface="Courier New" pitchFamily="34" charset="-120"/>
              </a:rPr>
              <a:t>        </a:t>
            </a:r>
            <a:r>
              <a:rPr lang="en-US" sz="1000" dirty="0">
                <a:solidFill>
                  <a:srgbClr val="4EC9B0"/>
                </a:solidFill>
                <a:latin typeface="Courier New" pitchFamily="34" charset="0"/>
                <a:ea typeface="Courier New" pitchFamily="34" charset="-122"/>
                <a:cs typeface="Courier New" pitchFamily="34" charset="-120"/>
              </a:rPr>
              <a:t>System</a:t>
            </a:r>
            <a:r>
              <a:rPr lang="en-US" sz="1000" dirty="0">
                <a:solidFill>
                  <a:srgbClr val="D4D4D4"/>
                </a:solidFill>
                <a:latin typeface="Courier New" pitchFamily="34" charset="0"/>
                <a:ea typeface="Courier New" pitchFamily="34" charset="-122"/>
                <a:cs typeface="Courier New" pitchFamily="34" charset="-120"/>
              </a:rPr>
              <a:t>.out.</a:t>
            </a:r>
            <a:r>
              <a:rPr lang="en-US" sz="1000" dirty="0">
                <a:solidFill>
                  <a:srgbClr val="DCDCAA"/>
                </a:solidFill>
                <a:latin typeface="Courier New" pitchFamily="34" charset="0"/>
                <a:ea typeface="Courier New" pitchFamily="34" charset="-122"/>
                <a:cs typeface="Courier New" pitchFamily="34" charset="-120"/>
              </a:rPr>
              <a:t>println</a:t>
            </a:r>
            <a:r>
              <a:rPr lang="en-US" sz="1000" dirty="0">
                <a:solidFill>
                  <a:srgbClr val="D4D4D4"/>
                </a:solidFill>
                <a:latin typeface="Courier New" pitchFamily="34" charset="0"/>
                <a:ea typeface="Courier New" pitchFamily="34" charset="-122"/>
                <a:cs typeface="Courier New" pitchFamily="34" charset="-120"/>
              </a:rPr>
              <a:t>(acc.</a:t>
            </a:r>
            <a:r>
              <a:rPr lang="en-US" sz="1000" dirty="0">
                <a:solidFill>
                  <a:srgbClr val="DCDCAA"/>
                </a:solidFill>
                <a:latin typeface="Courier New" pitchFamily="34" charset="0"/>
                <a:ea typeface="Courier New" pitchFamily="34" charset="-122"/>
                <a:cs typeface="Courier New" pitchFamily="34" charset="-120"/>
              </a:rPr>
              <a:t>getBalance</a:t>
            </a:r>
            <a:r>
              <a:rPr lang="en-US" sz="1000" dirty="0">
                <a:solidFill>
                  <a:srgbClr val="D4D4D4"/>
                </a:solidFill>
                <a:latin typeface="Courier New" pitchFamily="34" charset="0"/>
                <a:ea typeface="Courier New" pitchFamily="34" charset="-122"/>
                <a:cs typeface="Courier New" pitchFamily="34" charset="-120"/>
              </a:rPr>
              <a:t>());</a:t>
            </a:r>
            <a:endParaRPr lang="en-US" sz="1000" dirty="0"/>
          </a:p>
          <a:p>
            <a:pPr marL="0" indent="0" algn="l">
              <a:lnSpc>
                <a:spcPct val="118000"/>
              </a:lnSpc>
              <a:buNone/>
            </a:pPr>
            <a:r>
              <a:rPr lang="en-US" sz="1000" dirty="0">
                <a:solidFill>
                  <a:srgbClr val="D4D4D4"/>
                </a:solidFill>
                <a:latin typeface="Courier New" pitchFamily="34" charset="0"/>
                <a:ea typeface="Courier New" pitchFamily="34" charset="-122"/>
                <a:cs typeface="Courier New" pitchFamily="34" charset="-120"/>
              </a:rPr>
              <a:t>    }</a:t>
            </a:r>
            <a:endParaRPr lang="en-US" sz="1000" dirty="0"/>
          </a:p>
          <a:p>
            <a:pPr marL="0" indent="0" algn="l">
              <a:lnSpc>
                <a:spcPct val="118000"/>
              </a:lnSpc>
              <a:buNone/>
            </a:pPr>
            <a:r>
              <a:rPr lang="en-US" sz="1000" dirty="0">
                <a:solidFill>
                  <a:srgbClr val="D4D4D4"/>
                </a:solidFill>
                <a:latin typeface="Courier New" pitchFamily="34" charset="0"/>
                <a:ea typeface="Courier New" pitchFamily="34" charset="-122"/>
                <a:cs typeface="Courier New" pitchFamily="34" charset="-120"/>
              </a:rPr>
              <a:t>}</a:t>
            </a:r>
            <a:endParaRPr lang="en-US" sz="1000" dirty="0"/>
          </a:p>
        </p:txBody>
      </p:sp>
      <p:sp>
        <p:nvSpPr>
          <p:cNvPr id="13" name="Shape 11"/>
          <p:cNvSpPr/>
          <p:nvPr/>
        </p:nvSpPr>
        <p:spPr>
          <a:xfrm>
            <a:off x="7909560" y="2002536"/>
            <a:ext cx="3886200" cy="4032504"/>
          </a:xfrm>
          <a:prstGeom prst="roundRect">
            <a:avLst>
              <a:gd name="adj" fmla="val 1882"/>
            </a:avLst>
          </a:prstGeom>
          <a:solidFill>
            <a:srgbClr val="181C24"/>
          </a:solidFill>
          <a:ln w="12700">
            <a:solidFill>
              <a:srgbClr val="000000"/>
            </a:solidFill>
            <a:prstDash val="solid"/>
          </a:ln>
        </p:spPr>
      </p:sp>
      <p:sp>
        <p:nvSpPr>
          <p:cNvPr id="14" name="Text 12"/>
          <p:cNvSpPr/>
          <p:nvPr/>
        </p:nvSpPr>
        <p:spPr>
          <a:xfrm>
            <a:off x="8074152" y="2130552"/>
            <a:ext cx="3557016" cy="274320"/>
          </a:xfrm>
          <a:prstGeom prst="rect">
            <a:avLst/>
          </a:prstGeom>
          <a:noFill/>
          <a:ln/>
        </p:spPr>
        <p:txBody>
          <a:bodyPr wrap="square" lIns="0" tIns="0" rIns="0" bIns="0" rtlCol="0" anchor="ctr"/>
          <a:lstStyle/>
          <a:p>
            <a:pPr marL="0" indent="0">
              <a:buNone/>
            </a:pPr>
            <a:r>
              <a:rPr lang="en-US" sz="1000" b="1" kern="0" spc="100" dirty="0">
                <a:solidFill>
                  <a:srgbClr val="E8590C"/>
                </a:solidFill>
                <a:latin typeface="Times New Roman" pitchFamily="34" charset="0"/>
                <a:ea typeface="Times New Roman" pitchFamily="34" charset="-122"/>
                <a:cs typeface="Times New Roman" pitchFamily="34" charset="-120"/>
              </a:rPr>
              <a:t>CONSOLE OUTPUT</a:t>
            </a:r>
            <a:endParaRPr lang="en-US" sz="1000" dirty="0"/>
          </a:p>
        </p:txBody>
      </p:sp>
      <p:sp>
        <p:nvSpPr>
          <p:cNvPr id="15" name="Text 13"/>
          <p:cNvSpPr/>
          <p:nvPr/>
        </p:nvSpPr>
        <p:spPr>
          <a:xfrm>
            <a:off x="8074152" y="2459736"/>
            <a:ext cx="3557016" cy="3429000"/>
          </a:xfrm>
          <a:prstGeom prst="rect">
            <a:avLst/>
          </a:prstGeom>
          <a:noFill/>
          <a:ln/>
        </p:spPr>
        <p:txBody>
          <a:bodyPr wrap="square" lIns="0" tIns="0" rIns="0" bIns="0" rtlCol="0" anchor="t"/>
          <a:lstStyle/>
          <a:p>
            <a:pPr marL="0" indent="0">
              <a:lnSpc>
                <a:spcPct val="130000"/>
              </a:lnSpc>
              <a:buNone/>
            </a:pPr>
            <a:r>
              <a:rPr lang="en-US" sz="1300" dirty="0">
                <a:solidFill>
                  <a:srgbClr val="D8E6D0"/>
                </a:solidFill>
                <a:latin typeface="Courier New" pitchFamily="34" charset="0"/>
                <a:ea typeface="Courier New" pitchFamily="34" charset="-122"/>
                <a:cs typeface="Courier New" pitchFamily="34" charset="-120"/>
              </a:rPr>
              <a:t>100.0</a:t>
            </a:r>
            <a:endParaRPr lang="en-US" sz="1300" dirty="0"/>
          </a:p>
        </p:txBody>
      </p:sp>
      <p:sp>
        <p:nvSpPr>
          <p:cNvPr id="16" name="Shape 14"/>
          <p:cNvSpPr/>
          <p:nvPr/>
        </p:nvSpPr>
        <p:spPr>
          <a:xfrm>
            <a:off x="0" y="0"/>
            <a:ext cx="12191695" cy="384048"/>
          </a:xfrm>
          <a:prstGeom prst="rect">
            <a:avLst/>
          </a:prstGeom>
          <a:solidFill>
            <a:srgbClr val="1B2A4A"/>
          </a:solidFill>
          <a:ln w="12700">
            <a:solidFill>
              <a:srgbClr val="1B2A4A"/>
            </a:solidFill>
            <a:prstDash val="solid"/>
          </a:ln>
        </p:spPr>
      </p:sp>
      <p:sp>
        <p:nvSpPr>
          <p:cNvPr id="17" name="Text 15"/>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8" name="Shape 16"/>
          <p:cNvSpPr/>
          <p:nvPr/>
        </p:nvSpPr>
        <p:spPr>
          <a:xfrm>
            <a:off x="219456" y="301752"/>
            <a:ext cx="960120" cy="0"/>
          </a:xfrm>
          <a:prstGeom prst="line">
            <a:avLst/>
          </a:prstGeom>
          <a:noFill/>
          <a:ln w="9525">
            <a:solidFill>
              <a:srgbClr val="4A5570"/>
            </a:solidFill>
            <a:prstDash val="solid"/>
          </a:ln>
        </p:spPr>
      </p:sp>
      <p:sp>
        <p:nvSpPr>
          <p:cNvPr id="19" name="Text 17"/>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0" name="Text 18"/>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1" name="Text 19"/>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2" name="Shape 20"/>
          <p:cNvSpPr/>
          <p:nvPr/>
        </p:nvSpPr>
        <p:spPr>
          <a:xfrm>
            <a:off x="0" y="6291072"/>
            <a:ext cx="12191695" cy="566928"/>
          </a:xfrm>
          <a:prstGeom prst="rect">
            <a:avLst/>
          </a:prstGeom>
          <a:solidFill>
            <a:srgbClr val="1B2A4A"/>
          </a:solidFill>
          <a:ln w="12700">
            <a:solidFill>
              <a:srgbClr val="1B2A4A"/>
            </a:solidFill>
            <a:prstDash val="solid"/>
          </a:ln>
        </p:spPr>
      </p:sp>
      <p:sp>
        <p:nvSpPr>
          <p:cNvPr id="23" name="Text 21"/>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4" name="Text 22"/>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181C24"/>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81C24"/>
          </a:solidFill>
          <a:ln w="12700">
            <a:solidFill>
              <a:srgbClr val="181C24"/>
            </a:solidFill>
            <a:prstDash val="solid"/>
          </a:ln>
        </p:spPr>
      </p:sp>
      <p:sp>
        <p:nvSpPr>
          <p:cNvPr id="3" name="Shape 1"/>
          <p:cNvSpPr/>
          <p:nvPr/>
        </p:nvSpPr>
        <p:spPr>
          <a:xfrm>
            <a:off x="0" y="3246120"/>
            <a:ext cx="12191695" cy="18288"/>
          </a:xfrm>
          <a:prstGeom prst="rect">
            <a:avLst/>
          </a:prstGeom>
          <a:solidFill>
            <a:srgbClr val="2A2F3B"/>
          </a:solidFill>
          <a:ln w="12700">
            <a:solidFill>
              <a:srgbClr val="000000"/>
            </a:solidFill>
            <a:prstDash val="solid"/>
          </a:ln>
        </p:spPr>
      </p:sp>
      <p:sp>
        <p:nvSpPr>
          <p:cNvPr id="4" name="Text 2"/>
          <p:cNvSpPr/>
          <p:nvPr/>
        </p:nvSpPr>
        <p:spPr>
          <a:xfrm>
            <a:off x="640080" y="2651760"/>
            <a:ext cx="5486400" cy="365760"/>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SECTION 6 / 10</a:t>
            </a:r>
            <a:endParaRPr lang="en-US" sz="1300" dirty="0"/>
          </a:p>
        </p:txBody>
      </p:sp>
      <p:sp>
        <p:nvSpPr>
          <p:cNvPr id="5" name="Text 3"/>
          <p:cNvSpPr/>
          <p:nvPr/>
        </p:nvSpPr>
        <p:spPr>
          <a:xfrm>
            <a:off x="594360" y="2971800"/>
            <a:ext cx="10515600" cy="1005840"/>
          </a:xfrm>
          <a:prstGeom prst="rect">
            <a:avLst/>
          </a:prstGeom>
          <a:noFill/>
          <a:ln/>
        </p:spPr>
        <p:txBody>
          <a:bodyPr wrap="square" lIns="0" tIns="0" rIns="0" bIns="0" rtlCol="0" anchor="ctr"/>
          <a:lstStyle/>
          <a:p>
            <a:pPr marL="0" indent="0">
              <a:buNone/>
            </a:pPr>
            <a:r>
              <a:rPr lang="en-US" sz="3400" b="1" dirty="0">
                <a:solidFill>
                  <a:srgbClr val="FFFFFF"/>
                </a:solidFill>
                <a:latin typeface="Times New Roman" pitchFamily="34" charset="0"/>
                <a:ea typeface="Times New Roman" pitchFamily="34" charset="-122"/>
                <a:cs typeface="Times New Roman" pitchFamily="34" charset="-120"/>
              </a:rPr>
              <a:t>Inheritance</a:t>
            </a:r>
            <a:endParaRPr lang="en-US" sz="3400" dirty="0"/>
          </a:p>
        </p:txBody>
      </p:sp>
      <p:sp>
        <p:nvSpPr>
          <p:cNvPr id="6" name="Text 4"/>
          <p:cNvSpPr/>
          <p:nvPr/>
        </p:nvSpPr>
        <p:spPr>
          <a:xfrm>
            <a:off x="640080" y="3977640"/>
            <a:ext cx="9144000" cy="548640"/>
          </a:xfrm>
          <a:prstGeom prst="rect">
            <a:avLst/>
          </a:prstGeom>
          <a:noFill/>
          <a:ln/>
        </p:spPr>
        <p:txBody>
          <a:bodyPr wrap="square" lIns="0" tIns="0" rIns="0" bIns="0" rtlCol="0" anchor="t"/>
          <a:lstStyle/>
          <a:p>
            <a:pPr marL="0" indent="0">
              <a:buNone/>
            </a:pPr>
            <a:r>
              <a:rPr lang="en-US" sz="1500" dirty="0">
                <a:solidFill>
                  <a:srgbClr val="8C93A0"/>
                </a:solidFill>
                <a:latin typeface="Times New Roman" pitchFamily="34" charset="0"/>
                <a:ea typeface="Times New Roman" pitchFamily="34" charset="-122"/>
                <a:cs typeface="Times New Roman" pitchFamily="34" charset="-120"/>
              </a:rPr>
              <a:t>Building new classes on top of existing ones</a:t>
            </a:r>
            <a:endParaRPr lang="en-US" sz="1500" dirty="0"/>
          </a:p>
        </p:txBody>
      </p:sp>
      <p:sp>
        <p:nvSpPr>
          <p:cNvPr id="7" name="Shape 5"/>
          <p:cNvSpPr/>
          <p:nvPr/>
        </p:nvSpPr>
        <p:spPr>
          <a:xfrm>
            <a:off x="0" y="0"/>
            <a:ext cx="12191695" cy="384048"/>
          </a:xfrm>
          <a:prstGeom prst="rect">
            <a:avLst/>
          </a:prstGeom>
          <a:solidFill>
            <a:srgbClr val="1B2A4A"/>
          </a:solidFill>
          <a:ln w="12700">
            <a:solidFill>
              <a:srgbClr val="1B2A4A"/>
            </a:solidFill>
            <a:prstDash val="solid"/>
          </a:ln>
        </p:spPr>
      </p:sp>
      <p:sp>
        <p:nvSpPr>
          <p:cNvPr id="8" name="Text 6"/>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9" name="Shape 7"/>
          <p:cNvSpPr/>
          <p:nvPr/>
        </p:nvSpPr>
        <p:spPr>
          <a:xfrm>
            <a:off x="219456" y="301752"/>
            <a:ext cx="960120" cy="0"/>
          </a:xfrm>
          <a:prstGeom prst="line">
            <a:avLst/>
          </a:prstGeom>
          <a:noFill/>
          <a:ln w="9525">
            <a:solidFill>
              <a:srgbClr val="4A5570"/>
            </a:solidFill>
            <a:prstDash val="solid"/>
          </a:ln>
        </p:spPr>
      </p:sp>
      <p:sp>
        <p:nvSpPr>
          <p:cNvPr id="10" name="Text 8"/>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11" name="Text 9"/>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12" name="Text 10"/>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13" name="Shape 11"/>
          <p:cNvSpPr/>
          <p:nvPr/>
        </p:nvSpPr>
        <p:spPr>
          <a:xfrm>
            <a:off x="0" y="6291072"/>
            <a:ext cx="12191695" cy="566928"/>
          </a:xfrm>
          <a:prstGeom prst="rect">
            <a:avLst/>
          </a:prstGeom>
          <a:solidFill>
            <a:srgbClr val="1B2A4A"/>
          </a:solidFill>
          <a:ln w="12700">
            <a:solidFill>
              <a:srgbClr val="1B2A4A"/>
            </a:solidFill>
            <a:prstDash val="solid"/>
          </a:ln>
        </p:spPr>
      </p:sp>
      <p:sp>
        <p:nvSpPr>
          <p:cNvPr id="14" name="Text 12"/>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15" name="Text 13"/>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CONCEPT</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What Is Inheritance?</a:t>
            </a:r>
            <a:endParaRPr lang="en-US" sz="2700" dirty="0"/>
          </a:p>
        </p:txBody>
      </p:sp>
      <p:sp>
        <p:nvSpPr>
          <p:cNvPr id="4" name="Shape 2"/>
          <p:cNvSpPr/>
          <p:nvPr/>
        </p:nvSpPr>
        <p:spPr>
          <a:xfrm>
            <a:off x="594360" y="1691640"/>
            <a:ext cx="10607040" cy="1338072"/>
          </a:xfrm>
          <a:prstGeom prst="roundRect">
            <a:avLst>
              <a:gd name="adj" fmla="val 4100"/>
            </a:avLst>
          </a:prstGeom>
          <a:solidFill>
            <a:srgbClr val="F5F6FA"/>
          </a:solidFill>
          <a:ln w="9525">
            <a:solidFill>
              <a:srgbClr val="E4E7EE"/>
            </a:solidFill>
            <a:prstDash val="solid"/>
          </a:ln>
        </p:spPr>
      </p:sp>
      <p:sp>
        <p:nvSpPr>
          <p:cNvPr id="5" name="Shape 3"/>
          <p:cNvSpPr/>
          <p:nvPr/>
        </p:nvSpPr>
        <p:spPr>
          <a:xfrm>
            <a:off x="777240" y="1874520"/>
            <a:ext cx="109728" cy="109728"/>
          </a:xfrm>
          <a:prstGeom prst="ellipse">
            <a:avLst/>
          </a:prstGeom>
          <a:solidFill>
            <a:srgbClr val="E8590C"/>
          </a:solidFill>
          <a:ln w="12700">
            <a:solidFill>
              <a:srgbClr val="000000"/>
            </a:solidFill>
            <a:prstDash val="solid"/>
          </a:ln>
        </p:spPr>
      </p:sp>
      <p:sp>
        <p:nvSpPr>
          <p:cNvPr id="6" name="Text 4"/>
          <p:cNvSpPr/>
          <p:nvPr/>
        </p:nvSpPr>
        <p:spPr>
          <a:xfrm>
            <a:off x="1051560" y="1764792"/>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One class builds on another</a:t>
            </a:r>
            <a:endParaRPr lang="en-US" sz="1500" dirty="0"/>
          </a:p>
        </p:txBody>
      </p:sp>
      <p:sp>
        <p:nvSpPr>
          <p:cNvPr id="7" name="Text 5"/>
          <p:cNvSpPr/>
          <p:nvPr/>
        </p:nvSpPr>
        <p:spPr>
          <a:xfrm>
            <a:off x="1051560" y="2057400"/>
            <a:ext cx="9966960" cy="917448"/>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Inheritance lets a new class reuse the fields and methods already defined in an existing class.</a:t>
            </a:r>
            <a:endParaRPr lang="en-US" sz="1250" dirty="0"/>
          </a:p>
        </p:txBody>
      </p:sp>
      <p:sp>
        <p:nvSpPr>
          <p:cNvPr id="8" name="Shape 6"/>
          <p:cNvSpPr/>
          <p:nvPr/>
        </p:nvSpPr>
        <p:spPr>
          <a:xfrm>
            <a:off x="594360" y="3194304"/>
            <a:ext cx="10607040" cy="1338072"/>
          </a:xfrm>
          <a:prstGeom prst="roundRect">
            <a:avLst>
              <a:gd name="adj" fmla="val 4100"/>
            </a:avLst>
          </a:prstGeom>
          <a:solidFill>
            <a:srgbClr val="F5F6FA"/>
          </a:solidFill>
          <a:ln w="9525">
            <a:solidFill>
              <a:srgbClr val="E4E7EE"/>
            </a:solidFill>
            <a:prstDash val="solid"/>
          </a:ln>
        </p:spPr>
      </p:sp>
      <p:sp>
        <p:nvSpPr>
          <p:cNvPr id="9" name="Shape 7"/>
          <p:cNvSpPr/>
          <p:nvPr/>
        </p:nvSpPr>
        <p:spPr>
          <a:xfrm>
            <a:off x="777240" y="3377184"/>
            <a:ext cx="109728" cy="109728"/>
          </a:xfrm>
          <a:prstGeom prst="ellipse">
            <a:avLst/>
          </a:prstGeom>
          <a:solidFill>
            <a:srgbClr val="E8590C"/>
          </a:solidFill>
          <a:ln w="12700">
            <a:solidFill>
              <a:srgbClr val="000000"/>
            </a:solidFill>
            <a:prstDash val="solid"/>
          </a:ln>
        </p:spPr>
      </p:sp>
      <p:sp>
        <p:nvSpPr>
          <p:cNvPr id="10" name="Text 8"/>
          <p:cNvSpPr/>
          <p:nvPr/>
        </p:nvSpPr>
        <p:spPr>
          <a:xfrm>
            <a:off x="1051560" y="3267456"/>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Models an is-a relationship</a:t>
            </a:r>
            <a:endParaRPr lang="en-US" sz="1500" dirty="0"/>
          </a:p>
        </p:txBody>
      </p:sp>
      <p:sp>
        <p:nvSpPr>
          <p:cNvPr id="11" name="Text 9"/>
          <p:cNvSpPr/>
          <p:nvPr/>
        </p:nvSpPr>
        <p:spPr>
          <a:xfrm>
            <a:off x="1051560" y="3560064"/>
            <a:ext cx="9966960" cy="917448"/>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A Dog is an Animal, a Car is a Vehicle; inheritance mirrors these natural relationships.</a:t>
            </a:r>
            <a:endParaRPr lang="en-US" sz="1250" dirty="0"/>
          </a:p>
        </p:txBody>
      </p:sp>
      <p:sp>
        <p:nvSpPr>
          <p:cNvPr id="12" name="Shape 10"/>
          <p:cNvSpPr/>
          <p:nvPr/>
        </p:nvSpPr>
        <p:spPr>
          <a:xfrm>
            <a:off x="594360" y="4696968"/>
            <a:ext cx="10607040" cy="1338072"/>
          </a:xfrm>
          <a:prstGeom prst="roundRect">
            <a:avLst>
              <a:gd name="adj" fmla="val 4100"/>
            </a:avLst>
          </a:prstGeom>
          <a:solidFill>
            <a:srgbClr val="F5F6FA"/>
          </a:solidFill>
          <a:ln w="9525">
            <a:solidFill>
              <a:srgbClr val="E4E7EE"/>
            </a:solidFill>
            <a:prstDash val="solid"/>
          </a:ln>
        </p:spPr>
      </p:sp>
      <p:sp>
        <p:nvSpPr>
          <p:cNvPr id="13" name="Shape 11"/>
          <p:cNvSpPr/>
          <p:nvPr/>
        </p:nvSpPr>
        <p:spPr>
          <a:xfrm>
            <a:off x="777240" y="4879848"/>
            <a:ext cx="109728" cy="109728"/>
          </a:xfrm>
          <a:prstGeom prst="ellipse">
            <a:avLst/>
          </a:prstGeom>
          <a:solidFill>
            <a:srgbClr val="E8590C"/>
          </a:solidFill>
          <a:ln w="12700">
            <a:solidFill>
              <a:srgbClr val="000000"/>
            </a:solidFill>
            <a:prstDash val="solid"/>
          </a:ln>
        </p:spPr>
      </p:sp>
      <p:sp>
        <p:nvSpPr>
          <p:cNvPr id="14" name="Text 12"/>
          <p:cNvSpPr/>
          <p:nvPr/>
        </p:nvSpPr>
        <p:spPr>
          <a:xfrm>
            <a:off x="1051560" y="4770120"/>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Avoids repeating shared code</a:t>
            </a:r>
            <a:endParaRPr lang="en-US" sz="1500" dirty="0"/>
          </a:p>
        </p:txBody>
      </p:sp>
      <p:sp>
        <p:nvSpPr>
          <p:cNvPr id="15" name="Text 13"/>
          <p:cNvSpPr/>
          <p:nvPr/>
        </p:nvSpPr>
        <p:spPr>
          <a:xfrm>
            <a:off x="1051560" y="5062728"/>
            <a:ext cx="9966960" cy="917448"/>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Common behavior is written once in a general class and reused by every more specific class built on top of it.</a:t>
            </a:r>
            <a:endParaRPr lang="en-US" sz="1250" dirty="0"/>
          </a:p>
        </p:txBody>
      </p:sp>
      <p:sp>
        <p:nvSpPr>
          <p:cNvPr id="16" name="Shape 14"/>
          <p:cNvSpPr/>
          <p:nvPr/>
        </p:nvSpPr>
        <p:spPr>
          <a:xfrm>
            <a:off x="0" y="0"/>
            <a:ext cx="12191695" cy="384048"/>
          </a:xfrm>
          <a:prstGeom prst="rect">
            <a:avLst/>
          </a:prstGeom>
          <a:solidFill>
            <a:srgbClr val="1B2A4A"/>
          </a:solidFill>
          <a:ln w="12700">
            <a:solidFill>
              <a:srgbClr val="1B2A4A"/>
            </a:solidFill>
            <a:prstDash val="solid"/>
          </a:ln>
        </p:spPr>
      </p:sp>
      <p:sp>
        <p:nvSpPr>
          <p:cNvPr id="17" name="Text 15"/>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8" name="Shape 16"/>
          <p:cNvSpPr/>
          <p:nvPr/>
        </p:nvSpPr>
        <p:spPr>
          <a:xfrm>
            <a:off x="219456" y="301752"/>
            <a:ext cx="960120" cy="0"/>
          </a:xfrm>
          <a:prstGeom prst="line">
            <a:avLst/>
          </a:prstGeom>
          <a:noFill/>
          <a:ln w="9525">
            <a:solidFill>
              <a:srgbClr val="4A5570"/>
            </a:solidFill>
            <a:prstDash val="solid"/>
          </a:ln>
        </p:spPr>
      </p:sp>
      <p:sp>
        <p:nvSpPr>
          <p:cNvPr id="19" name="Text 17"/>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0" name="Text 18"/>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1" name="Text 19"/>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2" name="Shape 20"/>
          <p:cNvSpPr/>
          <p:nvPr/>
        </p:nvSpPr>
        <p:spPr>
          <a:xfrm>
            <a:off x="0" y="6291072"/>
            <a:ext cx="12191695" cy="566928"/>
          </a:xfrm>
          <a:prstGeom prst="rect">
            <a:avLst/>
          </a:prstGeom>
          <a:solidFill>
            <a:srgbClr val="1B2A4A"/>
          </a:solidFill>
          <a:ln w="12700">
            <a:solidFill>
              <a:srgbClr val="1B2A4A"/>
            </a:solidFill>
            <a:prstDash val="solid"/>
          </a:ln>
        </p:spPr>
      </p:sp>
      <p:sp>
        <p:nvSpPr>
          <p:cNvPr id="23" name="Text 21"/>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4" name="Text 22"/>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SYNTAX</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The extends Keyword</a:t>
            </a:r>
            <a:endParaRPr lang="en-US" sz="2700" dirty="0"/>
          </a:p>
        </p:txBody>
      </p:sp>
      <p:sp>
        <p:nvSpPr>
          <p:cNvPr id="4" name="Shape 2"/>
          <p:cNvSpPr/>
          <p:nvPr/>
        </p:nvSpPr>
        <p:spPr>
          <a:xfrm>
            <a:off x="594360" y="1600200"/>
            <a:ext cx="10607040" cy="896112"/>
          </a:xfrm>
          <a:prstGeom prst="roundRect">
            <a:avLst>
              <a:gd name="adj" fmla="val 6122"/>
            </a:avLst>
          </a:prstGeom>
          <a:solidFill>
            <a:srgbClr val="F5F6FA"/>
          </a:solidFill>
          <a:ln w="9525">
            <a:solidFill>
              <a:srgbClr val="E4E7EE"/>
            </a:solidFill>
            <a:prstDash val="solid"/>
          </a:ln>
        </p:spPr>
      </p:sp>
      <p:sp>
        <p:nvSpPr>
          <p:cNvPr id="5" name="Shape 3"/>
          <p:cNvSpPr/>
          <p:nvPr/>
        </p:nvSpPr>
        <p:spPr>
          <a:xfrm>
            <a:off x="804672" y="1755648"/>
            <a:ext cx="100584" cy="100584"/>
          </a:xfrm>
          <a:prstGeom prst="ellipse">
            <a:avLst/>
          </a:prstGeom>
          <a:solidFill>
            <a:srgbClr val="E8590C"/>
          </a:solidFill>
          <a:ln w="12700">
            <a:solidFill>
              <a:srgbClr val="000000"/>
            </a:solidFill>
            <a:prstDash val="solid"/>
          </a:ln>
        </p:spPr>
      </p:sp>
      <p:sp>
        <p:nvSpPr>
          <p:cNvPr id="6" name="Text 4"/>
          <p:cNvSpPr/>
          <p:nvPr/>
        </p:nvSpPr>
        <p:spPr>
          <a:xfrm>
            <a:off x="1051560" y="1655064"/>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extends after a class name marks it as a subclass of another class.</a:t>
            </a:r>
            <a:endParaRPr lang="en-US" sz="1250" dirty="0"/>
          </a:p>
        </p:txBody>
      </p:sp>
      <p:sp>
        <p:nvSpPr>
          <p:cNvPr id="7" name="Shape 5"/>
          <p:cNvSpPr/>
          <p:nvPr/>
        </p:nvSpPr>
        <p:spPr>
          <a:xfrm>
            <a:off x="804672" y="2103120"/>
            <a:ext cx="100584" cy="100584"/>
          </a:xfrm>
          <a:prstGeom prst="ellipse">
            <a:avLst/>
          </a:prstGeom>
          <a:solidFill>
            <a:srgbClr val="E8590C"/>
          </a:solidFill>
          <a:ln w="12700">
            <a:solidFill>
              <a:srgbClr val="000000"/>
            </a:solidFill>
            <a:prstDash val="solid"/>
          </a:ln>
        </p:spPr>
      </p:sp>
      <p:sp>
        <p:nvSpPr>
          <p:cNvPr id="8" name="Text 6"/>
          <p:cNvSpPr/>
          <p:nvPr/>
        </p:nvSpPr>
        <p:spPr>
          <a:xfrm>
            <a:off x="1051560" y="2002536"/>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The subclass automatically gains every non-private field and method of the class it extends.</a:t>
            </a:r>
            <a:endParaRPr lang="en-US" sz="1250" dirty="0"/>
          </a:p>
        </p:txBody>
      </p:sp>
      <p:sp>
        <p:nvSpPr>
          <p:cNvPr id="9" name="Shape 7"/>
          <p:cNvSpPr/>
          <p:nvPr/>
        </p:nvSpPr>
        <p:spPr>
          <a:xfrm>
            <a:off x="594360" y="2642616"/>
            <a:ext cx="10607040" cy="3392424"/>
          </a:xfrm>
          <a:prstGeom prst="roundRect">
            <a:avLst>
              <a:gd name="adj" fmla="val 2156"/>
            </a:avLst>
          </a:prstGeom>
          <a:solidFill>
            <a:srgbClr val="1E1E2E"/>
          </a:solidFill>
          <a:ln w="12700">
            <a:solidFill>
              <a:srgbClr val="000000"/>
            </a:solidFill>
            <a:prstDash val="solid"/>
          </a:ln>
        </p:spPr>
      </p:sp>
      <p:sp>
        <p:nvSpPr>
          <p:cNvPr id="10" name="Shape 8"/>
          <p:cNvSpPr/>
          <p:nvPr/>
        </p:nvSpPr>
        <p:spPr>
          <a:xfrm>
            <a:off x="594360" y="2642616"/>
            <a:ext cx="10607040" cy="274320"/>
          </a:xfrm>
          <a:prstGeom prst="roundRect">
            <a:avLst>
              <a:gd name="adj" fmla="val 26667"/>
            </a:avLst>
          </a:prstGeom>
          <a:solidFill>
            <a:srgbClr val="17172A"/>
          </a:solidFill>
          <a:ln w="12700">
            <a:solidFill>
              <a:srgbClr val="000000"/>
            </a:solidFill>
            <a:prstDash val="solid"/>
          </a:ln>
        </p:spPr>
      </p:sp>
      <p:sp>
        <p:nvSpPr>
          <p:cNvPr id="11" name="Shape 9"/>
          <p:cNvSpPr/>
          <p:nvPr/>
        </p:nvSpPr>
        <p:spPr>
          <a:xfrm>
            <a:off x="594360" y="2843784"/>
            <a:ext cx="10607040" cy="73152"/>
          </a:xfrm>
          <a:prstGeom prst="rect">
            <a:avLst/>
          </a:prstGeom>
          <a:solidFill>
            <a:srgbClr val="17172A"/>
          </a:solidFill>
          <a:ln w="12700">
            <a:solidFill>
              <a:srgbClr val="000000"/>
            </a:solidFill>
            <a:prstDash val="solid"/>
          </a:ln>
        </p:spPr>
      </p:sp>
      <p:sp>
        <p:nvSpPr>
          <p:cNvPr id="12" name="Shape 10"/>
          <p:cNvSpPr/>
          <p:nvPr/>
        </p:nvSpPr>
        <p:spPr>
          <a:xfrm>
            <a:off x="722376" y="2741371"/>
            <a:ext cx="76810" cy="76810"/>
          </a:xfrm>
          <a:prstGeom prst="ellipse">
            <a:avLst/>
          </a:prstGeom>
          <a:solidFill>
            <a:srgbClr val="FF5F56"/>
          </a:solidFill>
          <a:ln w="12700">
            <a:solidFill>
              <a:srgbClr val="000000"/>
            </a:solidFill>
            <a:prstDash val="solid"/>
          </a:ln>
        </p:spPr>
      </p:sp>
      <p:sp>
        <p:nvSpPr>
          <p:cNvPr id="13" name="Shape 11"/>
          <p:cNvSpPr/>
          <p:nvPr/>
        </p:nvSpPr>
        <p:spPr>
          <a:xfrm>
            <a:off x="886968" y="2741371"/>
            <a:ext cx="76810" cy="76810"/>
          </a:xfrm>
          <a:prstGeom prst="ellipse">
            <a:avLst/>
          </a:prstGeom>
          <a:solidFill>
            <a:srgbClr val="FFBD2E"/>
          </a:solidFill>
          <a:ln w="12700">
            <a:solidFill>
              <a:srgbClr val="000000"/>
            </a:solidFill>
            <a:prstDash val="solid"/>
          </a:ln>
        </p:spPr>
      </p:sp>
      <p:sp>
        <p:nvSpPr>
          <p:cNvPr id="14" name="Shape 12"/>
          <p:cNvSpPr/>
          <p:nvPr/>
        </p:nvSpPr>
        <p:spPr>
          <a:xfrm>
            <a:off x="1051560" y="2741371"/>
            <a:ext cx="76810" cy="76810"/>
          </a:xfrm>
          <a:prstGeom prst="ellipse">
            <a:avLst/>
          </a:prstGeom>
          <a:solidFill>
            <a:srgbClr val="27C93F"/>
          </a:solidFill>
          <a:ln w="12700">
            <a:solidFill>
              <a:srgbClr val="000000"/>
            </a:solidFill>
            <a:prstDash val="solid"/>
          </a:ln>
        </p:spPr>
      </p:sp>
      <p:sp>
        <p:nvSpPr>
          <p:cNvPr id="15" name="Text 13"/>
          <p:cNvSpPr/>
          <p:nvPr/>
        </p:nvSpPr>
        <p:spPr>
          <a:xfrm>
            <a:off x="1371600" y="2642616"/>
            <a:ext cx="9692640" cy="274320"/>
          </a:xfrm>
          <a:prstGeom prst="rect">
            <a:avLst/>
          </a:prstGeom>
          <a:noFill/>
          <a:ln/>
        </p:spPr>
        <p:txBody>
          <a:bodyPr wrap="square" lIns="0" tIns="0" rIns="0" bIns="0" rtlCol="0" anchor="ctr"/>
          <a:lstStyle/>
          <a:p>
            <a:pPr marL="0" indent="0" algn="l">
              <a:buNone/>
            </a:pPr>
            <a:r>
              <a:rPr lang="en-US" sz="1000" dirty="0">
                <a:solidFill>
                  <a:srgbClr val="8A8FA3"/>
                </a:solidFill>
                <a:latin typeface="Courier New" pitchFamily="34" charset="0"/>
                <a:ea typeface="Courier New" pitchFamily="34" charset="-122"/>
                <a:cs typeface="Courier New" pitchFamily="34" charset="-120"/>
              </a:rPr>
              <a:t>Main.java</a:t>
            </a:r>
            <a:endParaRPr lang="en-US" sz="1000" dirty="0"/>
          </a:p>
        </p:txBody>
      </p:sp>
      <p:sp>
        <p:nvSpPr>
          <p:cNvPr id="16" name="Text 14"/>
          <p:cNvSpPr/>
          <p:nvPr/>
        </p:nvSpPr>
        <p:spPr>
          <a:xfrm>
            <a:off x="777240" y="2990088"/>
            <a:ext cx="10241280" cy="2971800"/>
          </a:xfrm>
          <a:prstGeom prst="rect">
            <a:avLst/>
          </a:prstGeom>
          <a:noFill/>
          <a:ln/>
        </p:spPr>
        <p:txBody>
          <a:bodyPr wrap="square" lIns="0" tIns="0" rIns="0" bIns="0" rtlCol="0" anchor="t"/>
          <a:lstStyle/>
          <a:p>
            <a:pPr marL="0" indent="0" algn="l">
              <a:lnSpc>
                <a:spcPct val="118000"/>
              </a:lnSpc>
              <a:buNone/>
            </a:pPr>
            <a:r>
              <a:rPr lang="en-US" sz="1200" b="1" dirty="0">
                <a:solidFill>
                  <a:srgbClr val="569CD6"/>
                </a:solidFill>
                <a:latin typeface="Courier New" pitchFamily="34" charset="0"/>
                <a:ea typeface="Courier New" pitchFamily="34" charset="-122"/>
                <a:cs typeface="Courier New" pitchFamily="34" charset="-120"/>
              </a:rPr>
              <a:t>public</a:t>
            </a:r>
            <a:r>
              <a:rPr lang="en-US" sz="1200" dirty="0">
                <a:solidFill>
                  <a:srgbClr val="D4D4D4"/>
                </a:solidFill>
                <a:latin typeface="Courier New" pitchFamily="34" charset="0"/>
                <a:ea typeface="Courier New" pitchFamily="34" charset="-122"/>
                <a:cs typeface="Courier New" pitchFamily="34" charset="-120"/>
              </a:rPr>
              <a:t> </a:t>
            </a:r>
            <a:r>
              <a:rPr lang="en-US" sz="1200" b="1" dirty="0">
                <a:solidFill>
                  <a:srgbClr val="569CD6"/>
                </a:solidFill>
                <a:latin typeface="Courier New" pitchFamily="34" charset="0"/>
                <a:ea typeface="Courier New" pitchFamily="34" charset="-122"/>
                <a:cs typeface="Courier New" pitchFamily="34" charset="-120"/>
              </a:rPr>
              <a:t>class</a:t>
            </a:r>
            <a:r>
              <a:rPr lang="en-US" sz="1200" dirty="0">
                <a:solidFill>
                  <a:srgbClr val="D4D4D4"/>
                </a:solidFill>
                <a:latin typeface="Courier New" pitchFamily="34" charset="0"/>
                <a:ea typeface="Courier New" pitchFamily="34" charset="-122"/>
                <a:cs typeface="Courier New" pitchFamily="34" charset="-120"/>
              </a:rPr>
              <a:t> Animal {</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r>
              <a:rPr lang="en-US" sz="1200" dirty="0">
                <a:solidFill>
                  <a:srgbClr val="4EC9B0"/>
                </a:solidFill>
                <a:latin typeface="Courier New" pitchFamily="34" charset="0"/>
                <a:ea typeface="Courier New" pitchFamily="34" charset="-122"/>
                <a:cs typeface="Courier New" pitchFamily="34" charset="-120"/>
              </a:rPr>
              <a:t>String</a:t>
            </a:r>
            <a:r>
              <a:rPr lang="en-US" sz="1200" dirty="0">
                <a:solidFill>
                  <a:srgbClr val="D4D4D4"/>
                </a:solidFill>
                <a:latin typeface="Courier New" pitchFamily="34" charset="0"/>
                <a:ea typeface="Courier New" pitchFamily="34" charset="-122"/>
                <a:cs typeface="Courier New" pitchFamily="34" charset="-120"/>
              </a:rPr>
              <a:t> name;</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r>
              <a:rPr lang="en-US" sz="1200" b="1" dirty="0">
                <a:solidFill>
                  <a:srgbClr val="569CD6"/>
                </a:solidFill>
                <a:latin typeface="Courier New" pitchFamily="34" charset="0"/>
                <a:ea typeface="Courier New" pitchFamily="34" charset="-122"/>
                <a:cs typeface="Courier New" pitchFamily="34" charset="-120"/>
              </a:rPr>
              <a:t>void</a:t>
            </a:r>
            <a:r>
              <a:rPr lang="en-US" sz="1200" dirty="0">
                <a:solidFill>
                  <a:srgbClr val="D4D4D4"/>
                </a:solidFill>
                <a:latin typeface="Courier New" pitchFamily="34" charset="0"/>
                <a:ea typeface="Courier New" pitchFamily="34" charset="-122"/>
                <a:cs typeface="Courier New" pitchFamily="34" charset="-120"/>
              </a:rPr>
              <a:t> </a:t>
            </a:r>
            <a:r>
              <a:rPr lang="en-US" sz="1200" dirty="0">
                <a:solidFill>
                  <a:srgbClr val="DCDCAA"/>
                </a:solidFill>
                <a:latin typeface="Courier New" pitchFamily="34" charset="0"/>
                <a:ea typeface="Courier New" pitchFamily="34" charset="-122"/>
                <a:cs typeface="Courier New" pitchFamily="34" charset="-120"/>
              </a:rPr>
              <a:t>eat</a:t>
            </a:r>
            <a:r>
              <a:rPr lang="en-US" sz="1200" dirty="0">
                <a:solidFill>
                  <a:srgbClr val="D4D4D4"/>
                </a:solidFill>
                <a:latin typeface="Courier New" pitchFamily="34" charset="0"/>
                <a:ea typeface="Courier New" pitchFamily="34" charset="-122"/>
                <a:cs typeface="Courier New" pitchFamily="34" charset="-120"/>
              </a:rPr>
              <a:t>() {</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r>
              <a:rPr lang="en-US" sz="1200" dirty="0">
                <a:solidFill>
                  <a:srgbClr val="4EC9B0"/>
                </a:solidFill>
                <a:latin typeface="Courier New" pitchFamily="34" charset="0"/>
                <a:ea typeface="Courier New" pitchFamily="34" charset="-122"/>
                <a:cs typeface="Courier New" pitchFamily="34" charset="-120"/>
              </a:rPr>
              <a:t>System</a:t>
            </a:r>
            <a:r>
              <a:rPr lang="en-US" sz="1200" dirty="0">
                <a:solidFill>
                  <a:srgbClr val="D4D4D4"/>
                </a:solidFill>
                <a:latin typeface="Courier New" pitchFamily="34" charset="0"/>
                <a:ea typeface="Courier New" pitchFamily="34" charset="-122"/>
                <a:cs typeface="Courier New" pitchFamily="34" charset="-120"/>
              </a:rPr>
              <a:t>.out.</a:t>
            </a:r>
            <a:r>
              <a:rPr lang="en-US" sz="1200" dirty="0">
                <a:solidFill>
                  <a:srgbClr val="DCDCAA"/>
                </a:solidFill>
                <a:latin typeface="Courier New" pitchFamily="34" charset="0"/>
                <a:ea typeface="Courier New" pitchFamily="34" charset="-122"/>
                <a:cs typeface="Courier New" pitchFamily="34" charset="-120"/>
              </a:rPr>
              <a:t>println</a:t>
            </a:r>
            <a:r>
              <a:rPr lang="en-US" sz="1200" dirty="0">
                <a:solidFill>
                  <a:srgbClr val="D4D4D4"/>
                </a:solidFill>
                <a:latin typeface="Courier New" pitchFamily="34" charset="0"/>
                <a:ea typeface="Courier New" pitchFamily="34" charset="-122"/>
                <a:cs typeface="Courier New" pitchFamily="34" charset="-120"/>
              </a:rPr>
              <a:t>(name + </a:t>
            </a:r>
            <a:r>
              <a:rPr lang="en-US" sz="1200" dirty="0">
                <a:solidFill>
                  <a:srgbClr val="CE9178"/>
                </a:solidFill>
                <a:latin typeface="Courier New" pitchFamily="34" charset="0"/>
                <a:ea typeface="Courier New" pitchFamily="34" charset="-122"/>
                <a:cs typeface="Courier New" pitchFamily="34" charset="-120"/>
              </a:rPr>
              <a:t>" is eating."</a:t>
            </a:r>
            <a:r>
              <a:rPr lang="en-US" sz="1200" dirty="0">
                <a:solidFill>
                  <a:srgbClr val="D4D4D4"/>
                </a:solidFill>
                <a:latin typeface="Courier New" pitchFamily="34" charset="0"/>
                <a:ea typeface="Courier New" pitchFamily="34" charset="-122"/>
                <a:cs typeface="Courier New" pitchFamily="34" charset="-120"/>
              </a:rPr>
              <a:t>);</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endParaRPr lang="en-US" sz="1200" dirty="0"/>
          </a:p>
          <a:p>
            <a:pPr marL="0" indent="0" algn="l">
              <a:lnSpc>
                <a:spcPct val="118000"/>
              </a:lnSpc>
              <a:buNone/>
            </a:pPr>
            <a:r>
              <a:rPr lang="en-US" sz="1200" b="1" dirty="0">
                <a:solidFill>
                  <a:srgbClr val="569CD6"/>
                </a:solidFill>
                <a:latin typeface="Courier New" pitchFamily="34" charset="0"/>
                <a:ea typeface="Courier New" pitchFamily="34" charset="-122"/>
                <a:cs typeface="Courier New" pitchFamily="34" charset="-120"/>
              </a:rPr>
              <a:t>public</a:t>
            </a:r>
            <a:r>
              <a:rPr lang="en-US" sz="1200" dirty="0">
                <a:solidFill>
                  <a:srgbClr val="D4D4D4"/>
                </a:solidFill>
                <a:latin typeface="Courier New" pitchFamily="34" charset="0"/>
                <a:ea typeface="Courier New" pitchFamily="34" charset="-122"/>
                <a:cs typeface="Courier New" pitchFamily="34" charset="-120"/>
              </a:rPr>
              <a:t> </a:t>
            </a:r>
            <a:r>
              <a:rPr lang="en-US" sz="1200" b="1" dirty="0">
                <a:solidFill>
                  <a:srgbClr val="569CD6"/>
                </a:solidFill>
                <a:latin typeface="Courier New" pitchFamily="34" charset="0"/>
                <a:ea typeface="Courier New" pitchFamily="34" charset="-122"/>
                <a:cs typeface="Courier New" pitchFamily="34" charset="-120"/>
              </a:rPr>
              <a:t>class</a:t>
            </a:r>
            <a:r>
              <a:rPr lang="en-US" sz="1200" dirty="0">
                <a:solidFill>
                  <a:srgbClr val="D4D4D4"/>
                </a:solidFill>
                <a:latin typeface="Courier New" pitchFamily="34" charset="0"/>
                <a:ea typeface="Courier New" pitchFamily="34" charset="-122"/>
                <a:cs typeface="Courier New" pitchFamily="34" charset="-120"/>
              </a:rPr>
              <a:t> Dog </a:t>
            </a:r>
            <a:r>
              <a:rPr lang="en-US" sz="1200" b="1" dirty="0">
                <a:solidFill>
                  <a:srgbClr val="569CD6"/>
                </a:solidFill>
                <a:latin typeface="Courier New" pitchFamily="34" charset="0"/>
                <a:ea typeface="Courier New" pitchFamily="34" charset="-122"/>
                <a:cs typeface="Courier New" pitchFamily="34" charset="-120"/>
              </a:rPr>
              <a:t>extends</a:t>
            </a:r>
            <a:r>
              <a:rPr lang="en-US" sz="1200" dirty="0">
                <a:solidFill>
                  <a:srgbClr val="D4D4D4"/>
                </a:solidFill>
                <a:latin typeface="Courier New" pitchFamily="34" charset="0"/>
                <a:ea typeface="Courier New" pitchFamily="34" charset="-122"/>
                <a:cs typeface="Courier New" pitchFamily="34" charset="-120"/>
              </a:rPr>
              <a:t> Animal {</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r>
              <a:rPr lang="en-US" sz="1200" b="1" dirty="0">
                <a:solidFill>
                  <a:srgbClr val="569CD6"/>
                </a:solidFill>
                <a:latin typeface="Courier New" pitchFamily="34" charset="0"/>
                <a:ea typeface="Courier New" pitchFamily="34" charset="-122"/>
                <a:cs typeface="Courier New" pitchFamily="34" charset="-120"/>
              </a:rPr>
              <a:t>void</a:t>
            </a:r>
            <a:r>
              <a:rPr lang="en-US" sz="1200" dirty="0">
                <a:solidFill>
                  <a:srgbClr val="D4D4D4"/>
                </a:solidFill>
                <a:latin typeface="Courier New" pitchFamily="34" charset="0"/>
                <a:ea typeface="Courier New" pitchFamily="34" charset="-122"/>
                <a:cs typeface="Courier New" pitchFamily="34" charset="-120"/>
              </a:rPr>
              <a:t> </a:t>
            </a:r>
            <a:r>
              <a:rPr lang="en-US" sz="1200" dirty="0">
                <a:solidFill>
                  <a:srgbClr val="DCDCAA"/>
                </a:solidFill>
                <a:latin typeface="Courier New" pitchFamily="34" charset="0"/>
                <a:ea typeface="Courier New" pitchFamily="34" charset="-122"/>
                <a:cs typeface="Courier New" pitchFamily="34" charset="-120"/>
              </a:rPr>
              <a:t>bark</a:t>
            </a:r>
            <a:r>
              <a:rPr lang="en-US" sz="1200" dirty="0">
                <a:solidFill>
                  <a:srgbClr val="D4D4D4"/>
                </a:solidFill>
                <a:latin typeface="Courier New" pitchFamily="34" charset="0"/>
                <a:ea typeface="Courier New" pitchFamily="34" charset="-122"/>
                <a:cs typeface="Courier New" pitchFamily="34" charset="-120"/>
              </a:rPr>
              <a:t>() {</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r>
              <a:rPr lang="en-US" sz="1200" dirty="0">
                <a:solidFill>
                  <a:srgbClr val="4EC9B0"/>
                </a:solidFill>
                <a:latin typeface="Courier New" pitchFamily="34" charset="0"/>
                <a:ea typeface="Courier New" pitchFamily="34" charset="-122"/>
                <a:cs typeface="Courier New" pitchFamily="34" charset="-120"/>
              </a:rPr>
              <a:t>System</a:t>
            </a:r>
            <a:r>
              <a:rPr lang="en-US" sz="1200" dirty="0">
                <a:solidFill>
                  <a:srgbClr val="D4D4D4"/>
                </a:solidFill>
                <a:latin typeface="Courier New" pitchFamily="34" charset="0"/>
                <a:ea typeface="Courier New" pitchFamily="34" charset="-122"/>
                <a:cs typeface="Courier New" pitchFamily="34" charset="-120"/>
              </a:rPr>
              <a:t>.out.</a:t>
            </a:r>
            <a:r>
              <a:rPr lang="en-US" sz="1200" dirty="0">
                <a:solidFill>
                  <a:srgbClr val="DCDCAA"/>
                </a:solidFill>
                <a:latin typeface="Courier New" pitchFamily="34" charset="0"/>
                <a:ea typeface="Courier New" pitchFamily="34" charset="-122"/>
                <a:cs typeface="Courier New" pitchFamily="34" charset="-120"/>
              </a:rPr>
              <a:t>println</a:t>
            </a:r>
            <a:r>
              <a:rPr lang="en-US" sz="1200" dirty="0">
                <a:solidFill>
                  <a:srgbClr val="D4D4D4"/>
                </a:solidFill>
                <a:latin typeface="Courier New" pitchFamily="34" charset="0"/>
                <a:ea typeface="Courier New" pitchFamily="34" charset="-122"/>
                <a:cs typeface="Courier New" pitchFamily="34" charset="-120"/>
              </a:rPr>
              <a:t>(name + </a:t>
            </a:r>
            <a:r>
              <a:rPr lang="en-US" sz="1200" dirty="0">
                <a:solidFill>
                  <a:srgbClr val="CE9178"/>
                </a:solidFill>
                <a:latin typeface="Courier New" pitchFamily="34" charset="0"/>
                <a:ea typeface="Courier New" pitchFamily="34" charset="-122"/>
                <a:cs typeface="Courier New" pitchFamily="34" charset="-120"/>
              </a:rPr>
              <a:t>" says Woof!"</a:t>
            </a:r>
            <a:r>
              <a:rPr lang="en-US" sz="1200" dirty="0">
                <a:solidFill>
                  <a:srgbClr val="D4D4D4"/>
                </a:solidFill>
                <a:latin typeface="Courier New" pitchFamily="34" charset="0"/>
                <a:ea typeface="Courier New" pitchFamily="34" charset="-122"/>
                <a:cs typeface="Courier New" pitchFamily="34" charset="-120"/>
              </a:rPr>
              <a:t>);</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a:t>
            </a:r>
            <a:endParaRPr lang="en-US" sz="1200" dirty="0"/>
          </a:p>
        </p:txBody>
      </p:sp>
      <p:sp>
        <p:nvSpPr>
          <p:cNvPr id="17" name="Shape 15"/>
          <p:cNvSpPr/>
          <p:nvPr/>
        </p:nvSpPr>
        <p:spPr>
          <a:xfrm>
            <a:off x="0" y="0"/>
            <a:ext cx="12191695" cy="384048"/>
          </a:xfrm>
          <a:prstGeom prst="rect">
            <a:avLst/>
          </a:prstGeom>
          <a:solidFill>
            <a:srgbClr val="1B2A4A"/>
          </a:solidFill>
          <a:ln w="12700">
            <a:solidFill>
              <a:srgbClr val="1B2A4A"/>
            </a:solidFill>
            <a:prstDash val="solid"/>
          </a:ln>
        </p:spPr>
      </p:sp>
      <p:sp>
        <p:nvSpPr>
          <p:cNvPr id="18" name="Text 16"/>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9" name="Shape 17"/>
          <p:cNvSpPr/>
          <p:nvPr/>
        </p:nvSpPr>
        <p:spPr>
          <a:xfrm>
            <a:off x="219456" y="301752"/>
            <a:ext cx="960120" cy="0"/>
          </a:xfrm>
          <a:prstGeom prst="line">
            <a:avLst/>
          </a:prstGeom>
          <a:noFill/>
          <a:ln w="9525">
            <a:solidFill>
              <a:srgbClr val="4A5570"/>
            </a:solidFill>
            <a:prstDash val="solid"/>
          </a:ln>
        </p:spPr>
      </p:sp>
      <p:sp>
        <p:nvSpPr>
          <p:cNvPr id="20" name="Text 18"/>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1" name="Text 19"/>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2" name="Text 20"/>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3" name="Shape 21"/>
          <p:cNvSpPr/>
          <p:nvPr/>
        </p:nvSpPr>
        <p:spPr>
          <a:xfrm>
            <a:off x="0" y="6291072"/>
            <a:ext cx="12191695" cy="566928"/>
          </a:xfrm>
          <a:prstGeom prst="rect">
            <a:avLst/>
          </a:prstGeom>
          <a:solidFill>
            <a:srgbClr val="1B2A4A"/>
          </a:solidFill>
          <a:ln w="12700">
            <a:solidFill>
              <a:srgbClr val="1B2A4A"/>
            </a:solidFill>
            <a:prstDash val="solid"/>
          </a:ln>
        </p:spPr>
      </p:sp>
      <p:sp>
        <p:nvSpPr>
          <p:cNvPr id="24" name="Text 22"/>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5" name="Text 23"/>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IN PRACTICE</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Inheriting Fields and Methods</a:t>
            </a:r>
            <a:endParaRPr lang="en-US" sz="2700" dirty="0"/>
          </a:p>
        </p:txBody>
      </p:sp>
      <p:sp>
        <p:nvSpPr>
          <p:cNvPr id="4" name="Text 2"/>
          <p:cNvSpPr/>
          <p:nvPr/>
        </p:nvSpPr>
        <p:spPr>
          <a:xfrm>
            <a:off x="594360" y="1600200"/>
            <a:ext cx="10607040" cy="365760"/>
          </a:xfrm>
          <a:prstGeom prst="rect">
            <a:avLst/>
          </a:prstGeom>
          <a:noFill/>
          <a:ln/>
        </p:spPr>
        <p:txBody>
          <a:bodyPr wrap="square" lIns="0" tIns="0" rIns="0" bIns="0" rtlCol="0" anchor="ctr"/>
          <a:lstStyle/>
          <a:p>
            <a:pPr marL="0" indent="0">
              <a:buNone/>
            </a:pPr>
            <a:r>
              <a:rPr lang="en-US" sz="1250" i="1" dirty="0">
                <a:solidFill>
                  <a:srgbClr val="5A6472"/>
                </a:solidFill>
                <a:latin typeface="Times New Roman" pitchFamily="34" charset="0"/>
                <a:ea typeface="Times New Roman" pitchFamily="34" charset="-122"/>
                <a:cs typeface="Times New Roman" pitchFamily="34" charset="-120"/>
              </a:rPr>
              <a:t>The Dog object can use both its own bark method and the inherited eat method.</a:t>
            </a:r>
            <a:endParaRPr lang="en-US" sz="1250" dirty="0"/>
          </a:p>
        </p:txBody>
      </p:sp>
      <p:sp>
        <p:nvSpPr>
          <p:cNvPr id="5" name="Shape 3"/>
          <p:cNvSpPr/>
          <p:nvPr/>
        </p:nvSpPr>
        <p:spPr>
          <a:xfrm>
            <a:off x="594360" y="2002536"/>
            <a:ext cx="7040880" cy="4032504"/>
          </a:xfrm>
          <a:prstGeom prst="roundRect">
            <a:avLst>
              <a:gd name="adj" fmla="val 1814"/>
            </a:avLst>
          </a:prstGeom>
          <a:solidFill>
            <a:srgbClr val="1E1E2E"/>
          </a:solidFill>
          <a:ln w="12700">
            <a:solidFill>
              <a:srgbClr val="000000"/>
            </a:solidFill>
            <a:prstDash val="solid"/>
          </a:ln>
        </p:spPr>
      </p:sp>
      <p:sp>
        <p:nvSpPr>
          <p:cNvPr id="6" name="Shape 4"/>
          <p:cNvSpPr/>
          <p:nvPr/>
        </p:nvSpPr>
        <p:spPr>
          <a:xfrm>
            <a:off x="594360" y="2002536"/>
            <a:ext cx="7040880" cy="274320"/>
          </a:xfrm>
          <a:prstGeom prst="roundRect">
            <a:avLst>
              <a:gd name="adj" fmla="val 26667"/>
            </a:avLst>
          </a:prstGeom>
          <a:solidFill>
            <a:srgbClr val="17172A"/>
          </a:solidFill>
          <a:ln w="12700">
            <a:solidFill>
              <a:srgbClr val="000000"/>
            </a:solidFill>
            <a:prstDash val="solid"/>
          </a:ln>
        </p:spPr>
      </p:sp>
      <p:sp>
        <p:nvSpPr>
          <p:cNvPr id="7" name="Shape 5"/>
          <p:cNvSpPr/>
          <p:nvPr/>
        </p:nvSpPr>
        <p:spPr>
          <a:xfrm>
            <a:off x="594360" y="2203704"/>
            <a:ext cx="7040880" cy="73152"/>
          </a:xfrm>
          <a:prstGeom prst="rect">
            <a:avLst/>
          </a:prstGeom>
          <a:solidFill>
            <a:srgbClr val="17172A"/>
          </a:solidFill>
          <a:ln w="12700">
            <a:solidFill>
              <a:srgbClr val="000000"/>
            </a:solidFill>
            <a:prstDash val="solid"/>
          </a:ln>
        </p:spPr>
      </p:sp>
      <p:sp>
        <p:nvSpPr>
          <p:cNvPr id="8" name="Shape 6"/>
          <p:cNvSpPr/>
          <p:nvPr/>
        </p:nvSpPr>
        <p:spPr>
          <a:xfrm>
            <a:off x="722376" y="2101291"/>
            <a:ext cx="76810" cy="76810"/>
          </a:xfrm>
          <a:prstGeom prst="ellipse">
            <a:avLst/>
          </a:prstGeom>
          <a:solidFill>
            <a:srgbClr val="FF5F56"/>
          </a:solidFill>
          <a:ln w="12700">
            <a:solidFill>
              <a:srgbClr val="000000"/>
            </a:solidFill>
            <a:prstDash val="solid"/>
          </a:ln>
        </p:spPr>
      </p:sp>
      <p:sp>
        <p:nvSpPr>
          <p:cNvPr id="9" name="Shape 7"/>
          <p:cNvSpPr/>
          <p:nvPr/>
        </p:nvSpPr>
        <p:spPr>
          <a:xfrm>
            <a:off x="886968" y="2101291"/>
            <a:ext cx="76810" cy="76810"/>
          </a:xfrm>
          <a:prstGeom prst="ellipse">
            <a:avLst/>
          </a:prstGeom>
          <a:solidFill>
            <a:srgbClr val="FFBD2E"/>
          </a:solidFill>
          <a:ln w="12700">
            <a:solidFill>
              <a:srgbClr val="000000"/>
            </a:solidFill>
            <a:prstDash val="solid"/>
          </a:ln>
        </p:spPr>
      </p:sp>
      <p:sp>
        <p:nvSpPr>
          <p:cNvPr id="10" name="Shape 8"/>
          <p:cNvSpPr/>
          <p:nvPr/>
        </p:nvSpPr>
        <p:spPr>
          <a:xfrm>
            <a:off x="1051560" y="2101291"/>
            <a:ext cx="76810" cy="76810"/>
          </a:xfrm>
          <a:prstGeom prst="ellipse">
            <a:avLst/>
          </a:prstGeom>
          <a:solidFill>
            <a:srgbClr val="27C93F"/>
          </a:solidFill>
          <a:ln w="12700">
            <a:solidFill>
              <a:srgbClr val="000000"/>
            </a:solidFill>
            <a:prstDash val="solid"/>
          </a:ln>
        </p:spPr>
      </p:sp>
      <p:sp>
        <p:nvSpPr>
          <p:cNvPr id="11" name="Text 9"/>
          <p:cNvSpPr/>
          <p:nvPr/>
        </p:nvSpPr>
        <p:spPr>
          <a:xfrm>
            <a:off x="1371600" y="2002536"/>
            <a:ext cx="6126480" cy="274320"/>
          </a:xfrm>
          <a:prstGeom prst="rect">
            <a:avLst/>
          </a:prstGeom>
          <a:noFill/>
          <a:ln/>
        </p:spPr>
        <p:txBody>
          <a:bodyPr wrap="square" lIns="0" tIns="0" rIns="0" bIns="0" rtlCol="0" anchor="ctr"/>
          <a:lstStyle/>
          <a:p>
            <a:pPr marL="0" indent="0" algn="l">
              <a:buNone/>
            </a:pPr>
            <a:r>
              <a:rPr lang="en-US" sz="1000" dirty="0">
                <a:solidFill>
                  <a:srgbClr val="8A8FA3"/>
                </a:solidFill>
                <a:latin typeface="Courier New" pitchFamily="34" charset="0"/>
                <a:ea typeface="Courier New" pitchFamily="34" charset="-122"/>
                <a:cs typeface="Courier New" pitchFamily="34" charset="-120"/>
              </a:rPr>
              <a:t>Main.java</a:t>
            </a:r>
            <a:endParaRPr lang="en-US" sz="1000" dirty="0"/>
          </a:p>
        </p:txBody>
      </p:sp>
      <p:sp>
        <p:nvSpPr>
          <p:cNvPr id="12" name="Text 10"/>
          <p:cNvSpPr/>
          <p:nvPr/>
        </p:nvSpPr>
        <p:spPr>
          <a:xfrm>
            <a:off x="777240" y="2350008"/>
            <a:ext cx="6675120" cy="3611880"/>
          </a:xfrm>
          <a:prstGeom prst="rect">
            <a:avLst/>
          </a:prstGeom>
          <a:noFill/>
          <a:ln/>
        </p:spPr>
        <p:txBody>
          <a:bodyPr wrap="square" lIns="0" tIns="0" rIns="0" bIns="0" rtlCol="0" anchor="t"/>
          <a:lstStyle/>
          <a:p>
            <a:pPr marL="0" indent="0" algn="l">
              <a:lnSpc>
                <a:spcPct val="118000"/>
              </a:lnSpc>
              <a:buNone/>
            </a:pPr>
            <a:r>
              <a:rPr lang="en-US" sz="1500" b="1" dirty="0">
                <a:solidFill>
                  <a:srgbClr val="569CD6"/>
                </a:solidFill>
                <a:latin typeface="Courier New" pitchFamily="34" charset="0"/>
                <a:ea typeface="Courier New" pitchFamily="34" charset="-122"/>
                <a:cs typeface="Courier New" pitchFamily="34" charset="-120"/>
              </a:rPr>
              <a:t>public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class</a:t>
            </a:r>
            <a:r>
              <a:rPr lang="en-US" sz="1500" dirty="0">
                <a:solidFill>
                  <a:srgbClr val="D4D4D4"/>
                </a:solidFill>
                <a:latin typeface="Courier New" pitchFamily="34" charset="0"/>
                <a:ea typeface="Courier New" pitchFamily="34" charset="-122"/>
                <a:cs typeface="Courier New" pitchFamily="34" charset="-120"/>
              </a:rPr>
              <a:t> InheritDemo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public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static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void</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DCDCAA"/>
                </a:solidFill>
                <a:latin typeface="Courier New" pitchFamily="34" charset="0"/>
                <a:ea typeface="Courier New" pitchFamily="34" charset="-122"/>
                <a:cs typeface="Courier New" pitchFamily="34" charset="-120"/>
              </a:rPr>
              <a:t>main</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4EC9B0"/>
                </a:solidFill>
                <a:latin typeface="Courier New" pitchFamily="34" charset="0"/>
                <a:ea typeface="Courier New" pitchFamily="34" charset="-122"/>
                <a:cs typeface="Courier New" pitchFamily="34" charset="-120"/>
              </a:rPr>
              <a:t>String</a:t>
            </a:r>
            <a:r>
              <a:rPr lang="en-US" sz="1500" dirty="0">
                <a:solidFill>
                  <a:srgbClr val="D4D4D4"/>
                </a:solidFill>
                <a:latin typeface="Courier New" pitchFamily="34" charset="0"/>
                <a:ea typeface="Courier New" pitchFamily="34" charset="-122"/>
                <a:cs typeface="Courier New" pitchFamily="34" charset="-120"/>
              </a:rPr>
              <a:t>[] args)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Dog d = </a:t>
            </a:r>
            <a:r>
              <a:rPr lang="en-US" sz="1500" b="1" dirty="0">
                <a:solidFill>
                  <a:srgbClr val="569CD6"/>
                </a:solidFill>
                <a:latin typeface="Courier New" pitchFamily="34" charset="0"/>
                <a:ea typeface="Courier New" pitchFamily="34" charset="-122"/>
                <a:cs typeface="Courier New" pitchFamily="34" charset="-120"/>
              </a:rPr>
              <a:t>new</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DCDCAA"/>
                </a:solidFill>
                <a:latin typeface="Courier New" pitchFamily="34" charset="0"/>
                <a:ea typeface="Courier New" pitchFamily="34" charset="-122"/>
                <a:cs typeface="Courier New" pitchFamily="34" charset="-120"/>
              </a:rPr>
              <a:t>Dog</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d.name = </a:t>
            </a:r>
            <a:r>
              <a:rPr lang="en-US" sz="1500" dirty="0">
                <a:solidFill>
                  <a:srgbClr val="CE9178"/>
                </a:solidFill>
                <a:latin typeface="Courier New" pitchFamily="34" charset="0"/>
                <a:ea typeface="Courier New" pitchFamily="34" charset="-122"/>
                <a:cs typeface="Courier New" pitchFamily="34" charset="-120"/>
              </a:rPr>
              <a:t>"Rex"</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d.</a:t>
            </a:r>
            <a:r>
              <a:rPr lang="en-US" sz="1500" dirty="0">
                <a:solidFill>
                  <a:srgbClr val="DCDCAA"/>
                </a:solidFill>
                <a:latin typeface="Courier New" pitchFamily="34" charset="0"/>
                <a:ea typeface="Courier New" pitchFamily="34" charset="-122"/>
                <a:cs typeface="Courier New" pitchFamily="34" charset="-120"/>
              </a:rPr>
              <a:t>eat</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d.</a:t>
            </a:r>
            <a:r>
              <a:rPr lang="en-US" sz="1500" dirty="0">
                <a:solidFill>
                  <a:srgbClr val="DCDCAA"/>
                </a:solidFill>
                <a:latin typeface="Courier New" pitchFamily="34" charset="0"/>
                <a:ea typeface="Courier New" pitchFamily="34" charset="-122"/>
                <a:cs typeface="Courier New" pitchFamily="34" charset="-120"/>
              </a:rPr>
              <a:t>bark</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a:t>
            </a:r>
            <a:endParaRPr lang="en-US" sz="1500" dirty="0"/>
          </a:p>
        </p:txBody>
      </p:sp>
      <p:sp>
        <p:nvSpPr>
          <p:cNvPr id="13" name="Shape 11"/>
          <p:cNvSpPr/>
          <p:nvPr/>
        </p:nvSpPr>
        <p:spPr>
          <a:xfrm>
            <a:off x="7909560" y="2002536"/>
            <a:ext cx="3886200" cy="4032504"/>
          </a:xfrm>
          <a:prstGeom prst="roundRect">
            <a:avLst>
              <a:gd name="adj" fmla="val 1882"/>
            </a:avLst>
          </a:prstGeom>
          <a:solidFill>
            <a:srgbClr val="181C24"/>
          </a:solidFill>
          <a:ln w="12700">
            <a:solidFill>
              <a:srgbClr val="000000"/>
            </a:solidFill>
            <a:prstDash val="solid"/>
          </a:ln>
        </p:spPr>
      </p:sp>
      <p:sp>
        <p:nvSpPr>
          <p:cNvPr id="14" name="Text 12"/>
          <p:cNvSpPr/>
          <p:nvPr/>
        </p:nvSpPr>
        <p:spPr>
          <a:xfrm>
            <a:off x="8074152" y="2130552"/>
            <a:ext cx="3557016" cy="274320"/>
          </a:xfrm>
          <a:prstGeom prst="rect">
            <a:avLst/>
          </a:prstGeom>
          <a:noFill/>
          <a:ln/>
        </p:spPr>
        <p:txBody>
          <a:bodyPr wrap="square" lIns="0" tIns="0" rIns="0" bIns="0" rtlCol="0" anchor="ctr"/>
          <a:lstStyle/>
          <a:p>
            <a:pPr marL="0" indent="0">
              <a:buNone/>
            </a:pPr>
            <a:r>
              <a:rPr lang="en-US" sz="1000" b="1" kern="0" spc="100" dirty="0">
                <a:solidFill>
                  <a:srgbClr val="E8590C"/>
                </a:solidFill>
                <a:latin typeface="Times New Roman" pitchFamily="34" charset="0"/>
                <a:ea typeface="Times New Roman" pitchFamily="34" charset="-122"/>
                <a:cs typeface="Times New Roman" pitchFamily="34" charset="-120"/>
              </a:rPr>
              <a:t>CONSOLE OUTPUT</a:t>
            </a:r>
            <a:endParaRPr lang="en-US" sz="1000" dirty="0"/>
          </a:p>
        </p:txBody>
      </p:sp>
      <p:sp>
        <p:nvSpPr>
          <p:cNvPr id="15" name="Text 13"/>
          <p:cNvSpPr/>
          <p:nvPr/>
        </p:nvSpPr>
        <p:spPr>
          <a:xfrm>
            <a:off x="8074152" y="2459736"/>
            <a:ext cx="3557016" cy="3429000"/>
          </a:xfrm>
          <a:prstGeom prst="rect">
            <a:avLst/>
          </a:prstGeom>
          <a:noFill/>
          <a:ln/>
        </p:spPr>
        <p:txBody>
          <a:bodyPr wrap="square" lIns="0" tIns="0" rIns="0" bIns="0" rtlCol="0" anchor="t"/>
          <a:lstStyle/>
          <a:p>
            <a:pPr marL="0" indent="0">
              <a:lnSpc>
                <a:spcPct val="130000"/>
              </a:lnSpc>
              <a:buNone/>
            </a:pPr>
            <a:r>
              <a:rPr lang="en-US" sz="1300" dirty="0">
                <a:solidFill>
                  <a:srgbClr val="D8E6D0"/>
                </a:solidFill>
                <a:latin typeface="Courier New" pitchFamily="34" charset="0"/>
                <a:ea typeface="Courier New" pitchFamily="34" charset="-122"/>
                <a:cs typeface="Courier New" pitchFamily="34" charset="-120"/>
              </a:rPr>
              <a:t>Rex is eating.</a:t>
            </a:r>
            <a:endParaRPr lang="en-US" sz="1300" dirty="0"/>
          </a:p>
          <a:p>
            <a:pPr marL="0" indent="0">
              <a:lnSpc>
                <a:spcPct val="130000"/>
              </a:lnSpc>
              <a:buNone/>
            </a:pPr>
            <a:r>
              <a:rPr lang="en-US" sz="1300" dirty="0">
                <a:solidFill>
                  <a:srgbClr val="D8E6D0"/>
                </a:solidFill>
                <a:latin typeface="Courier New" pitchFamily="34" charset="0"/>
                <a:ea typeface="Courier New" pitchFamily="34" charset="-122"/>
                <a:cs typeface="Courier New" pitchFamily="34" charset="-120"/>
              </a:rPr>
              <a:t>Rex says Woof!</a:t>
            </a:r>
            <a:endParaRPr lang="en-US" sz="1300" dirty="0"/>
          </a:p>
        </p:txBody>
      </p:sp>
      <p:sp>
        <p:nvSpPr>
          <p:cNvPr id="16" name="Shape 14"/>
          <p:cNvSpPr/>
          <p:nvPr/>
        </p:nvSpPr>
        <p:spPr>
          <a:xfrm>
            <a:off x="0" y="0"/>
            <a:ext cx="12191695" cy="384048"/>
          </a:xfrm>
          <a:prstGeom prst="rect">
            <a:avLst/>
          </a:prstGeom>
          <a:solidFill>
            <a:srgbClr val="1B2A4A"/>
          </a:solidFill>
          <a:ln w="12700">
            <a:solidFill>
              <a:srgbClr val="1B2A4A"/>
            </a:solidFill>
            <a:prstDash val="solid"/>
          </a:ln>
        </p:spPr>
      </p:sp>
      <p:sp>
        <p:nvSpPr>
          <p:cNvPr id="17" name="Text 15"/>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8" name="Shape 16"/>
          <p:cNvSpPr/>
          <p:nvPr/>
        </p:nvSpPr>
        <p:spPr>
          <a:xfrm>
            <a:off x="219456" y="301752"/>
            <a:ext cx="960120" cy="0"/>
          </a:xfrm>
          <a:prstGeom prst="line">
            <a:avLst/>
          </a:prstGeom>
          <a:noFill/>
          <a:ln w="9525">
            <a:solidFill>
              <a:srgbClr val="4A5570"/>
            </a:solidFill>
            <a:prstDash val="solid"/>
          </a:ln>
        </p:spPr>
      </p:sp>
      <p:sp>
        <p:nvSpPr>
          <p:cNvPr id="19" name="Text 17"/>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0" name="Text 18"/>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1" name="Text 19"/>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2" name="Shape 20"/>
          <p:cNvSpPr/>
          <p:nvPr/>
        </p:nvSpPr>
        <p:spPr>
          <a:xfrm>
            <a:off x="0" y="6291072"/>
            <a:ext cx="12191695" cy="566928"/>
          </a:xfrm>
          <a:prstGeom prst="rect">
            <a:avLst/>
          </a:prstGeom>
          <a:solidFill>
            <a:srgbClr val="1B2A4A"/>
          </a:solidFill>
          <a:ln w="12700">
            <a:solidFill>
              <a:srgbClr val="1B2A4A"/>
            </a:solidFill>
            <a:prstDash val="solid"/>
          </a:ln>
        </p:spPr>
      </p:sp>
      <p:sp>
        <p:nvSpPr>
          <p:cNvPr id="23" name="Text 21"/>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4" name="Text 22"/>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REACHING THE PARENT</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The super Keyword</a:t>
            </a:r>
            <a:endParaRPr lang="en-US" sz="2700" dirty="0"/>
          </a:p>
        </p:txBody>
      </p:sp>
      <p:sp>
        <p:nvSpPr>
          <p:cNvPr id="4" name="Shape 2"/>
          <p:cNvSpPr/>
          <p:nvPr/>
        </p:nvSpPr>
        <p:spPr>
          <a:xfrm>
            <a:off x="594360" y="1600200"/>
            <a:ext cx="10607040" cy="896112"/>
          </a:xfrm>
          <a:prstGeom prst="roundRect">
            <a:avLst>
              <a:gd name="adj" fmla="val 6122"/>
            </a:avLst>
          </a:prstGeom>
          <a:solidFill>
            <a:srgbClr val="F5F6FA"/>
          </a:solidFill>
          <a:ln w="9525">
            <a:solidFill>
              <a:srgbClr val="E4E7EE"/>
            </a:solidFill>
            <a:prstDash val="solid"/>
          </a:ln>
        </p:spPr>
      </p:sp>
      <p:sp>
        <p:nvSpPr>
          <p:cNvPr id="5" name="Shape 3"/>
          <p:cNvSpPr/>
          <p:nvPr/>
        </p:nvSpPr>
        <p:spPr>
          <a:xfrm>
            <a:off x="804672" y="1755648"/>
            <a:ext cx="100584" cy="100584"/>
          </a:xfrm>
          <a:prstGeom prst="ellipse">
            <a:avLst/>
          </a:prstGeom>
          <a:solidFill>
            <a:srgbClr val="E8590C"/>
          </a:solidFill>
          <a:ln w="12700">
            <a:solidFill>
              <a:srgbClr val="000000"/>
            </a:solidFill>
            <a:prstDash val="solid"/>
          </a:ln>
        </p:spPr>
      </p:sp>
      <p:sp>
        <p:nvSpPr>
          <p:cNvPr id="6" name="Text 4"/>
          <p:cNvSpPr/>
          <p:nvPr/>
        </p:nvSpPr>
        <p:spPr>
          <a:xfrm>
            <a:off x="1051560" y="1655064"/>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super refers to the parent class from within a subclass.</a:t>
            </a:r>
            <a:endParaRPr lang="en-US" sz="1250" dirty="0"/>
          </a:p>
        </p:txBody>
      </p:sp>
      <p:sp>
        <p:nvSpPr>
          <p:cNvPr id="7" name="Shape 5"/>
          <p:cNvSpPr/>
          <p:nvPr/>
        </p:nvSpPr>
        <p:spPr>
          <a:xfrm>
            <a:off x="804672" y="2103120"/>
            <a:ext cx="100584" cy="100584"/>
          </a:xfrm>
          <a:prstGeom prst="ellipse">
            <a:avLst/>
          </a:prstGeom>
          <a:solidFill>
            <a:srgbClr val="E8590C"/>
          </a:solidFill>
          <a:ln w="12700">
            <a:solidFill>
              <a:srgbClr val="000000"/>
            </a:solidFill>
            <a:prstDash val="solid"/>
          </a:ln>
        </p:spPr>
      </p:sp>
      <p:sp>
        <p:nvSpPr>
          <p:cNvPr id="8" name="Text 6"/>
          <p:cNvSpPr/>
          <p:nvPr/>
        </p:nvSpPr>
        <p:spPr>
          <a:xfrm>
            <a:off x="1051560" y="2002536"/>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super(...) calls the parent constructor, and must be the first statement in the subclass constructor.</a:t>
            </a:r>
            <a:endParaRPr lang="en-US" sz="1250" dirty="0"/>
          </a:p>
        </p:txBody>
      </p:sp>
      <p:sp>
        <p:nvSpPr>
          <p:cNvPr id="9" name="Shape 7"/>
          <p:cNvSpPr/>
          <p:nvPr/>
        </p:nvSpPr>
        <p:spPr>
          <a:xfrm>
            <a:off x="594360" y="2642616"/>
            <a:ext cx="10607040" cy="3392424"/>
          </a:xfrm>
          <a:prstGeom prst="roundRect">
            <a:avLst>
              <a:gd name="adj" fmla="val 2156"/>
            </a:avLst>
          </a:prstGeom>
          <a:solidFill>
            <a:srgbClr val="1E1E2E"/>
          </a:solidFill>
          <a:ln w="12700">
            <a:solidFill>
              <a:srgbClr val="000000"/>
            </a:solidFill>
            <a:prstDash val="solid"/>
          </a:ln>
        </p:spPr>
      </p:sp>
      <p:sp>
        <p:nvSpPr>
          <p:cNvPr id="10" name="Shape 8"/>
          <p:cNvSpPr/>
          <p:nvPr/>
        </p:nvSpPr>
        <p:spPr>
          <a:xfrm>
            <a:off x="594360" y="2642616"/>
            <a:ext cx="10607040" cy="274320"/>
          </a:xfrm>
          <a:prstGeom prst="roundRect">
            <a:avLst>
              <a:gd name="adj" fmla="val 26667"/>
            </a:avLst>
          </a:prstGeom>
          <a:solidFill>
            <a:srgbClr val="17172A"/>
          </a:solidFill>
          <a:ln w="12700">
            <a:solidFill>
              <a:srgbClr val="000000"/>
            </a:solidFill>
            <a:prstDash val="solid"/>
          </a:ln>
        </p:spPr>
      </p:sp>
      <p:sp>
        <p:nvSpPr>
          <p:cNvPr id="11" name="Shape 9"/>
          <p:cNvSpPr/>
          <p:nvPr/>
        </p:nvSpPr>
        <p:spPr>
          <a:xfrm>
            <a:off x="594360" y="2843784"/>
            <a:ext cx="10607040" cy="73152"/>
          </a:xfrm>
          <a:prstGeom prst="rect">
            <a:avLst/>
          </a:prstGeom>
          <a:solidFill>
            <a:srgbClr val="17172A"/>
          </a:solidFill>
          <a:ln w="12700">
            <a:solidFill>
              <a:srgbClr val="000000"/>
            </a:solidFill>
            <a:prstDash val="solid"/>
          </a:ln>
        </p:spPr>
      </p:sp>
      <p:sp>
        <p:nvSpPr>
          <p:cNvPr id="12" name="Shape 10"/>
          <p:cNvSpPr/>
          <p:nvPr/>
        </p:nvSpPr>
        <p:spPr>
          <a:xfrm>
            <a:off x="722376" y="2741371"/>
            <a:ext cx="76810" cy="76810"/>
          </a:xfrm>
          <a:prstGeom prst="ellipse">
            <a:avLst/>
          </a:prstGeom>
          <a:solidFill>
            <a:srgbClr val="FF5F56"/>
          </a:solidFill>
          <a:ln w="12700">
            <a:solidFill>
              <a:srgbClr val="000000"/>
            </a:solidFill>
            <a:prstDash val="solid"/>
          </a:ln>
        </p:spPr>
      </p:sp>
      <p:sp>
        <p:nvSpPr>
          <p:cNvPr id="13" name="Shape 11"/>
          <p:cNvSpPr/>
          <p:nvPr/>
        </p:nvSpPr>
        <p:spPr>
          <a:xfrm>
            <a:off x="886968" y="2741371"/>
            <a:ext cx="76810" cy="76810"/>
          </a:xfrm>
          <a:prstGeom prst="ellipse">
            <a:avLst/>
          </a:prstGeom>
          <a:solidFill>
            <a:srgbClr val="FFBD2E"/>
          </a:solidFill>
          <a:ln w="12700">
            <a:solidFill>
              <a:srgbClr val="000000"/>
            </a:solidFill>
            <a:prstDash val="solid"/>
          </a:ln>
        </p:spPr>
      </p:sp>
      <p:sp>
        <p:nvSpPr>
          <p:cNvPr id="14" name="Shape 12"/>
          <p:cNvSpPr/>
          <p:nvPr/>
        </p:nvSpPr>
        <p:spPr>
          <a:xfrm>
            <a:off x="1051560" y="2741371"/>
            <a:ext cx="76810" cy="76810"/>
          </a:xfrm>
          <a:prstGeom prst="ellipse">
            <a:avLst/>
          </a:prstGeom>
          <a:solidFill>
            <a:srgbClr val="27C93F"/>
          </a:solidFill>
          <a:ln w="12700">
            <a:solidFill>
              <a:srgbClr val="000000"/>
            </a:solidFill>
            <a:prstDash val="solid"/>
          </a:ln>
        </p:spPr>
      </p:sp>
      <p:sp>
        <p:nvSpPr>
          <p:cNvPr id="15" name="Text 13"/>
          <p:cNvSpPr/>
          <p:nvPr/>
        </p:nvSpPr>
        <p:spPr>
          <a:xfrm>
            <a:off x="1371600" y="2642616"/>
            <a:ext cx="9692640" cy="274320"/>
          </a:xfrm>
          <a:prstGeom prst="rect">
            <a:avLst/>
          </a:prstGeom>
          <a:noFill/>
          <a:ln/>
        </p:spPr>
        <p:txBody>
          <a:bodyPr wrap="square" lIns="0" tIns="0" rIns="0" bIns="0" rtlCol="0" anchor="ctr"/>
          <a:lstStyle/>
          <a:p>
            <a:pPr marL="0" indent="0" algn="l">
              <a:buNone/>
            </a:pPr>
            <a:r>
              <a:rPr lang="en-US" sz="1000" dirty="0">
                <a:solidFill>
                  <a:srgbClr val="8A8FA3"/>
                </a:solidFill>
                <a:latin typeface="Courier New" pitchFamily="34" charset="0"/>
                <a:ea typeface="Courier New" pitchFamily="34" charset="-122"/>
                <a:cs typeface="Courier New" pitchFamily="34" charset="-120"/>
              </a:rPr>
              <a:t>Main.java</a:t>
            </a:r>
            <a:endParaRPr lang="en-US" sz="1000" dirty="0"/>
          </a:p>
        </p:txBody>
      </p:sp>
      <p:sp>
        <p:nvSpPr>
          <p:cNvPr id="16" name="Text 14"/>
          <p:cNvSpPr/>
          <p:nvPr/>
        </p:nvSpPr>
        <p:spPr>
          <a:xfrm>
            <a:off x="777240" y="2990088"/>
            <a:ext cx="10241280" cy="2971800"/>
          </a:xfrm>
          <a:prstGeom prst="rect">
            <a:avLst/>
          </a:prstGeom>
          <a:noFill/>
          <a:ln/>
        </p:spPr>
        <p:txBody>
          <a:bodyPr wrap="square" lIns="0" tIns="0" rIns="0" bIns="0" rtlCol="0" anchor="t"/>
          <a:lstStyle/>
          <a:p>
            <a:pPr marL="0" indent="0" algn="l">
              <a:lnSpc>
                <a:spcPct val="118000"/>
              </a:lnSpc>
              <a:buNone/>
            </a:pPr>
            <a:r>
              <a:rPr lang="en-US" sz="1200" b="1" dirty="0">
                <a:solidFill>
                  <a:srgbClr val="569CD6"/>
                </a:solidFill>
                <a:latin typeface="Courier New" pitchFamily="34" charset="0"/>
                <a:ea typeface="Courier New" pitchFamily="34" charset="-122"/>
                <a:cs typeface="Courier New" pitchFamily="34" charset="-120"/>
              </a:rPr>
              <a:t>public</a:t>
            </a:r>
            <a:r>
              <a:rPr lang="en-US" sz="1200" dirty="0">
                <a:solidFill>
                  <a:srgbClr val="D4D4D4"/>
                </a:solidFill>
                <a:latin typeface="Courier New" pitchFamily="34" charset="0"/>
                <a:ea typeface="Courier New" pitchFamily="34" charset="-122"/>
                <a:cs typeface="Courier New" pitchFamily="34" charset="-120"/>
              </a:rPr>
              <a:t> </a:t>
            </a:r>
            <a:r>
              <a:rPr lang="en-US" sz="1200" b="1" dirty="0">
                <a:solidFill>
                  <a:srgbClr val="569CD6"/>
                </a:solidFill>
                <a:latin typeface="Courier New" pitchFamily="34" charset="0"/>
                <a:ea typeface="Courier New" pitchFamily="34" charset="-122"/>
                <a:cs typeface="Courier New" pitchFamily="34" charset="-120"/>
              </a:rPr>
              <a:t>class</a:t>
            </a:r>
            <a:r>
              <a:rPr lang="en-US" sz="1200" dirty="0">
                <a:solidFill>
                  <a:srgbClr val="D4D4D4"/>
                </a:solidFill>
                <a:latin typeface="Courier New" pitchFamily="34" charset="0"/>
                <a:ea typeface="Courier New" pitchFamily="34" charset="-122"/>
                <a:cs typeface="Courier New" pitchFamily="34" charset="-120"/>
              </a:rPr>
              <a:t> Animal {</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r>
              <a:rPr lang="en-US" sz="1200" dirty="0">
                <a:solidFill>
                  <a:srgbClr val="4EC9B0"/>
                </a:solidFill>
                <a:latin typeface="Courier New" pitchFamily="34" charset="0"/>
                <a:ea typeface="Courier New" pitchFamily="34" charset="-122"/>
                <a:cs typeface="Courier New" pitchFamily="34" charset="-120"/>
              </a:rPr>
              <a:t>String</a:t>
            </a:r>
            <a:r>
              <a:rPr lang="en-US" sz="1200" dirty="0">
                <a:solidFill>
                  <a:srgbClr val="D4D4D4"/>
                </a:solidFill>
                <a:latin typeface="Courier New" pitchFamily="34" charset="0"/>
                <a:ea typeface="Courier New" pitchFamily="34" charset="-122"/>
                <a:cs typeface="Courier New" pitchFamily="34" charset="-120"/>
              </a:rPr>
              <a:t> name;</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r>
              <a:rPr lang="en-US" sz="1200" dirty="0">
                <a:solidFill>
                  <a:srgbClr val="DCDCAA"/>
                </a:solidFill>
                <a:latin typeface="Courier New" pitchFamily="34" charset="0"/>
                <a:ea typeface="Courier New" pitchFamily="34" charset="-122"/>
                <a:cs typeface="Courier New" pitchFamily="34" charset="-120"/>
              </a:rPr>
              <a:t>Animal</a:t>
            </a:r>
            <a:r>
              <a:rPr lang="en-US" sz="1200" dirty="0">
                <a:solidFill>
                  <a:srgbClr val="D4D4D4"/>
                </a:solidFill>
                <a:latin typeface="Courier New" pitchFamily="34" charset="0"/>
                <a:ea typeface="Courier New" pitchFamily="34" charset="-122"/>
                <a:cs typeface="Courier New" pitchFamily="34" charset="-120"/>
              </a:rPr>
              <a:t>(</a:t>
            </a:r>
            <a:r>
              <a:rPr lang="en-US" sz="1200" dirty="0">
                <a:solidFill>
                  <a:srgbClr val="4EC9B0"/>
                </a:solidFill>
                <a:latin typeface="Courier New" pitchFamily="34" charset="0"/>
                <a:ea typeface="Courier New" pitchFamily="34" charset="-122"/>
                <a:cs typeface="Courier New" pitchFamily="34" charset="-120"/>
              </a:rPr>
              <a:t>String</a:t>
            </a:r>
            <a:r>
              <a:rPr lang="en-US" sz="1200" dirty="0">
                <a:solidFill>
                  <a:srgbClr val="D4D4D4"/>
                </a:solidFill>
                <a:latin typeface="Courier New" pitchFamily="34" charset="0"/>
                <a:ea typeface="Courier New" pitchFamily="34" charset="-122"/>
                <a:cs typeface="Courier New" pitchFamily="34" charset="-120"/>
              </a:rPr>
              <a:t> name) {</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r>
              <a:rPr lang="en-US" sz="1200" b="1" dirty="0">
                <a:solidFill>
                  <a:srgbClr val="569CD6"/>
                </a:solidFill>
                <a:latin typeface="Courier New" pitchFamily="34" charset="0"/>
                <a:ea typeface="Courier New" pitchFamily="34" charset="-122"/>
                <a:cs typeface="Courier New" pitchFamily="34" charset="-120"/>
              </a:rPr>
              <a:t>this</a:t>
            </a:r>
            <a:r>
              <a:rPr lang="en-US" sz="1200" dirty="0">
                <a:solidFill>
                  <a:srgbClr val="D4D4D4"/>
                </a:solidFill>
                <a:latin typeface="Courier New" pitchFamily="34" charset="0"/>
                <a:ea typeface="Courier New" pitchFamily="34" charset="-122"/>
                <a:cs typeface="Courier New" pitchFamily="34" charset="-120"/>
              </a:rPr>
              <a:t>.name = name;</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endParaRPr lang="en-US" sz="1200" dirty="0"/>
          </a:p>
          <a:p>
            <a:pPr marL="0" indent="0" algn="l">
              <a:lnSpc>
                <a:spcPct val="118000"/>
              </a:lnSpc>
              <a:buNone/>
            </a:pPr>
            <a:r>
              <a:rPr lang="en-US" sz="1200" b="1" dirty="0">
                <a:solidFill>
                  <a:srgbClr val="569CD6"/>
                </a:solidFill>
                <a:latin typeface="Courier New" pitchFamily="34" charset="0"/>
                <a:ea typeface="Courier New" pitchFamily="34" charset="-122"/>
                <a:cs typeface="Courier New" pitchFamily="34" charset="-120"/>
              </a:rPr>
              <a:t>public</a:t>
            </a:r>
            <a:r>
              <a:rPr lang="en-US" sz="1200" dirty="0">
                <a:solidFill>
                  <a:srgbClr val="D4D4D4"/>
                </a:solidFill>
                <a:latin typeface="Courier New" pitchFamily="34" charset="0"/>
                <a:ea typeface="Courier New" pitchFamily="34" charset="-122"/>
                <a:cs typeface="Courier New" pitchFamily="34" charset="-120"/>
              </a:rPr>
              <a:t> </a:t>
            </a:r>
            <a:r>
              <a:rPr lang="en-US" sz="1200" b="1" dirty="0">
                <a:solidFill>
                  <a:srgbClr val="569CD6"/>
                </a:solidFill>
                <a:latin typeface="Courier New" pitchFamily="34" charset="0"/>
                <a:ea typeface="Courier New" pitchFamily="34" charset="-122"/>
                <a:cs typeface="Courier New" pitchFamily="34" charset="-120"/>
              </a:rPr>
              <a:t>class</a:t>
            </a:r>
            <a:r>
              <a:rPr lang="en-US" sz="1200" dirty="0">
                <a:solidFill>
                  <a:srgbClr val="D4D4D4"/>
                </a:solidFill>
                <a:latin typeface="Courier New" pitchFamily="34" charset="0"/>
                <a:ea typeface="Courier New" pitchFamily="34" charset="-122"/>
                <a:cs typeface="Courier New" pitchFamily="34" charset="-120"/>
              </a:rPr>
              <a:t> Dog </a:t>
            </a:r>
            <a:r>
              <a:rPr lang="en-US" sz="1200" b="1" dirty="0">
                <a:solidFill>
                  <a:srgbClr val="569CD6"/>
                </a:solidFill>
                <a:latin typeface="Courier New" pitchFamily="34" charset="0"/>
                <a:ea typeface="Courier New" pitchFamily="34" charset="-122"/>
                <a:cs typeface="Courier New" pitchFamily="34" charset="-120"/>
              </a:rPr>
              <a:t>extends</a:t>
            </a:r>
            <a:r>
              <a:rPr lang="en-US" sz="1200" dirty="0">
                <a:solidFill>
                  <a:srgbClr val="D4D4D4"/>
                </a:solidFill>
                <a:latin typeface="Courier New" pitchFamily="34" charset="0"/>
                <a:ea typeface="Courier New" pitchFamily="34" charset="-122"/>
                <a:cs typeface="Courier New" pitchFamily="34" charset="-120"/>
              </a:rPr>
              <a:t> Animal {</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r>
              <a:rPr lang="en-US" sz="1200" dirty="0">
                <a:solidFill>
                  <a:srgbClr val="DCDCAA"/>
                </a:solidFill>
                <a:latin typeface="Courier New" pitchFamily="34" charset="0"/>
                <a:ea typeface="Courier New" pitchFamily="34" charset="-122"/>
                <a:cs typeface="Courier New" pitchFamily="34" charset="-120"/>
              </a:rPr>
              <a:t>Dog</a:t>
            </a:r>
            <a:r>
              <a:rPr lang="en-US" sz="1200" dirty="0">
                <a:solidFill>
                  <a:srgbClr val="D4D4D4"/>
                </a:solidFill>
                <a:latin typeface="Courier New" pitchFamily="34" charset="0"/>
                <a:ea typeface="Courier New" pitchFamily="34" charset="-122"/>
                <a:cs typeface="Courier New" pitchFamily="34" charset="-120"/>
              </a:rPr>
              <a:t>(</a:t>
            </a:r>
            <a:r>
              <a:rPr lang="en-US" sz="1200" dirty="0">
                <a:solidFill>
                  <a:srgbClr val="4EC9B0"/>
                </a:solidFill>
                <a:latin typeface="Courier New" pitchFamily="34" charset="0"/>
                <a:ea typeface="Courier New" pitchFamily="34" charset="-122"/>
                <a:cs typeface="Courier New" pitchFamily="34" charset="-120"/>
              </a:rPr>
              <a:t>String</a:t>
            </a:r>
            <a:r>
              <a:rPr lang="en-US" sz="1200" dirty="0">
                <a:solidFill>
                  <a:srgbClr val="D4D4D4"/>
                </a:solidFill>
                <a:latin typeface="Courier New" pitchFamily="34" charset="0"/>
                <a:ea typeface="Courier New" pitchFamily="34" charset="-122"/>
                <a:cs typeface="Courier New" pitchFamily="34" charset="-120"/>
              </a:rPr>
              <a:t> name) {</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r>
              <a:rPr lang="en-US" sz="1200" b="1" dirty="0">
                <a:solidFill>
                  <a:srgbClr val="569CD6"/>
                </a:solidFill>
                <a:latin typeface="Courier New" pitchFamily="34" charset="0"/>
                <a:ea typeface="Courier New" pitchFamily="34" charset="-122"/>
                <a:cs typeface="Courier New" pitchFamily="34" charset="-120"/>
              </a:rPr>
              <a:t>super</a:t>
            </a:r>
            <a:r>
              <a:rPr lang="en-US" sz="1200" dirty="0">
                <a:solidFill>
                  <a:srgbClr val="D4D4D4"/>
                </a:solidFill>
                <a:latin typeface="Courier New" pitchFamily="34" charset="0"/>
                <a:ea typeface="Courier New" pitchFamily="34" charset="-122"/>
                <a:cs typeface="Courier New" pitchFamily="34" charset="-120"/>
              </a:rPr>
              <a:t>(name);</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a:t>
            </a:r>
            <a:endParaRPr lang="en-US" sz="1200" dirty="0"/>
          </a:p>
        </p:txBody>
      </p:sp>
      <p:sp>
        <p:nvSpPr>
          <p:cNvPr id="17" name="Shape 15"/>
          <p:cNvSpPr/>
          <p:nvPr/>
        </p:nvSpPr>
        <p:spPr>
          <a:xfrm>
            <a:off x="0" y="0"/>
            <a:ext cx="12191695" cy="384048"/>
          </a:xfrm>
          <a:prstGeom prst="rect">
            <a:avLst/>
          </a:prstGeom>
          <a:solidFill>
            <a:srgbClr val="1B2A4A"/>
          </a:solidFill>
          <a:ln w="12700">
            <a:solidFill>
              <a:srgbClr val="1B2A4A"/>
            </a:solidFill>
            <a:prstDash val="solid"/>
          </a:ln>
        </p:spPr>
      </p:sp>
      <p:sp>
        <p:nvSpPr>
          <p:cNvPr id="18" name="Text 16"/>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9" name="Shape 17"/>
          <p:cNvSpPr/>
          <p:nvPr/>
        </p:nvSpPr>
        <p:spPr>
          <a:xfrm>
            <a:off x="219456" y="301752"/>
            <a:ext cx="960120" cy="0"/>
          </a:xfrm>
          <a:prstGeom prst="line">
            <a:avLst/>
          </a:prstGeom>
          <a:noFill/>
          <a:ln w="9525">
            <a:solidFill>
              <a:srgbClr val="4A5570"/>
            </a:solidFill>
            <a:prstDash val="solid"/>
          </a:ln>
        </p:spPr>
      </p:sp>
      <p:sp>
        <p:nvSpPr>
          <p:cNvPr id="20" name="Text 18"/>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1" name="Text 19"/>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2" name="Text 20"/>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3" name="Shape 21"/>
          <p:cNvSpPr/>
          <p:nvPr/>
        </p:nvSpPr>
        <p:spPr>
          <a:xfrm>
            <a:off x="0" y="6291072"/>
            <a:ext cx="12191695" cy="566928"/>
          </a:xfrm>
          <a:prstGeom prst="rect">
            <a:avLst/>
          </a:prstGeom>
          <a:solidFill>
            <a:srgbClr val="1B2A4A"/>
          </a:solidFill>
          <a:ln w="12700">
            <a:solidFill>
              <a:srgbClr val="1B2A4A"/>
            </a:solidFill>
            <a:prstDash val="solid"/>
          </a:ln>
        </p:spPr>
      </p:sp>
      <p:sp>
        <p:nvSpPr>
          <p:cNvPr id="24" name="Text 22"/>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5" name="Text 23"/>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EXTENDING, NOT REPLACING</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Calling a Parent Method with super</a:t>
            </a:r>
            <a:endParaRPr lang="en-US" sz="2700" dirty="0"/>
          </a:p>
        </p:txBody>
      </p:sp>
      <p:sp>
        <p:nvSpPr>
          <p:cNvPr id="4" name="Shape 2"/>
          <p:cNvSpPr/>
          <p:nvPr/>
        </p:nvSpPr>
        <p:spPr>
          <a:xfrm>
            <a:off x="594360" y="1600200"/>
            <a:ext cx="10607040" cy="896112"/>
          </a:xfrm>
          <a:prstGeom prst="roundRect">
            <a:avLst>
              <a:gd name="adj" fmla="val 6122"/>
            </a:avLst>
          </a:prstGeom>
          <a:solidFill>
            <a:srgbClr val="F5F6FA"/>
          </a:solidFill>
          <a:ln w="9525">
            <a:solidFill>
              <a:srgbClr val="E4E7EE"/>
            </a:solidFill>
            <a:prstDash val="solid"/>
          </a:ln>
        </p:spPr>
      </p:sp>
      <p:sp>
        <p:nvSpPr>
          <p:cNvPr id="5" name="Shape 3"/>
          <p:cNvSpPr/>
          <p:nvPr/>
        </p:nvSpPr>
        <p:spPr>
          <a:xfrm>
            <a:off x="804672" y="1755648"/>
            <a:ext cx="100584" cy="100584"/>
          </a:xfrm>
          <a:prstGeom prst="ellipse">
            <a:avLst/>
          </a:prstGeom>
          <a:solidFill>
            <a:srgbClr val="E8590C"/>
          </a:solidFill>
          <a:ln w="12700">
            <a:solidFill>
              <a:srgbClr val="000000"/>
            </a:solidFill>
            <a:prstDash val="solid"/>
          </a:ln>
        </p:spPr>
      </p:sp>
      <p:sp>
        <p:nvSpPr>
          <p:cNvPr id="6" name="Text 4"/>
          <p:cNvSpPr/>
          <p:nvPr/>
        </p:nvSpPr>
        <p:spPr>
          <a:xfrm>
            <a:off x="1051560" y="1655064"/>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super.method() calls the parent's version of a method, even when the subclass overrides it.</a:t>
            </a:r>
            <a:endParaRPr lang="en-US" sz="1250" dirty="0"/>
          </a:p>
        </p:txBody>
      </p:sp>
      <p:sp>
        <p:nvSpPr>
          <p:cNvPr id="7" name="Shape 5"/>
          <p:cNvSpPr/>
          <p:nvPr/>
        </p:nvSpPr>
        <p:spPr>
          <a:xfrm>
            <a:off x="804672" y="2103120"/>
            <a:ext cx="100584" cy="100584"/>
          </a:xfrm>
          <a:prstGeom prst="ellipse">
            <a:avLst/>
          </a:prstGeom>
          <a:solidFill>
            <a:srgbClr val="E8590C"/>
          </a:solidFill>
          <a:ln w="12700">
            <a:solidFill>
              <a:srgbClr val="000000"/>
            </a:solidFill>
            <a:prstDash val="solid"/>
          </a:ln>
        </p:spPr>
      </p:sp>
      <p:sp>
        <p:nvSpPr>
          <p:cNvPr id="8" name="Text 6"/>
          <p:cNvSpPr/>
          <p:nvPr/>
        </p:nvSpPr>
        <p:spPr>
          <a:xfrm>
            <a:off x="1051560" y="2002536"/>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This lets a subclass extend the parent's behavior instead of fully replacing it.</a:t>
            </a:r>
            <a:endParaRPr lang="en-US" sz="1250" dirty="0"/>
          </a:p>
        </p:txBody>
      </p:sp>
      <p:sp>
        <p:nvSpPr>
          <p:cNvPr id="9" name="Shape 7"/>
          <p:cNvSpPr/>
          <p:nvPr/>
        </p:nvSpPr>
        <p:spPr>
          <a:xfrm>
            <a:off x="594360" y="2642616"/>
            <a:ext cx="10607040" cy="3392424"/>
          </a:xfrm>
          <a:prstGeom prst="roundRect">
            <a:avLst>
              <a:gd name="adj" fmla="val 2156"/>
            </a:avLst>
          </a:prstGeom>
          <a:solidFill>
            <a:srgbClr val="1E1E2E"/>
          </a:solidFill>
          <a:ln w="12700">
            <a:solidFill>
              <a:srgbClr val="000000"/>
            </a:solidFill>
            <a:prstDash val="solid"/>
          </a:ln>
        </p:spPr>
      </p:sp>
      <p:sp>
        <p:nvSpPr>
          <p:cNvPr id="10" name="Shape 8"/>
          <p:cNvSpPr/>
          <p:nvPr/>
        </p:nvSpPr>
        <p:spPr>
          <a:xfrm>
            <a:off x="594360" y="2642616"/>
            <a:ext cx="10607040" cy="274320"/>
          </a:xfrm>
          <a:prstGeom prst="roundRect">
            <a:avLst>
              <a:gd name="adj" fmla="val 26667"/>
            </a:avLst>
          </a:prstGeom>
          <a:solidFill>
            <a:srgbClr val="17172A"/>
          </a:solidFill>
          <a:ln w="12700">
            <a:solidFill>
              <a:srgbClr val="000000"/>
            </a:solidFill>
            <a:prstDash val="solid"/>
          </a:ln>
        </p:spPr>
      </p:sp>
      <p:sp>
        <p:nvSpPr>
          <p:cNvPr id="11" name="Shape 9"/>
          <p:cNvSpPr/>
          <p:nvPr/>
        </p:nvSpPr>
        <p:spPr>
          <a:xfrm>
            <a:off x="594360" y="2843784"/>
            <a:ext cx="10607040" cy="73152"/>
          </a:xfrm>
          <a:prstGeom prst="rect">
            <a:avLst/>
          </a:prstGeom>
          <a:solidFill>
            <a:srgbClr val="17172A"/>
          </a:solidFill>
          <a:ln w="12700">
            <a:solidFill>
              <a:srgbClr val="000000"/>
            </a:solidFill>
            <a:prstDash val="solid"/>
          </a:ln>
        </p:spPr>
      </p:sp>
      <p:sp>
        <p:nvSpPr>
          <p:cNvPr id="12" name="Shape 10"/>
          <p:cNvSpPr/>
          <p:nvPr/>
        </p:nvSpPr>
        <p:spPr>
          <a:xfrm>
            <a:off x="722376" y="2741371"/>
            <a:ext cx="76810" cy="76810"/>
          </a:xfrm>
          <a:prstGeom prst="ellipse">
            <a:avLst/>
          </a:prstGeom>
          <a:solidFill>
            <a:srgbClr val="FF5F56"/>
          </a:solidFill>
          <a:ln w="12700">
            <a:solidFill>
              <a:srgbClr val="000000"/>
            </a:solidFill>
            <a:prstDash val="solid"/>
          </a:ln>
        </p:spPr>
      </p:sp>
      <p:sp>
        <p:nvSpPr>
          <p:cNvPr id="13" name="Shape 11"/>
          <p:cNvSpPr/>
          <p:nvPr/>
        </p:nvSpPr>
        <p:spPr>
          <a:xfrm>
            <a:off x="886968" y="2741371"/>
            <a:ext cx="76810" cy="76810"/>
          </a:xfrm>
          <a:prstGeom prst="ellipse">
            <a:avLst/>
          </a:prstGeom>
          <a:solidFill>
            <a:srgbClr val="FFBD2E"/>
          </a:solidFill>
          <a:ln w="12700">
            <a:solidFill>
              <a:srgbClr val="000000"/>
            </a:solidFill>
            <a:prstDash val="solid"/>
          </a:ln>
        </p:spPr>
      </p:sp>
      <p:sp>
        <p:nvSpPr>
          <p:cNvPr id="14" name="Shape 12"/>
          <p:cNvSpPr/>
          <p:nvPr/>
        </p:nvSpPr>
        <p:spPr>
          <a:xfrm>
            <a:off x="1051560" y="2741371"/>
            <a:ext cx="76810" cy="76810"/>
          </a:xfrm>
          <a:prstGeom prst="ellipse">
            <a:avLst/>
          </a:prstGeom>
          <a:solidFill>
            <a:srgbClr val="27C93F"/>
          </a:solidFill>
          <a:ln w="12700">
            <a:solidFill>
              <a:srgbClr val="000000"/>
            </a:solidFill>
            <a:prstDash val="solid"/>
          </a:ln>
        </p:spPr>
      </p:sp>
      <p:sp>
        <p:nvSpPr>
          <p:cNvPr id="15" name="Text 13"/>
          <p:cNvSpPr/>
          <p:nvPr/>
        </p:nvSpPr>
        <p:spPr>
          <a:xfrm>
            <a:off x="1371600" y="2642616"/>
            <a:ext cx="9692640" cy="274320"/>
          </a:xfrm>
          <a:prstGeom prst="rect">
            <a:avLst/>
          </a:prstGeom>
          <a:noFill/>
          <a:ln/>
        </p:spPr>
        <p:txBody>
          <a:bodyPr wrap="square" lIns="0" tIns="0" rIns="0" bIns="0" rtlCol="0" anchor="ctr"/>
          <a:lstStyle/>
          <a:p>
            <a:pPr marL="0" indent="0" algn="l">
              <a:buNone/>
            </a:pPr>
            <a:r>
              <a:rPr lang="en-US" sz="1000" dirty="0">
                <a:solidFill>
                  <a:srgbClr val="8A8FA3"/>
                </a:solidFill>
                <a:latin typeface="Courier New" pitchFamily="34" charset="0"/>
                <a:ea typeface="Courier New" pitchFamily="34" charset="-122"/>
                <a:cs typeface="Courier New" pitchFamily="34" charset="-120"/>
              </a:rPr>
              <a:t>Main.java</a:t>
            </a:r>
            <a:endParaRPr lang="en-US" sz="1000" dirty="0"/>
          </a:p>
        </p:txBody>
      </p:sp>
      <p:sp>
        <p:nvSpPr>
          <p:cNvPr id="16" name="Text 14"/>
          <p:cNvSpPr/>
          <p:nvPr/>
        </p:nvSpPr>
        <p:spPr>
          <a:xfrm>
            <a:off x="777240" y="2990088"/>
            <a:ext cx="10241280" cy="2971800"/>
          </a:xfrm>
          <a:prstGeom prst="rect">
            <a:avLst/>
          </a:prstGeom>
          <a:noFill/>
          <a:ln/>
        </p:spPr>
        <p:txBody>
          <a:bodyPr wrap="square" lIns="0" tIns="0" rIns="0" bIns="0" rtlCol="0" anchor="t"/>
          <a:lstStyle/>
          <a:p>
            <a:pPr marL="0" indent="0" algn="l">
              <a:lnSpc>
                <a:spcPct val="118000"/>
              </a:lnSpc>
              <a:buNone/>
            </a:pPr>
            <a:r>
              <a:rPr lang="en-US" sz="1400" b="1" dirty="0">
                <a:solidFill>
                  <a:srgbClr val="569CD6"/>
                </a:solidFill>
                <a:latin typeface="Courier New" pitchFamily="34" charset="0"/>
                <a:ea typeface="Courier New" pitchFamily="34" charset="-122"/>
                <a:cs typeface="Courier New" pitchFamily="34" charset="-120"/>
              </a:rPr>
              <a:t>public</a:t>
            </a:r>
            <a:r>
              <a:rPr lang="en-US" sz="1400" dirty="0">
                <a:solidFill>
                  <a:srgbClr val="D4D4D4"/>
                </a:solidFill>
                <a:latin typeface="Courier New" pitchFamily="34" charset="0"/>
                <a:ea typeface="Courier New" pitchFamily="34" charset="-122"/>
                <a:cs typeface="Courier New" pitchFamily="34" charset="-120"/>
              </a:rPr>
              <a:t> </a:t>
            </a:r>
            <a:r>
              <a:rPr lang="en-US" sz="1400" b="1" dirty="0">
                <a:solidFill>
                  <a:srgbClr val="569CD6"/>
                </a:solidFill>
                <a:latin typeface="Courier New" pitchFamily="34" charset="0"/>
                <a:ea typeface="Courier New" pitchFamily="34" charset="-122"/>
                <a:cs typeface="Courier New" pitchFamily="34" charset="-120"/>
              </a:rPr>
              <a:t>class</a:t>
            </a:r>
            <a:r>
              <a:rPr lang="en-US" sz="1400" dirty="0">
                <a:solidFill>
                  <a:srgbClr val="D4D4D4"/>
                </a:solidFill>
                <a:latin typeface="Courier New" pitchFamily="34" charset="0"/>
                <a:ea typeface="Courier New" pitchFamily="34" charset="-122"/>
                <a:cs typeface="Courier New" pitchFamily="34" charset="-120"/>
              </a:rPr>
              <a:t> Animal {</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a:t>
            </a:r>
            <a:r>
              <a:rPr lang="en-US" sz="1400" b="1" dirty="0">
                <a:solidFill>
                  <a:srgbClr val="569CD6"/>
                </a:solidFill>
                <a:latin typeface="Courier New" pitchFamily="34" charset="0"/>
                <a:ea typeface="Courier New" pitchFamily="34" charset="-122"/>
                <a:cs typeface="Courier New" pitchFamily="34" charset="-120"/>
              </a:rPr>
              <a:t>void</a:t>
            </a:r>
            <a:r>
              <a:rPr lang="en-US" sz="1400" dirty="0">
                <a:solidFill>
                  <a:srgbClr val="D4D4D4"/>
                </a:solidFill>
                <a:latin typeface="Courier New" pitchFamily="34" charset="0"/>
                <a:ea typeface="Courier New" pitchFamily="34" charset="-122"/>
                <a:cs typeface="Courier New" pitchFamily="34" charset="-120"/>
              </a:rPr>
              <a:t> </a:t>
            </a:r>
            <a:r>
              <a:rPr lang="en-US" sz="1400" dirty="0">
                <a:solidFill>
                  <a:srgbClr val="DCDCAA"/>
                </a:solidFill>
                <a:latin typeface="Courier New" pitchFamily="34" charset="0"/>
                <a:ea typeface="Courier New" pitchFamily="34" charset="-122"/>
                <a:cs typeface="Courier New" pitchFamily="34" charset="-120"/>
              </a:rPr>
              <a:t>makeSound</a:t>
            </a:r>
            <a:r>
              <a:rPr lang="en-US" sz="1400" dirty="0">
                <a:solidFill>
                  <a:srgbClr val="D4D4D4"/>
                </a:solidFill>
                <a:latin typeface="Courier New" pitchFamily="34" charset="0"/>
                <a:ea typeface="Courier New" pitchFamily="34" charset="-122"/>
                <a:cs typeface="Courier New" pitchFamily="34" charset="-120"/>
              </a:rPr>
              <a:t>() {</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a:t>
            </a:r>
            <a:r>
              <a:rPr lang="en-US" sz="1400" dirty="0">
                <a:solidFill>
                  <a:srgbClr val="4EC9B0"/>
                </a:solidFill>
                <a:latin typeface="Courier New" pitchFamily="34" charset="0"/>
                <a:ea typeface="Courier New" pitchFamily="34" charset="-122"/>
                <a:cs typeface="Courier New" pitchFamily="34" charset="-120"/>
              </a:rPr>
              <a:t>System</a:t>
            </a:r>
            <a:r>
              <a:rPr lang="en-US" sz="1400" dirty="0">
                <a:solidFill>
                  <a:srgbClr val="D4D4D4"/>
                </a:solidFill>
                <a:latin typeface="Courier New" pitchFamily="34" charset="0"/>
                <a:ea typeface="Courier New" pitchFamily="34" charset="-122"/>
                <a:cs typeface="Courier New" pitchFamily="34" charset="-120"/>
              </a:rPr>
              <a:t>.out.</a:t>
            </a:r>
            <a:r>
              <a:rPr lang="en-US" sz="1400" dirty="0">
                <a:solidFill>
                  <a:srgbClr val="DCDCAA"/>
                </a:solidFill>
                <a:latin typeface="Courier New" pitchFamily="34" charset="0"/>
                <a:ea typeface="Courier New" pitchFamily="34" charset="-122"/>
                <a:cs typeface="Courier New" pitchFamily="34" charset="-120"/>
              </a:rPr>
              <a:t>println</a:t>
            </a:r>
            <a:r>
              <a:rPr lang="en-US" sz="1400" dirty="0">
                <a:solidFill>
                  <a:srgbClr val="D4D4D4"/>
                </a:solidFill>
                <a:latin typeface="Courier New" pitchFamily="34" charset="0"/>
                <a:ea typeface="Courier New" pitchFamily="34" charset="-122"/>
                <a:cs typeface="Courier New" pitchFamily="34" charset="-120"/>
              </a:rPr>
              <a:t>(</a:t>
            </a:r>
            <a:r>
              <a:rPr lang="en-US" sz="1400" dirty="0">
                <a:solidFill>
                  <a:srgbClr val="CE9178"/>
                </a:solidFill>
                <a:latin typeface="Courier New" pitchFamily="34" charset="0"/>
                <a:ea typeface="Courier New" pitchFamily="34" charset="-122"/>
                <a:cs typeface="Courier New" pitchFamily="34" charset="-120"/>
              </a:rPr>
              <a:t>"Some generic sound"</a:t>
            </a:r>
            <a:r>
              <a:rPr lang="en-US" sz="1400" dirty="0">
                <a:solidFill>
                  <a:srgbClr val="D4D4D4"/>
                </a:solidFill>
                <a:latin typeface="Courier New" pitchFamily="34" charset="0"/>
                <a:ea typeface="Courier New" pitchFamily="34" charset="-122"/>
                <a:cs typeface="Courier New" pitchFamily="34" charset="-120"/>
              </a:rPr>
              <a:t>);</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a:t>
            </a:r>
            <a:endParaRPr lang="en-US" sz="1400" dirty="0"/>
          </a:p>
          <a:p>
            <a:pPr marL="0" indent="0" algn="l">
              <a:lnSpc>
                <a:spcPct val="118000"/>
              </a:lnSpc>
              <a:buNone/>
            </a:pPr>
            <a:r>
              <a:rPr lang="en-US" sz="1400" b="1" dirty="0">
                <a:solidFill>
                  <a:srgbClr val="569CD6"/>
                </a:solidFill>
                <a:latin typeface="Courier New" pitchFamily="34" charset="0"/>
                <a:ea typeface="Courier New" pitchFamily="34" charset="-122"/>
                <a:cs typeface="Courier New" pitchFamily="34" charset="-120"/>
              </a:rPr>
              <a:t>public</a:t>
            </a:r>
            <a:r>
              <a:rPr lang="en-US" sz="1400" dirty="0">
                <a:solidFill>
                  <a:srgbClr val="D4D4D4"/>
                </a:solidFill>
                <a:latin typeface="Courier New" pitchFamily="34" charset="0"/>
                <a:ea typeface="Courier New" pitchFamily="34" charset="-122"/>
                <a:cs typeface="Courier New" pitchFamily="34" charset="-120"/>
              </a:rPr>
              <a:t> </a:t>
            </a:r>
            <a:r>
              <a:rPr lang="en-US" sz="1400" b="1" dirty="0">
                <a:solidFill>
                  <a:srgbClr val="569CD6"/>
                </a:solidFill>
                <a:latin typeface="Courier New" pitchFamily="34" charset="0"/>
                <a:ea typeface="Courier New" pitchFamily="34" charset="-122"/>
                <a:cs typeface="Courier New" pitchFamily="34" charset="-120"/>
              </a:rPr>
              <a:t>class</a:t>
            </a:r>
            <a:r>
              <a:rPr lang="en-US" sz="1400" dirty="0">
                <a:solidFill>
                  <a:srgbClr val="D4D4D4"/>
                </a:solidFill>
                <a:latin typeface="Courier New" pitchFamily="34" charset="0"/>
                <a:ea typeface="Courier New" pitchFamily="34" charset="-122"/>
                <a:cs typeface="Courier New" pitchFamily="34" charset="-120"/>
              </a:rPr>
              <a:t> Dog </a:t>
            </a:r>
            <a:r>
              <a:rPr lang="en-US" sz="1400" b="1" dirty="0">
                <a:solidFill>
                  <a:srgbClr val="569CD6"/>
                </a:solidFill>
                <a:latin typeface="Courier New" pitchFamily="34" charset="0"/>
                <a:ea typeface="Courier New" pitchFamily="34" charset="-122"/>
                <a:cs typeface="Courier New" pitchFamily="34" charset="-120"/>
              </a:rPr>
              <a:t>extends</a:t>
            </a:r>
            <a:r>
              <a:rPr lang="en-US" sz="1400" dirty="0">
                <a:solidFill>
                  <a:srgbClr val="D4D4D4"/>
                </a:solidFill>
                <a:latin typeface="Courier New" pitchFamily="34" charset="0"/>
                <a:ea typeface="Courier New" pitchFamily="34" charset="-122"/>
                <a:cs typeface="Courier New" pitchFamily="34" charset="-120"/>
              </a:rPr>
              <a:t> Animal {</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a:t>
            </a:r>
            <a:r>
              <a:rPr lang="en-US" sz="1400" b="1" dirty="0">
                <a:solidFill>
                  <a:srgbClr val="569CD6"/>
                </a:solidFill>
                <a:latin typeface="Courier New" pitchFamily="34" charset="0"/>
                <a:ea typeface="Courier New" pitchFamily="34" charset="-122"/>
                <a:cs typeface="Courier New" pitchFamily="34" charset="-120"/>
              </a:rPr>
              <a:t>void</a:t>
            </a:r>
            <a:r>
              <a:rPr lang="en-US" sz="1400" dirty="0">
                <a:solidFill>
                  <a:srgbClr val="D4D4D4"/>
                </a:solidFill>
                <a:latin typeface="Courier New" pitchFamily="34" charset="0"/>
                <a:ea typeface="Courier New" pitchFamily="34" charset="-122"/>
                <a:cs typeface="Courier New" pitchFamily="34" charset="-120"/>
              </a:rPr>
              <a:t> </a:t>
            </a:r>
            <a:r>
              <a:rPr lang="en-US" sz="1400" dirty="0">
                <a:solidFill>
                  <a:srgbClr val="DCDCAA"/>
                </a:solidFill>
                <a:latin typeface="Courier New" pitchFamily="34" charset="0"/>
                <a:ea typeface="Courier New" pitchFamily="34" charset="-122"/>
                <a:cs typeface="Courier New" pitchFamily="34" charset="-120"/>
              </a:rPr>
              <a:t>makeSound</a:t>
            </a:r>
            <a:r>
              <a:rPr lang="en-US" sz="1400" dirty="0">
                <a:solidFill>
                  <a:srgbClr val="D4D4D4"/>
                </a:solidFill>
                <a:latin typeface="Courier New" pitchFamily="34" charset="0"/>
                <a:ea typeface="Courier New" pitchFamily="34" charset="-122"/>
                <a:cs typeface="Courier New" pitchFamily="34" charset="-120"/>
              </a:rPr>
              <a:t>() {</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a:t>
            </a:r>
            <a:r>
              <a:rPr lang="en-US" sz="1400" b="1" dirty="0">
                <a:solidFill>
                  <a:srgbClr val="569CD6"/>
                </a:solidFill>
                <a:latin typeface="Courier New" pitchFamily="34" charset="0"/>
                <a:ea typeface="Courier New" pitchFamily="34" charset="-122"/>
                <a:cs typeface="Courier New" pitchFamily="34" charset="-120"/>
              </a:rPr>
              <a:t>super</a:t>
            </a:r>
            <a:r>
              <a:rPr lang="en-US" sz="1400" dirty="0">
                <a:solidFill>
                  <a:srgbClr val="D4D4D4"/>
                </a:solidFill>
                <a:latin typeface="Courier New" pitchFamily="34" charset="0"/>
                <a:ea typeface="Courier New" pitchFamily="34" charset="-122"/>
                <a:cs typeface="Courier New" pitchFamily="34" charset="-120"/>
              </a:rPr>
              <a:t>.</a:t>
            </a:r>
            <a:r>
              <a:rPr lang="en-US" sz="1400" dirty="0">
                <a:solidFill>
                  <a:srgbClr val="DCDCAA"/>
                </a:solidFill>
                <a:latin typeface="Courier New" pitchFamily="34" charset="0"/>
                <a:ea typeface="Courier New" pitchFamily="34" charset="-122"/>
                <a:cs typeface="Courier New" pitchFamily="34" charset="-120"/>
              </a:rPr>
              <a:t>makeSound</a:t>
            </a:r>
            <a:r>
              <a:rPr lang="en-US" sz="1400" dirty="0">
                <a:solidFill>
                  <a:srgbClr val="D4D4D4"/>
                </a:solidFill>
                <a:latin typeface="Courier New" pitchFamily="34" charset="0"/>
                <a:ea typeface="Courier New" pitchFamily="34" charset="-122"/>
                <a:cs typeface="Courier New" pitchFamily="34" charset="-120"/>
              </a:rPr>
              <a:t>();</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a:t>
            </a:r>
            <a:r>
              <a:rPr lang="en-US" sz="1400" dirty="0">
                <a:solidFill>
                  <a:srgbClr val="4EC9B0"/>
                </a:solidFill>
                <a:latin typeface="Courier New" pitchFamily="34" charset="0"/>
                <a:ea typeface="Courier New" pitchFamily="34" charset="-122"/>
                <a:cs typeface="Courier New" pitchFamily="34" charset="-120"/>
              </a:rPr>
              <a:t>System</a:t>
            </a:r>
            <a:r>
              <a:rPr lang="en-US" sz="1400" dirty="0">
                <a:solidFill>
                  <a:srgbClr val="D4D4D4"/>
                </a:solidFill>
                <a:latin typeface="Courier New" pitchFamily="34" charset="0"/>
                <a:ea typeface="Courier New" pitchFamily="34" charset="-122"/>
                <a:cs typeface="Courier New" pitchFamily="34" charset="-120"/>
              </a:rPr>
              <a:t>.out.</a:t>
            </a:r>
            <a:r>
              <a:rPr lang="en-US" sz="1400" dirty="0">
                <a:solidFill>
                  <a:srgbClr val="DCDCAA"/>
                </a:solidFill>
                <a:latin typeface="Courier New" pitchFamily="34" charset="0"/>
                <a:ea typeface="Courier New" pitchFamily="34" charset="-122"/>
                <a:cs typeface="Courier New" pitchFamily="34" charset="-120"/>
              </a:rPr>
              <a:t>println</a:t>
            </a:r>
            <a:r>
              <a:rPr lang="en-US" sz="1400" dirty="0">
                <a:solidFill>
                  <a:srgbClr val="D4D4D4"/>
                </a:solidFill>
                <a:latin typeface="Courier New" pitchFamily="34" charset="0"/>
                <a:ea typeface="Courier New" pitchFamily="34" charset="-122"/>
                <a:cs typeface="Courier New" pitchFamily="34" charset="-120"/>
              </a:rPr>
              <a:t>(</a:t>
            </a:r>
            <a:r>
              <a:rPr lang="en-US" sz="1400" dirty="0">
                <a:solidFill>
                  <a:srgbClr val="CE9178"/>
                </a:solidFill>
                <a:latin typeface="Courier New" pitchFamily="34" charset="0"/>
                <a:ea typeface="Courier New" pitchFamily="34" charset="-122"/>
                <a:cs typeface="Courier New" pitchFamily="34" charset="-120"/>
              </a:rPr>
              <a:t>"Woof!"</a:t>
            </a:r>
            <a:r>
              <a:rPr lang="en-US" sz="1400" dirty="0">
                <a:solidFill>
                  <a:srgbClr val="D4D4D4"/>
                </a:solidFill>
                <a:latin typeface="Courier New" pitchFamily="34" charset="0"/>
                <a:ea typeface="Courier New" pitchFamily="34" charset="-122"/>
                <a:cs typeface="Courier New" pitchFamily="34" charset="-120"/>
              </a:rPr>
              <a:t>);</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    }</a:t>
            </a:r>
            <a:endParaRPr lang="en-US" sz="1400" dirty="0"/>
          </a:p>
          <a:p>
            <a:pPr marL="0" indent="0" algn="l">
              <a:lnSpc>
                <a:spcPct val="118000"/>
              </a:lnSpc>
              <a:buNone/>
            </a:pPr>
            <a:r>
              <a:rPr lang="en-US" sz="1400" dirty="0">
                <a:solidFill>
                  <a:srgbClr val="D4D4D4"/>
                </a:solidFill>
                <a:latin typeface="Courier New" pitchFamily="34" charset="0"/>
                <a:ea typeface="Courier New" pitchFamily="34" charset="-122"/>
                <a:cs typeface="Courier New" pitchFamily="34" charset="-120"/>
              </a:rPr>
              <a:t>}</a:t>
            </a:r>
            <a:endParaRPr lang="en-US" sz="1400" dirty="0"/>
          </a:p>
        </p:txBody>
      </p:sp>
      <p:sp>
        <p:nvSpPr>
          <p:cNvPr id="17" name="Shape 15"/>
          <p:cNvSpPr/>
          <p:nvPr/>
        </p:nvSpPr>
        <p:spPr>
          <a:xfrm>
            <a:off x="0" y="0"/>
            <a:ext cx="12191695" cy="384048"/>
          </a:xfrm>
          <a:prstGeom prst="rect">
            <a:avLst/>
          </a:prstGeom>
          <a:solidFill>
            <a:srgbClr val="1B2A4A"/>
          </a:solidFill>
          <a:ln w="12700">
            <a:solidFill>
              <a:srgbClr val="1B2A4A"/>
            </a:solidFill>
            <a:prstDash val="solid"/>
          </a:ln>
        </p:spPr>
      </p:sp>
      <p:sp>
        <p:nvSpPr>
          <p:cNvPr id="18" name="Text 16"/>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9" name="Shape 17"/>
          <p:cNvSpPr/>
          <p:nvPr/>
        </p:nvSpPr>
        <p:spPr>
          <a:xfrm>
            <a:off x="219456" y="301752"/>
            <a:ext cx="960120" cy="0"/>
          </a:xfrm>
          <a:prstGeom prst="line">
            <a:avLst/>
          </a:prstGeom>
          <a:noFill/>
          <a:ln w="9525">
            <a:solidFill>
              <a:srgbClr val="4A5570"/>
            </a:solidFill>
            <a:prstDash val="solid"/>
          </a:ln>
        </p:spPr>
      </p:sp>
      <p:sp>
        <p:nvSpPr>
          <p:cNvPr id="20" name="Text 18"/>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1" name="Text 19"/>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2" name="Text 20"/>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3" name="Shape 21"/>
          <p:cNvSpPr/>
          <p:nvPr/>
        </p:nvSpPr>
        <p:spPr>
          <a:xfrm>
            <a:off x="0" y="6291072"/>
            <a:ext cx="12191695" cy="566928"/>
          </a:xfrm>
          <a:prstGeom prst="rect">
            <a:avLst/>
          </a:prstGeom>
          <a:solidFill>
            <a:srgbClr val="1B2A4A"/>
          </a:solidFill>
          <a:ln w="12700">
            <a:solidFill>
              <a:srgbClr val="1B2A4A"/>
            </a:solidFill>
            <a:prstDash val="solid"/>
          </a:ln>
        </p:spPr>
      </p:sp>
      <p:sp>
        <p:nvSpPr>
          <p:cNvPr id="24" name="Text 22"/>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5" name="Text 23"/>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A JAVA RULE</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Single Inheritance of Classes</a:t>
            </a:r>
            <a:endParaRPr lang="en-US" sz="2700" dirty="0"/>
          </a:p>
        </p:txBody>
      </p:sp>
      <p:sp>
        <p:nvSpPr>
          <p:cNvPr id="4" name="Shape 2"/>
          <p:cNvSpPr/>
          <p:nvPr/>
        </p:nvSpPr>
        <p:spPr>
          <a:xfrm>
            <a:off x="594360" y="1691640"/>
            <a:ext cx="10607040" cy="2089404"/>
          </a:xfrm>
          <a:prstGeom prst="roundRect">
            <a:avLst>
              <a:gd name="adj" fmla="val 2626"/>
            </a:avLst>
          </a:prstGeom>
          <a:solidFill>
            <a:srgbClr val="F5F6FA"/>
          </a:solidFill>
          <a:ln w="9525">
            <a:solidFill>
              <a:srgbClr val="E4E7EE"/>
            </a:solidFill>
            <a:prstDash val="solid"/>
          </a:ln>
        </p:spPr>
      </p:sp>
      <p:sp>
        <p:nvSpPr>
          <p:cNvPr id="5" name="Shape 3"/>
          <p:cNvSpPr/>
          <p:nvPr/>
        </p:nvSpPr>
        <p:spPr>
          <a:xfrm>
            <a:off x="777240" y="1874520"/>
            <a:ext cx="109728" cy="109728"/>
          </a:xfrm>
          <a:prstGeom prst="ellipse">
            <a:avLst/>
          </a:prstGeom>
          <a:solidFill>
            <a:srgbClr val="E8590C"/>
          </a:solidFill>
          <a:ln w="12700">
            <a:solidFill>
              <a:srgbClr val="000000"/>
            </a:solidFill>
            <a:prstDash val="solid"/>
          </a:ln>
        </p:spPr>
      </p:sp>
      <p:sp>
        <p:nvSpPr>
          <p:cNvPr id="6" name="Text 4"/>
          <p:cNvSpPr/>
          <p:nvPr/>
        </p:nvSpPr>
        <p:spPr>
          <a:xfrm>
            <a:off x="1051560" y="1764792"/>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A class can extend only one class</a:t>
            </a:r>
            <a:endParaRPr lang="en-US" sz="1500" dirty="0"/>
          </a:p>
        </p:txBody>
      </p:sp>
      <p:sp>
        <p:nvSpPr>
          <p:cNvPr id="7" name="Text 5"/>
          <p:cNvSpPr/>
          <p:nvPr/>
        </p:nvSpPr>
        <p:spPr>
          <a:xfrm>
            <a:off x="1051560" y="2057400"/>
            <a:ext cx="9966960" cy="1668780"/>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Unlike some languages, Java does not allow a class to inherit directly from more than one parent class.</a:t>
            </a:r>
            <a:endParaRPr lang="en-US" sz="1250" dirty="0"/>
          </a:p>
        </p:txBody>
      </p:sp>
      <p:sp>
        <p:nvSpPr>
          <p:cNvPr id="8" name="Shape 6"/>
          <p:cNvSpPr/>
          <p:nvPr/>
        </p:nvSpPr>
        <p:spPr>
          <a:xfrm>
            <a:off x="594360" y="3945636"/>
            <a:ext cx="10607040" cy="2089404"/>
          </a:xfrm>
          <a:prstGeom prst="roundRect">
            <a:avLst>
              <a:gd name="adj" fmla="val 2626"/>
            </a:avLst>
          </a:prstGeom>
          <a:solidFill>
            <a:srgbClr val="F5F6FA"/>
          </a:solidFill>
          <a:ln w="9525">
            <a:solidFill>
              <a:srgbClr val="E4E7EE"/>
            </a:solidFill>
            <a:prstDash val="solid"/>
          </a:ln>
        </p:spPr>
      </p:sp>
      <p:sp>
        <p:nvSpPr>
          <p:cNvPr id="9" name="Shape 7"/>
          <p:cNvSpPr/>
          <p:nvPr/>
        </p:nvSpPr>
        <p:spPr>
          <a:xfrm>
            <a:off x="777240" y="4128516"/>
            <a:ext cx="109728" cy="109728"/>
          </a:xfrm>
          <a:prstGeom prst="ellipse">
            <a:avLst/>
          </a:prstGeom>
          <a:solidFill>
            <a:srgbClr val="E8590C"/>
          </a:solidFill>
          <a:ln w="12700">
            <a:solidFill>
              <a:srgbClr val="000000"/>
            </a:solidFill>
            <a:prstDash val="solid"/>
          </a:ln>
        </p:spPr>
      </p:sp>
      <p:sp>
        <p:nvSpPr>
          <p:cNvPr id="10" name="Text 8"/>
          <p:cNvSpPr/>
          <p:nvPr/>
        </p:nvSpPr>
        <p:spPr>
          <a:xfrm>
            <a:off x="1051560" y="4018788"/>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Multiple contracts are still possible</a:t>
            </a:r>
            <a:endParaRPr lang="en-US" sz="1500" dirty="0"/>
          </a:p>
        </p:txBody>
      </p:sp>
      <p:sp>
        <p:nvSpPr>
          <p:cNvPr id="11" name="Text 9"/>
          <p:cNvSpPr/>
          <p:nvPr/>
        </p:nvSpPr>
        <p:spPr>
          <a:xfrm>
            <a:off x="1051560" y="4311396"/>
            <a:ext cx="9966960" cy="1668780"/>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A class can still implement several interfaces at once, covered later in this session.</a:t>
            </a:r>
            <a:endParaRPr lang="en-US" sz="1250" dirty="0"/>
          </a:p>
        </p:txBody>
      </p:sp>
      <p:sp>
        <p:nvSpPr>
          <p:cNvPr id="12" name="Shape 10"/>
          <p:cNvSpPr/>
          <p:nvPr/>
        </p:nvSpPr>
        <p:spPr>
          <a:xfrm>
            <a:off x="0" y="0"/>
            <a:ext cx="12191695" cy="384048"/>
          </a:xfrm>
          <a:prstGeom prst="rect">
            <a:avLst/>
          </a:prstGeom>
          <a:solidFill>
            <a:srgbClr val="1B2A4A"/>
          </a:solidFill>
          <a:ln w="12700">
            <a:solidFill>
              <a:srgbClr val="1B2A4A"/>
            </a:solidFill>
            <a:prstDash val="solid"/>
          </a:ln>
        </p:spPr>
      </p:sp>
      <p:sp>
        <p:nvSpPr>
          <p:cNvPr id="13" name="Text 11"/>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4" name="Shape 12"/>
          <p:cNvSpPr/>
          <p:nvPr/>
        </p:nvSpPr>
        <p:spPr>
          <a:xfrm>
            <a:off x="219456" y="301752"/>
            <a:ext cx="960120" cy="0"/>
          </a:xfrm>
          <a:prstGeom prst="line">
            <a:avLst/>
          </a:prstGeom>
          <a:noFill/>
          <a:ln w="9525">
            <a:solidFill>
              <a:srgbClr val="4A5570"/>
            </a:solidFill>
            <a:prstDash val="solid"/>
          </a:ln>
        </p:spPr>
      </p:sp>
      <p:sp>
        <p:nvSpPr>
          <p:cNvPr id="15" name="Text 13"/>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16" name="Text 14"/>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17" name="Text 15"/>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18" name="Shape 16"/>
          <p:cNvSpPr/>
          <p:nvPr/>
        </p:nvSpPr>
        <p:spPr>
          <a:xfrm>
            <a:off x="0" y="6291072"/>
            <a:ext cx="12191695" cy="566928"/>
          </a:xfrm>
          <a:prstGeom prst="rect">
            <a:avLst/>
          </a:prstGeom>
          <a:solidFill>
            <a:srgbClr val="1B2A4A"/>
          </a:solidFill>
          <a:ln w="12700">
            <a:solidFill>
              <a:srgbClr val="1B2A4A"/>
            </a:solidFill>
            <a:prstDash val="solid"/>
          </a:ln>
        </p:spPr>
      </p:sp>
      <p:sp>
        <p:nvSpPr>
          <p:cNvPr id="19" name="Text 17"/>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0" name="Text 18"/>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DEEPER HIERARCHIES</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Multilevel Inheritance</a:t>
            </a:r>
            <a:endParaRPr lang="en-US" sz="2700" dirty="0"/>
          </a:p>
        </p:txBody>
      </p:sp>
      <p:sp>
        <p:nvSpPr>
          <p:cNvPr id="4" name="Shape 2"/>
          <p:cNvSpPr/>
          <p:nvPr/>
        </p:nvSpPr>
        <p:spPr>
          <a:xfrm>
            <a:off x="594360" y="1600200"/>
            <a:ext cx="10607040" cy="896112"/>
          </a:xfrm>
          <a:prstGeom prst="roundRect">
            <a:avLst>
              <a:gd name="adj" fmla="val 6122"/>
            </a:avLst>
          </a:prstGeom>
          <a:solidFill>
            <a:srgbClr val="F5F6FA"/>
          </a:solidFill>
          <a:ln w="9525">
            <a:solidFill>
              <a:srgbClr val="E4E7EE"/>
            </a:solidFill>
            <a:prstDash val="solid"/>
          </a:ln>
        </p:spPr>
      </p:sp>
      <p:sp>
        <p:nvSpPr>
          <p:cNvPr id="5" name="Shape 3"/>
          <p:cNvSpPr/>
          <p:nvPr/>
        </p:nvSpPr>
        <p:spPr>
          <a:xfrm>
            <a:off x="804672" y="1755648"/>
            <a:ext cx="100584" cy="100584"/>
          </a:xfrm>
          <a:prstGeom prst="ellipse">
            <a:avLst/>
          </a:prstGeom>
          <a:solidFill>
            <a:srgbClr val="E8590C"/>
          </a:solidFill>
          <a:ln w="12700">
            <a:solidFill>
              <a:srgbClr val="000000"/>
            </a:solidFill>
            <a:prstDash val="solid"/>
          </a:ln>
        </p:spPr>
      </p:sp>
      <p:sp>
        <p:nvSpPr>
          <p:cNvPr id="6" name="Text 4"/>
          <p:cNvSpPr/>
          <p:nvPr/>
        </p:nvSpPr>
        <p:spPr>
          <a:xfrm>
            <a:off x="1051560" y="1655064"/>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A subclass can itself be extended, forming a chain of parent and child classes.</a:t>
            </a:r>
            <a:endParaRPr lang="en-US" sz="1250" dirty="0"/>
          </a:p>
        </p:txBody>
      </p:sp>
      <p:sp>
        <p:nvSpPr>
          <p:cNvPr id="7" name="Shape 5"/>
          <p:cNvSpPr/>
          <p:nvPr/>
        </p:nvSpPr>
        <p:spPr>
          <a:xfrm>
            <a:off x="804672" y="2103120"/>
            <a:ext cx="100584" cy="100584"/>
          </a:xfrm>
          <a:prstGeom prst="ellipse">
            <a:avLst/>
          </a:prstGeom>
          <a:solidFill>
            <a:srgbClr val="E8590C"/>
          </a:solidFill>
          <a:ln w="12700">
            <a:solidFill>
              <a:srgbClr val="000000"/>
            </a:solidFill>
            <a:prstDash val="solid"/>
          </a:ln>
        </p:spPr>
      </p:sp>
      <p:sp>
        <p:nvSpPr>
          <p:cNvPr id="8" name="Text 6"/>
          <p:cNvSpPr/>
          <p:nvPr/>
        </p:nvSpPr>
        <p:spPr>
          <a:xfrm>
            <a:off x="1051560" y="2002536"/>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Each level inherits everything available from every class above it in the chain.</a:t>
            </a:r>
            <a:endParaRPr lang="en-US" sz="1250" dirty="0"/>
          </a:p>
        </p:txBody>
      </p:sp>
      <p:sp>
        <p:nvSpPr>
          <p:cNvPr id="9" name="Shape 7"/>
          <p:cNvSpPr/>
          <p:nvPr/>
        </p:nvSpPr>
        <p:spPr>
          <a:xfrm>
            <a:off x="594360" y="2642616"/>
            <a:ext cx="10607040" cy="3392424"/>
          </a:xfrm>
          <a:prstGeom prst="roundRect">
            <a:avLst>
              <a:gd name="adj" fmla="val 2156"/>
            </a:avLst>
          </a:prstGeom>
          <a:solidFill>
            <a:srgbClr val="1E1E2E"/>
          </a:solidFill>
          <a:ln w="12700">
            <a:solidFill>
              <a:srgbClr val="000000"/>
            </a:solidFill>
            <a:prstDash val="solid"/>
          </a:ln>
        </p:spPr>
      </p:sp>
      <p:sp>
        <p:nvSpPr>
          <p:cNvPr id="10" name="Shape 8"/>
          <p:cNvSpPr/>
          <p:nvPr/>
        </p:nvSpPr>
        <p:spPr>
          <a:xfrm>
            <a:off x="594360" y="2642616"/>
            <a:ext cx="10607040" cy="274320"/>
          </a:xfrm>
          <a:prstGeom prst="roundRect">
            <a:avLst>
              <a:gd name="adj" fmla="val 26667"/>
            </a:avLst>
          </a:prstGeom>
          <a:solidFill>
            <a:srgbClr val="17172A"/>
          </a:solidFill>
          <a:ln w="12700">
            <a:solidFill>
              <a:srgbClr val="000000"/>
            </a:solidFill>
            <a:prstDash val="solid"/>
          </a:ln>
        </p:spPr>
      </p:sp>
      <p:sp>
        <p:nvSpPr>
          <p:cNvPr id="11" name="Shape 9"/>
          <p:cNvSpPr/>
          <p:nvPr/>
        </p:nvSpPr>
        <p:spPr>
          <a:xfrm>
            <a:off x="594360" y="2843784"/>
            <a:ext cx="10607040" cy="73152"/>
          </a:xfrm>
          <a:prstGeom prst="rect">
            <a:avLst/>
          </a:prstGeom>
          <a:solidFill>
            <a:srgbClr val="17172A"/>
          </a:solidFill>
          <a:ln w="12700">
            <a:solidFill>
              <a:srgbClr val="000000"/>
            </a:solidFill>
            <a:prstDash val="solid"/>
          </a:ln>
        </p:spPr>
      </p:sp>
      <p:sp>
        <p:nvSpPr>
          <p:cNvPr id="12" name="Shape 10"/>
          <p:cNvSpPr/>
          <p:nvPr/>
        </p:nvSpPr>
        <p:spPr>
          <a:xfrm>
            <a:off x="722376" y="2741371"/>
            <a:ext cx="76810" cy="76810"/>
          </a:xfrm>
          <a:prstGeom prst="ellipse">
            <a:avLst/>
          </a:prstGeom>
          <a:solidFill>
            <a:srgbClr val="FF5F56"/>
          </a:solidFill>
          <a:ln w="12700">
            <a:solidFill>
              <a:srgbClr val="000000"/>
            </a:solidFill>
            <a:prstDash val="solid"/>
          </a:ln>
        </p:spPr>
      </p:sp>
      <p:sp>
        <p:nvSpPr>
          <p:cNvPr id="13" name="Shape 11"/>
          <p:cNvSpPr/>
          <p:nvPr/>
        </p:nvSpPr>
        <p:spPr>
          <a:xfrm>
            <a:off x="886968" y="2741371"/>
            <a:ext cx="76810" cy="76810"/>
          </a:xfrm>
          <a:prstGeom prst="ellipse">
            <a:avLst/>
          </a:prstGeom>
          <a:solidFill>
            <a:srgbClr val="FFBD2E"/>
          </a:solidFill>
          <a:ln w="12700">
            <a:solidFill>
              <a:srgbClr val="000000"/>
            </a:solidFill>
            <a:prstDash val="solid"/>
          </a:ln>
        </p:spPr>
      </p:sp>
      <p:sp>
        <p:nvSpPr>
          <p:cNvPr id="14" name="Shape 12"/>
          <p:cNvSpPr/>
          <p:nvPr/>
        </p:nvSpPr>
        <p:spPr>
          <a:xfrm>
            <a:off x="1051560" y="2741371"/>
            <a:ext cx="76810" cy="76810"/>
          </a:xfrm>
          <a:prstGeom prst="ellipse">
            <a:avLst/>
          </a:prstGeom>
          <a:solidFill>
            <a:srgbClr val="27C93F"/>
          </a:solidFill>
          <a:ln w="12700">
            <a:solidFill>
              <a:srgbClr val="000000"/>
            </a:solidFill>
            <a:prstDash val="solid"/>
          </a:ln>
        </p:spPr>
      </p:sp>
      <p:sp>
        <p:nvSpPr>
          <p:cNvPr id="15" name="Text 13"/>
          <p:cNvSpPr/>
          <p:nvPr/>
        </p:nvSpPr>
        <p:spPr>
          <a:xfrm>
            <a:off x="1371600" y="2642616"/>
            <a:ext cx="9692640" cy="274320"/>
          </a:xfrm>
          <a:prstGeom prst="rect">
            <a:avLst/>
          </a:prstGeom>
          <a:noFill/>
          <a:ln/>
        </p:spPr>
        <p:txBody>
          <a:bodyPr wrap="square" lIns="0" tIns="0" rIns="0" bIns="0" rtlCol="0" anchor="ctr"/>
          <a:lstStyle/>
          <a:p>
            <a:pPr marL="0" indent="0" algn="l">
              <a:buNone/>
            </a:pPr>
            <a:r>
              <a:rPr lang="en-US" sz="1000" dirty="0">
                <a:solidFill>
                  <a:srgbClr val="8A8FA3"/>
                </a:solidFill>
                <a:latin typeface="Courier New" pitchFamily="34" charset="0"/>
                <a:ea typeface="Courier New" pitchFamily="34" charset="-122"/>
                <a:cs typeface="Courier New" pitchFamily="34" charset="-120"/>
              </a:rPr>
              <a:t>Main.java</a:t>
            </a:r>
            <a:endParaRPr lang="en-US" sz="1000" dirty="0"/>
          </a:p>
        </p:txBody>
      </p:sp>
      <p:sp>
        <p:nvSpPr>
          <p:cNvPr id="16" name="Text 14"/>
          <p:cNvSpPr/>
          <p:nvPr/>
        </p:nvSpPr>
        <p:spPr>
          <a:xfrm>
            <a:off x="777240" y="2990088"/>
            <a:ext cx="10241280" cy="2971800"/>
          </a:xfrm>
          <a:prstGeom prst="rect">
            <a:avLst/>
          </a:prstGeom>
          <a:noFill/>
          <a:ln/>
        </p:spPr>
        <p:txBody>
          <a:bodyPr wrap="square" lIns="0" tIns="0" rIns="0" bIns="0" rtlCol="0" anchor="t"/>
          <a:lstStyle/>
          <a:p>
            <a:pPr marL="0" indent="0" algn="l">
              <a:lnSpc>
                <a:spcPct val="118000"/>
              </a:lnSpc>
              <a:buNone/>
            </a:pPr>
            <a:r>
              <a:rPr lang="en-US" sz="1500" b="1" dirty="0">
                <a:solidFill>
                  <a:srgbClr val="569CD6"/>
                </a:solidFill>
                <a:latin typeface="Courier New" pitchFamily="34" charset="0"/>
                <a:ea typeface="Courier New" pitchFamily="34" charset="-122"/>
                <a:cs typeface="Courier New" pitchFamily="34" charset="-120"/>
              </a:rPr>
              <a:t>public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class</a:t>
            </a:r>
            <a:r>
              <a:rPr lang="en-US" sz="1500" dirty="0">
                <a:solidFill>
                  <a:srgbClr val="D4D4D4"/>
                </a:solidFill>
                <a:latin typeface="Courier New" pitchFamily="34" charset="0"/>
                <a:ea typeface="Courier New" pitchFamily="34" charset="-122"/>
                <a:cs typeface="Courier New" pitchFamily="34" charset="-120"/>
              </a:rPr>
              <a:t> Animal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void</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DCDCAA"/>
                </a:solidFill>
                <a:latin typeface="Courier New" pitchFamily="34" charset="0"/>
                <a:ea typeface="Courier New" pitchFamily="34" charset="-122"/>
                <a:cs typeface="Courier New" pitchFamily="34" charset="-120"/>
              </a:rPr>
              <a:t>eat</a:t>
            </a:r>
            <a:r>
              <a:rPr lang="en-US" sz="1500" dirty="0">
                <a:solidFill>
                  <a:srgbClr val="D4D4D4"/>
                </a:solidFill>
                <a:latin typeface="Courier New" pitchFamily="34" charset="0"/>
                <a:ea typeface="Courier New" pitchFamily="34" charset="-122"/>
                <a:cs typeface="Courier New" pitchFamily="34" charset="-120"/>
              </a:rPr>
              <a:t>() { </a:t>
            </a:r>
            <a:r>
              <a:rPr lang="en-US" sz="1500" dirty="0">
                <a:solidFill>
                  <a:srgbClr val="4EC9B0"/>
                </a:solidFill>
                <a:latin typeface="Courier New" pitchFamily="34" charset="0"/>
                <a:ea typeface="Courier New" pitchFamily="34" charset="-122"/>
                <a:cs typeface="Courier New" pitchFamily="34" charset="-120"/>
              </a:rPr>
              <a:t>System</a:t>
            </a:r>
            <a:r>
              <a:rPr lang="en-US" sz="1500" dirty="0">
                <a:solidFill>
                  <a:srgbClr val="D4D4D4"/>
                </a:solidFill>
                <a:latin typeface="Courier New" pitchFamily="34" charset="0"/>
                <a:ea typeface="Courier New" pitchFamily="34" charset="-122"/>
                <a:cs typeface="Courier New" pitchFamily="34" charset="-120"/>
              </a:rPr>
              <a:t>.out.</a:t>
            </a:r>
            <a:r>
              <a:rPr lang="en-US" sz="1500" dirty="0">
                <a:solidFill>
                  <a:srgbClr val="DCDCAA"/>
                </a:solidFill>
                <a:latin typeface="Courier New" pitchFamily="34" charset="0"/>
                <a:ea typeface="Courier New" pitchFamily="34" charset="-122"/>
                <a:cs typeface="Courier New" pitchFamily="34" charset="-120"/>
              </a:rPr>
              <a:t>println</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CE9178"/>
                </a:solidFill>
                <a:latin typeface="Courier New" pitchFamily="34" charset="0"/>
                <a:ea typeface="Courier New" pitchFamily="34" charset="-122"/>
                <a:cs typeface="Courier New" pitchFamily="34" charset="-120"/>
              </a:rPr>
              <a:t>"Eating"</a:t>
            </a: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b="1" dirty="0">
                <a:solidFill>
                  <a:srgbClr val="569CD6"/>
                </a:solidFill>
                <a:latin typeface="Courier New" pitchFamily="34" charset="0"/>
                <a:ea typeface="Courier New" pitchFamily="34" charset="-122"/>
                <a:cs typeface="Courier New" pitchFamily="34" charset="-120"/>
              </a:rPr>
              <a:t>public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class</a:t>
            </a:r>
            <a:r>
              <a:rPr lang="en-US" sz="1500" dirty="0">
                <a:solidFill>
                  <a:srgbClr val="D4D4D4"/>
                </a:solidFill>
                <a:latin typeface="Courier New" pitchFamily="34" charset="0"/>
                <a:ea typeface="Courier New" pitchFamily="34" charset="-122"/>
                <a:cs typeface="Courier New" pitchFamily="34" charset="-120"/>
              </a:rPr>
              <a:t> Dog </a:t>
            </a:r>
            <a:r>
              <a:rPr lang="en-US" sz="1500" b="1" dirty="0">
                <a:solidFill>
                  <a:srgbClr val="569CD6"/>
                </a:solidFill>
                <a:latin typeface="Courier New" pitchFamily="34" charset="0"/>
                <a:ea typeface="Courier New" pitchFamily="34" charset="-122"/>
                <a:cs typeface="Courier New" pitchFamily="34" charset="-120"/>
              </a:rPr>
              <a:t>extends</a:t>
            </a:r>
            <a:r>
              <a:rPr lang="en-US" sz="1500" dirty="0">
                <a:solidFill>
                  <a:srgbClr val="D4D4D4"/>
                </a:solidFill>
                <a:latin typeface="Courier New" pitchFamily="34" charset="0"/>
                <a:ea typeface="Courier New" pitchFamily="34" charset="-122"/>
                <a:cs typeface="Courier New" pitchFamily="34" charset="-120"/>
              </a:rPr>
              <a:t> Animal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void</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DCDCAA"/>
                </a:solidFill>
                <a:latin typeface="Courier New" pitchFamily="34" charset="0"/>
                <a:ea typeface="Courier New" pitchFamily="34" charset="-122"/>
                <a:cs typeface="Courier New" pitchFamily="34" charset="-120"/>
              </a:rPr>
              <a:t>bark</a:t>
            </a:r>
            <a:r>
              <a:rPr lang="en-US" sz="1500" dirty="0">
                <a:solidFill>
                  <a:srgbClr val="D4D4D4"/>
                </a:solidFill>
                <a:latin typeface="Courier New" pitchFamily="34" charset="0"/>
                <a:ea typeface="Courier New" pitchFamily="34" charset="-122"/>
                <a:cs typeface="Courier New" pitchFamily="34" charset="-120"/>
              </a:rPr>
              <a:t>() { </a:t>
            </a:r>
            <a:r>
              <a:rPr lang="en-US" sz="1500" dirty="0">
                <a:solidFill>
                  <a:srgbClr val="4EC9B0"/>
                </a:solidFill>
                <a:latin typeface="Courier New" pitchFamily="34" charset="0"/>
                <a:ea typeface="Courier New" pitchFamily="34" charset="-122"/>
                <a:cs typeface="Courier New" pitchFamily="34" charset="-120"/>
              </a:rPr>
              <a:t>System</a:t>
            </a:r>
            <a:r>
              <a:rPr lang="en-US" sz="1500" dirty="0">
                <a:solidFill>
                  <a:srgbClr val="D4D4D4"/>
                </a:solidFill>
                <a:latin typeface="Courier New" pitchFamily="34" charset="0"/>
                <a:ea typeface="Courier New" pitchFamily="34" charset="-122"/>
                <a:cs typeface="Courier New" pitchFamily="34" charset="-120"/>
              </a:rPr>
              <a:t>.out.</a:t>
            </a:r>
            <a:r>
              <a:rPr lang="en-US" sz="1500" dirty="0">
                <a:solidFill>
                  <a:srgbClr val="DCDCAA"/>
                </a:solidFill>
                <a:latin typeface="Courier New" pitchFamily="34" charset="0"/>
                <a:ea typeface="Courier New" pitchFamily="34" charset="-122"/>
                <a:cs typeface="Courier New" pitchFamily="34" charset="-120"/>
              </a:rPr>
              <a:t>println</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CE9178"/>
                </a:solidFill>
                <a:latin typeface="Courier New" pitchFamily="34" charset="0"/>
                <a:ea typeface="Courier New" pitchFamily="34" charset="-122"/>
                <a:cs typeface="Courier New" pitchFamily="34" charset="-120"/>
              </a:rPr>
              <a:t>"Barking"</a:t>
            </a: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b="1" dirty="0">
                <a:solidFill>
                  <a:srgbClr val="569CD6"/>
                </a:solidFill>
                <a:latin typeface="Courier New" pitchFamily="34" charset="0"/>
                <a:ea typeface="Courier New" pitchFamily="34" charset="-122"/>
                <a:cs typeface="Courier New" pitchFamily="34" charset="-120"/>
              </a:rPr>
              <a:t>public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class</a:t>
            </a:r>
            <a:r>
              <a:rPr lang="en-US" sz="1500" dirty="0">
                <a:solidFill>
                  <a:srgbClr val="D4D4D4"/>
                </a:solidFill>
                <a:latin typeface="Courier New" pitchFamily="34" charset="0"/>
                <a:ea typeface="Courier New" pitchFamily="34" charset="-122"/>
                <a:cs typeface="Courier New" pitchFamily="34" charset="-120"/>
              </a:rPr>
              <a:t> Puppy </a:t>
            </a:r>
            <a:r>
              <a:rPr lang="en-US" sz="1500" b="1" dirty="0">
                <a:solidFill>
                  <a:srgbClr val="569CD6"/>
                </a:solidFill>
                <a:latin typeface="Courier New" pitchFamily="34" charset="0"/>
                <a:ea typeface="Courier New" pitchFamily="34" charset="-122"/>
                <a:cs typeface="Courier New" pitchFamily="34" charset="-120"/>
              </a:rPr>
              <a:t>extends</a:t>
            </a:r>
            <a:r>
              <a:rPr lang="en-US" sz="1500" dirty="0">
                <a:solidFill>
                  <a:srgbClr val="D4D4D4"/>
                </a:solidFill>
                <a:latin typeface="Courier New" pitchFamily="34" charset="0"/>
                <a:ea typeface="Courier New" pitchFamily="34" charset="-122"/>
                <a:cs typeface="Courier New" pitchFamily="34" charset="-120"/>
              </a:rPr>
              <a:t> Dog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void</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DCDCAA"/>
                </a:solidFill>
                <a:latin typeface="Courier New" pitchFamily="34" charset="0"/>
                <a:ea typeface="Courier New" pitchFamily="34" charset="-122"/>
                <a:cs typeface="Courier New" pitchFamily="34" charset="-120"/>
              </a:rPr>
              <a:t>whine</a:t>
            </a:r>
            <a:r>
              <a:rPr lang="en-US" sz="1500" dirty="0">
                <a:solidFill>
                  <a:srgbClr val="D4D4D4"/>
                </a:solidFill>
                <a:latin typeface="Courier New" pitchFamily="34" charset="0"/>
                <a:ea typeface="Courier New" pitchFamily="34" charset="-122"/>
                <a:cs typeface="Courier New" pitchFamily="34" charset="-120"/>
              </a:rPr>
              <a:t>() { </a:t>
            </a:r>
            <a:r>
              <a:rPr lang="en-US" sz="1500" dirty="0">
                <a:solidFill>
                  <a:srgbClr val="4EC9B0"/>
                </a:solidFill>
                <a:latin typeface="Courier New" pitchFamily="34" charset="0"/>
                <a:ea typeface="Courier New" pitchFamily="34" charset="-122"/>
                <a:cs typeface="Courier New" pitchFamily="34" charset="-120"/>
              </a:rPr>
              <a:t>System</a:t>
            </a:r>
            <a:r>
              <a:rPr lang="en-US" sz="1500" dirty="0">
                <a:solidFill>
                  <a:srgbClr val="D4D4D4"/>
                </a:solidFill>
                <a:latin typeface="Courier New" pitchFamily="34" charset="0"/>
                <a:ea typeface="Courier New" pitchFamily="34" charset="-122"/>
                <a:cs typeface="Courier New" pitchFamily="34" charset="-120"/>
              </a:rPr>
              <a:t>.out.</a:t>
            </a:r>
            <a:r>
              <a:rPr lang="en-US" sz="1500" dirty="0">
                <a:solidFill>
                  <a:srgbClr val="DCDCAA"/>
                </a:solidFill>
                <a:latin typeface="Courier New" pitchFamily="34" charset="0"/>
                <a:ea typeface="Courier New" pitchFamily="34" charset="-122"/>
                <a:cs typeface="Courier New" pitchFamily="34" charset="-120"/>
              </a:rPr>
              <a:t>println</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CE9178"/>
                </a:solidFill>
                <a:latin typeface="Courier New" pitchFamily="34" charset="0"/>
                <a:ea typeface="Courier New" pitchFamily="34" charset="-122"/>
                <a:cs typeface="Courier New" pitchFamily="34" charset="-120"/>
              </a:rPr>
              <a:t>"Whining"</a:t>
            </a: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a:t>
            </a:r>
            <a:endParaRPr lang="en-US" sz="1500" dirty="0"/>
          </a:p>
        </p:txBody>
      </p:sp>
      <p:sp>
        <p:nvSpPr>
          <p:cNvPr id="17" name="Shape 15"/>
          <p:cNvSpPr/>
          <p:nvPr/>
        </p:nvSpPr>
        <p:spPr>
          <a:xfrm>
            <a:off x="0" y="0"/>
            <a:ext cx="12191695" cy="384048"/>
          </a:xfrm>
          <a:prstGeom prst="rect">
            <a:avLst/>
          </a:prstGeom>
          <a:solidFill>
            <a:srgbClr val="1B2A4A"/>
          </a:solidFill>
          <a:ln w="12700">
            <a:solidFill>
              <a:srgbClr val="1B2A4A"/>
            </a:solidFill>
            <a:prstDash val="solid"/>
          </a:ln>
        </p:spPr>
      </p:sp>
      <p:sp>
        <p:nvSpPr>
          <p:cNvPr id="18" name="Text 16"/>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9" name="Shape 17"/>
          <p:cNvSpPr/>
          <p:nvPr/>
        </p:nvSpPr>
        <p:spPr>
          <a:xfrm>
            <a:off x="219456" y="301752"/>
            <a:ext cx="960120" cy="0"/>
          </a:xfrm>
          <a:prstGeom prst="line">
            <a:avLst/>
          </a:prstGeom>
          <a:noFill/>
          <a:ln w="9525">
            <a:solidFill>
              <a:srgbClr val="4A5570"/>
            </a:solidFill>
            <a:prstDash val="solid"/>
          </a:ln>
        </p:spPr>
      </p:sp>
      <p:sp>
        <p:nvSpPr>
          <p:cNvPr id="20" name="Text 18"/>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1" name="Text 19"/>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2" name="Text 20"/>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3" name="Shape 21"/>
          <p:cNvSpPr/>
          <p:nvPr/>
        </p:nvSpPr>
        <p:spPr>
          <a:xfrm>
            <a:off x="0" y="6291072"/>
            <a:ext cx="12191695" cy="566928"/>
          </a:xfrm>
          <a:prstGeom prst="rect">
            <a:avLst/>
          </a:prstGeom>
          <a:solidFill>
            <a:srgbClr val="1B2A4A"/>
          </a:solidFill>
          <a:ln w="12700">
            <a:solidFill>
              <a:srgbClr val="1B2A4A"/>
            </a:solidFill>
            <a:prstDash val="solid"/>
          </a:ln>
        </p:spPr>
      </p:sp>
      <p:sp>
        <p:nvSpPr>
          <p:cNvPr id="24" name="Text 22"/>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5" name="Text 23"/>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BOUNDARIES</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What Cannot Be Inherited</a:t>
            </a:r>
            <a:endParaRPr lang="en-US" sz="2700" dirty="0"/>
          </a:p>
        </p:txBody>
      </p:sp>
      <p:sp>
        <p:nvSpPr>
          <p:cNvPr id="4" name="Shape 2"/>
          <p:cNvSpPr/>
          <p:nvPr/>
        </p:nvSpPr>
        <p:spPr>
          <a:xfrm>
            <a:off x="594360" y="1691640"/>
            <a:ext cx="10607040" cy="2089404"/>
          </a:xfrm>
          <a:prstGeom prst="roundRect">
            <a:avLst>
              <a:gd name="adj" fmla="val 2626"/>
            </a:avLst>
          </a:prstGeom>
          <a:solidFill>
            <a:srgbClr val="F5F6FA"/>
          </a:solidFill>
          <a:ln w="9525">
            <a:solidFill>
              <a:srgbClr val="E4E7EE"/>
            </a:solidFill>
            <a:prstDash val="solid"/>
          </a:ln>
        </p:spPr>
      </p:sp>
      <p:sp>
        <p:nvSpPr>
          <p:cNvPr id="5" name="Shape 3"/>
          <p:cNvSpPr/>
          <p:nvPr/>
        </p:nvSpPr>
        <p:spPr>
          <a:xfrm>
            <a:off x="777240" y="1874520"/>
            <a:ext cx="109728" cy="109728"/>
          </a:xfrm>
          <a:prstGeom prst="ellipse">
            <a:avLst/>
          </a:prstGeom>
          <a:solidFill>
            <a:srgbClr val="E8590C"/>
          </a:solidFill>
          <a:ln w="12700">
            <a:solidFill>
              <a:srgbClr val="000000"/>
            </a:solidFill>
            <a:prstDash val="solid"/>
          </a:ln>
        </p:spPr>
      </p:sp>
      <p:sp>
        <p:nvSpPr>
          <p:cNvPr id="6" name="Text 4"/>
          <p:cNvSpPr/>
          <p:nvPr/>
        </p:nvSpPr>
        <p:spPr>
          <a:xfrm>
            <a:off x="1051560" y="1764792"/>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private members</a:t>
            </a:r>
            <a:endParaRPr lang="en-US" sz="1500" dirty="0"/>
          </a:p>
        </p:txBody>
      </p:sp>
      <p:sp>
        <p:nvSpPr>
          <p:cNvPr id="7" name="Text 5"/>
          <p:cNvSpPr/>
          <p:nvPr/>
        </p:nvSpPr>
        <p:spPr>
          <a:xfrm>
            <a:off x="1051560" y="2057400"/>
            <a:ext cx="9966960" cy="1668780"/>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Fields and methods marked private belong only to the class that declares them, and are not visible in any subclass.</a:t>
            </a:r>
            <a:endParaRPr lang="en-US" sz="1250" dirty="0"/>
          </a:p>
        </p:txBody>
      </p:sp>
      <p:sp>
        <p:nvSpPr>
          <p:cNvPr id="8" name="Shape 6"/>
          <p:cNvSpPr/>
          <p:nvPr/>
        </p:nvSpPr>
        <p:spPr>
          <a:xfrm>
            <a:off x="594360" y="3945636"/>
            <a:ext cx="10607040" cy="2089404"/>
          </a:xfrm>
          <a:prstGeom prst="roundRect">
            <a:avLst>
              <a:gd name="adj" fmla="val 2626"/>
            </a:avLst>
          </a:prstGeom>
          <a:solidFill>
            <a:srgbClr val="F5F6FA"/>
          </a:solidFill>
          <a:ln w="9525">
            <a:solidFill>
              <a:srgbClr val="E4E7EE"/>
            </a:solidFill>
            <a:prstDash val="solid"/>
          </a:ln>
        </p:spPr>
      </p:sp>
      <p:sp>
        <p:nvSpPr>
          <p:cNvPr id="9" name="Shape 7"/>
          <p:cNvSpPr/>
          <p:nvPr/>
        </p:nvSpPr>
        <p:spPr>
          <a:xfrm>
            <a:off x="777240" y="4128516"/>
            <a:ext cx="109728" cy="109728"/>
          </a:xfrm>
          <a:prstGeom prst="ellipse">
            <a:avLst/>
          </a:prstGeom>
          <a:solidFill>
            <a:srgbClr val="E8590C"/>
          </a:solidFill>
          <a:ln w="12700">
            <a:solidFill>
              <a:srgbClr val="000000"/>
            </a:solidFill>
            <a:prstDash val="solid"/>
          </a:ln>
        </p:spPr>
      </p:sp>
      <p:sp>
        <p:nvSpPr>
          <p:cNvPr id="10" name="Text 8"/>
          <p:cNvSpPr/>
          <p:nvPr/>
        </p:nvSpPr>
        <p:spPr>
          <a:xfrm>
            <a:off x="1051560" y="4018788"/>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Constructors</a:t>
            </a:r>
            <a:endParaRPr lang="en-US" sz="1500" dirty="0"/>
          </a:p>
        </p:txBody>
      </p:sp>
      <p:sp>
        <p:nvSpPr>
          <p:cNvPr id="11" name="Text 9"/>
          <p:cNvSpPr/>
          <p:nvPr/>
        </p:nvSpPr>
        <p:spPr>
          <a:xfrm>
            <a:off x="1051560" y="4311396"/>
            <a:ext cx="9966960" cy="1668780"/>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A subclass never inherits a parent's constructors, though it can call one using super(...).</a:t>
            </a:r>
            <a:endParaRPr lang="en-US" sz="1250" dirty="0"/>
          </a:p>
        </p:txBody>
      </p:sp>
      <p:sp>
        <p:nvSpPr>
          <p:cNvPr id="12" name="Shape 10"/>
          <p:cNvSpPr/>
          <p:nvPr/>
        </p:nvSpPr>
        <p:spPr>
          <a:xfrm>
            <a:off x="0" y="0"/>
            <a:ext cx="12191695" cy="384048"/>
          </a:xfrm>
          <a:prstGeom prst="rect">
            <a:avLst/>
          </a:prstGeom>
          <a:solidFill>
            <a:srgbClr val="1B2A4A"/>
          </a:solidFill>
          <a:ln w="12700">
            <a:solidFill>
              <a:srgbClr val="1B2A4A"/>
            </a:solidFill>
            <a:prstDash val="solid"/>
          </a:ln>
        </p:spPr>
      </p:sp>
      <p:sp>
        <p:nvSpPr>
          <p:cNvPr id="13" name="Text 11"/>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4" name="Shape 12"/>
          <p:cNvSpPr/>
          <p:nvPr/>
        </p:nvSpPr>
        <p:spPr>
          <a:xfrm>
            <a:off x="219456" y="301752"/>
            <a:ext cx="960120" cy="0"/>
          </a:xfrm>
          <a:prstGeom prst="line">
            <a:avLst/>
          </a:prstGeom>
          <a:noFill/>
          <a:ln w="9525">
            <a:solidFill>
              <a:srgbClr val="4A5570"/>
            </a:solidFill>
            <a:prstDash val="solid"/>
          </a:ln>
        </p:spPr>
      </p:sp>
      <p:sp>
        <p:nvSpPr>
          <p:cNvPr id="15" name="Text 13"/>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16" name="Text 14"/>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17" name="Text 15"/>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18" name="Shape 16"/>
          <p:cNvSpPr/>
          <p:nvPr/>
        </p:nvSpPr>
        <p:spPr>
          <a:xfrm>
            <a:off x="0" y="6291072"/>
            <a:ext cx="12191695" cy="566928"/>
          </a:xfrm>
          <a:prstGeom prst="rect">
            <a:avLst/>
          </a:prstGeom>
          <a:solidFill>
            <a:srgbClr val="1B2A4A"/>
          </a:solidFill>
          <a:ln w="12700">
            <a:solidFill>
              <a:srgbClr val="1B2A4A"/>
            </a:solidFill>
            <a:prstDash val="solid"/>
          </a:ln>
        </p:spPr>
      </p:sp>
      <p:sp>
        <p:nvSpPr>
          <p:cNvPr id="19" name="Text 17"/>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0" name="Text 18"/>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COMMON MISTAKES</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Pitfalls with Inheritance</a:t>
            </a:r>
            <a:endParaRPr lang="en-US" sz="2700" dirty="0"/>
          </a:p>
        </p:txBody>
      </p:sp>
      <p:sp>
        <p:nvSpPr>
          <p:cNvPr id="4" name="Shape 2"/>
          <p:cNvSpPr/>
          <p:nvPr/>
        </p:nvSpPr>
        <p:spPr>
          <a:xfrm>
            <a:off x="594360" y="1691640"/>
            <a:ext cx="10607040" cy="2089404"/>
          </a:xfrm>
          <a:prstGeom prst="roundRect">
            <a:avLst>
              <a:gd name="adj" fmla="val 2626"/>
            </a:avLst>
          </a:prstGeom>
          <a:solidFill>
            <a:srgbClr val="F5F6FA"/>
          </a:solidFill>
          <a:ln w="9525">
            <a:solidFill>
              <a:srgbClr val="E4E7EE"/>
            </a:solidFill>
            <a:prstDash val="solid"/>
          </a:ln>
        </p:spPr>
      </p:sp>
      <p:sp>
        <p:nvSpPr>
          <p:cNvPr id="5" name="Shape 3"/>
          <p:cNvSpPr/>
          <p:nvPr/>
        </p:nvSpPr>
        <p:spPr>
          <a:xfrm>
            <a:off x="777240" y="1874520"/>
            <a:ext cx="109728" cy="109728"/>
          </a:xfrm>
          <a:prstGeom prst="ellipse">
            <a:avLst/>
          </a:prstGeom>
          <a:solidFill>
            <a:srgbClr val="E8590C"/>
          </a:solidFill>
          <a:ln w="12700">
            <a:solidFill>
              <a:srgbClr val="000000"/>
            </a:solidFill>
            <a:prstDash val="solid"/>
          </a:ln>
        </p:spPr>
      </p:sp>
      <p:sp>
        <p:nvSpPr>
          <p:cNvPr id="6" name="Text 4"/>
          <p:cNvSpPr/>
          <p:nvPr/>
        </p:nvSpPr>
        <p:spPr>
          <a:xfrm>
            <a:off x="1051560" y="1764792"/>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Using inheritance where composition fits better</a:t>
            </a:r>
            <a:endParaRPr lang="en-US" sz="1500" dirty="0"/>
          </a:p>
        </p:txBody>
      </p:sp>
      <p:sp>
        <p:nvSpPr>
          <p:cNvPr id="7" name="Text 5"/>
          <p:cNvSpPr/>
          <p:nvPr/>
        </p:nvSpPr>
        <p:spPr>
          <a:xfrm>
            <a:off x="1051560" y="2057400"/>
            <a:ext cx="9966960" cy="1668780"/>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Not every relationship is an is-a relationship; sometimes a class should hold a reference to another instead.</a:t>
            </a:r>
            <a:endParaRPr lang="en-US" sz="1250" dirty="0"/>
          </a:p>
        </p:txBody>
      </p:sp>
      <p:sp>
        <p:nvSpPr>
          <p:cNvPr id="8" name="Shape 6"/>
          <p:cNvSpPr/>
          <p:nvPr/>
        </p:nvSpPr>
        <p:spPr>
          <a:xfrm>
            <a:off x="594360" y="3945636"/>
            <a:ext cx="10607040" cy="2089404"/>
          </a:xfrm>
          <a:prstGeom prst="roundRect">
            <a:avLst>
              <a:gd name="adj" fmla="val 2626"/>
            </a:avLst>
          </a:prstGeom>
          <a:solidFill>
            <a:srgbClr val="F5F6FA"/>
          </a:solidFill>
          <a:ln w="9525">
            <a:solidFill>
              <a:srgbClr val="E4E7EE"/>
            </a:solidFill>
            <a:prstDash val="solid"/>
          </a:ln>
        </p:spPr>
      </p:sp>
      <p:sp>
        <p:nvSpPr>
          <p:cNvPr id="9" name="Shape 7"/>
          <p:cNvSpPr/>
          <p:nvPr/>
        </p:nvSpPr>
        <p:spPr>
          <a:xfrm>
            <a:off x="777240" y="4128516"/>
            <a:ext cx="109728" cy="109728"/>
          </a:xfrm>
          <a:prstGeom prst="ellipse">
            <a:avLst/>
          </a:prstGeom>
          <a:solidFill>
            <a:srgbClr val="E8590C"/>
          </a:solidFill>
          <a:ln w="12700">
            <a:solidFill>
              <a:srgbClr val="000000"/>
            </a:solidFill>
            <a:prstDash val="solid"/>
          </a:ln>
        </p:spPr>
      </p:sp>
      <p:sp>
        <p:nvSpPr>
          <p:cNvPr id="10" name="Text 8"/>
          <p:cNvSpPr/>
          <p:nvPr/>
        </p:nvSpPr>
        <p:spPr>
          <a:xfrm>
            <a:off x="1051560" y="4018788"/>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Forgetting to call super(...) with the right arguments</a:t>
            </a:r>
            <a:endParaRPr lang="en-US" sz="1500" dirty="0"/>
          </a:p>
        </p:txBody>
      </p:sp>
      <p:sp>
        <p:nvSpPr>
          <p:cNvPr id="11" name="Text 9"/>
          <p:cNvSpPr/>
          <p:nvPr/>
        </p:nvSpPr>
        <p:spPr>
          <a:xfrm>
            <a:off x="1051560" y="4311396"/>
            <a:ext cx="9966960" cy="1668780"/>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If the parent has no no-argument constructor, the subclass must call super with matching arguments explicitly.</a:t>
            </a:r>
            <a:endParaRPr lang="en-US" sz="1250" dirty="0"/>
          </a:p>
        </p:txBody>
      </p:sp>
      <p:sp>
        <p:nvSpPr>
          <p:cNvPr id="12" name="Shape 10"/>
          <p:cNvSpPr/>
          <p:nvPr/>
        </p:nvSpPr>
        <p:spPr>
          <a:xfrm>
            <a:off x="0" y="0"/>
            <a:ext cx="12191695" cy="384048"/>
          </a:xfrm>
          <a:prstGeom prst="rect">
            <a:avLst/>
          </a:prstGeom>
          <a:solidFill>
            <a:srgbClr val="1B2A4A"/>
          </a:solidFill>
          <a:ln w="12700">
            <a:solidFill>
              <a:srgbClr val="1B2A4A"/>
            </a:solidFill>
            <a:prstDash val="solid"/>
          </a:ln>
        </p:spPr>
      </p:sp>
      <p:sp>
        <p:nvSpPr>
          <p:cNvPr id="13" name="Text 11"/>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4" name="Shape 12"/>
          <p:cNvSpPr/>
          <p:nvPr/>
        </p:nvSpPr>
        <p:spPr>
          <a:xfrm>
            <a:off x="219456" y="301752"/>
            <a:ext cx="960120" cy="0"/>
          </a:xfrm>
          <a:prstGeom prst="line">
            <a:avLst/>
          </a:prstGeom>
          <a:noFill/>
          <a:ln w="9525">
            <a:solidFill>
              <a:srgbClr val="4A5570"/>
            </a:solidFill>
            <a:prstDash val="solid"/>
          </a:ln>
        </p:spPr>
      </p:sp>
      <p:sp>
        <p:nvSpPr>
          <p:cNvPr id="15" name="Text 13"/>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16" name="Text 14"/>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17" name="Text 15"/>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18" name="Shape 16"/>
          <p:cNvSpPr/>
          <p:nvPr/>
        </p:nvSpPr>
        <p:spPr>
          <a:xfrm>
            <a:off x="0" y="6291072"/>
            <a:ext cx="12191695" cy="566928"/>
          </a:xfrm>
          <a:prstGeom prst="rect">
            <a:avLst/>
          </a:prstGeom>
          <a:solidFill>
            <a:srgbClr val="1B2A4A"/>
          </a:solidFill>
          <a:ln w="12700">
            <a:solidFill>
              <a:srgbClr val="1B2A4A"/>
            </a:solidFill>
            <a:prstDash val="solid"/>
          </a:ln>
        </p:spPr>
      </p:sp>
      <p:sp>
        <p:nvSpPr>
          <p:cNvPr id="19" name="Text 17"/>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0" name="Text 18"/>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REDEFINING BEHAVIOR</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Method Overriding</a:t>
            </a:r>
            <a:endParaRPr lang="en-US" sz="2700" dirty="0"/>
          </a:p>
        </p:txBody>
      </p:sp>
      <p:sp>
        <p:nvSpPr>
          <p:cNvPr id="4" name="Shape 2"/>
          <p:cNvSpPr/>
          <p:nvPr/>
        </p:nvSpPr>
        <p:spPr>
          <a:xfrm>
            <a:off x="594360" y="1600200"/>
            <a:ext cx="10607040" cy="896112"/>
          </a:xfrm>
          <a:prstGeom prst="roundRect">
            <a:avLst>
              <a:gd name="adj" fmla="val 6122"/>
            </a:avLst>
          </a:prstGeom>
          <a:solidFill>
            <a:srgbClr val="F5F6FA"/>
          </a:solidFill>
          <a:ln w="9525">
            <a:solidFill>
              <a:srgbClr val="E4E7EE"/>
            </a:solidFill>
            <a:prstDash val="solid"/>
          </a:ln>
        </p:spPr>
      </p:sp>
      <p:sp>
        <p:nvSpPr>
          <p:cNvPr id="5" name="Shape 3"/>
          <p:cNvSpPr/>
          <p:nvPr/>
        </p:nvSpPr>
        <p:spPr>
          <a:xfrm>
            <a:off x="804672" y="1755648"/>
            <a:ext cx="100584" cy="100584"/>
          </a:xfrm>
          <a:prstGeom prst="ellipse">
            <a:avLst/>
          </a:prstGeom>
          <a:solidFill>
            <a:srgbClr val="E8590C"/>
          </a:solidFill>
          <a:ln w="12700">
            <a:solidFill>
              <a:srgbClr val="000000"/>
            </a:solidFill>
            <a:prstDash val="solid"/>
          </a:ln>
        </p:spPr>
      </p:sp>
      <p:sp>
        <p:nvSpPr>
          <p:cNvPr id="6" name="Text 4"/>
          <p:cNvSpPr/>
          <p:nvPr/>
        </p:nvSpPr>
        <p:spPr>
          <a:xfrm>
            <a:off x="1051560" y="1655064"/>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A subclass can provide its own implementation of an inherited method, using the exact same signature.</a:t>
            </a:r>
            <a:endParaRPr lang="en-US" sz="1250" dirty="0"/>
          </a:p>
        </p:txBody>
      </p:sp>
      <p:sp>
        <p:nvSpPr>
          <p:cNvPr id="7" name="Shape 5"/>
          <p:cNvSpPr/>
          <p:nvPr/>
        </p:nvSpPr>
        <p:spPr>
          <a:xfrm>
            <a:off x="804672" y="2103120"/>
            <a:ext cx="100584" cy="100584"/>
          </a:xfrm>
          <a:prstGeom prst="ellipse">
            <a:avLst/>
          </a:prstGeom>
          <a:solidFill>
            <a:srgbClr val="E8590C"/>
          </a:solidFill>
          <a:ln w="12700">
            <a:solidFill>
              <a:srgbClr val="000000"/>
            </a:solidFill>
            <a:prstDash val="solid"/>
          </a:ln>
        </p:spPr>
      </p:sp>
      <p:sp>
        <p:nvSpPr>
          <p:cNvPr id="8" name="Text 6"/>
          <p:cNvSpPr/>
          <p:nvPr/>
        </p:nvSpPr>
        <p:spPr>
          <a:xfrm>
            <a:off x="1051560" y="2002536"/>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@Override tells the compiler this method is intended to replace a parent method, catching typos.</a:t>
            </a:r>
            <a:endParaRPr lang="en-US" sz="1250" dirty="0"/>
          </a:p>
        </p:txBody>
      </p:sp>
      <p:sp>
        <p:nvSpPr>
          <p:cNvPr id="9" name="Shape 7"/>
          <p:cNvSpPr/>
          <p:nvPr/>
        </p:nvSpPr>
        <p:spPr>
          <a:xfrm>
            <a:off x="594360" y="2642616"/>
            <a:ext cx="10607040" cy="3392424"/>
          </a:xfrm>
          <a:prstGeom prst="roundRect">
            <a:avLst>
              <a:gd name="adj" fmla="val 2156"/>
            </a:avLst>
          </a:prstGeom>
          <a:solidFill>
            <a:srgbClr val="1E1E2E"/>
          </a:solidFill>
          <a:ln w="12700">
            <a:solidFill>
              <a:srgbClr val="000000"/>
            </a:solidFill>
            <a:prstDash val="solid"/>
          </a:ln>
        </p:spPr>
      </p:sp>
      <p:sp>
        <p:nvSpPr>
          <p:cNvPr id="10" name="Shape 8"/>
          <p:cNvSpPr/>
          <p:nvPr/>
        </p:nvSpPr>
        <p:spPr>
          <a:xfrm>
            <a:off x="594360" y="2642616"/>
            <a:ext cx="10607040" cy="274320"/>
          </a:xfrm>
          <a:prstGeom prst="roundRect">
            <a:avLst>
              <a:gd name="adj" fmla="val 26667"/>
            </a:avLst>
          </a:prstGeom>
          <a:solidFill>
            <a:srgbClr val="17172A"/>
          </a:solidFill>
          <a:ln w="12700">
            <a:solidFill>
              <a:srgbClr val="000000"/>
            </a:solidFill>
            <a:prstDash val="solid"/>
          </a:ln>
        </p:spPr>
      </p:sp>
      <p:sp>
        <p:nvSpPr>
          <p:cNvPr id="11" name="Shape 9"/>
          <p:cNvSpPr/>
          <p:nvPr/>
        </p:nvSpPr>
        <p:spPr>
          <a:xfrm>
            <a:off x="594360" y="2843784"/>
            <a:ext cx="10607040" cy="73152"/>
          </a:xfrm>
          <a:prstGeom prst="rect">
            <a:avLst/>
          </a:prstGeom>
          <a:solidFill>
            <a:srgbClr val="17172A"/>
          </a:solidFill>
          <a:ln w="12700">
            <a:solidFill>
              <a:srgbClr val="000000"/>
            </a:solidFill>
            <a:prstDash val="solid"/>
          </a:ln>
        </p:spPr>
      </p:sp>
      <p:sp>
        <p:nvSpPr>
          <p:cNvPr id="12" name="Shape 10"/>
          <p:cNvSpPr/>
          <p:nvPr/>
        </p:nvSpPr>
        <p:spPr>
          <a:xfrm>
            <a:off x="722376" y="2741371"/>
            <a:ext cx="76810" cy="76810"/>
          </a:xfrm>
          <a:prstGeom prst="ellipse">
            <a:avLst/>
          </a:prstGeom>
          <a:solidFill>
            <a:srgbClr val="FF5F56"/>
          </a:solidFill>
          <a:ln w="12700">
            <a:solidFill>
              <a:srgbClr val="000000"/>
            </a:solidFill>
            <a:prstDash val="solid"/>
          </a:ln>
        </p:spPr>
      </p:sp>
      <p:sp>
        <p:nvSpPr>
          <p:cNvPr id="13" name="Shape 11"/>
          <p:cNvSpPr/>
          <p:nvPr/>
        </p:nvSpPr>
        <p:spPr>
          <a:xfrm>
            <a:off x="886968" y="2741371"/>
            <a:ext cx="76810" cy="76810"/>
          </a:xfrm>
          <a:prstGeom prst="ellipse">
            <a:avLst/>
          </a:prstGeom>
          <a:solidFill>
            <a:srgbClr val="FFBD2E"/>
          </a:solidFill>
          <a:ln w="12700">
            <a:solidFill>
              <a:srgbClr val="000000"/>
            </a:solidFill>
            <a:prstDash val="solid"/>
          </a:ln>
        </p:spPr>
      </p:sp>
      <p:sp>
        <p:nvSpPr>
          <p:cNvPr id="14" name="Shape 12"/>
          <p:cNvSpPr/>
          <p:nvPr/>
        </p:nvSpPr>
        <p:spPr>
          <a:xfrm>
            <a:off x="1051560" y="2741371"/>
            <a:ext cx="76810" cy="76810"/>
          </a:xfrm>
          <a:prstGeom prst="ellipse">
            <a:avLst/>
          </a:prstGeom>
          <a:solidFill>
            <a:srgbClr val="27C93F"/>
          </a:solidFill>
          <a:ln w="12700">
            <a:solidFill>
              <a:srgbClr val="000000"/>
            </a:solidFill>
            <a:prstDash val="solid"/>
          </a:ln>
        </p:spPr>
      </p:sp>
      <p:sp>
        <p:nvSpPr>
          <p:cNvPr id="15" name="Text 13"/>
          <p:cNvSpPr/>
          <p:nvPr/>
        </p:nvSpPr>
        <p:spPr>
          <a:xfrm>
            <a:off x="1371600" y="2642616"/>
            <a:ext cx="9692640" cy="274320"/>
          </a:xfrm>
          <a:prstGeom prst="rect">
            <a:avLst/>
          </a:prstGeom>
          <a:noFill/>
          <a:ln/>
        </p:spPr>
        <p:txBody>
          <a:bodyPr wrap="square" lIns="0" tIns="0" rIns="0" bIns="0" rtlCol="0" anchor="ctr"/>
          <a:lstStyle/>
          <a:p>
            <a:pPr marL="0" indent="0" algn="l">
              <a:buNone/>
            </a:pPr>
            <a:r>
              <a:rPr lang="en-US" sz="1000" dirty="0">
                <a:solidFill>
                  <a:srgbClr val="8A8FA3"/>
                </a:solidFill>
                <a:latin typeface="Courier New" pitchFamily="34" charset="0"/>
                <a:ea typeface="Courier New" pitchFamily="34" charset="-122"/>
                <a:cs typeface="Courier New" pitchFamily="34" charset="-120"/>
              </a:rPr>
              <a:t>Main.java</a:t>
            </a:r>
            <a:endParaRPr lang="en-US" sz="1000" dirty="0"/>
          </a:p>
        </p:txBody>
      </p:sp>
      <p:sp>
        <p:nvSpPr>
          <p:cNvPr id="16" name="Text 14"/>
          <p:cNvSpPr/>
          <p:nvPr/>
        </p:nvSpPr>
        <p:spPr>
          <a:xfrm>
            <a:off x="777240" y="2990088"/>
            <a:ext cx="10241280" cy="2971800"/>
          </a:xfrm>
          <a:prstGeom prst="rect">
            <a:avLst/>
          </a:prstGeom>
          <a:noFill/>
          <a:ln/>
        </p:spPr>
        <p:txBody>
          <a:bodyPr wrap="square" lIns="0" tIns="0" rIns="0" bIns="0" rtlCol="0" anchor="t"/>
          <a:lstStyle/>
          <a:p>
            <a:pPr marL="0" indent="0" algn="l">
              <a:lnSpc>
                <a:spcPct val="118000"/>
              </a:lnSpc>
              <a:buNone/>
            </a:pPr>
            <a:r>
              <a:rPr lang="en-US" sz="1500" b="1" dirty="0">
                <a:solidFill>
                  <a:srgbClr val="569CD6"/>
                </a:solidFill>
                <a:latin typeface="Courier New" pitchFamily="34" charset="0"/>
                <a:ea typeface="Courier New" pitchFamily="34" charset="-122"/>
                <a:cs typeface="Courier New" pitchFamily="34" charset="-120"/>
              </a:rPr>
              <a:t>public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class</a:t>
            </a:r>
            <a:r>
              <a:rPr lang="en-US" sz="1500" dirty="0">
                <a:solidFill>
                  <a:srgbClr val="D4D4D4"/>
                </a:solidFill>
                <a:latin typeface="Courier New" pitchFamily="34" charset="0"/>
                <a:ea typeface="Courier New" pitchFamily="34" charset="-122"/>
                <a:cs typeface="Courier New" pitchFamily="34" charset="-120"/>
              </a:rPr>
              <a:t> Cat </a:t>
            </a:r>
            <a:r>
              <a:rPr lang="en-US" sz="1500" b="1" dirty="0">
                <a:solidFill>
                  <a:srgbClr val="569CD6"/>
                </a:solidFill>
                <a:latin typeface="Courier New" pitchFamily="34" charset="0"/>
                <a:ea typeface="Courier New" pitchFamily="34" charset="-122"/>
                <a:cs typeface="Courier New" pitchFamily="34" charset="-120"/>
              </a:rPr>
              <a:t>extends</a:t>
            </a:r>
            <a:r>
              <a:rPr lang="en-US" sz="1500" dirty="0">
                <a:solidFill>
                  <a:srgbClr val="D4D4D4"/>
                </a:solidFill>
                <a:latin typeface="Courier New" pitchFamily="34" charset="0"/>
                <a:ea typeface="Courier New" pitchFamily="34" charset="-122"/>
                <a:cs typeface="Courier New" pitchFamily="34" charset="-120"/>
              </a:rPr>
              <a:t> Animal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@Override</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void</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DCDCAA"/>
                </a:solidFill>
                <a:latin typeface="Courier New" pitchFamily="34" charset="0"/>
                <a:ea typeface="Courier New" pitchFamily="34" charset="-122"/>
                <a:cs typeface="Courier New" pitchFamily="34" charset="-120"/>
              </a:rPr>
              <a:t>makeSound</a:t>
            </a: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4EC9B0"/>
                </a:solidFill>
                <a:latin typeface="Courier New" pitchFamily="34" charset="0"/>
                <a:ea typeface="Courier New" pitchFamily="34" charset="-122"/>
                <a:cs typeface="Courier New" pitchFamily="34" charset="-120"/>
              </a:rPr>
              <a:t>System</a:t>
            </a:r>
            <a:r>
              <a:rPr lang="en-US" sz="1500" dirty="0">
                <a:solidFill>
                  <a:srgbClr val="D4D4D4"/>
                </a:solidFill>
                <a:latin typeface="Courier New" pitchFamily="34" charset="0"/>
                <a:ea typeface="Courier New" pitchFamily="34" charset="-122"/>
                <a:cs typeface="Courier New" pitchFamily="34" charset="-120"/>
              </a:rPr>
              <a:t>.out.</a:t>
            </a:r>
            <a:r>
              <a:rPr lang="en-US" sz="1500" dirty="0">
                <a:solidFill>
                  <a:srgbClr val="DCDCAA"/>
                </a:solidFill>
                <a:latin typeface="Courier New" pitchFamily="34" charset="0"/>
                <a:ea typeface="Courier New" pitchFamily="34" charset="-122"/>
                <a:cs typeface="Courier New" pitchFamily="34" charset="-120"/>
              </a:rPr>
              <a:t>println</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CE9178"/>
                </a:solidFill>
                <a:latin typeface="Courier New" pitchFamily="34" charset="0"/>
                <a:ea typeface="Courier New" pitchFamily="34" charset="-122"/>
                <a:cs typeface="Courier New" pitchFamily="34" charset="-120"/>
              </a:rPr>
              <a:t>"Meow"</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a:t>
            </a:r>
            <a:endParaRPr lang="en-US" sz="1500" dirty="0"/>
          </a:p>
        </p:txBody>
      </p:sp>
      <p:sp>
        <p:nvSpPr>
          <p:cNvPr id="17" name="Shape 15"/>
          <p:cNvSpPr/>
          <p:nvPr/>
        </p:nvSpPr>
        <p:spPr>
          <a:xfrm>
            <a:off x="0" y="0"/>
            <a:ext cx="12191695" cy="384048"/>
          </a:xfrm>
          <a:prstGeom prst="rect">
            <a:avLst/>
          </a:prstGeom>
          <a:solidFill>
            <a:srgbClr val="1B2A4A"/>
          </a:solidFill>
          <a:ln w="12700">
            <a:solidFill>
              <a:srgbClr val="1B2A4A"/>
            </a:solidFill>
            <a:prstDash val="solid"/>
          </a:ln>
        </p:spPr>
      </p:sp>
      <p:sp>
        <p:nvSpPr>
          <p:cNvPr id="18" name="Text 16"/>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9" name="Shape 17"/>
          <p:cNvSpPr/>
          <p:nvPr/>
        </p:nvSpPr>
        <p:spPr>
          <a:xfrm>
            <a:off x="219456" y="301752"/>
            <a:ext cx="960120" cy="0"/>
          </a:xfrm>
          <a:prstGeom prst="line">
            <a:avLst/>
          </a:prstGeom>
          <a:noFill/>
          <a:ln w="9525">
            <a:solidFill>
              <a:srgbClr val="4A5570"/>
            </a:solidFill>
            <a:prstDash val="solid"/>
          </a:ln>
        </p:spPr>
      </p:sp>
      <p:sp>
        <p:nvSpPr>
          <p:cNvPr id="20" name="Text 18"/>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1" name="Text 19"/>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2" name="Text 20"/>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3" name="Shape 21"/>
          <p:cNvSpPr/>
          <p:nvPr/>
        </p:nvSpPr>
        <p:spPr>
          <a:xfrm>
            <a:off x="0" y="6291072"/>
            <a:ext cx="12191695" cy="566928"/>
          </a:xfrm>
          <a:prstGeom prst="rect">
            <a:avLst/>
          </a:prstGeom>
          <a:solidFill>
            <a:srgbClr val="1B2A4A"/>
          </a:solidFill>
          <a:ln w="12700">
            <a:solidFill>
              <a:srgbClr val="1B2A4A"/>
            </a:solidFill>
            <a:prstDash val="solid"/>
          </a:ln>
        </p:spPr>
      </p:sp>
      <p:sp>
        <p:nvSpPr>
          <p:cNvPr id="24" name="Text 22"/>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5" name="Text 23"/>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PRACTICE</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Practice: Building an Animal Hierarchy</a:t>
            </a:r>
            <a:endParaRPr lang="en-US" sz="2700" dirty="0"/>
          </a:p>
        </p:txBody>
      </p:sp>
      <p:sp>
        <p:nvSpPr>
          <p:cNvPr id="4" name="Text 2"/>
          <p:cNvSpPr/>
          <p:nvPr/>
        </p:nvSpPr>
        <p:spPr>
          <a:xfrm>
            <a:off x="594360" y="1600200"/>
            <a:ext cx="10607040" cy="365760"/>
          </a:xfrm>
          <a:prstGeom prst="rect">
            <a:avLst/>
          </a:prstGeom>
          <a:noFill/>
          <a:ln/>
        </p:spPr>
        <p:txBody>
          <a:bodyPr wrap="square" lIns="0" tIns="0" rIns="0" bIns="0" rtlCol="0" anchor="ctr"/>
          <a:lstStyle/>
          <a:p>
            <a:pPr marL="0" indent="0">
              <a:buNone/>
            </a:pPr>
            <a:r>
              <a:rPr lang="en-US" sz="1250" i="1" dirty="0">
                <a:solidFill>
                  <a:srgbClr val="5A6472"/>
                </a:solidFill>
                <a:latin typeface="Times New Roman" pitchFamily="34" charset="0"/>
                <a:ea typeface="Times New Roman" pitchFamily="34" charset="-122"/>
                <a:cs typeface="Times New Roman" pitchFamily="34" charset="-120"/>
              </a:rPr>
              <a:t>A small hierarchy demonstrating inherited and overridden behavior.</a:t>
            </a:r>
            <a:endParaRPr lang="en-US" sz="1250" dirty="0"/>
          </a:p>
        </p:txBody>
      </p:sp>
      <p:sp>
        <p:nvSpPr>
          <p:cNvPr id="5" name="Shape 3"/>
          <p:cNvSpPr/>
          <p:nvPr/>
        </p:nvSpPr>
        <p:spPr>
          <a:xfrm>
            <a:off x="594360" y="2002536"/>
            <a:ext cx="7040880" cy="4032504"/>
          </a:xfrm>
          <a:prstGeom prst="roundRect">
            <a:avLst>
              <a:gd name="adj" fmla="val 1814"/>
            </a:avLst>
          </a:prstGeom>
          <a:solidFill>
            <a:srgbClr val="1E1E2E"/>
          </a:solidFill>
          <a:ln w="12700">
            <a:solidFill>
              <a:srgbClr val="000000"/>
            </a:solidFill>
            <a:prstDash val="solid"/>
          </a:ln>
        </p:spPr>
      </p:sp>
      <p:sp>
        <p:nvSpPr>
          <p:cNvPr id="6" name="Shape 4"/>
          <p:cNvSpPr/>
          <p:nvPr/>
        </p:nvSpPr>
        <p:spPr>
          <a:xfrm>
            <a:off x="594360" y="2002536"/>
            <a:ext cx="7040880" cy="274320"/>
          </a:xfrm>
          <a:prstGeom prst="roundRect">
            <a:avLst>
              <a:gd name="adj" fmla="val 26667"/>
            </a:avLst>
          </a:prstGeom>
          <a:solidFill>
            <a:srgbClr val="17172A"/>
          </a:solidFill>
          <a:ln w="12700">
            <a:solidFill>
              <a:srgbClr val="000000"/>
            </a:solidFill>
            <a:prstDash val="solid"/>
          </a:ln>
        </p:spPr>
      </p:sp>
      <p:sp>
        <p:nvSpPr>
          <p:cNvPr id="7" name="Shape 5"/>
          <p:cNvSpPr/>
          <p:nvPr/>
        </p:nvSpPr>
        <p:spPr>
          <a:xfrm>
            <a:off x="594360" y="2203704"/>
            <a:ext cx="7040880" cy="73152"/>
          </a:xfrm>
          <a:prstGeom prst="rect">
            <a:avLst/>
          </a:prstGeom>
          <a:solidFill>
            <a:srgbClr val="17172A"/>
          </a:solidFill>
          <a:ln w="12700">
            <a:solidFill>
              <a:srgbClr val="000000"/>
            </a:solidFill>
            <a:prstDash val="solid"/>
          </a:ln>
        </p:spPr>
      </p:sp>
      <p:sp>
        <p:nvSpPr>
          <p:cNvPr id="8" name="Shape 6"/>
          <p:cNvSpPr/>
          <p:nvPr/>
        </p:nvSpPr>
        <p:spPr>
          <a:xfrm>
            <a:off x="722376" y="2101291"/>
            <a:ext cx="76810" cy="76810"/>
          </a:xfrm>
          <a:prstGeom prst="ellipse">
            <a:avLst/>
          </a:prstGeom>
          <a:solidFill>
            <a:srgbClr val="FF5F56"/>
          </a:solidFill>
          <a:ln w="12700">
            <a:solidFill>
              <a:srgbClr val="000000"/>
            </a:solidFill>
            <a:prstDash val="solid"/>
          </a:ln>
        </p:spPr>
      </p:sp>
      <p:sp>
        <p:nvSpPr>
          <p:cNvPr id="9" name="Shape 7"/>
          <p:cNvSpPr/>
          <p:nvPr/>
        </p:nvSpPr>
        <p:spPr>
          <a:xfrm>
            <a:off x="886968" y="2101291"/>
            <a:ext cx="76810" cy="76810"/>
          </a:xfrm>
          <a:prstGeom prst="ellipse">
            <a:avLst/>
          </a:prstGeom>
          <a:solidFill>
            <a:srgbClr val="FFBD2E"/>
          </a:solidFill>
          <a:ln w="12700">
            <a:solidFill>
              <a:srgbClr val="000000"/>
            </a:solidFill>
            <a:prstDash val="solid"/>
          </a:ln>
        </p:spPr>
      </p:sp>
      <p:sp>
        <p:nvSpPr>
          <p:cNvPr id="10" name="Shape 8"/>
          <p:cNvSpPr/>
          <p:nvPr/>
        </p:nvSpPr>
        <p:spPr>
          <a:xfrm>
            <a:off x="1051560" y="2101291"/>
            <a:ext cx="76810" cy="76810"/>
          </a:xfrm>
          <a:prstGeom prst="ellipse">
            <a:avLst/>
          </a:prstGeom>
          <a:solidFill>
            <a:srgbClr val="27C93F"/>
          </a:solidFill>
          <a:ln w="12700">
            <a:solidFill>
              <a:srgbClr val="000000"/>
            </a:solidFill>
            <a:prstDash val="solid"/>
          </a:ln>
        </p:spPr>
      </p:sp>
      <p:sp>
        <p:nvSpPr>
          <p:cNvPr id="11" name="Text 9"/>
          <p:cNvSpPr/>
          <p:nvPr/>
        </p:nvSpPr>
        <p:spPr>
          <a:xfrm>
            <a:off x="1371600" y="2002536"/>
            <a:ext cx="6126480" cy="274320"/>
          </a:xfrm>
          <a:prstGeom prst="rect">
            <a:avLst/>
          </a:prstGeom>
          <a:noFill/>
          <a:ln/>
        </p:spPr>
        <p:txBody>
          <a:bodyPr wrap="square" lIns="0" tIns="0" rIns="0" bIns="0" rtlCol="0" anchor="ctr"/>
          <a:lstStyle/>
          <a:p>
            <a:pPr marL="0" indent="0" algn="l">
              <a:buNone/>
            </a:pPr>
            <a:r>
              <a:rPr lang="en-US" sz="1000" dirty="0">
                <a:solidFill>
                  <a:srgbClr val="8A8FA3"/>
                </a:solidFill>
                <a:latin typeface="Courier New" pitchFamily="34" charset="0"/>
                <a:ea typeface="Courier New" pitchFamily="34" charset="-122"/>
                <a:cs typeface="Courier New" pitchFamily="34" charset="-120"/>
              </a:rPr>
              <a:t>Main.java</a:t>
            </a:r>
            <a:endParaRPr lang="en-US" sz="1000" dirty="0"/>
          </a:p>
        </p:txBody>
      </p:sp>
      <p:sp>
        <p:nvSpPr>
          <p:cNvPr id="12" name="Text 10"/>
          <p:cNvSpPr/>
          <p:nvPr/>
        </p:nvSpPr>
        <p:spPr>
          <a:xfrm>
            <a:off x="777240" y="2350008"/>
            <a:ext cx="6675120" cy="3611880"/>
          </a:xfrm>
          <a:prstGeom prst="rect">
            <a:avLst/>
          </a:prstGeom>
          <a:noFill/>
          <a:ln/>
        </p:spPr>
        <p:txBody>
          <a:bodyPr wrap="square" lIns="0" tIns="0" rIns="0" bIns="0" rtlCol="0" anchor="t"/>
          <a:lstStyle/>
          <a:p>
            <a:pPr marL="0" indent="0" algn="l">
              <a:lnSpc>
                <a:spcPct val="118000"/>
              </a:lnSpc>
              <a:buNone/>
            </a:pPr>
            <a:r>
              <a:rPr lang="en-US" sz="1200" b="1" dirty="0">
                <a:solidFill>
                  <a:srgbClr val="569CD6"/>
                </a:solidFill>
                <a:latin typeface="Courier New" pitchFamily="34" charset="0"/>
                <a:ea typeface="Courier New" pitchFamily="34" charset="-122"/>
                <a:cs typeface="Courier New" pitchFamily="34" charset="-120"/>
              </a:rPr>
              <a:t>public</a:t>
            </a:r>
            <a:r>
              <a:rPr lang="en-US" sz="1200" dirty="0">
                <a:solidFill>
                  <a:srgbClr val="D4D4D4"/>
                </a:solidFill>
                <a:latin typeface="Courier New" pitchFamily="34" charset="0"/>
                <a:ea typeface="Courier New" pitchFamily="34" charset="-122"/>
                <a:cs typeface="Courier New" pitchFamily="34" charset="-120"/>
              </a:rPr>
              <a:t> </a:t>
            </a:r>
            <a:r>
              <a:rPr lang="en-US" sz="1200" b="1" dirty="0">
                <a:solidFill>
                  <a:srgbClr val="569CD6"/>
                </a:solidFill>
                <a:latin typeface="Courier New" pitchFamily="34" charset="0"/>
                <a:ea typeface="Courier New" pitchFamily="34" charset="-122"/>
                <a:cs typeface="Courier New" pitchFamily="34" charset="-120"/>
              </a:rPr>
              <a:t>class</a:t>
            </a:r>
            <a:r>
              <a:rPr lang="en-US" sz="1200" dirty="0">
                <a:solidFill>
                  <a:srgbClr val="D4D4D4"/>
                </a:solidFill>
                <a:latin typeface="Courier New" pitchFamily="34" charset="0"/>
                <a:ea typeface="Courier New" pitchFamily="34" charset="-122"/>
                <a:cs typeface="Courier New" pitchFamily="34" charset="-120"/>
              </a:rPr>
              <a:t> Animal {</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r>
              <a:rPr lang="en-US" sz="1200" dirty="0">
                <a:solidFill>
                  <a:srgbClr val="4EC9B0"/>
                </a:solidFill>
                <a:latin typeface="Courier New" pitchFamily="34" charset="0"/>
                <a:ea typeface="Courier New" pitchFamily="34" charset="-122"/>
                <a:cs typeface="Courier New" pitchFamily="34" charset="-120"/>
              </a:rPr>
              <a:t>String</a:t>
            </a:r>
            <a:r>
              <a:rPr lang="en-US" sz="1200" dirty="0">
                <a:solidFill>
                  <a:srgbClr val="D4D4D4"/>
                </a:solidFill>
                <a:latin typeface="Courier New" pitchFamily="34" charset="0"/>
                <a:ea typeface="Courier New" pitchFamily="34" charset="-122"/>
                <a:cs typeface="Courier New" pitchFamily="34" charset="-120"/>
              </a:rPr>
              <a:t> name;</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r>
              <a:rPr lang="en-US" sz="1200" dirty="0">
                <a:solidFill>
                  <a:srgbClr val="DCDCAA"/>
                </a:solidFill>
                <a:latin typeface="Courier New" pitchFamily="34" charset="0"/>
                <a:ea typeface="Courier New" pitchFamily="34" charset="-122"/>
                <a:cs typeface="Courier New" pitchFamily="34" charset="-120"/>
              </a:rPr>
              <a:t>Animal</a:t>
            </a:r>
            <a:r>
              <a:rPr lang="en-US" sz="1200" dirty="0">
                <a:solidFill>
                  <a:srgbClr val="D4D4D4"/>
                </a:solidFill>
                <a:latin typeface="Courier New" pitchFamily="34" charset="0"/>
                <a:ea typeface="Courier New" pitchFamily="34" charset="-122"/>
                <a:cs typeface="Courier New" pitchFamily="34" charset="-120"/>
              </a:rPr>
              <a:t>(</a:t>
            </a:r>
            <a:r>
              <a:rPr lang="en-US" sz="1200" dirty="0">
                <a:solidFill>
                  <a:srgbClr val="4EC9B0"/>
                </a:solidFill>
                <a:latin typeface="Courier New" pitchFamily="34" charset="0"/>
                <a:ea typeface="Courier New" pitchFamily="34" charset="-122"/>
                <a:cs typeface="Courier New" pitchFamily="34" charset="-120"/>
              </a:rPr>
              <a:t>String</a:t>
            </a:r>
            <a:r>
              <a:rPr lang="en-US" sz="1200" dirty="0">
                <a:solidFill>
                  <a:srgbClr val="D4D4D4"/>
                </a:solidFill>
                <a:latin typeface="Courier New" pitchFamily="34" charset="0"/>
                <a:ea typeface="Courier New" pitchFamily="34" charset="-122"/>
                <a:cs typeface="Courier New" pitchFamily="34" charset="-120"/>
              </a:rPr>
              <a:t> name) { </a:t>
            </a:r>
            <a:r>
              <a:rPr lang="en-US" sz="1200" b="1" dirty="0">
                <a:solidFill>
                  <a:srgbClr val="569CD6"/>
                </a:solidFill>
                <a:latin typeface="Courier New" pitchFamily="34" charset="0"/>
                <a:ea typeface="Courier New" pitchFamily="34" charset="-122"/>
                <a:cs typeface="Courier New" pitchFamily="34" charset="-120"/>
              </a:rPr>
              <a:t>this</a:t>
            </a:r>
            <a:r>
              <a:rPr lang="en-US" sz="1200" dirty="0">
                <a:solidFill>
                  <a:srgbClr val="D4D4D4"/>
                </a:solidFill>
                <a:latin typeface="Courier New" pitchFamily="34" charset="0"/>
                <a:ea typeface="Courier New" pitchFamily="34" charset="-122"/>
                <a:cs typeface="Courier New" pitchFamily="34" charset="-120"/>
              </a:rPr>
              <a:t>.name = name; }</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r>
              <a:rPr lang="en-US" sz="1200" b="1" dirty="0">
                <a:solidFill>
                  <a:srgbClr val="569CD6"/>
                </a:solidFill>
                <a:latin typeface="Courier New" pitchFamily="34" charset="0"/>
                <a:ea typeface="Courier New" pitchFamily="34" charset="-122"/>
                <a:cs typeface="Courier New" pitchFamily="34" charset="-120"/>
              </a:rPr>
              <a:t>void</a:t>
            </a:r>
            <a:r>
              <a:rPr lang="en-US" sz="1200" dirty="0">
                <a:solidFill>
                  <a:srgbClr val="D4D4D4"/>
                </a:solidFill>
                <a:latin typeface="Courier New" pitchFamily="34" charset="0"/>
                <a:ea typeface="Courier New" pitchFamily="34" charset="-122"/>
                <a:cs typeface="Courier New" pitchFamily="34" charset="-120"/>
              </a:rPr>
              <a:t> </a:t>
            </a:r>
            <a:r>
              <a:rPr lang="en-US" sz="1200" dirty="0">
                <a:solidFill>
                  <a:srgbClr val="DCDCAA"/>
                </a:solidFill>
                <a:latin typeface="Courier New" pitchFamily="34" charset="0"/>
                <a:ea typeface="Courier New" pitchFamily="34" charset="-122"/>
                <a:cs typeface="Courier New" pitchFamily="34" charset="-120"/>
              </a:rPr>
              <a:t>speak</a:t>
            </a:r>
            <a:r>
              <a:rPr lang="en-US" sz="1200" dirty="0">
                <a:solidFill>
                  <a:srgbClr val="D4D4D4"/>
                </a:solidFill>
                <a:latin typeface="Courier New" pitchFamily="34" charset="0"/>
                <a:ea typeface="Courier New" pitchFamily="34" charset="-122"/>
                <a:cs typeface="Courier New" pitchFamily="34" charset="-120"/>
              </a:rPr>
              <a:t>() { </a:t>
            </a:r>
            <a:r>
              <a:rPr lang="en-US" sz="1200" dirty="0">
                <a:solidFill>
                  <a:srgbClr val="4EC9B0"/>
                </a:solidFill>
                <a:latin typeface="Courier New" pitchFamily="34" charset="0"/>
                <a:ea typeface="Courier New" pitchFamily="34" charset="-122"/>
                <a:cs typeface="Courier New" pitchFamily="34" charset="-120"/>
              </a:rPr>
              <a:t>System</a:t>
            </a:r>
            <a:r>
              <a:rPr lang="en-US" sz="1200" dirty="0">
                <a:solidFill>
                  <a:srgbClr val="D4D4D4"/>
                </a:solidFill>
                <a:latin typeface="Courier New" pitchFamily="34" charset="0"/>
                <a:ea typeface="Courier New" pitchFamily="34" charset="-122"/>
                <a:cs typeface="Courier New" pitchFamily="34" charset="-120"/>
              </a:rPr>
              <a:t>.out.</a:t>
            </a:r>
            <a:r>
              <a:rPr lang="en-US" sz="1200" dirty="0">
                <a:solidFill>
                  <a:srgbClr val="DCDCAA"/>
                </a:solidFill>
                <a:latin typeface="Courier New" pitchFamily="34" charset="0"/>
                <a:ea typeface="Courier New" pitchFamily="34" charset="-122"/>
                <a:cs typeface="Courier New" pitchFamily="34" charset="-120"/>
              </a:rPr>
              <a:t>println</a:t>
            </a:r>
            <a:r>
              <a:rPr lang="en-US" sz="1200" dirty="0">
                <a:solidFill>
                  <a:srgbClr val="D4D4D4"/>
                </a:solidFill>
                <a:latin typeface="Courier New" pitchFamily="34" charset="0"/>
                <a:ea typeface="Courier New" pitchFamily="34" charset="-122"/>
                <a:cs typeface="Courier New" pitchFamily="34" charset="-120"/>
              </a:rPr>
              <a:t>(name + </a:t>
            </a:r>
            <a:r>
              <a:rPr lang="en-US" sz="1200" dirty="0">
                <a:solidFill>
                  <a:srgbClr val="CE9178"/>
                </a:solidFill>
                <a:latin typeface="Courier New" pitchFamily="34" charset="0"/>
                <a:ea typeface="Courier New" pitchFamily="34" charset="-122"/>
                <a:cs typeface="Courier New" pitchFamily="34" charset="-120"/>
              </a:rPr>
              <a:t>" makes a sound"</a:t>
            </a:r>
            <a:r>
              <a:rPr lang="en-US" sz="1200" dirty="0">
                <a:solidFill>
                  <a:srgbClr val="D4D4D4"/>
                </a:solidFill>
                <a:latin typeface="Courier New" pitchFamily="34" charset="0"/>
                <a:ea typeface="Courier New" pitchFamily="34" charset="-122"/>
                <a:cs typeface="Courier New" pitchFamily="34" charset="-120"/>
              </a:rPr>
              <a:t>); }</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endParaRPr lang="en-US" sz="1200" dirty="0"/>
          </a:p>
          <a:p>
            <a:pPr marL="0" indent="0" algn="l">
              <a:lnSpc>
                <a:spcPct val="118000"/>
              </a:lnSpc>
              <a:buNone/>
            </a:pPr>
            <a:r>
              <a:rPr lang="en-US" sz="1200" b="1" dirty="0">
                <a:solidFill>
                  <a:srgbClr val="569CD6"/>
                </a:solidFill>
                <a:latin typeface="Courier New" pitchFamily="34" charset="0"/>
                <a:ea typeface="Courier New" pitchFamily="34" charset="-122"/>
                <a:cs typeface="Courier New" pitchFamily="34" charset="-120"/>
              </a:rPr>
              <a:t>public</a:t>
            </a:r>
            <a:r>
              <a:rPr lang="en-US" sz="1200" dirty="0">
                <a:solidFill>
                  <a:srgbClr val="D4D4D4"/>
                </a:solidFill>
                <a:latin typeface="Courier New" pitchFamily="34" charset="0"/>
                <a:ea typeface="Courier New" pitchFamily="34" charset="-122"/>
                <a:cs typeface="Courier New" pitchFamily="34" charset="-120"/>
              </a:rPr>
              <a:t> </a:t>
            </a:r>
            <a:r>
              <a:rPr lang="en-US" sz="1200" b="1" dirty="0">
                <a:solidFill>
                  <a:srgbClr val="569CD6"/>
                </a:solidFill>
                <a:latin typeface="Courier New" pitchFamily="34" charset="0"/>
                <a:ea typeface="Courier New" pitchFamily="34" charset="-122"/>
                <a:cs typeface="Courier New" pitchFamily="34" charset="-120"/>
              </a:rPr>
              <a:t>class</a:t>
            </a:r>
            <a:r>
              <a:rPr lang="en-US" sz="1200" dirty="0">
                <a:solidFill>
                  <a:srgbClr val="D4D4D4"/>
                </a:solidFill>
                <a:latin typeface="Courier New" pitchFamily="34" charset="0"/>
                <a:ea typeface="Courier New" pitchFamily="34" charset="-122"/>
                <a:cs typeface="Courier New" pitchFamily="34" charset="-120"/>
              </a:rPr>
              <a:t> Dog </a:t>
            </a:r>
            <a:r>
              <a:rPr lang="en-US" sz="1200" b="1" dirty="0">
                <a:solidFill>
                  <a:srgbClr val="569CD6"/>
                </a:solidFill>
                <a:latin typeface="Courier New" pitchFamily="34" charset="0"/>
                <a:ea typeface="Courier New" pitchFamily="34" charset="-122"/>
                <a:cs typeface="Courier New" pitchFamily="34" charset="-120"/>
              </a:rPr>
              <a:t>extends</a:t>
            </a:r>
            <a:r>
              <a:rPr lang="en-US" sz="1200" dirty="0">
                <a:solidFill>
                  <a:srgbClr val="D4D4D4"/>
                </a:solidFill>
                <a:latin typeface="Courier New" pitchFamily="34" charset="0"/>
                <a:ea typeface="Courier New" pitchFamily="34" charset="-122"/>
                <a:cs typeface="Courier New" pitchFamily="34" charset="-120"/>
              </a:rPr>
              <a:t> Animal {</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r>
              <a:rPr lang="en-US" sz="1200" dirty="0">
                <a:solidFill>
                  <a:srgbClr val="DCDCAA"/>
                </a:solidFill>
                <a:latin typeface="Courier New" pitchFamily="34" charset="0"/>
                <a:ea typeface="Courier New" pitchFamily="34" charset="-122"/>
                <a:cs typeface="Courier New" pitchFamily="34" charset="-120"/>
              </a:rPr>
              <a:t>Dog</a:t>
            </a:r>
            <a:r>
              <a:rPr lang="en-US" sz="1200" dirty="0">
                <a:solidFill>
                  <a:srgbClr val="D4D4D4"/>
                </a:solidFill>
                <a:latin typeface="Courier New" pitchFamily="34" charset="0"/>
                <a:ea typeface="Courier New" pitchFamily="34" charset="-122"/>
                <a:cs typeface="Courier New" pitchFamily="34" charset="-120"/>
              </a:rPr>
              <a:t>(</a:t>
            </a:r>
            <a:r>
              <a:rPr lang="en-US" sz="1200" dirty="0">
                <a:solidFill>
                  <a:srgbClr val="4EC9B0"/>
                </a:solidFill>
                <a:latin typeface="Courier New" pitchFamily="34" charset="0"/>
                <a:ea typeface="Courier New" pitchFamily="34" charset="-122"/>
                <a:cs typeface="Courier New" pitchFamily="34" charset="-120"/>
              </a:rPr>
              <a:t>String</a:t>
            </a:r>
            <a:r>
              <a:rPr lang="en-US" sz="1200" dirty="0">
                <a:solidFill>
                  <a:srgbClr val="D4D4D4"/>
                </a:solidFill>
                <a:latin typeface="Courier New" pitchFamily="34" charset="0"/>
                <a:ea typeface="Courier New" pitchFamily="34" charset="-122"/>
                <a:cs typeface="Courier New" pitchFamily="34" charset="-120"/>
              </a:rPr>
              <a:t> name) { </a:t>
            </a:r>
            <a:r>
              <a:rPr lang="en-US" sz="1200" b="1" dirty="0">
                <a:solidFill>
                  <a:srgbClr val="569CD6"/>
                </a:solidFill>
                <a:latin typeface="Courier New" pitchFamily="34" charset="0"/>
                <a:ea typeface="Courier New" pitchFamily="34" charset="-122"/>
                <a:cs typeface="Courier New" pitchFamily="34" charset="-120"/>
              </a:rPr>
              <a:t>super</a:t>
            </a:r>
            <a:r>
              <a:rPr lang="en-US" sz="1200" dirty="0">
                <a:solidFill>
                  <a:srgbClr val="D4D4D4"/>
                </a:solidFill>
                <a:latin typeface="Courier New" pitchFamily="34" charset="0"/>
                <a:ea typeface="Courier New" pitchFamily="34" charset="-122"/>
                <a:cs typeface="Courier New" pitchFamily="34" charset="-120"/>
              </a:rPr>
              <a:t>(name); }</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r>
              <a:rPr lang="en-US" sz="1200" b="1" dirty="0">
                <a:solidFill>
                  <a:srgbClr val="569CD6"/>
                </a:solidFill>
                <a:latin typeface="Courier New" pitchFamily="34" charset="0"/>
                <a:ea typeface="Courier New" pitchFamily="34" charset="-122"/>
                <a:cs typeface="Courier New" pitchFamily="34" charset="-120"/>
              </a:rPr>
              <a:t>void</a:t>
            </a:r>
            <a:r>
              <a:rPr lang="en-US" sz="1200" dirty="0">
                <a:solidFill>
                  <a:srgbClr val="D4D4D4"/>
                </a:solidFill>
                <a:latin typeface="Courier New" pitchFamily="34" charset="0"/>
                <a:ea typeface="Courier New" pitchFamily="34" charset="-122"/>
                <a:cs typeface="Courier New" pitchFamily="34" charset="-120"/>
              </a:rPr>
              <a:t> </a:t>
            </a:r>
            <a:r>
              <a:rPr lang="en-US" sz="1200" dirty="0">
                <a:solidFill>
                  <a:srgbClr val="DCDCAA"/>
                </a:solidFill>
                <a:latin typeface="Courier New" pitchFamily="34" charset="0"/>
                <a:ea typeface="Courier New" pitchFamily="34" charset="-122"/>
                <a:cs typeface="Courier New" pitchFamily="34" charset="-120"/>
              </a:rPr>
              <a:t>speak</a:t>
            </a:r>
            <a:r>
              <a:rPr lang="en-US" sz="1200" dirty="0">
                <a:solidFill>
                  <a:srgbClr val="D4D4D4"/>
                </a:solidFill>
                <a:latin typeface="Courier New" pitchFamily="34" charset="0"/>
                <a:ea typeface="Courier New" pitchFamily="34" charset="-122"/>
                <a:cs typeface="Courier New" pitchFamily="34" charset="-120"/>
              </a:rPr>
              <a:t>() { </a:t>
            </a:r>
            <a:r>
              <a:rPr lang="en-US" sz="1200" dirty="0">
                <a:solidFill>
                  <a:srgbClr val="4EC9B0"/>
                </a:solidFill>
                <a:latin typeface="Courier New" pitchFamily="34" charset="0"/>
                <a:ea typeface="Courier New" pitchFamily="34" charset="-122"/>
                <a:cs typeface="Courier New" pitchFamily="34" charset="-120"/>
              </a:rPr>
              <a:t>System</a:t>
            </a:r>
            <a:r>
              <a:rPr lang="en-US" sz="1200" dirty="0">
                <a:solidFill>
                  <a:srgbClr val="D4D4D4"/>
                </a:solidFill>
                <a:latin typeface="Courier New" pitchFamily="34" charset="0"/>
                <a:ea typeface="Courier New" pitchFamily="34" charset="-122"/>
                <a:cs typeface="Courier New" pitchFamily="34" charset="-120"/>
              </a:rPr>
              <a:t>.out.</a:t>
            </a:r>
            <a:r>
              <a:rPr lang="en-US" sz="1200" dirty="0">
                <a:solidFill>
                  <a:srgbClr val="DCDCAA"/>
                </a:solidFill>
                <a:latin typeface="Courier New" pitchFamily="34" charset="0"/>
                <a:ea typeface="Courier New" pitchFamily="34" charset="-122"/>
                <a:cs typeface="Courier New" pitchFamily="34" charset="-120"/>
              </a:rPr>
              <a:t>println</a:t>
            </a:r>
            <a:r>
              <a:rPr lang="en-US" sz="1200" dirty="0">
                <a:solidFill>
                  <a:srgbClr val="D4D4D4"/>
                </a:solidFill>
                <a:latin typeface="Courier New" pitchFamily="34" charset="0"/>
                <a:ea typeface="Courier New" pitchFamily="34" charset="-122"/>
                <a:cs typeface="Courier New" pitchFamily="34" charset="-120"/>
              </a:rPr>
              <a:t>(name + </a:t>
            </a:r>
            <a:r>
              <a:rPr lang="en-US" sz="1200" dirty="0">
                <a:solidFill>
                  <a:srgbClr val="CE9178"/>
                </a:solidFill>
                <a:latin typeface="Courier New" pitchFamily="34" charset="0"/>
                <a:ea typeface="Courier New" pitchFamily="34" charset="-122"/>
                <a:cs typeface="Courier New" pitchFamily="34" charset="-120"/>
              </a:rPr>
              <a:t>" barks"</a:t>
            </a:r>
            <a:r>
              <a:rPr lang="en-US" sz="1200" dirty="0">
                <a:solidFill>
                  <a:srgbClr val="D4D4D4"/>
                </a:solidFill>
                <a:latin typeface="Courier New" pitchFamily="34" charset="0"/>
                <a:ea typeface="Courier New" pitchFamily="34" charset="-122"/>
                <a:cs typeface="Courier New" pitchFamily="34" charset="-120"/>
              </a:rPr>
              <a:t>); }</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endParaRPr lang="en-US" sz="1200" dirty="0"/>
          </a:p>
          <a:p>
            <a:pPr marL="0" indent="0" algn="l">
              <a:lnSpc>
                <a:spcPct val="118000"/>
              </a:lnSpc>
              <a:buNone/>
            </a:pPr>
            <a:r>
              <a:rPr lang="en-US" sz="1200" b="1" dirty="0">
                <a:solidFill>
                  <a:srgbClr val="569CD6"/>
                </a:solidFill>
                <a:latin typeface="Courier New" pitchFamily="34" charset="0"/>
                <a:ea typeface="Courier New" pitchFamily="34" charset="-122"/>
                <a:cs typeface="Courier New" pitchFamily="34" charset="-120"/>
              </a:rPr>
              <a:t>public</a:t>
            </a:r>
            <a:r>
              <a:rPr lang="en-US" sz="1200" dirty="0">
                <a:solidFill>
                  <a:srgbClr val="D4D4D4"/>
                </a:solidFill>
                <a:latin typeface="Courier New" pitchFamily="34" charset="0"/>
                <a:ea typeface="Courier New" pitchFamily="34" charset="-122"/>
                <a:cs typeface="Courier New" pitchFamily="34" charset="-120"/>
              </a:rPr>
              <a:t> </a:t>
            </a:r>
            <a:r>
              <a:rPr lang="en-US" sz="1200" b="1" dirty="0">
                <a:solidFill>
                  <a:srgbClr val="569CD6"/>
                </a:solidFill>
                <a:latin typeface="Courier New" pitchFamily="34" charset="0"/>
                <a:ea typeface="Courier New" pitchFamily="34" charset="-122"/>
                <a:cs typeface="Courier New" pitchFamily="34" charset="-120"/>
              </a:rPr>
              <a:t>class</a:t>
            </a:r>
            <a:r>
              <a:rPr lang="en-US" sz="1200" dirty="0">
                <a:solidFill>
                  <a:srgbClr val="D4D4D4"/>
                </a:solidFill>
                <a:latin typeface="Courier New" pitchFamily="34" charset="0"/>
                <a:ea typeface="Courier New" pitchFamily="34" charset="-122"/>
                <a:cs typeface="Courier New" pitchFamily="34" charset="-120"/>
              </a:rPr>
              <a:t> Practice {</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r>
              <a:rPr lang="en-US" sz="1200" b="1" dirty="0">
                <a:solidFill>
                  <a:srgbClr val="569CD6"/>
                </a:solidFill>
                <a:latin typeface="Courier New" pitchFamily="34" charset="0"/>
                <a:ea typeface="Courier New" pitchFamily="34" charset="-122"/>
                <a:cs typeface="Courier New" pitchFamily="34" charset="-120"/>
              </a:rPr>
              <a:t>public</a:t>
            </a:r>
            <a:r>
              <a:rPr lang="en-US" sz="1200" dirty="0">
                <a:solidFill>
                  <a:srgbClr val="D4D4D4"/>
                </a:solidFill>
                <a:latin typeface="Courier New" pitchFamily="34" charset="0"/>
                <a:ea typeface="Courier New" pitchFamily="34" charset="-122"/>
                <a:cs typeface="Courier New" pitchFamily="34" charset="-120"/>
              </a:rPr>
              <a:t> </a:t>
            </a:r>
            <a:r>
              <a:rPr lang="en-US" sz="1200" b="1" dirty="0">
                <a:solidFill>
                  <a:srgbClr val="569CD6"/>
                </a:solidFill>
                <a:latin typeface="Courier New" pitchFamily="34" charset="0"/>
                <a:ea typeface="Courier New" pitchFamily="34" charset="-122"/>
                <a:cs typeface="Courier New" pitchFamily="34" charset="-120"/>
              </a:rPr>
              <a:t>static</a:t>
            </a:r>
            <a:r>
              <a:rPr lang="en-US" sz="1200" dirty="0">
                <a:solidFill>
                  <a:srgbClr val="D4D4D4"/>
                </a:solidFill>
                <a:latin typeface="Courier New" pitchFamily="34" charset="0"/>
                <a:ea typeface="Courier New" pitchFamily="34" charset="-122"/>
                <a:cs typeface="Courier New" pitchFamily="34" charset="-120"/>
              </a:rPr>
              <a:t> </a:t>
            </a:r>
            <a:r>
              <a:rPr lang="en-US" sz="1200" b="1" dirty="0">
                <a:solidFill>
                  <a:srgbClr val="569CD6"/>
                </a:solidFill>
                <a:latin typeface="Courier New" pitchFamily="34" charset="0"/>
                <a:ea typeface="Courier New" pitchFamily="34" charset="-122"/>
                <a:cs typeface="Courier New" pitchFamily="34" charset="-120"/>
              </a:rPr>
              <a:t>void</a:t>
            </a:r>
            <a:r>
              <a:rPr lang="en-US" sz="1200" dirty="0">
                <a:solidFill>
                  <a:srgbClr val="D4D4D4"/>
                </a:solidFill>
                <a:latin typeface="Courier New" pitchFamily="34" charset="0"/>
                <a:ea typeface="Courier New" pitchFamily="34" charset="-122"/>
                <a:cs typeface="Courier New" pitchFamily="34" charset="-120"/>
              </a:rPr>
              <a:t> </a:t>
            </a:r>
            <a:r>
              <a:rPr lang="en-US" sz="1200" dirty="0">
                <a:solidFill>
                  <a:srgbClr val="DCDCAA"/>
                </a:solidFill>
                <a:latin typeface="Courier New" pitchFamily="34" charset="0"/>
                <a:ea typeface="Courier New" pitchFamily="34" charset="-122"/>
                <a:cs typeface="Courier New" pitchFamily="34" charset="-120"/>
              </a:rPr>
              <a:t>main</a:t>
            </a:r>
            <a:r>
              <a:rPr lang="en-US" sz="1200" dirty="0">
                <a:solidFill>
                  <a:srgbClr val="D4D4D4"/>
                </a:solidFill>
                <a:latin typeface="Courier New" pitchFamily="34" charset="0"/>
                <a:ea typeface="Courier New" pitchFamily="34" charset="-122"/>
                <a:cs typeface="Courier New" pitchFamily="34" charset="-120"/>
              </a:rPr>
              <a:t>(</a:t>
            </a:r>
            <a:r>
              <a:rPr lang="en-US" sz="1200" dirty="0">
                <a:solidFill>
                  <a:srgbClr val="4EC9B0"/>
                </a:solidFill>
                <a:latin typeface="Courier New" pitchFamily="34" charset="0"/>
                <a:ea typeface="Courier New" pitchFamily="34" charset="-122"/>
                <a:cs typeface="Courier New" pitchFamily="34" charset="-120"/>
              </a:rPr>
              <a:t>String</a:t>
            </a:r>
            <a:r>
              <a:rPr lang="en-US" sz="1200" dirty="0">
                <a:solidFill>
                  <a:srgbClr val="D4D4D4"/>
                </a:solidFill>
                <a:latin typeface="Courier New" pitchFamily="34" charset="0"/>
                <a:ea typeface="Courier New" pitchFamily="34" charset="-122"/>
                <a:cs typeface="Courier New" pitchFamily="34" charset="-120"/>
              </a:rPr>
              <a:t>[] args) {</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Dog d = </a:t>
            </a:r>
            <a:r>
              <a:rPr lang="en-US" sz="1200" b="1" dirty="0">
                <a:solidFill>
                  <a:srgbClr val="569CD6"/>
                </a:solidFill>
                <a:latin typeface="Courier New" pitchFamily="34" charset="0"/>
                <a:ea typeface="Courier New" pitchFamily="34" charset="-122"/>
                <a:cs typeface="Courier New" pitchFamily="34" charset="-120"/>
              </a:rPr>
              <a:t>new</a:t>
            </a:r>
            <a:r>
              <a:rPr lang="en-US" sz="1200" dirty="0">
                <a:solidFill>
                  <a:srgbClr val="D4D4D4"/>
                </a:solidFill>
                <a:latin typeface="Courier New" pitchFamily="34" charset="0"/>
                <a:ea typeface="Courier New" pitchFamily="34" charset="-122"/>
                <a:cs typeface="Courier New" pitchFamily="34" charset="-120"/>
              </a:rPr>
              <a:t> </a:t>
            </a:r>
            <a:r>
              <a:rPr lang="en-US" sz="1200" dirty="0">
                <a:solidFill>
                  <a:srgbClr val="DCDCAA"/>
                </a:solidFill>
                <a:latin typeface="Courier New" pitchFamily="34" charset="0"/>
                <a:ea typeface="Courier New" pitchFamily="34" charset="-122"/>
                <a:cs typeface="Courier New" pitchFamily="34" charset="-120"/>
              </a:rPr>
              <a:t>Dog</a:t>
            </a:r>
            <a:r>
              <a:rPr lang="en-US" sz="1200" dirty="0">
                <a:solidFill>
                  <a:srgbClr val="D4D4D4"/>
                </a:solidFill>
                <a:latin typeface="Courier New" pitchFamily="34" charset="0"/>
                <a:ea typeface="Courier New" pitchFamily="34" charset="-122"/>
                <a:cs typeface="Courier New" pitchFamily="34" charset="-120"/>
              </a:rPr>
              <a:t>(</a:t>
            </a:r>
            <a:r>
              <a:rPr lang="en-US" sz="1200" dirty="0">
                <a:solidFill>
                  <a:srgbClr val="CE9178"/>
                </a:solidFill>
                <a:latin typeface="Courier New" pitchFamily="34" charset="0"/>
                <a:ea typeface="Courier New" pitchFamily="34" charset="-122"/>
                <a:cs typeface="Courier New" pitchFamily="34" charset="-120"/>
              </a:rPr>
              <a:t>"Rex"</a:t>
            </a:r>
            <a:r>
              <a:rPr lang="en-US" sz="1200" dirty="0">
                <a:solidFill>
                  <a:srgbClr val="D4D4D4"/>
                </a:solidFill>
                <a:latin typeface="Courier New" pitchFamily="34" charset="0"/>
                <a:ea typeface="Courier New" pitchFamily="34" charset="-122"/>
                <a:cs typeface="Courier New" pitchFamily="34" charset="-120"/>
              </a:rPr>
              <a:t>);</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d.</a:t>
            </a:r>
            <a:r>
              <a:rPr lang="en-US" sz="1200" dirty="0">
                <a:solidFill>
                  <a:srgbClr val="DCDCAA"/>
                </a:solidFill>
                <a:latin typeface="Courier New" pitchFamily="34" charset="0"/>
                <a:ea typeface="Courier New" pitchFamily="34" charset="-122"/>
                <a:cs typeface="Courier New" pitchFamily="34" charset="-120"/>
              </a:rPr>
              <a:t>speak</a:t>
            </a:r>
            <a:r>
              <a:rPr lang="en-US" sz="1200" dirty="0">
                <a:solidFill>
                  <a:srgbClr val="D4D4D4"/>
                </a:solidFill>
                <a:latin typeface="Courier New" pitchFamily="34" charset="0"/>
                <a:ea typeface="Courier New" pitchFamily="34" charset="-122"/>
                <a:cs typeface="Courier New" pitchFamily="34" charset="-120"/>
              </a:rPr>
              <a:t>();</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a:t>
            </a:r>
            <a:endParaRPr lang="en-US" sz="1200" dirty="0"/>
          </a:p>
        </p:txBody>
      </p:sp>
      <p:sp>
        <p:nvSpPr>
          <p:cNvPr id="13" name="Shape 11"/>
          <p:cNvSpPr/>
          <p:nvPr/>
        </p:nvSpPr>
        <p:spPr>
          <a:xfrm>
            <a:off x="7909560" y="2002536"/>
            <a:ext cx="3886200" cy="4032504"/>
          </a:xfrm>
          <a:prstGeom prst="roundRect">
            <a:avLst>
              <a:gd name="adj" fmla="val 1882"/>
            </a:avLst>
          </a:prstGeom>
          <a:solidFill>
            <a:srgbClr val="181C24"/>
          </a:solidFill>
          <a:ln w="12700">
            <a:solidFill>
              <a:srgbClr val="000000"/>
            </a:solidFill>
            <a:prstDash val="solid"/>
          </a:ln>
        </p:spPr>
      </p:sp>
      <p:sp>
        <p:nvSpPr>
          <p:cNvPr id="14" name="Text 12"/>
          <p:cNvSpPr/>
          <p:nvPr/>
        </p:nvSpPr>
        <p:spPr>
          <a:xfrm>
            <a:off x="8074152" y="2130552"/>
            <a:ext cx="3557016" cy="274320"/>
          </a:xfrm>
          <a:prstGeom prst="rect">
            <a:avLst/>
          </a:prstGeom>
          <a:noFill/>
          <a:ln/>
        </p:spPr>
        <p:txBody>
          <a:bodyPr wrap="square" lIns="0" tIns="0" rIns="0" bIns="0" rtlCol="0" anchor="ctr"/>
          <a:lstStyle/>
          <a:p>
            <a:pPr marL="0" indent="0">
              <a:buNone/>
            </a:pPr>
            <a:r>
              <a:rPr lang="en-US" sz="1000" b="1" kern="0" spc="100" dirty="0">
                <a:solidFill>
                  <a:srgbClr val="E8590C"/>
                </a:solidFill>
                <a:latin typeface="Times New Roman" pitchFamily="34" charset="0"/>
                <a:ea typeface="Times New Roman" pitchFamily="34" charset="-122"/>
                <a:cs typeface="Times New Roman" pitchFamily="34" charset="-120"/>
              </a:rPr>
              <a:t>CONSOLE OUTPUT</a:t>
            </a:r>
            <a:endParaRPr lang="en-US" sz="1000" dirty="0"/>
          </a:p>
        </p:txBody>
      </p:sp>
      <p:sp>
        <p:nvSpPr>
          <p:cNvPr id="15" name="Text 13"/>
          <p:cNvSpPr/>
          <p:nvPr/>
        </p:nvSpPr>
        <p:spPr>
          <a:xfrm>
            <a:off x="8074152" y="2459736"/>
            <a:ext cx="3557016" cy="3429000"/>
          </a:xfrm>
          <a:prstGeom prst="rect">
            <a:avLst/>
          </a:prstGeom>
          <a:noFill/>
          <a:ln/>
        </p:spPr>
        <p:txBody>
          <a:bodyPr wrap="square" lIns="0" tIns="0" rIns="0" bIns="0" rtlCol="0" anchor="t"/>
          <a:lstStyle/>
          <a:p>
            <a:pPr marL="0" indent="0">
              <a:lnSpc>
                <a:spcPct val="130000"/>
              </a:lnSpc>
              <a:buNone/>
            </a:pPr>
            <a:r>
              <a:rPr lang="en-US" sz="1300" dirty="0">
                <a:solidFill>
                  <a:srgbClr val="D8E6D0"/>
                </a:solidFill>
                <a:latin typeface="Courier New" pitchFamily="34" charset="0"/>
                <a:ea typeface="Courier New" pitchFamily="34" charset="-122"/>
                <a:cs typeface="Courier New" pitchFamily="34" charset="-120"/>
              </a:rPr>
              <a:t>Rex barks</a:t>
            </a:r>
            <a:endParaRPr lang="en-US" sz="1300" dirty="0"/>
          </a:p>
        </p:txBody>
      </p:sp>
      <p:sp>
        <p:nvSpPr>
          <p:cNvPr id="16" name="Shape 14"/>
          <p:cNvSpPr/>
          <p:nvPr/>
        </p:nvSpPr>
        <p:spPr>
          <a:xfrm>
            <a:off x="0" y="0"/>
            <a:ext cx="12191695" cy="384048"/>
          </a:xfrm>
          <a:prstGeom prst="rect">
            <a:avLst/>
          </a:prstGeom>
          <a:solidFill>
            <a:srgbClr val="1B2A4A"/>
          </a:solidFill>
          <a:ln w="12700">
            <a:solidFill>
              <a:srgbClr val="1B2A4A"/>
            </a:solidFill>
            <a:prstDash val="solid"/>
          </a:ln>
        </p:spPr>
      </p:sp>
      <p:sp>
        <p:nvSpPr>
          <p:cNvPr id="17" name="Text 15"/>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8" name="Shape 16"/>
          <p:cNvSpPr/>
          <p:nvPr/>
        </p:nvSpPr>
        <p:spPr>
          <a:xfrm>
            <a:off x="219456" y="301752"/>
            <a:ext cx="960120" cy="0"/>
          </a:xfrm>
          <a:prstGeom prst="line">
            <a:avLst/>
          </a:prstGeom>
          <a:noFill/>
          <a:ln w="9525">
            <a:solidFill>
              <a:srgbClr val="4A5570"/>
            </a:solidFill>
            <a:prstDash val="solid"/>
          </a:ln>
        </p:spPr>
      </p:sp>
      <p:sp>
        <p:nvSpPr>
          <p:cNvPr id="19" name="Text 17"/>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0" name="Text 18"/>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1" name="Text 19"/>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2" name="Shape 20"/>
          <p:cNvSpPr/>
          <p:nvPr/>
        </p:nvSpPr>
        <p:spPr>
          <a:xfrm>
            <a:off x="0" y="6291072"/>
            <a:ext cx="12191695" cy="566928"/>
          </a:xfrm>
          <a:prstGeom prst="rect">
            <a:avLst/>
          </a:prstGeom>
          <a:solidFill>
            <a:srgbClr val="1B2A4A"/>
          </a:solidFill>
          <a:ln w="12700">
            <a:solidFill>
              <a:srgbClr val="1B2A4A"/>
            </a:solidFill>
            <a:prstDash val="solid"/>
          </a:ln>
        </p:spPr>
      </p:sp>
      <p:sp>
        <p:nvSpPr>
          <p:cNvPr id="23" name="Text 21"/>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4" name="Text 22"/>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181C24"/>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81C24"/>
          </a:solidFill>
          <a:ln w="12700">
            <a:solidFill>
              <a:srgbClr val="181C24"/>
            </a:solidFill>
            <a:prstDash val="solid"/>
          </a:ln>
        </p:spPr>
      </p:sp>
      <p:sp>
        <p:nvSpPr>
          <p:cNvPr id="3" name="Shape 1"/>
          <p:cNvSpPr/>
          <p:nvPr/>
        </p:nvSpPr>
        <p:spPr>
          <a:xfrm>
            <a:off x="0" y="3246120"/>
            <a:ext cx="12191695" cy="18288"/>
          </a:xfrm>
          <a:prstGeom prst="rect">
            <a:avLst/>
          </a:prstGeom>
          <a:solidFill>
            <a:srgbClr val="2A2F3B"/>
          </a:solidFill>
          <a:ln w="12700">
            <a:solidFill>
              <a:srgbClr val="000000"/>
            </a:solidFill>
            <a:prstDash val="solid"/>
          </a:ln>
        </p:spPr>
      </p:sp>
      <p:sp>
        <p:nvSpPr>
          <p:cNvPr id="4" name="Text 2"/>
          <p:cNvSpPr/>
          <p:nvPr/>
        </p:nvSpPr>
        <p:spPr>
          <a:xfrm>
            <a:off x="640080" y="2651760"/>
            <a:ext cx="5486400" cy="365760"/>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SECTION 7 / 10</a:t>
            </a:r>
            <a:endParaRPr lang="en-US" sz="1300" dirty="0"/>
          </a:p>
        </p:txBody>
      </p:sp>
      <p:sp>
        <p:nvSpPr>
          <p:cNvPr id="5" name="Text 3"/>
          <p:cNvSpPr/>
          <p:nvPr/>
        </p:nvSpPr>
        <p:spPr>
          <a:xfrm>
            <a:off x="594360" y="2971800"/>
            <a:ext cx="10515600" cy="1005840"/>
          </a:xfrm>
          <a:prstGeom prst="rect">
            <a:avLst/>
          </a:prstGeom>
          <a:noFill/>
          <a:ln/>
        </p:spPr>
        <p:txBody>
          <a:bodyPr wrap="square" lIns="0" tIns="0" rIns="0" bIns="0" rtlCol="0" anchor="ctr"/>
          <a:lstStyle/>
          <a:p>
            <a:pPr marL="0" indent="0">
              <a:buNone/>
            </a:pPr>
            <a:r>
              <a:rPr lang="en-US" sz="3400" b="1" dirty="0">
                <a:solidFill>
                  <a:srgbClr val="FFFFFF"/>
                </a:solidFill>
                <a:latin typeface="Times New Roman" pitchFamily="34" charset="0"/>
                <a:ea typeface="Times New Roman" pitchFamily="34" charset="-122"/>
                <a:cs typeface="Times New Roman" pitchFamily="34" charset="-120"/>
              </a:rPr>
              <a:t>Polymorphism</a:t>
            </a:r>
            <a:endParaRPr lang="en-US" sz="3400" dirty="0"/>
          </a:p>
        </p:txBody>
      </p:sp>
      <p:sp>
        <p:nvSpPr>
          <p:cNvPr id="6" name="Text 4"/>
          <p:cNvSpPr/>
          <p:nvPr/>
        </p:nvSpPr>
        <p:spPr>
          <a:xfrm>
            <a:off x="640080" y="3977640"/>
            <a:ext cx="9144000" cy="548640"/>
          </a:xfrm>
          <a:prstGeom prst="rect">
            <a:avLst/>
          </a:prstGeom>
          <a:noFill/>
          <a:ln/>
        </p:spPr>
        <p:txBody>
          <a:bodyPr wrap="square" lIns="0" tIns="0" rIns="0" bIns="0" rtlCol="0" anchor="t"/>
          <a:lstStyle/>
          <a:p>
            <a:pPr marL="0" indent="0">
              <a:buNone/>
            </a:pPr>
            <a:r>
              <a:rPr lang="en-US" sz="1500" dirty="0">
                <a:solidFill>
                  <a:srgbClr val="8C93A0"/>
                </a:solidFill>
                <a:latin typeface="Times New Roman" pitchFamily="34" charset="0"/>
                <a:ea typeface="Times New Roman" pitchFamily="34" charset="-122"/>
                <a:cs typeface="Times New Roman" pitchFamily="34" charset="-120"/>
              </a:rPr>
              <a:t>One type, many possible behaviors at run time</a:t>
            </a:r>
            <a:endParaRPr lang="en-US" sz="1500" dirty="0"/>
          </a:p>
        </p:txBody>
      </p:sp>
      <p:sp>
        <p:nvSpPr>
          <p:cNvPr id="7" name="Shape 5"/>
          <p:cNvSpPr/>
          <p:nvPr/>
        </p:nvSpPr>
        <p:spPr>
          <a:xfrm>
            <a:off x="0" y="0"/>
            <a:ext cx="12191695" cy="384048"/>
          </a:xfrm>
          <a:prstGeom prst="rect">
            <a:avLst/>
          </a:prstGeom>
          <a:solidFill>
            <a:srgbClr val="1B2A4A"/>
          </a:solidFill>
          <a:ln w="12700">
            <a:solidFill>
              <a:srgbClr val="1B2A4A"/>
            </a:solidFill>
            <a:prstDash val="solid"/>
          </a:ln>
        </p:spPr>
      </p:sp>
      <p:sp>
        <p:nvSpPr>
          <p:cNvPr id="8" name="Text 6"/>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9" name="Shape 7"/>
          <p:cNvSpPr/>
          <p:nvPr/>
        </p:nvSpPr>
        <p:spPr>
          <a:xfrm>
            <a:off x="219456" y="301752"/>
            <a:ext cx="960120" cy="0"/>
          </a:xfrm>
          <a:prstGeom prst="line">
            <a:avLst/>
          </a:prstGeom>
          <a:noFill/>
          <a:ln w="9525">
            <a:solidFill>
              <a:srgbClr val="4A5570"/>
            </a:solidFill>
            <a:prstDash val="solid"/>
          </a:ln>
        </p:spPr>
      </p:sp>
      <p:sp>
        <p:nvSpPr>
          <p:cNvPr id="10" name="Text 8"/>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11" name="Text 9"/>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12" name="Text 10"/>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13" name="Shape 11"/>
          <p:cNvSpPr/>
          <p:nvPr/>
        </p:nvSpPr>
        <p:spPr>
          <a:xfrm>
            <a:off x="0" y="6291072"/>
            <a:ext cx="12191695" cy="566928"/>
          </a:xfrm>
          <a:prstGeom prst="rect">
            <a:avLst/>
          </a:prstGeom>
          <a:solidFill>
            <a:srgbClr val="1B2A4A"/>
          </a:solidFill>
          <a:ln w="12700">
            <a:solidFill>
              <a:srgbClr val="1B2A4A"/>
            </a:solidFill>
            <a:prstDash val="solid"/>
          </a:ln>
        </p:spPr>
      </p:sp>
      <p:sp>
        <p:nvSpPr>
          <p:cNvPr id="14" name="Text 12"/>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15" name="Text 13"/>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CONCEPT</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What Is Polymorphism?</a:t>
            </a:r>
            <a:endParaRPr lang="en-US" sz="2700" dirty="0"/>
          </a:p>
        </p:txBody>
      </p:sp>
      <p:sp>
        <p:nvSpPr>
          <p:cNvPr id="4" name="Shape 2"/>
          <p:cNvSpPr/>
          <p:nvPr/>
        </p:nvSpPr>
        <p:spPr>
          <a:xfrm>
            <a:off x="594360" y="1691640"/>
            <a:ext cx="10607040" cy="2089404"/>
          </a:xfrm>
          <a:prstGeom prst="roundRect">
            <a:avLst>
              <a:gd name="adj" fmla="val 2626"/>
            </a:avLst>
          </a:prstGeom>
          <a:solidFill>
            <a:srgbClr val="F5F6FA"/>
          </a:solidFill>
          <a:ln w="9525">
            <a:solidFill>
              <a:srgbClr val="E4E7EE"/>
            </a:solidFill>
            <a:prstDash val="solid"/>
          </a:ln>
        </p:spPr>
      </p:sp>
      <p:sp>
        <p:nvSpPr>
          <p:cNvPr id="5" name="Shape 3"/>
          <p:cNvSpPr/>
          <p:nvPr/>
        </p:nvSpPr>
        <p:spPr>
          <a:xfrm>
            <a:off x="777240" y="1874520"/>
            <a:ext cx="109728" cy="109728"/>
          </a:xfrm>
          <a:prstGeom prst="ellipse">
            <a:avLst/>
          </a:prstGeom>
          <a:solidFill>
            <a:srgbClr val="E8590C"/>
          </a:solidFill>
          <a:ln w="12700">
            <a:solidFill>
              <a:srgbClr val="000000"/>
            </a:solidFill>
            <a:prstDash val="solid"/>
          </a:ln>
        </p:spPr>
      </p:sp>
      <p:sp>
        <p:nvSpPr>
          <p:cNvPr id="6" name="Text 4"/>
          <p:cNvSpPr/>
          <p:nvPr/>
        </p:nvSpPr>
        <p:spPr>
          <a:xfrm>
            <a:off x="1051560" y="1764792"/>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"Many forms"</a:t>
            </a:r>
            <a:endParaRPr lang="en-US" sz="1500" dirty="0"/>
          </a:p>
        </p:txBody>
      </p:sp>
      <p:sp>
        <p:nvSpPr>
          <p:cNvPr id="7" name="Text 5"/>
          <p:cNvSpPr/>
          <p:nvPr/>
        </p:nvSpPr>
        <p:spPr>
          <a:xfrm>
            <a:off x="1051560" y="2057400"/>
            <a:ext cx="9966960" cy="1668780"/>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Polymorphism lets the same method call behave differently depending on the actual object it runs on.</a:t>
            </a:r>
            <a:endParaRPr lang="en-US" sz="1250" dirty="0"/>
          </a:p>
        </p:txBody>
      </p:sp>
      <p:sp>
        <p:nvSpPr>
          <p:cNvPr id="8" name="Shape 6"/>
          <p:cNvSpPr/>
          <p:nvPr/>
        </p:nvSpPr>
        <p:spPr>
          <a:xfrm>
            <a:off x="594360" y="3945636"/>
            <a:ext cx="10607040" cy="2089404"/>
          </a:xfrm>
          <a:prstGeom prst="roundRect">
            <a:avLst>
              <a:gd name="adj" fmla="val 2626"/>
            </a:avLst>
          </a:prstGeom>
          <a:solidFill>
            <a:srgbClr val="F5F6FA"/>
          </a:solidFill>
          <a:ln w="9525">
            <a:solidFill>
              <a:srgbClr val="E4E7EE"/>
            </a:solidFill>
            <a:prstDash val="solid"/>
          </a:ln>
        </p:spPr>
      </p:sp>
      <p:sp>
        <p:nvSpPr>
          <p:cNvPr id="9" name="Shape 7"/>
          <p:cNvSpPr/>
          <p:nvPr/>
        </p:nvSpPr>
        <p:spPr>
          <a:xfrm>
            <a:off x="777240" y="4128516"/>
            <a:ext cx="109728" cy="109728"/>
          </a:xfrm>
          <a:prstGeom prst="ellipse">
            <a:avLst/>
          </a:prstGeom>
          <a:solidFill>
            <a:srgbClr val="E8590C"/>
          </a:solidFill>
          <a:ln w="12700">
            <a:solidFill>
              <a:srgbClr val="000000"/>
            </a:solidFill>
            <a:prstDash val="solid"/>
          </a:ln>
        </p:spPr>
      </p:sp>
      <p:sp>
        <p:nvSpPr>
          <p:cNvPr id="10" name="Text 8"/>
          <p:cNvSpPr/>
          <p:nvPr/>
        </p:nvSpPr>
        <p:spPr>
          <a:xfrm>
            <a:off x="1051560" y="4018788"/>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Builds directly on inheritance and overriding</a:t>
            </a:r>
            <a:endParaRPr lang="en-US" sz="1500" dirty="0"/>
          </a:p>
        </p:txBody>
      </p:sp>
      <p:sp>
        <p:nvSpPr>
          <p:cNvPr id="11" name="Text 9"/>
          <p:cNvSpPr/>
          <p:nvPr/>
        </p:nvSpPr>
        <p:spPr>
          <a:xfrm>
            <a:off x="1051560" y="4311396"/>
            <a:ext cx="9966960" cy="1668780"/>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A parent type reference can point to any subclass object, and the correct overridden method runs automatically.</a:t>
            </a:r>
            <a:endParaRPr lang="en-US" sz="1250" dirty="0"/>
          </a:p>
        </p:txBody>
      </p:sp>
      <p:sp>
        <p:nvSpPr>
          <p:cNvPr id="12" name="Shape 10"/>
          <p:cNvSpPr/>
          <p:nvPr/>
        </p:nvSpPr>
        <p:spPr>
          <a:xfrm>
            <a:off x="0" y="0"/>
            <a:ext cx="12191695" cy="384048"/>
          </a:xfrm>
          <a:prstGeom prst="rect">
            <a:avLst/>
          </a:prstGeom>
          <a:solidFill>
            <a:srgbClr val="1B2A4A"/>
          </a:solidFill>
          <a:ln w="12700">
            <a:solidFill>
              <a:srgbClr val="1B2A4A"/>
            </a:solidFill>
            <a:prstDash val="solid"/>
          </a:ln>
        </p:spPr>
      </p:sp>
      <p:sp>
        <p:nvSpPr>
          <p:cNvPr id="13" name="Text 11"/>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4" name="Shape 12"/>
          <p:cNvSpPr/>
          <p:nvPr/>
        </p:nvSpPr>
        <p:spPr>
          <a:xfrm>
            <a:off x="219456" y="301752"/>
            <a:ext cx="960120" cy="0"/>
          </a:xfrm>
          <a:prstGeom prst="line">
            <a:avLst/>
          </a:prstGeom>
          <a:noFill/>
          <a:ln w="9525">
            <a:solidFill>
              <a:srgbClr val="4A5570"/>
            </a:solidFill>
            <a:prstDash val="solid"/>
          </a:ln>
        </p:spPr>
      </p:sp>
      <p:sp>
        <p:nvSpPr>
          <p:cNvPr id="15" name="Text 13"/>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16" name="Text 14"/>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17" name="Text 15"/>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18" name="Shape 16"/>
          <p:cNvSpPr/>
          <p:nvPr/>
        </p:nvSpPr>
        <p:spPr>
          <a:xfrm>
            <a:off x="0" y="6291072"/>
            <a:ext cx="12191695" cy="566928"/>
          </a:xfrm>
          <a:prstGeom prst="rect">
            <a:avLst/>
          </a:prstGeom>
          <a:solidFill>
            <a:srgbClr val="1B2A4A"/>
          </a:solidFill>
          <a:ln w="12700">
            <a:solidFill>
              <a:srgbClr val="1B2A4A"/>
            </a:solidFill>
            <a:prstDash val="solid"/>
          </a:ln>
        </p:spPr>
      </p:sp>
      <p:sp>
        <p:nvSpPr>
          <p:cNvPr id="19" name="Text 17"/>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0" name="Text 18"/>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TWO KINDS</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Compile-Time vs. Runtime Polymorphism</a:t>
            </a:r>
            <a:endParaRPr lang="en-US" sz="2700" dirty="0"/>
          </a:p>
        </p:txBody>
      </p:sp>
      <p:graphicFrame>
        <p:nvGraphicFramePr>
          <p:cNvPr id="74" name="Table 0"/>
          <p:cNvGraphicFramePr>
            <a:graphicFrameLocks noGrp="1"/>
          </p:cNvGraphicFramePr>
          <p:nvPr>
            <p:extLst>
              <p:ext uri="{D42A27DB-BD31-4B8C-83A1-F6EECF244321}">
                <p14:modId xmlns:p14="http://schemas.microsoft.com/office/powerpoint/2010/main" val="1579011935"/>
              </p:ext>
            </p:extLst>
          </p:nvPr>
        </p:nvGraphicFramePr>
        <p:xfrm>
          <a:off x="594360" y="1691640"/>
          <a:ext cx="10607040" cy="4343400"/>
        </p:xfrm>
        <a:graphic>
          <a:graphicData uri="http://schemas.openxmlformats.org/drawingml/2006/table">
            <a:tbl>
              <a:tblPr/>
              <a:tblGrid>
                <a:gridCol w="3535680">
                  <a:extLst>
                    <a:ext uri="{9D8B030D-6E8A-4147-A177-3AD203B41FA5}">
                      <a16:colId xmlns:a16="http://schemas.microsoft.com/office/drawing/2014/main" val="20000"/>
                    </a:ext>
                  </a:extLst>
                </a:gridCol>
                <a:gridCol w="3535680">
                  <a:extLst>
                    <a:ext uri="{9D8B030D-6E8A-4147-A177-3AD203B41FA5}">
                      <a16:colId xmlns:a16="http://schemas.microsoft.com/office/drawing/2014/main" val="20001"/>
                    </a:ext>
                  </a:extLst>
                </a:gridCol>
                <a:gridCol w="3535680">
                  <a:extLst>
                    <a:ext uri="{9D8B030D-6E8A-4147-A177-3AD203B41FA5}">
                      <a16:colId xmlns:a16="http://schemas.microsoft.com/office/drawing/2014/main" val="20002"/>
                    </a:ext>
                  </a:extLst>
                </a:gridCol>
              </a:tblGrid>
              <a:tr h="1085850">
                <a:tc>
                  <a:txBody>
                    <a:bodyPr/>
                    <a:lstStyle/>
                    <a:p>
                      <a:pPr marL="0" indent="0" algn="l">
                        <a:buNone/>
                      </a:pPr>
                      <a:r>
                        <a:rPr lang="en-US" sz="1300" b="1" dirty="0">
                          <a:solidFill>
                            <a:srgbClr val="FFFFFF"/>
                          </a:solidFill>
                          <a:latin typeface="Times New Roman" pitchFamily="34" charset="0"/>
                          <a:ea typeface="Times New Roman" pitchFamily="34" charset="-122"/>
                          <a:cs typeface="Times New Roman" pitchFamily="34" charset="-120"/>
                        </a:rPr>
                        <a:t>Aspect</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1B2A4A"/>
                    </a:solidFill>
                  </a:tcPr>
                </a:tc>
                <a:tc>
                  <a:txBody>
                    <a:bodyPr/>
                    <a:lstStyle/>
                    <a:p>
                      <a:pPr marL="0" indent="0" algn="l">
                        <a:buNone/>
                      </a:pPr>
                      <a:r>
                        <a:rPr lang="en-US" sz="1300" b="1" dirty="0">
                          <a:solidFill>
                            <a:srgbClr val="FFFFFF"/>
                          </a:solidFill>
                          <a:latin typeface="Times New Roman" pitchFamily="34" charset="0"/>
                          <a:ea typeface="Times New Roman" pitchFamily="34" charset="-122"/>
                          <a:cs typeface="Times New Roman" pitchFamily="34" charset="-120"/>
                        </a:rPr>
                        <a:t>Compile-Time</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1B2A4A"/>
                    </a:solidFill>
                  </a:tcPr>
                </a:tc>
                <a:tc>
                  <a:txBody>
                    <a:bodyPr/>
                    <a:lstStyle/>
                    <a:p>
                      <a:pPr marL="0" indent="0" algn="l">
                        <a:buNone/>
                      </a:pPr>
                      <a:r>
                        <a:rPr lang="en-US" sz="1300" b="1" dirty="0">
                          <a:solidFill>
                            <a:srgbClr val="FFFFFF"/>
                          </a:solidFill>
                          <a:latin typeface="Times New Roman" pitchFamily="34" charset="0"/>
                          <a:ea typeface="Times New Roman" pitchFamily="34" charset="-122"/>
                          <a:cs typeface="Times New Roman" pitchFamily="34" charset="-120"/>
                        </a:rPr>
                        <a:t>Runtime</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1085850">
                <a:tc>
                  <a:txBody>
                    <a:bodyPr/>
                    <a:lstStyle/>
                    <a:p>
                      <a:pPr marL="0" indent="0" algn="l">
                        <a:buNone/>
                      </a:pPr>
                      <a:r>
                        <a:rPr lang="en-US" sz="1300" b="1" dirty="0">
                          <a:solidFill>
                            <a:srgbClr val="1A202C"/>
                          </a:solidFill>
                          <a:latin typeface="Times New Roman" pitchFamily="34" charset="0"/>
                          <a:ea typeface="Times New Roman" pitchFamily="34" charset="-122"/>
                          <a:cs typeface="Times New Roman" pitchFamily="34" charset="-120"/>
                        </a:rPr>
                        <a:t>Also called</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FFFFF"/>
                    </a:solidFill>
                  </a:tcPr>
                </a:tc>
                <a:tc>
                  <a:txBody>
                    <a:bodyPr/>
                    <a:lstStyle/>
                    <a:p>
                      <a:pPr marL="0" indent="0" algn="l">
                        <a:buNone/>
                      </a:pPr>
                      <a:r>
                        <a:rPr lang="en-US" sz="1300" dirty="0">
                          <a:solidFill>
                            <a:srgbClr val="3D4759"/>
                          </a:solidFill>
                          <a:latin typeface="Times New Roman" pitchFamily="34" charset="0"/>
                          <a:ea typeface="Times New Roman" pitchFamily="34" charset="-122"/>
                          <a:cs typeface="Times New Roman" pitchFamily="34" charset="-120"/>
                        </a:rPr>
                        <a:t>Static polymorphism</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FFFFF"/>
                    </a:solidFill>
                  </a:tcPr>
                </a:tc>
                <a:tc>
                  <a:txBody>
                    <a:bodyPr/>
                    <a:lstStyle/>
                    <a:p>
                      <a:pPr marL="0" indent="0" algn="l">
                        <a:buNone/>
                      </a:pPr>
                      <a:r>
                        <a:rPr lang="en-US" sz="1300" dirty="0">
                          <a:solidFill>
                            <a:srgbClr val="3D4759"/>
                          </a:solidFill>
                          <a:latin typeface="Times New Roman" pitchFamily="34" charset="0"/>
                          <a:ea typeface="Times New Roman" pitchFamily="34" charset="-122"/>
                          <a:cs typeface="Times New Roman" pitchFamily="34" charset="-120"/>
                        </a:rPr>
                        <a:t>Dynamic polymorphism</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085850">
                <a:tc>
                  <a:txBody>
                    <a:bodyPr/>
                    <a:lstStyle/>
                    <a:p>
                      <a:pPr marL="0" indent="0" algn="l">
                        <a:buNone/>
                      </a:pPr>
                      <a:r>
                        <a:rPr lang="en-US" sz="1300" b="1" dirty="0">
                          <a:solidFill>
                            <a:srgbClr val="1A202C"/>
                          </a:solidFill>
                          <a:latin typeface="Times New Roman" pitchFamily="34" charset="0"/>
                          <a:ea typeface="Times New Roman" pitchFamily="34" charset="-122"/>
                          <a:cs typeface="Times New Roman" pitchFamily="34" charset="-120"/>
                        </a:rPr>
                        <a:t>Achieved through</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5F6FA"/>
                    </a:solidFill>
                  </a:tcPr>
                </a:tc>
                <a:tc>
                  <a:txBody>
                    <a:bodyPr/>
                    <a:lstStyle/>
                    <a:p>
                      <a:pPr marL="0" indent="0" algn="l">
                        <a:buNone/>
                      </a:pPr>
                      <a:r>
                        <a:rPr lang="en-US" sz="1300" dirty="0">
                          <a:solidFill>
                            <a:srgbClr val="3D4759"/>
                          </a:solidFill>
                          <a:latin typeface="Times New Roman" pitchFamily="34" charset="0"/>
                          <a:ea typeface="Times New Roman" pitchFamily="34" charset="-122"/>
                          <a:cs typeface="Times New Roman" pitchFamily="34" charset="-120"/>
                        </a:rPr>
                        <a:t>Method overloading</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5F6FA"/>
                    </a:solidFill>
                  </a:tcPr>
                </a:tc>
                <a:tc>
                  <a:txBody>
                    <a:bodyPr/>
                    <a:lstStyle/>
                    <a:p>
                      <a:pPr marL="0" indent="0" algn="l">
                        <a:buNone/>
                      </a:pPr>
                      <a:r>
                        <a:rPr lang="en-US" sz="1300" dirty="0">
                          <a:solidFill>
                            <a:srgbClr val="3D4759"/>
                          </a:solidFill>
                          <a:latin typeface="Times New Roman" pitchFamily="34" charset="0"/>
                          <a:ea typeface="Times New Roman" pitchFamily="34" charset="-122"/>
                          <a:cs typeface="Times New Roman" pitchFamily="34" charset="-120"/>
                        </a:rPr>
                        <a:t>Method overriding</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5F6FA"/>
                    </a:solidFill>
                  </a:tcPr>
                </a:tc>
                <a:extLst>
                  <a:ext uri="{0D108BD9-81ED-4DB2-BD59-A6C34878D82A}">
                    <a16:rowId xmlns:a16="http://schemas.microsoft.com/office/drawing/2014/main" val="10002"/>
                  </a:ext>
                </a:extLst>
              </a:tr>
              <a:tr h="1085850">
                <a:tc>
                  <a:txBody>
                    <a:bodyPr/>
                    <a:lstStyle/>
                    <a:p>
                      <a:pPr marL="0" indent="0" algn="l">
                        <a:buNone/>
                      </a:pPr>
                      <a:r>
                        <a:rPr lang="en-US" sz="1300" b="1" dirty="0">
                          <a:solidFill>
                            <a:srgbClr val="1A202C"/>
                          </a:solidFill>
                          <a:latin typeface="Times New Roman" pitchFamily="34" charset="0"/>
                          <a:ea typeface="Times New Roman" pitchFamily="34" charset="-122"/>
                          <a:cs typeface="Times New Roman" pitchFamily="34" charset="-120"/>
                        </a:rPr>
                        <a:t>Decided by</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FFFFF"/>
                    </a:solidFill>
                  </a:tcPr>
                </a:tc>
                <a:tc>
                  <a:txBody>
                    <a:bodyPr/>
                    <a:lstStyle/>
                    <a:p>
                      <a:pPr marL="0" indent="0" algn="l">
                        <a:buNone/>
                      </a:pPr>
                      <a:r>
                        <a:rPr lang="en-US" sz="1300" dirty="0">
                          <a:solidFill>
                            <a:srgbClr val="3D4759"/>
                          </a:solidFill>
                          <a:latin typeface="Times New Roman" pitchFamily="34" charset="0"/>
                          <a:ea typeface="Times New Roman" pitchFamily="34" charset="-122"/>
                          <a:cs typeface="Times New Roman" pitchFamily="34" charset="-120"/>
                        </a:rPr>
                        <a:t>The compiler, using argument types</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FFFFF"/>
                    </a:solidFill>
                  </a:tcPr>
                </a:tc>
                <a:tc>
                  <a:txBody>
                    <a:bodyPr/>
                    <a:lstStyle/>
                    <a:p>
                      <a:pPr marL="0" indent="0" algn="l">
                        <a:buNone/>
                      </a:pPr>
                      <a:r>
                        <a:rPr lang="en-US" sz="1300" dirty="0">
                          <a:solidFill>
                            <a:srgbClr val="3D4759"/>
                          </a:solidFill>
                          <a:latin typeface="Times New Roman" pitchFamily="34" charset="0"/>
                          <a:ea typeface="Times New Roman" pitchFamily="34" charset="-122"/>
                          <a:cs typeface="Times New Roman" pitchFamily="34" charset="-120"/>
                        </a:rPr>
                        <a:t>The JVM, using the actual object type</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5" name="Shape 2"/>
          <p:cNvSpPr/>
          <p:nvPr/>
        </p:nvSpPr>
        <p:spPr>
          <a:xfrm>
            <a:off x="0" y="0"/>
            <a:ext cx="12191695" cy="384048"/>
          </a:xfrm>
          <a:prstGeom prst="rect">
            <a:avLst/>
          </a:prstGeom>
          <a:solidFill>
            <a:srgbClr val="1B2A4A"/>
          </a:solidFill>
          <a:ln w="12700">
            <a:solidFill>
              <a:srgbClr val="1B2A4A"/>
            </a:solidFill>
            <a:prstDash val="solid"/>
          </a:ln>
        </p:spPr>
      </p:sp>
      <p:sp>
        <p:nvSpPr>
          <p:cNvPr id="6" name="Text 3"/>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7" name="Shape 4"/>
          <p:cNvSpPr/>
          <p:nvPr/>
        </p:nvSpPr>
        <p:spPr>
          <a:xfrm>
            <a:off x="219456" y="301752"/>
            <a:ext cx="960120" cy="0"/>
          </a:xfrm>
          <a:prstGeom prst="line">
            <a:avLst/>
          </a:prstGeom>
          <a:noFill/>
          <a:ln w="9525">
            <a:solidFill>
              <a:srgbClr val="4A5570"/>
            </a:solidFill>
            <a:prstDash val="solid"/>
          </a:ln>
        </p:spPr>
      </p:sp>
      <p:sp>
        <p:nvSpPr>
          <p:cNvPr id="8" name="Text 5"/>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9" name="Text 6"/>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10" name="Text 7"/>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11" name="Shape 8"/>
          <p:cNvSpPr/>
          <p:nvPr/>
        </p:nvSpPr>
        <p:spPr>
          <a:xfrm>
            <a:off x="0" y="6291072"/>
            <a:ext cx="12191695" cy="566928"/>
          </a:xfrm>
          <a:prstGeom prst="rect">
            <a:avLst/>
          </a:prstGeom>
          <a:solidFill>
            <a:srgbClr val="1B2A4A"/>
          </a:solidFill>
          <a:ln w="12700">
            <a:solidFill>
              <a:srgbClr val="1B2A4A"/>
            </a:solidFill>
            <a:prstDash val="solid"/>
          </a:ln>
        </p:spPr>
      </p:sp>
      <p:sp>
        <p:nvSpPr>
          <p:cNvPr id="12" name="Text 9"/>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13" name="Text 10"/>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RECAP</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Overloading as Compile-Time Polymorphism</a:t>
            </a:r>
            <a:endParaRPr lang="en-US" sz="2700" dirty="0"/>
          </a:p>
        </p:txBody>
      </p:sp>
      <p:sp>
        <p:nvSpPr>
          <p:cNvPr id="4" name="Shape 2"/>
          <p:cNvSpPr/>
          <p:nvPr/>
        </p:nvSpPr>
        <p:spPr>
          <a:xfrm>
            <a:off x="594360" y="1600200"/>
            <a:ext cx="10607040" cy="896112"/>
          </a:xfrm>
          <a:prstGeom prst="roundRect">
            <a:avLst>
              <a:gd name="adj" fmla="val 6122"/>
            </a:avLst>
          </a:prstGeom>
          <a:solidFill>
            <a:srgbClr val="F5F6FA"/>
          </a:solidFill>
          <a:ln w="9525">
            <a:solidFill>
              <a:srgbClr val="E4E7EE"/>
            </a:solidFill>
            <a:prstDash val="solid"/>
          </a:ln>
        </p:spPr>
      </p:sp>
      <p:sp>
        <p:nvSpPr>
          <p:cNvPr id="5" name="Shape 3"/>
          <p:cNvSpPr/>
          <p:nvPr/>
        </p:nvSpPr>
        <p:spPr>
          <a:xfrm>
            <a:off x="804672" y="1755648"/>
            <a:ext cx="100584" cy="100584"/>
          </a:xfrm>
          <a:prstGeom prst="ellipse">
            <a:avLst/>
          </a:prstGeom>
          <a:solidFill>
            <a:srgbClr val="E8590C"/>
          </a:solidFill>
          <a:ln w="12700">
            <a:solidFill>
              <a:srgbClr val="000000"/>
            </a:solidFill>
            <a:prstDash val="solid"/>
          </a:ln>
        </p:spPr>
      </p:sp>
      <p:sp>
        <p:nvSpPr>
          <p:cNvPr id="6" name="Text 4"/>
          <p:cNvSpPr/>
          <p:nvPr/>
        </p:nvSpPr>
        <p:spPr>
          <a:xfrm>
            <a:off x="1051560" y="1655064"/>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The compiler chooses which overloaded method to call based on the arguments at the call site.</a:t>
            </a:r>
            <a:endParaRPr lang="en-US" sz="1250" dirty="0"/>
          </a:p>
        </p:txBody>
      </p:sp>
      <p:sp>
        <p:nvSpPr>
          <p:cNvPr id="7" name="Shape 5"/>
          <p:cNvSpPr/>
          <p:nvPr/>
        </p:nvSpPr>
        <p:spPr>
          <a:xfrm>
            <a:off x="804672" y="2103120"/>
            <a:ext cx="100584" cy="100584"/>
          </a:xfrm>
          <a:prstGeom prst="ellipse">
            <a:avLst/>
          </a:prstGeom>
          <a:solidFill>
            <a:srgbClr val="E8590C"/>
          </a:solidFill>
          <a:ln w="12700">
            <a:solidFill>
              <a:srgbClr val="000000"/>
            </a:solidFill>
            <a:prstDash val="solid"/>
          </a:ln>
        </p:spPr>
      </p:sp>
      <p:sp>
        <p:nvSpPr>
          <p:cNvPr id="8" name="Text 6"/>
          <p:cNvSpPr/>
          <p:nvPr/>
        </p:nvSpPr>
        <p:spPr>
          <a:xfrm>
            <a:off x="1051560" y="2002536"/>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This decision never changes once the program is compiled.</a:t>
            </a:r>
            <a:endParaRPr lang="en-US" sz="1250" dirty="0"/>
          </a:p>
        </p:txBody>
      </p:sp>
      <p:sp>
        <p:nvSpPr>
          <p:cNvPr id="9" name="Shape 7"/>
          <p:cNvSpPr/>
          <p:nvPr/>
        </p:nvSpPr>
        <p:spPr>
          <a:xfrm>
            <a:off x="594360" y="2642616"/>
            <a:ext cx="10607040" cy="3392424"/>
          </a:xfrm>
          <a:prstGeom prst="roundRect">
            <a:avLst>
              <a:gd name="adj" fmla="val 2156"/>
            </a:avLst>
          </a:prstGeom>
          <a:solidFill>
            <a:srgbClr val="1E1E2E"/>
          </a:solidFill>
          <a:ln w="12700">
            <a:solidFill>
              <a:srgbClr val="000000"/>
            </a:solidFill>
            <a:prstDash val="solid"/>
          </a:ln>
        </p:spPr>
      </p:sp>
      <p:sp>
        <p:nvSpPr>
          <p:cNvPr id="10" name="Shape 8"/>
          <p:cNvSpPr/>
          <p:nvPr/>
        </p:nvSpPr>
        <p:spPr>
          <a:xfrm>
            <a:off x="594360" y="2642616"/>
            <a:ext cx="10607040" cy="274320"/>
          </a:xfrm>
          <a:prstGeom prst="roundRect">
            <a:avLst>
              <a:gd name="adj" fmla="val 26667"/>
            </a:avLst>
          </a:prstGeom>
          <a:solidFill>
            <a:srgbClr val="17172A"/>
          </a:solidFill>
          <a:ln w="12700">
            <a:solidFill>
              <a:srgbClr val="000000"/>
            </a:solidFill>
            <a:prstDash val="solid"/>
          </a:ln>
        </p:spPr>
      </p:sp>
      <p:sp>
        <p:nvSpPr>
          <p:cNvPr id="11" name="Shape 9"/>
          <p:cNvSpPr/>
          <p:nvPr/>
        </p:nvSpPr>
        <p:spPr>
          <a:xfrm>
            <a:off x="594360" y="2843784"/>
            <a:ext cx="10607040" cy="73152"/>
          </a:xfrm>
          <a:prstGeom prst="rect">
            <a:avLst/>
          </a:prstGeom>
          <a:solidFill>
            <a:srgbClr val="17172A"/>
          </a:solidFill>
          <a:ln w="12700">
            <a:solidFill>
              <a:srgbClr val="000000"/>
            </a:solidFill>
            <a:prstDash val="solid"/>
          </a:ln>
        </p:spPr>
      </p:sp>
      <p:sp>
        <p:nvSpPr>
          <p:cNvPr id="12" name="Shape 10"/>
          <p:cNvSpPr/>
          <p:nvPr/>
        </p:nvSpPr>
        <p:spPr>
          <a:xfrm>
            <a:off x="722376" y="2741371"/>
            <a:ext cx="76810" cy="76810"/>
          </a:xfrm>
          <a:prstGeom prst="ellipse">
            <a:avLst/>
          </a:prstGeom>
          <a:solidFill>
            <a:srgbClr val="FF5F56"/>
          </a:solidFill>
          <a:ln w="12700">
            <a:solidFill>
              <a:srgbClr val="000000"/>
            </a:solidFill>
            <a:prstDash val="solid"/>
          </a:ln>
        </p:spPr>
      </p:sp>
      <p:sp>
        <p:nvSpPr>
          <p:cNvPr id="13" name="Shape 11"/>
          <p:cNvSpPr/>
          <p:nvPr/>
        </p:nvSpPr>
        <p:spPr>
          <a:xfrm>
            <a:off x="886968" y="2741371"/>
            <a:ext cx="76810" cy="76810"/>
          </a:xfrm>
          <a:prstGeom prst="ellipse">
            <a:avLst/>
          </a:prstGeom>
          <a:solidFill>
            <a:srgbClr val="FFBD2E"/>
          </a:solidFill>
          <a:ln w="12700">
            <a:solidFill>
              <a:srgbClr val="000000"/>
            </a:solidFill>
            <a:prstDash val="solid"/>
          </a:ln>
        </p:spPr>
      </p:sp>
      <p:sp>
        <p:nvSpPr>
          <p:cNvPr id="14" name="Shape 12"/>
          <p:cNvSpPr/>
          <p:nvPr/>
        </p:nvSpPr>
        <p:spPr>
          <a:xfrm>
            <a:off x="1051560" y="2741371"/>
            <a:ext cx="76810" cy="76810"/>
          </a:xfrm>
          <a:prstGeom prst="ellipse">
            <a:avLst/>
          </a:prstGeom>
          <a:solidFill>
            <a:srgbClr val="27C93F"/>
          </a:solidFill>
          <a:ln w="12700">
            <a:solidFill>
              <a:srgbClr val="000000"/>
            </a:solidFill>
            <a:prstDash val="solid"/>
          </a:ln>
        </p:spPr>
      </p:sp>
      <p:sp>
        <p:nvSpPr>
          <p:cNvPr id="15" name="Text 13"/>
          <p:cNvSpPr/>
          <p:nvPr/>
        </p:nvSpPr>
        <p:spPr>
          <a:xfrm>
            <a:off x="1371600" y="2642616"/>
            <a:ext cx="9692640" cy="274320"/>
          </a:xfrm>
          <a:prstGeom prst="rect">
            <a:avLst/>
          </a:prstGeom>
          <a:noFill/>
          <a:ln/>
        </p:spPr>
        <p:txBody>
          <a:bodyPr wrap="square" lIns="0" tIns="0" rIns="0" bIns="0" rtlCol="0" anchor="ctr"/>
          <a:lstStyle/>
          <a:p>
            <a:pPr marL="0" indent="0" algn="l">
              <a:buNone/>
            </a:pPr>
            <a:r>
              <a:rPr lang="en-US" sz="1000" dirty="0">
                <a:solidFill>
                  <a:srgbClr val="8A8FA3"/>
                </a:solidFill>
                <a:latin typeface="Courier New" pitchFamily="34" charset="0"/>
                <a:ea typeface="Courier New" pitchFamily="34" charset="-122"/>
                <a:cs typeface="Courier New" pitchFamily="34" charset="-120"/>
              </a:rPr>
              <a:t>Main.java</a:t>
            </a:r>
            <a:endParaRPr lang="en-US" sz="1000" dirty="0"/>
          </a:p>
        </p:txBody>
      </p:sp>
      <p:sp>
        <p:nvSpPr>
          <p:cNvPr id="16" name="Text 14"/>
          <p:cNvSpPr/>
          <p:nvPr/>
        </p:nvSpPr>
        <p:spPr>
          <a:xfrm>
            <a:off x="777240" y="2990088"/>
            <a:ext cx="10241280" cy="2971800"/>
          </a:xfrm>
          <a:prstGeom prst="rect">
            <a:avLst/>
          </a:prstGeom>
          <a:noFill/>
          <a:ln/>
        </p:spPr>
        <p:txBody>
          <a:bodyPr wrap="square" lIns="0" tIns="0" rIns="0" bIns="0" rtlCol="0" anchor="t"/>
          <a:lstStyle/>
          <a:p>
            <a:pPr marL="0" indent="0" algn="l">
              <a:lnSpc>
                <a:spcPct val="118000"/>
              </a:lnSpc>
              <a:buNone/>
            </a:pPr>
            <a:r>
              <a:rPr lang="en-US" sz="1500" b="1" dirty="0">
                <a:solidFill>
                  <a:srgbClr val="569CD6"/>
                </a:solidFill>
                <a:latin typeface="Courier New" pitchFamily="34" charset="0"/>
                <a:ea typeface="Courier New" pitchFamily="34" charset="-122"/>
                <a:cs typeface="Courier New" pitchFamily="34" charset="-120"/>
              </a:rPr>
              <a:t>public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class</a:t>
            </a:r>
            <a:r>
              <a:rPr lang="en-US" sz="1500" dirty="0">
                <a:solidFill>
                  <a:srgbClr val="D4D4D4"/>
                </a:solidFill>
                <a:latin typeface="Courier New" pitchFamily="34" charset="0"/>
                <a:ea typeface="Courier New" pitchFamily="34" charset="-122"/>
                <a:cs typeface="Courier New" pitchFamily="34" charset="-120"/>
              </a:rPr>
              <a:t> Printer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void</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DCDCAA"/>
                </a:solidFill>
                <a:latin typeface="Courier New" pitchFamily="34" charset="0"/>
                <a:ea typeface="Courier New" pitchFamily="34" charset="-122"/>
                <a:cs typeface="Courier New" pitchFamily="34" charset="-120"/>
              </a:rPr>
              <a:t>show</a:t>
            </a:r>
            <a:r>
              <a:rPr lang="en-US" sz="1500" dirty="0">
                <a:solidFill>
                  <a:srgbClr val="D4D4D4"/>
                </a:solidFill>
                <a:latin typeface="Courier New" pitchFamily="34" charset="0"/>
                <a:ea typeface="Courier New" pitchFamily="34" charset="-122"/>
                <a:cs typeface="Courier New" pitchFamily="34" charset="-120"/>
              </a:rPr>
              <a:t>(</a:t>
            </a:r>
            <a:r>
              <a:rPr lang="en-US" sz="1500" b="1" dirty="0">
                <a:solidFill>
                  <a:srgbClr val="569CD6"/>
                </a:solidFill>
                <a:latin typeface="Courier New" pitchFamily="34" charset="0"/>
                <a:ea typeface="Courier New" pitchFamily="34" charset="-122"/>
                <a:cs typeface="Courier New" pitchFamily="34" charset="-120"/>
              </a:rPr>
              <a:t>int</a:t>
            </a:r>
            <a:r>
              <a:rPr lang="en-US" sz="1500" dirty="0">
                <a:solidFill>
                  <a:srgbClr val="D4D4D4"/>
                </a:solidFill>
                <a:latin typeface="Courier New" pitchFamily="34" charset="0"/>
                <a:ea typeface="Courier New" pitchFamily="34" charset="-122"/>
                <a:cs typeface="Courier New" pitchFamily="34" charset="-120"/>
              </a:rPr>
              <a:t> n) { </a:t>
            </a:r>
            <a:r>
              <a:rPr lang="en-US" sz="1500" dirty="0">
                <a:solidFill>
                  <a:srgbClr val="4EC9B0"/>
                </a:solidFill>
                <a:latin typeface="Courier New" pitchFamily="34" charset="0"/>
                <a:ea typeface="Courier New" pitchFamily="34" charset="-122"/>
                <a:cs typeface="Courier New" pitchFamily="34" charset="-120"/>
              </a:rPr>
              <a:t>System</a:t>
            </a:r>
            <a:r>
              <a:rPr lang="en-US" sz="1500" dirty="0">
                <a:solidFill>
                  <a:srgbClr val="D4D4D4"/>
                </a:solidFill>
                <a:latin typeface="Courier New" pitchFamily="34" charset="0"/>
                <a:ea typeface="Courier New" pitchFamily="34" charset="-122"/>
                <a:cs typeface="Courier New" pitchFamily="34" charset="-120"/>
              </a:rPr>
              <a:t>.out.</a:t>
            </a:r>
            <a:r>
              <a:rPr lang="en-US" sz="1500" dirty="0">
                <a:solidFill>
                  <a:srgbClr val="DCDCAA"/>
                </a:solidFill>
                <a:latin typeface="Courier New" pitchFamily="34" charset="0"/>
                <a:ea typeface="Courier New" pitchFamily="34" charset="-122"/>
                <a:cs typeface="Courier New" pitchFamily="34" charset="-120"/>
              </a:rPr>
              <a:t>println</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CE9178"/>
                </a:solidFill>
                <a:latin typeface="Courier New" pitchFamily="34" charset="0"/>
                <a:ea typeface="Courier New" pitchFamily="34" charset="-122"/>
                <a:cs typeface="Courier New" pitchFamily="34" charset="-120"/>
              </a:rPr>
              <a:t>"int: "</a:t>
            </a:r>
            <a:r>
              <a:rPr lang="en-US" sz="1500" dirty="0">
                <a:solidFill>
                  <a:srgbClr val="D4D4D4"/>
                </a:solidFill>
                <a:latin typeface="Courier New" pitchFamily="34" charset="0"/>
                <a:ea typeface="Courier New" pitchFamily="34" charset="-122"/>
                <a:cs typeface="Courier New" pitchFamily="34" charset="-120"/>
              </a:rPr>
              <a:t> + n);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void</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DCDCAA"/>
                </a:solidFill>
                <a:latin typeface="Courier New" pitchFamily="34" charset="0"/>
                <a:ea typeface="Courier New" pitchFamily="34" charset="-122"/>
                <a:cs typeface="Courier New" pitchFamily="34" charset="-120"/>
              </a:rPr>
              <a:t>show</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4EC9B0"/>
                </a:solidFill>
                <a:latin typeface="Courier New" pitchFamily="34" charset="0"/>
                <a:ea typeface="Courier New" pitchFamily="34" charset="-122"/>
                <a:cs typeface="Courier New" pitchFamily="34" charset="-120"/>
              </a:rPr>
              <a:t>String</a:t>
            </a:r>
            <a:r>
              <a:rPr lang="en-US" sz="1500" dirty="0">
                <a:solidFill>
                  <a:srgbClr val="D4D4D4"/>
                </a:solidFill>
                <a:latin typeface="Courier New" pitchFamily="34" charset="0"/>
                <a:ea typeface="Courier New" pitchFamily="34" charset="-122"/>
                <a:cs typeface="Courier New" pitchFamily="34" charset="-120"/>
              </a:rPr>
              <a:t> s) { </a:t>
            </a:r>
            <a:r>
              <a:rPr lang="en-US" sz="1500" dirty="0">
                <a:solidFill>
                  <a:srgbClr val="4EC9B0"/>
                </a:solidFill>
                <a:latin typeface="Courier New" pitchFamily="34" charset="0"/>
                <a:ea typeface="Courier New" pitchFamily="34" charset="-122"/>
                <a:cs typeface="Courier New" pitchFamily="34" charset="-120"/>
              </a:rPr>
              <a:t>System</a:t>
            </a:r>
            <a:r>
              <a:rPr lang="en-US" sz="1500" dirty="0">
                <a:solidFill>
                  <a:srgbClr val="D4D4D4"/>
                </a:solidFill>
                <a:latin typeface="Courier New" pitchFamily="34" charset="0"/>
                <a:ea typeface="Courier New" pitchFamily="34" charset="-122"/>
                <a:cs typeface="Courier New" pitchFamily="34" charset="-120"/>
              </a:rPr>
              <a:t>.out.</a:t>
            </a:r>
            <a:r>
              <a:rPr lang="en-US" sz="1500" dirty="0">
                <a:solidFill>
                  <a:srgbClr val="DCDCAA"/>
                </a:solidFill>
                <a:latin typeface="Courier New" pitchFamily="34" charset="0"/>
                <a:ea typeface="Courier New" pitchFamily="34" charset="-122"/>
                <a:cs typeface="Courier New" pitchFamily="34" charset="-120"/>
              </a:rPr>
              <a:t>println</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CE9178"/>
                </a:solidFill>
                <a:latin typeface="Courier New" pitchFamily="34" charset="0"/>
                <a:ea typeface="Courier New" pitchFamily="34" charset="-122"/>
                <a:cs typeface="Courier New" pitchFamily="34" charset="-120"/>
              </a:rPr>
              <a:t>"String: "</a:t>
            </a:r>
            <a:r>
              <a:rPr lang="en-US" sz="1500" dirty="0">
                <a:solidFill>
                  <a:srgbClr val="D4D4D4"/>
                </a:solidFill>
                <a:latin typeface="Courier New" pitchFamily="34" charset="0"/>
                <a:ea typeface="Courier New" pitchFamily="34" charset="-122"/>
                <a:cs typeface="Courier New" pitchFamily="34" charset="-120"/>
              </a:rPr>
              <a:t> + s);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a:t>
            </a:r>
            <a:endParaRPr lang="en-US" sz="1500" dirty="0"/>
          </a:p>
        </p:txBody>
      </p:sp>
      <p:sp>
        <p:nvSpPr>
          <p:cNvPr id="17" name="Shape 15"/>
          <p:cNvSpPr/>
          <p:nvPr/>
        </p:nvSpPr>
        <p:spPr>
          <a:xfrm>
            <a:off x="0" y="0"/>
            <a:ext cx="12191695" cy="384048"/>
          </a:xfrm>
          <a:prstGeom prst="rect">
            <a:avLst/>
          </a:prstGeom>
          <a:solidFill>
            <a:srgbClr val="1B2A4A"/>
          </a:solidFill>
          <a:ln w="12700">
            <a:solidFill>
              <a:srgbClr val="1B2A4A"/>
            </a:solidFill>
            <a:prstDash val="solid"/>
          </a:ln>
        </p:spPr>
      </p:sp>
      <p:sp>
        <p:nvSpPr>
          <p:cNvPr id="18" name="Text 16"/>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9" name="Shape 17"/>
          <p:cNvSpPr/>
          <p:nvPr/>
        </p:nvSpPr>
        <p:spPr>
          <a:xfrm>
            <a:off x="219456" y="301752"/>
            <a:ext cx="960120" cy="0"/>
          </a:xfrm>
          <a:prstGeom prst="line">
            <a:avLst/>
          </a:prstGeom>
          <a:noFill/>
          <a:ln w="9525">
            <a:solidFill>
              <a:srgbClr val="4A5570"/>
            </a:solidFill>
            <a:prstDash val="solid"/>
          </a:ln>
        </p:spPr>
      </p:sp>
      <p:sp>
        <p:nvSpPr>
          <p:cNvPr id="20" name="Text 18"/>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1" name="Text 19"/>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2" name="Text 20"/>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3" name="Shape 21"/>
          <p:cNvSpPr/>
          <p:nvPr/>
        </p:nvSpPr>
        <p:spPr>
          <a:xfrm>
            <a:off x="0" y="6291072"/>
            <a:ext cx="12191695" cy="566928"/>
          </a:xfrm>
          <a:prstGeom prst="rect">
            <a:avLst/>
          </a:prstGeom>
          <a:solidFill>
            <a:srgbClr val="1B2A4A"/>
          </a:solidFill>
          <a:ln w="12700">
            <a:solidFill>
              <a:srgbClr val="1B2A4A"/>
            </a:solidFill>
            <a:prstDash val="solid"/>
          </a:ln>
        </p:spPr>
      </p:sp>
      <p:sp>
        <p:nvSpPr>
          <p:cNvPr id="24" name="Text 22"/>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5" name="Text 23"/>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WIDER REFERENCES</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Upcasting: Treating a Subclass as Its Parent</a:t>
            </a:r>
            <a:endParaRPr lang="en-US" sz="2700" dirty="0"/>
          </a:p>
        </p:txBody>
      </p:sp>
      <p:sp>
        <p:nvSpPr>
          <p:cNvPr id="4" name="Shape 2"/>
          <p:cNvSpPr/>
          <p:nvPr/>
        </p:nvSpPr>
        <p:spPr>
          <a:xfrm>
            <a:off x="594360" y="1600200"/>
            <a:ext cx="10607040" cy="896112"/>
          </a:xfrm>
          <a:prstGeom prst="roundRect">
            <a:avLst>
              <a:gd name="adj" fmla="val 6122"/>
            </a:avLst>
          </a:prstGeom>
          <a:solidFill>
            <a:srgbClr val="F5F6FA"/>
          </a:solidFill>
          <a:ln w="9525">
            <a:solidFill>
              <a:srgbClr val="E4E7EE"/>
            </a:solidFill>
            <a:prstDash val="solid"/>
          </a:ln>
        </p:spPr>
      </p:sp>
      <p:sp>
        <p:nvSpPr>
          <p:cNvPr id="5" name="Shape 3"/>
          <p:cNvSpPr/>
          <p:nvPr/>
        </p:nvSpPr>
        <p:spPr>
          <a:xfrm>
            <a:off x="804672" y="1755648"/>
            <a:ext cx="100584" cy="100584"/>
          </a:xfrm>
          <a:prstGeom prst="ellipse">
            <a:avLst/>
          </a:prstGeom>
          <a:solidFill>
            <a:srgbClr val="E8590C"/>
          </a:solidFill>
          <a:ln w="12700">
            <a:solidFill>
              <a:srgbClr val="000000"/>
            </a:solidFill>
            <a:prstDash val="solid"/>
          </a:ln>
        </p:spPr>
      </p:sp>
      <p:sp>
        <p:nvSpPr>
          <p:cNvPr id="6" name="Text 4"/>
          <p:cNvSpPr/>
          <p:nvPr/>
        </p:nvSpPr>
        <p:spPr>
          <a:xfrm>
            <a:off x="1051560" y="1655064"/>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Upcasting stores a subclass object in a variable of its parent type, which Java allows automatically.</a:t>
            </a:r>
            <a:endParaRPr lang="en-US" sz="1250" dirty="0"/>
          </a:p>
        </p:txBody>
      </p:sp>
      <p:sp>
        <p:nvSpPr>
          <p:cNvPr id="7" name="Shape 5"/>
          <p:cNvSpPr/>
          <p:nvPr/>
        </p:nvSpPr>
        <p:spPr>
          <a:xfrm>
            <a:off x="804672" y="2103120"/>
            <a:ext cx="100584" cy="100584"/>
          </a:xfrm>
          <a:prstGeom prst="ellipse">
            <a:avLst/>
          </a:prstGeom>
          <a:solidFill>
            <a:srgbClr val="E8590C"/>
          </a:solidFill>
          <a:ln w="12700">
            <a:solidFill>
              <a:srgbClr val="000000"/>
            </a:solidFill>
            <a:prstDash val="solid"/>
          </a:ln>
        </p:spPr>
      </p:sp>
      <p:sp>
        <p:nvSpPr>
          <p:cNvPr id="8" name="Text 6"/>
          <p:cNvSpPr/>
          <p:nvPr/>
        </p:nvSpPr>
        <p:spPr>
          <a:xfrm>
            <a:off x="1051560" y="2002536"/>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Through that reference, only the members declared in the parent type are directly visible.</a:t>
            </a:r>
            <a:endParaRPr lang="en-US" sz="1250" dirty="0"/>
          </a:p>
        </p:txBody>
      </p:sp>
      <p:sp>
        <p:nvSpPr>
          <p:cNvPr id="9" name="Shape 7"/>
          <p:cNvSpPr/>
          <p:nvPr/>
        </p:nvSpPr>
        <p:spPr>
          <a:xfrm>
            <a:off x="594360" y="2642616"/>
            <a:ext cx="10607040" cy="3392424"/>
          </a:xfrm>
          <a:prstGeom prst="roundRect">
            <a:avLst>
              <a:gd name="adj" fmla="val 2156"/>
            </a:avLst>
          </a:prstGeom>
          <a:solidFill>
            <a:srgbClr val="1E1E2E"/>
          </a:solidFill>
          <a:ln w="12700">
            <a:solidFill>
              <a:srgbClr val="000000"/>
            </a:solidFill>
            <a:prstDash val="solid"/>
          </a:ln>
        </p:spPr>
      </p:sp>
      <p:sp>
        <p:nvSpPr>
          <p:cNvPr id="10" name="Shape 8"/>
          <p:cNvSpPr/>
          <p:nvPr/>
        </p:nvSpPr>
        <p:spPr>
          <a:xfrm>
            <a:off x="594360" y="2642616"/>
            <a:ext cx="10607040" cy="274320"/>
          </a:xfrm>
          <a:prstGeom prst="roundRect">
            <a:avLst>
              <a:gd name="adj" fmla="val 26667"/>
            </a:avLst>
          </a:prstGeom>
          <a:solidFill>
            <a:srgbClr val="17172A"/>
          </a:solidFill>
          <a:ln w="12700">
            <a:solidFill>
              <a:srgbClr val="000000"/>
            </a:solidFill>
            <a:prstDash val="solid"/>
          </a:ln>
        </p:spPr>
      </p:sp>
      <p:sp>
        <p:nvSpPr>
          <p:cNvPr id="11" name="Shape 9"/>
          <p:cNvSpPr/>
          <p:nvPr/>
        </p:nvSpPr>
        <p:spPr>
          <a:xfrm>
            <a:off x="594360" y="2843784"/>
            <a:ext cx="10607040" cy="73152"/>
          </a:xfrm>
          <a:prstGeom prst="rect">
            <a:avLst/>
          </a:prstGeom>
          <a:solidFill>
            <a:srgbClr val="17172A"/>
          </a:solidFill>
          <a:ln w="12700">
            <a:solidFill>
              <a:srgbClr val="000000"/>
            </a:solidFill>
            <a:prstDash val="solid"/>
          </a:ln>
        </p:spPr>
      </p:sp>
      <p:sp>
        <p:nvSpPr>
          <p:cNvPr id="12" name="Shape 10"/>
          <p:cNvSpPr/>
          <p:nvPr/>
        </p:nvSpPr>
        <p:spPr>
          <a:xfrm>
            <a:off x="722376" y="2741371"/>
            <a:ext cx="76810" cy="76810"/>
          </a:xfrm>
          <a:prstGeom prst="ellipse">
            <a:avLst/>
          </a:prstGeom>
          <a:solidFill>
            <a:srgbClr val="FF5F56"/>
          </a:solidFill>
          <a:ln w="12700">
            <a:solidFill>
              <a:srgbClr val="000000"/>
            </a:solidFill>
            <a:prstDash val="solid"/>
          </a:ln>
        </p:spPr>
      </p:sp>
      <p:sp>
        <p:nvSpPr>
          <p:cNvPr id="13" name="Shape 11"/>
          <p:cNvSpPr/>
          <p:nvPr/>
        </p:nvSpPr>
        <p:spPr>
          <a:xfrm>
            <a:off x="886968" y="2741371"/>
            <a:ext cx="76810" cy="76810"/>
          </a:xfrm>
          <a:prstGeom prst="ellipse">
            <a:avLst/>
          </a:prstGeom>
          <a:solidFill>
            <a:srgbClr val="FFBD2E"/>
          </a:solidFill>
          <a:ln w="12700">
            <a:solidFill>
              <a:srgbClr val="000000"/>
            </a:solidFill>
            <a:prstDash val="solid"/>
          </a:ln>
        </p:spPr>
      </p:sp>
      <p:sp>
        <p:nvSpPr>
          <p:cNvPr id="14" name="Shape 12"/>
          <p:cNvSpPr/>
          <p:nvPr/>
        </p:nvSpPr>
        <p:spPr>
          <a:xfrm>
            <a:off x="1051560" y="2741371"/>
            <a:ext cx="76810" cy="76810"/>
          </a:xfrm>
          <a:prstGeom prst="ellipse">
            <a:avLst/>
          </a:prstGeom>
          <a:solidFill>
            <a:srgbClr val="27C93F"/>
          </a:solidFill>
          <a:ln w="12700">
            <a:solidFill>
              <a:srgbClr val="000000"/>
            </a:solidFill>
            <a:prstDash val="solid"/>
          </a:ln>
        </p:spPr>
      </p:sp>
      <p:sp>
        <p:nvSpPr>
          <p:cNvPr id="15" name="Text 13"/>
          <p:cNvSpPr/>
          <p:nvPr/>
        </p:nvSpPr>
        <p:spPr>
          <a:xfrm>
            <a:off x="1371600" y="2642616"/>
            <a:ext cx="9692640" cy="274320"/>
          </a:xfrm>
          <a:prstGeom prst="rect">
            <a:avLst/>
          </a:prstGeom>
          <a:noFill/>
          <a:ln/>
        </p:spPr>
        <p:txBody>
          <a:bodyPr wrap="square" lIns="0" tIns="0" rIns="0" bIns="0" rtlCol="0" anchor="ctr"/>
          <a:lstStyle/>
          <a:p>
            <a:pPr marL="0" indent="0" algn="l">
              <a:buNone/>
            </a:pPr>
            <a:r>
              <a:rPr lang="en-US" sz="1000" dirty="0">
                <a:solidFill>
                  <a:srgbClr val="8A8FA3"/>
                </a:solidFill>
                <a:latin typeface="Courier New" pitchFamily="34" charset="0"/>
                <a:ea typeface="Courier New" pitchFamily="34" charset="-122"/>
                <a:cs typeface="Courier New" pitchFamily="34" charset="-120"/>
              </a:rPr>
              <a:t>Main.java</a:t>
            </a:r>
            <a:endParaRPr lang="en-US" sz="1000" dirty="0"/>
          </a:p>
        </p:txBody>
      </p:sp>
      <p:sp>
        <p:nvSpPr>
          <p:cNvPr id="16" name="Text 14"/>
          <p:cNvSpPr/>
          <p:nvPr/>
        </p:nvSpPr>
        <p:spPr>
          <a:xfrm>
            <a:off x="777240" y="2990088"/>
            <a:ext cx="10241280" cy="2971800"/>
          </a:xfrm>
          <a:prstGeom prst="rect">
            <a:avLst/>
          </a:prstGeom>
          <a:noFill/>
          <a:ln/>
        </p:spPr>
        <p:txBody>
          <a:bodyPr wrap="square" lIns="0" tIns="0" rIns="0" bIns="0" rtlCol="0" anchor="t"/>
          <a:lstStyle/>
          <a:p>
            <a:pPr marL="0" indent="0" algn="l">
              <a:lnSpc>
                <a:spcPct val="118000"/>
              </a:lnSpc>
              <a:buNone/>
            </a:pPr>
            <a:r>
              <a:rPr lang="en-US" sz="1000" b="1" dirty="0">
                <a:solidFill>
                  <a:srgbClr val="569CD6"/>
                </a:solidFill>
                <a:latin typeface="Courier New" pitchFamily="34" charset="0"/>
                <a:ea typeface="Courier New" pitchFamily="34" charset="-122"/>
                <a:cs typeface="Courier New" pitchFamily="34" charset="-120"/>
              </a:rPr>
              <a:t>public</a:t>
            </a:r>
            <a:r>
              <a:rPr lang="en-US" sz="1000" dirty="0">
                <a:solidFill>
                  <a:srgbClr val="D4D4D4"/>
                </a:solidFill>
                <a:latin typeface="Courier New" pitchFamily="34" charset="0"/>
                <a:ea typeface="Courier New" pitchFamily="34" charset="-122"/>
                <a:cs typeface="Courier New" pitchFamily="34" charset="-120"/>
              </a:rPr>
              <a:t> </a:t>
            </a:r>
            <a:r>
              <a:rPr lang="en-US" sz="1000" b="1" dirty="0">
                <a:solidFill>
                  <a:srgbClr val="569CD6"/>
                </a:solidFill>
                <a:latin typeface="Courier New" pitchFamily="34" charset="0"/>
                <a:ea typeface="Courier New" pitchFamily="34" charset="-122"/>
                <a:cs typeface="Courier New" pitchFamily="34" charset="-120"/>
              </a:rPr>
              <a:t>class</a:t>
            </a:r>
            <a:r>
              <a:rPr lang="en-US" sz="1000" dirty="0">
                <a:solidFill>
                  <a:srgbClr val="D4D4D4"/>
                </a:solidFill>
                <a:latin typeface="Courier New" pitchFamily="34" charset="0"/>
                <a:ea typeface="Courier New" pitchFamily="34" charset="-122"/>
                <a:cs typeface="Courier New" pitchFamily="34" charset="-120"/>
              </a:rPr>
              <a:t> Animal {</a:t>
            </a:r>
            <a:endParaRPr lang="en-US" sz="1000" dirty="0"/>
          </a:p>
          <a:p>
            <a:pPr marL="0" indent="0" algn="l">
              <a:lnSpc>
                <a:spcPct val="118000"/>
              </a:lnSpc>
              <a:buNone/>
            </a:pPr>
            <a:r>
              <a:rPr lang="en-US" sz="1000" dirty="0">
                <a:solidFill>
                  <a:srgbClr val="D4D4D4"/>
                </a:solidFill>
                <a:latin typeface="Courier New" pitchFamily="34" charset="0"/>
                <a:ea typeface="Courier New" pitchFamily="34" charset="-122"/>
                <a:cs typeface="Courier New" pitchFamily="34" charset="-120"/>
              </a:rPr>
              <a:t>    </a:t>
            </a:r>
            <a:r>
              <a:rPr lang="en-US" sz="1000" b="1" dirty="0">
                <a:solidFill>
                  <a:srgbClr val="569CD6"/>
                </a:solidFill>
                <a:latin typeface="Courier New" pitchFamily="34" charset="0"/>
                <a:ea typeface="Courier New" pitchFamily="34" charset="-122"/>
                <a:cs typeface="Courier New" pitchFamily="34" charset="-120"/>
              </a:rPr>
              <a:t>void</a:t>
            </a:r>
            <a:r>
              <a:rPr lang="en-US" sz="1000" dirty="0">
                <a:solidFill>
                  <a:srgbClr val="D4D4D4"/>
                </a:solidFill>
                <a:latin typeface="Courier New" pitchFamily="34" charset="0"/>
                <a:ea typeface="Courier New" pitchFamily="34" charset="-122"/>
                <a:cs typeface="Courier New" pitchFamily="34" charset="-120"/>
              </a:rPr>
              <a:t> </a:t>
            </a:r>
            <a:r>
              <a:rPr lang="en-US" sz="1000" dirty="0">
                <a:solidFill>
                  <a:srgbClr val="DCDCAA"/>
                </a:solidFill>
                <a:latin typeface="Courier New" pitchFamily="34" charset="0"/>
                <a:ea typeface="Courier New" pitchFamily="34" charset="-122"/>
                <a:cs typeface="Courier New" pitchFamily="34" charset="-120"/>
              </a:rPr>
              <a:t>makeSound</a:t>
            </a:r>
            <a:r>
              <a:rPr lang="en-US" sz="1000" dirty="0">
                <a:solidFill>
                  <a:srgbClr val="D4D4D4"/>
                </a:solidFill>
                <a:latin typeface="Courier New" pitchFamily="34" charset="0"/>
                <a:ea typeface="Courier New" pitchFamily="34" charset="-122"/>
                <a:cs typeface="Courier New" pitchFamily="34" charset="-120"/>
              </a:rPr>
              <a:t>() { </a:t>
            </a:r>
            <a:r>
              <a:rPr lang="en-US" sz="1000" dirty="0">
                <a:solidFill>
                  <a:srgbClr val="4EC9B0"/>
                </a:solidFill>
                <a:latin typeface="Courier New" pitchFamily="34" charset="0"/>
                <a:ea typeface="Courier New" pitchFamily="34" charset="-122"/>
                <a:cs typeface="Courier New" pitchFamily="34" charset="-120"/>
              </a:rPr>
              <a:t>System</a:t>
            </a:r>
            <a:r>
              <a:rPr lang="en-US" sz="1000" dirty="0">
                <a:solidFill>
                  <a:srgbClr val="D4D4D4"/>
                </a:solidFill>
                <a:latin typeface="Courier New" pitchFamily="34" charset="0"/>
                <a:ea typeface="Courier New" pitchFamily="34" charset="-122"/>
                <a:cs typeface="Courier New" pitchFamily="34" charset="-120"/>
              </a:rPr>
              <a:t>.out.</a:t>
            </a:r>
            <a:r>
              <a:rPr lang="en-US" sz="1000" dirty="0">
                <a:solidFill>
                  <a:srgbClr val="DCDCAA"/>
                </a:solidFill>
                <a:latin typeface="Courier New" pitchFamily="34" charset="0"/>
                <a:ea typeface="Courier New" pitchFamily="34" charset="-122"/>
                <a:cs typeface="Courier New" pitchFamily="34" charset="-120"/>
              </a:rPr>
              <a:t>println</a:t>
            </a:r>
            <a:r>
              <a:rPr lang="en-US" sz="1000" dirty="0">
                <a:solidFill>
                  <a:srgbClr val="D4D4D4"/>
                </a:solidFill>
                <a:latin typeface="Courier New" pitchFamily="34" charset="0"/>
                <a:ea typeface="Courier New" pitchFamily="34" charset="-122"/>
                <a:cs typeface="Courier New" pitchFamily="34" charset="-120"/>
              </a:rPr>
              <a:t>(</a:t>
            </a:r>
            <a:r>
              <a:rPr lang="en-US" sz="1000" dirty="0">
                <a:solidFill>
                  <a:srgbClr val="CE9178"/>
                </a:solidFill>
                <a:latin typeface="Courier New" pitchFamily="34" charset="0"/>
                <a:ea typeface="Courier New" pitchFamily="34" charset="-122"/>
                <a:cs typeface="Courier New" pitchFamily="34" charset="-120"/>
              </a:rPr>
              <a:t>"..."</a:t>
            </a:r>
            <a:r>
              <a:rPr lang="en-US" sz="1000" dirty="0">
                <a:solidFill>
                  <a:srgbClr val="D4D4D4"/>
                </a:solidFill>
                <a:latin typeface="Courier New" pitchFamily="34" charset="0"/>
                <a:ea typeface="Courier New" pitchFamily="34" charset="-122"/>
                <a:cs typeface="Courier New" pitchFamily="34" charset="-120"/>
              </a:rPr>
              <a:t>); }</a:t>
            </a:r>
            <a:endParaRPr lang="en-US" sz="1000" dirty="0"/>
          </a:p>
          <a:p>
            <a:pPr marL="0" indent="0" algn="l">
              <a:lnSpc>
                <a:spcPct val="118000"/>
              </a:lnSpc>
              <a:buNone/>
            </a:pPr>
            <a:r>
              <a:rPr lang="en-US" sz="1000" dirty="0">
                <a:solidFill>
                  <a:srgbClr val="D4D4D4"/>
                </a:solidFill>
                <a:latin typeface="Courier New" pitchFamily="34" charset="0"/>
                <a:ea typeface="Courier New" pitchFamily="34" charset="-122"/>
                <a:cs typeface="Courier New" pitchFamily="34" charset="-120"/>
              </a:rPr>
              <a:t>}</a:t>
            </a:r>
            <a:endParaRPr lang="en-US" sz="1000" dirty="0"/>
          </a:p>
          <a:p>
            <a:pPr marL="0" indent="0" algn="l">
              <a:lnSpc>
                <a:spcPct val="118000"/>
              </a:lnSpc>
              <a:buNone/>
            </a:pPr>
            <a:r>
              <a:rPr lang="en-US" sz="1000" dirty="0">
                <a:solidFill>
                  <a:srgbClr val="D4D4D4"/>
                </a:solidFill>
                <a:latin typeface="Courier New" pitchFamily="34" charset="0"/>
                <a:ea typeface="Courier New" pitchFamily="34" charset="-122"/>
                <a:cs typeface="Courier New" pitchFamily="34" charset="-120"/>
              </a:rPr>
              <a:t> </a:t>
            </a:r>
            <a:endParaRPr lang="en-US" sz="1000" dirty="0"/>
          </a:p>
          <a:p>
            <a:pPr marL="0" indent="0" algn="l">
              <a:lnSpc>
                <a:spcPct val="118000"/>
              </a:lnSpc>
              <a:buNone/>
            </a:pPr>
            <a:r>
              <a:rPr lang="en-US" sz="1000" b="1" dirty="0">
                <a:solidFill>
                  <a:srgbClr val="569CD6"/>
                </a:solidFill>
                <a:latin typeface="Courier New" pitchFamily="34" charset="0"/>
                <a:ea typeface="Courier New" pitchFamily="34" charset="-122"/>
                <a:cs typeface="Courier New" pitchFamily="34" charset="-120"/>
              </a:rPr>
              <a:t>public</a:t>
            </a:r>
            <a:r>
              <a:rPr lang="en-US" sz="1000" dirty="0">
                <a:solidFill>
                  <a:srgbClr val="D4D4D4"/>
                </a:solidFill>
                <a:latin typeface="Courier New" pitchFamily="34" charset="0"/>
                <a:ea typeface="Courier New" pitchFamily="34" charset="-122"/>
                <a:cs typeface="Courier New" pitchFamily="34" charset="-120"/>
              </a:rPr>
              <a:t> </a:t>
            </a:r>
            <a:r>
              <a:rPr lang="en-US" sz="1000" b="1" dirty="0">
                <a:solidFill>
                  <a:srgbClr val="569CD6"/>
                </a:solidFill>
                <a:latin typeface="Courier New" pitchFamily="34" charset="0"/>
                <a:ea typeface="Courier New" pitchFamily="34" charset="-122"/>
                <a:cs typeface="Courier New" pitchFamily="34" charset="-120"/>
              </a:rPr>
              <a:t>class</a:t>
            </a:r>
            <a:r>
              <a:rPr lang="en-US" sz="1000" dirty="0">
                <a:solidFill>
                  <a:srgbClr val="D4D4D4"/>
                </a:solidFill>
                <a:latin typeface="Courier New" pitchFamily="34" charset="0"/>
                <a:ea typeface="Courier New" pitchFamily="34" charset="-122"/>
                <a:cs typeface="Courier New" pitchFamily="34" charset="-120"/>
              </a:rPr>
              <a:t> Dog </a:t>
            </a:r>
            <a:r>
              <a:rPr lang="en-US" sz="1000" b="1" dirty="0">
                <a:solidFill>
                  <a:srgbClr val="569CD6"/>
                </a:solidFill>
                <a:latin typeface="Courier New" pitchFamily="34" charset="0"/>
                <a:ea typeface="Courier New" pitchFamily="34" charset="-122"/>
                <a:cs typeface="Courier New" pitchFamily="34" charset="-120"/>
              </a:rPr>
              <a:t>extends</a:t>
            </a:r>
            <a:r>
              <a:rPr lang="en-US" sz="1000" dirty="0">
                <a:solidFill>
                  <a:srgbClr val="D4D4D4"/>
                </a:solidFill>
                <a:latin typeface="Courier New" pitchFamily="34" charset="0"/>
                <a:ea typeface="Courier New" pitchFamily="34" charset="-122"/>
                <a:cs typeface="Courier New" pitchFamily="34" charset="-120"/>
              </a:rPr>
              <a:t> Animal {</a:t>
            </a:r>
            <a:endParaRPr lang="en-US" sz="1000" dirty="0"/>
          </a:p>
          <a:p>
            <a:pPr marL="0" indent="0" algn="l">
              <a:lnSpc>
                <a:spcPct val="118000"/>
              </a:lnSpc>
              <a:buNone/>
            </a:pPr>
            <a:r>
              <a:rPr lang="en-US" sz="1000" dirty="0">
                <a:solidFill>
                  <a:srgbClr val="D4D4D4"/>
                </a:solidFill>
                <a:latin typeface="Courier New" pitchFamily="34" charset="0"/>
                <a:ea typeface="Courier New" pitchFamily="34" charset="-122"/>
                <a:cs typeface="Courier New" pitchFamily="34" charset="-120"/>
              </a:rPr>
              <a:t>    </a:t>
            </a:r>
            <a:r>
              <a:rPr lang="en-US" sz="1000" b="1" dirty="0">
                <a:solidFill>
                  <a:srgbClr val="569CD6"/>
                </a:solidFill>
                <a:latin typeface="Courier New" pitchFamily="34" charset="0"/>
                <a:ea typeface="Courier New" pitchFamily="34" charset="-122"/>
                <a:cs typeface="Courier New" pitchFamily="34" charset="-120"/>
              </a:rPr>
              <a:t>void</a:t>
            </a:r>
            <a:r>
              <a:rPr lang="en-US" sz="1000" dirty="0">
                <a:solidFill>
                  <a:srgbClr val="D4D4D4"/>
                </a:solidFill>
                <a:latin typeface="Courier New" pitchFamily="34" charset="0"/>
                <a:ea typeface="Courier New" pitchFamily="34" charset="-122"/>
                <a:cs typeface="Courier New" pitchFamily="34" charset="-120"/>
              </a:rPr>
              <a:t> </a:t>
            </a:r>
            <a:r>
              <a:rPr lang="en-US" sz="1000" dirty="0">
                <a:solidFill>
                  <a:srgbClr val="DCDCAA"/>
                </a:solidFill>
                <a:latin typeface="Courier New" pitchFamily="34" charset="0"/>
                <a:ea typeface="Courier New" pitchFamily="34" charset="-122"/>
                <a:cs typeface="Courier New" pitchFamily="34" charset="-120"/>
              </a:rPr>
              <a:t>makeSound</a:t>
            </a:r>
            <a:r>
              <a:rPr lang="en-US" sz="1000" dirty="0">
                <a:solidFill>
                  <a:srgbClr val="D4D4D4"/>
                </a:solidFill>
                <a:latin typeface="Courier New" pitchFamily="34" charset="0"/>
                <a:ea typeface="Courier New" pitchFamily="34" charset="-122"/>
                <a:cs typeface="Courier New" pitchFamily="34" charset="-120"/>
              </a:rPr>
              <a:t>() { </a:t>
            </a:r>
            <a:r>
              <a:rPr lang="en-US" sz="1000" dirty="0">
                <a:solidFill>
                  <a:srgbClr val="4EC9B0"/>
                </a:solidFill>
                <a:latin typeface="Courier New" pitchFamily="34" charset="0"/>
                <a:ea typeface="Courier New" pitchFamily="34" charset="-122"/>
                <a:cs typeface="Courier New" pitchFamily="34" charset="-120"/>
              </a:rPr>
              <a:t>System</a:t>
            </a:r>
            <a:r>
              <a:rPr lang="en-US" sz="1000" dirty="0">
                <a:solidFill>
                  <a:srgbClr val="D4D4D4"/>
                </a:solidFill>
                <a:latin typeface="Courier New" pitchFamily="34" charset="0"/>
                <a:ea typeface="Courier New" pitchFamily="34" charset="-122"/>
                <a:cs typeface="Courier New" pitchFamily="34" charset="-120"/>
              </a:rPr>
              <a:t>.out.</a:t>
            </a:r>
            <a:r>
              <a:rPr lang="en-US" sz="1000" dirty="0">
                <a:solidFill>
                  <a:srgbClr val="DCDCAA"/>
                </a:solidFill>
                <a:latin typeface="Courier New" pitchFamily="34" charset="0"/>
                <a:ea typeface="Courier New" pitchFamily="34" charset="-122"/>
                <a:cs typeface="Courier New" pitchFamily="34" charset="-120"/>
              </a:rPr>
              <a:t>println</a:t>
            </a:r>
            <a:r>
              <a:rPr lang="en-US" sz="1000" dirty="0">
                <a:solidFill>
                  <a:srgbClr val="D4D4D4"/>
                </a:solidFill>
                <a:latin typeface="Courier New" pitchFamily="34" charset="0"/>
                <a:ea typeface="Courier New" pitchFamily="34" charset="-122"/>
                <a:cs typeface="Courier New" pitchFamily="34" charset="-120"/>
              </a:rPr>
              <a:t>(</a:t>
            </a:r>
            <a:r>
              <a:rPr lang="en-US" sz="1000" dirty="0">
                <a:solidFill>
                  <a:srgbClr val="CE9178"/>
                </a:solidFill>
                <a:latin typeface="Courier New" pitchFamily="34" charset="0"/>
                <a:ea typeface="Courier New" pitchFamily="34" charset="-122"/>
                <a:cs typeface="Courier New" pitchFamily="34" charset="-120"/>
              </a:rPr>
              <a:t>"Woof!"</a:t>
            </a:r>
            <a:r>
              <a:rPr lang="en-US" sz="1000" dirty="0">
                <a:solidFill>
                  <a:srgbClr val="D4D4D4"/>
                </a:solidFill>
                <a:latin typeface="Courier New" pitchFamily="34" charset="0"/>
                <a:ea typeface="Courier New" pitchFamily="34" charset="-122"/>
                <a:cs typeface="Courier New" pitchFamily="34" charset="-120"/>
              </a:rPr>
              <a:t>); }</a:t>
            </a:r>
            <a:endParaRPr lang="en-US" sz="1000" dirty="0"/>
          </a:p>
          <a:p>
            <a:pPr marL="0" indent="0" algn="l">
              <a:lnSpc>
                <a:spcPct val="118000"/>
              </a:lnSpc>
              <a:buNone/>
            </a:pPr>
            <a:r>
              <a:rPr lang="en-US" sz="1000" dirty="0">
                <a:solidFill>
                  <a:srgbClr val="D4D4D4"/>
                </a:solidFill>
                <a:latin typeface="Courier New" pitchFamily="34" charset="0"/>
                <a:ea typeface="Courier New" pitchFamily="34" charset="-122"/>
                <a:cs typeface="Courier New" pitchFamily="34" charset="-120"/>
              </a:rPr>
              <a:t>    </a:t>
            </a:r>
            <a:r>
              <a:rPr lang="en-US" sz="1000" b="1" dirty="0">
                <a:solidFill>
                  <a:srgbClr val="569CD6"/>
                </a:solidFill>
                <a:latin typeface="Courier New" pitchFamily="34" charset="0"/>
                <a:ea typeface="Courier New" pitchFamily="34" charset="-122"/>
                <a:cs typeface="Courier New" pitchFamily="34" charset="-120"/>
              </a:rPr>
              <a:t>void</a:t>
            </a:r>
            <a:r>
              <a:rPr lang="en-US" sz="1000" dirty="0">
                <a:solidFill>
                  <a:srgbClr val="D4D4D4"/>
                </a:solidFill>
                <a:latin typeface="Courier New" pitchFamily="34" charset="0"/>
                <a:ea typeface="Courier New" pitchFamily="34" charset="-122"/>
                <a:cs typeface="Courier New" pitchFamily="34" charset="-120"/>
              </a:rPr>
              <a:t> </a:t>
            </a:r>
            <a:r>
              <a:rPr lang="en-US" sz="1000" dirty="0">
                <a:solidFill>
                  <a:srgbClr val="DCDCAA"/>
                </a:solidFill>
                <a:latin typeface="Courier New" pitchFamily="34" charset="0"/>
                <a:ea typeface="Courier New" pitchFamily="34" charset="-122"/>
                <a:cs typeface="Courier New" pitchFamily="34" charset="-120"/>
              </a:rPr>
              <a:t>fetch</a:t>
            </a:r>
            <a:r>
              <a:rPr lang="en-US" sz="1000" dirty="0">
                <a:solidFill>
                  <a:srgbClr val="D4D4D4"/>
                </a:solidFill>
                <a:latin typeface="Courier New" pitchFamily="34" charset="0"/>
                <a:ea typeface="Courier New" pitchFamily="34" charset="-122"/>
                <a:cs typeface="Courier New" pitchFamily="34" charset="-120"/>
              </a:rPr>
              <a:t>() { </a:t>
            </a:r>
            <a:r>
              <a:rPr lang="en-US" sz="1000" dirty="0">
                <a:solidFill>
                  <a:srgbClr val="4EC9B0"/>
                </a:solidFill>
                <a:latin typeface="Courier New" pitchFamily="34" charset="0"/>
                <a:ea typeface="Courier New" pitchFamily="34" charset="-122"/>
                <a:cs typeface="Courier New" pitchFamily="34" charset="-120"/>
              </a:rPr>
              <a:t>System</a:t>
            </a:r>
            <a:r>
              <a:rPr lang="en-US" sz="1000" dirty="0">
                <a:solidFill>
                  <a:srgbClr val="D4D4D4"/>
                </a:solidFill>
                <a:latin typeface="Courier New" pitchFamily="34" charset="0"/>
                <a:ea typeface="Courier New" pitchFamily="34" charset="-122"/>
                <a:cs typeface="Courier New" pitchFamily="34" charset="-120"/>
              </a:rPr>
              <a:t>.out.</a:t>
            </a:r>
            <a:r>
              <a:rPr lang="en-US" sz="1000" dirty="0">
                <a:solidFill>
                  <a:srgbClr val="DCDCAA"/>
                </a:solidFill>
                <a:latin typeface="Courier New" pitchFamily="34" charset="0"/>
                <a:ea typeface="Courier New" pitchFamily="34" charset="-122"/>
                <a:cs typeface="Courier New" pitchFamily="34" charset="-120"/>
              </a:rPr>
              <a:t>println</a:t>
            </a:r>
            <a:r>
              <a:rPr lang="en-US" sz="1000" dirty="0">
                <a:solidFill>
                  <a:srgbClr val="D4D4D4"/>
                </a:solidFill>
                <a:latin typeface="Courier New" pitchFamily="34" charset="0"/>
                <a:ea typeface="Courier New" pitchFamily="34" charset="-122"/>
                <a:cs typeface="Courier New" pitchFamily="34" charset="-120"/>
              </a:rPr>
              <a:t>(</a:t>
            </a:r>
            <a:r>
              <a:rPr lang="en-US" sz="1000" dirty="0">
                <a:solidFill>
                  <a:srgbClr val="CE9178"/>
                </a:solidFill>
                <a:latin typeface="Courier New" pitchFamily="34" charset="0"/>
                <a:ea typeface="Courier New" pitchFamily="34" charset="-122"/>
                <a:cs typeface="Courier New" pitchFamily="34" charset="-120"/>
              </a:rPr>
              <a:t>"Fetching"</a:t>
            </a:r>
            <a:r>
              <a:rPr lang="en-US" sz="1000" dirty="0">
                <a:solidFill>
                  <a:srgbClr val="D4D4D4"/>
                </a:solidFill>
                <a:latin typeface="Courier New" pitchFamily="34" charset="0"/>
                <a:ea typeface="Courier New" pitchFamily="34" charset="-122"/>
                <a:cs typeface="Courier New" pitchFamily="34" charset="-120"/>
              </a:rPr>
              <a:t>); }</a:t>
            </a:r>
            <a:endParaRPr lang="en-US" sz="1000" dirty="0"/>
          </a:p>
          <a:p>
            <a:pPr marL="0" indent="0" algn="l">
              <a:lnSpc>
                <a:spcPct val="118000"/>
              </a:lnSpc>
              <a:buNone/>
            </a:pPr>
            <a:r>
              <a:rPr lang="en-US" sz="1000" dirty="0">
                <a:solidFill>
                  <a:srgbClr val="D4D4D4"/>
                </a:solidFill>
                <a:latin typeface="Courier New" pitchFamily="34" charset="0"/>
                <a:ea typeface="Courier New" pitchFamily="34" charset="-122"/>
                <a:cs typeface="Courier New" pitchFamily="34" charset="-120"/>
              </a:rPr>
              <a:t>}</a:t>
            </a:r>
            <a:endParaRPr lang="en-US" sz="1000" dirty="0"/>
          </a:p>
          <a:p>
            <a:pPr marL="0" indent="0" algn="l">
              <a:lnSpc>
                <a:spcPct val="118000"/>
              </a:lnSpc>
              <a:buNone/>
            </a:pPr>
            <a:r>
              <a:rPr lang="en-US" sz="1000" dirty="0">
                <a:solidFill>
                  <a:srgbClr val="D4D4D4"/>
                </a:solidFill>
                <a:latin typeface="Courier New" pitchFamily="34" charset="0"/>
                <a:ea typeface="Courier New" pitchFamily="34" charset="-122"/>
                <a:cs typeface="Courier New" pitchFamily="34" charset="-120"/>
              </a:rPr>
              <a:t> </a:t>
            </a:r>
            <a:endParaRPr lang="en-US" sz="1000" dirty="0"/>
          </a:p>
          <a:p>
            <a:pPr marL="0" indent="0" algn="l">
              <a:lnSpc>
                <a:spcPct val="118000"/>
              </a:lnSpc>
              <a:buNone/>
            </a:pPr>
            <a:r>
              <a:rPr lang="en-US" sz="1000" b="1" dirty="0">
                <a:solidFill>
                  <a:srgbClr val="569CD6"/>
                </a:solidFill>
                <a:latin typeface="Courier New" pitchFamily="34" charset="0"/>
                <a:ea typeface="Courier New" pitchFamily="34" charset="-122"/>
                <a:cs typeface="Courier New" pitchFamily="34" charset="-120"/>
              </a:rPr>
              <a:t>public</a:t>
            </a:r>
            <a:r>
              <a:rPr lang="en-US" sz="1000" dirty="0">
                <a:solidFill>
                  <a:srgbClr val="D4D4D4"/>
                </a:solidFill>
                <a:latin typeface="Courier New" pitchFamily="34" charset="0"/>
                <a:ea typeface="Courier New" pitchFamily="34" charset="-122"/>
                <a:cs typeface="Courier New" pitchFamily="34" charset="-120"/>
              </a:rPr>
              <a:t> </a:t>
            </a:r>
            <a:r>
              <a:rPr lang="en-US" sz="1000" b="1" dirty="0">
                <a:solidFill>
                  <a:srgbClr val="569CD6"/>
                </a:solidFill>
                <a:latin typeface="Courier New" pitchFamily="34" charset="0"/>
                <a:ea typeface="Courier New" pitchFamily="34" charset="-122"/>
                <a:cs typeface="Courier New" pitchFamily="34" charset="-120"/>
              </a:rPr>
              <a:t>class</a:t>
            </a:r>
            <a:r>
              <a:rPr lang="en-US" sz="1000" dirty="0">
                <a:solidFill>
                  <a:srgbClr val="D4D4D4"/>
                </a:solidFill>
                <a:latin typeface="Courier New" pitchFamily="34" charset="0"/>
                <a:ea typeface="Courier New" pitchFamily="34" charset="-122"/>
                <a:cs typeface="Courier New" pitchFamily="34" charset="-120"/>
              </a:rPr>
              <a:t> UpcastDemo {</a:t>
            </a:r>
            <a:endParaRPr lang="en-US" sz="1000" dirty="0"/>
          </a:p>
          <a:p>
            <a:pPr marL="0" indent="0" algn="l">
              <a:lnSpc>
                <a:spcPct val="118000"/>
              </a:lnSpc>
              <a:buNone/>
            </a:pPr>
            <a:r>
              <a:rPr lang="en-US" sz="1000" dirty="0">
                <a:solidFill>
                  <a:srgbClr val="D4D4D4"/>
                </a:solidFill>
                <a:latin typeface="Courier New" pitchFamily="34" charset="0"/>
                <a:ea typeface="Courier New" pitchFamily="34" charset="-122"/>
                <a:cs typeface="Courier New" pitchFamily="34" charset="-120"/>
              </a:rPr>
              <a:t>    </a:t>
            </a:r>
            <a:r>
              <a:rPr lang="en-US" sz="1000" b="1" dirty="0">
                <a:solidFill>
                  <a:srgbClr val="569CD6"/>
                </a:solidFill>
                <a:latin typeface="Courier New" pitchFamily="34" charset="0"/>
                <a:ea typeface="Courier New" pitchFamily="34" charset="-122"/>
                <a:cs typeface="Courier New" pitchFamily="34" charset="-120"/>
              </a:rPr>
              <a:t>public</a:t>
            </a:r>
            <a:r>
              <a:rPr lang="en-US" sz="1000" dirty="0">
                <a:solidFill>
                  <a:srgbClr val="D4D4D4"/>
                </a:solidFill>
                <a:latin typeface="Courier New" pitchFamily="34" charset="0"/>
                <a:ea typeface="Courier New" pitchFamily="34" charset="-122"/>
                <a:cs typeface="Courier New" pitchFamily="34" charset="-120"/>
              </a:rPr>
              <a:t> </a:t>
            </a:r>
            <a:r>
              <a:rPr lang="en-US" sz="1000" b="1" dirty="0">
                <a:solidFill>
                  <a:srgbClr val="569CD6"/>
                </a:solidFill>
                <a:latin typeface="Courier New" pitchFamily="34" charset="0"/>
                <a:ea typeface="Courier New" pitchFamily="34" charset="-122"/>
                <a:cs typeface="Courier New" pitchFamily="34" charset="-120"/>
              </a:rPr>
              <a:t>static</a:t>
            </a:r>
            <a:r>
              <a:rPr lang="en-US" sz="1000" dirty="0">
                <a:solidFill>
                  <a:srgbClr val="D4D4D4"/>
                </a:solidFill>
                <a:latin typeface="Courier New" pitchFamily="34" charset="0"/>
                <a:ea typeface="Courier New" pitchFamily="34" charset="-122"/>
                <a:cs typeface="Courier New" pitchFamily="34" charset="-120"/>
              </a:rPr>
              <a:t> </a:t>
            </a:r>
            <a:r>
              <a:rPr lang="en-US" sz="1000" b="1" dirty="0">
                <a:solidFill>
                  <a:srgbClr val="569CD6"/>
                </a:solidFill>
                <a:latin typeface="Courier New" pitchFamily="34" charset="0"/>
                <a:ea typeface="Courier New" pitchFamily="34" charset="-122"/>
                <a:cs typeface="Courier New" pitchFamily="34" charset="-120"/>
              </a:rPr>
              <a:t>void</a:t>
            </a:r>
            <a:r>
              <a:rPr lang="en-US" sz="1000" dirty="0">
                <a:solidFill>
                  <a:srgbClr val="D4D4D4"/>
                </a:solidFill>
                <a:latin typeface="Courier New" pitchFamily="34" charset="0"/>
                <a:ea typeface="Courier New" pitchFamily="34" charset="-122"/>
                <a:cs typeface="Courier New" pitchFamily="34" charset="-120"/>
              </a:rPr>
              <a:t> </a:t>
            </a:r>
            <a:r>
              <a:rPr lang="en-US" sz="1000" dirty="0">
                <a:solidFill>
                  <a:srgbClr val="DCDCAA"/>
                </a:solidFill>
                <a:latin typeface="Courier New" pitchFamily="34" charset="0"/>
                <a:ea typeface="Courier New" pitchFamily="34" charset="-122"/>
                <a:cs typeface="Courier New" pitchFamily="34" charset="-120"/>
              </a:rPr>
              <a:t>main</a:t>
            </a:r>
            <a:r>
              <a:rPr lang="en-US" sz="1000" dirty="0">
                <a:solidFill>
                  <a:srgbClr val="D4D4D4"/>
                </a:solidFill>
                <a:latin typeface="Courier New" pitchFamily="34" charset="0"/>
                <a:ea typeface="Courier New" pitchFamily="34" charset="-122"/>
                <a:cs typeface="Courier New" pitchFamily="34" charset="-120"/>
              </a:rPr>
              <a:t>(</a:t>
            </a:r>
            <a:r>
              <a:rPr lang="en-US" sz="1000" dirty="0">
                <a:solidFill>
                  <a:srgbClr val="4EC9B0"/>
                </a:solidFill>
                <a:latin typeface="Courier New" pitchFamily="34" charset="0"/>
                <a:ea typeface="Courier New" pitchFamily="34" charset="-122"/>
                <a:cs typeface="Courier New" pitchFamily="34" charset="-120"/>
              </a:rPr>
              <a:t>String</a:t>
            </a:r>
            <a:r>
              <a:rPr lang="en-US" sz="1000" dirty="0">
                <a:solidFill>
                  <a:srgbClr val="D4D4D4"/>
                </a:solidFill>
                <a:latin typeface="Courier New" pitchFamily="34" charset="0"/>
                <a:ea typeface="Courier New" pitchFamily="34" charset="-122"/>
                <a:cs typeface="Courier New" pitchFamily="34" charset="-120"/>
              </a:rPr>
              <a:t>[] args) {</a:t>
            </a:r>
            <a:endParaRPr lang="en-US" sz="1000" dirty="0"/>
          </a:p>
          <a:p>
            <a:pPr marL="0" indent="0" algn="l">
              <a:lnSpc>
                <a:spcPct val="118000"/>
              </a:lnSpc>
              <a:buNone/>
            </a:pPr>
            <a:r>
              <a:rPr lang="en-US" sz="1000" dirty="0">
                <a:solidFill>
                  <a:srgbClr val="D4D4D4"/>
                </a:solidFill>
                <a:latin typeface="Courier New" pitchFamily="34" charset="0"/>
                <a:ea typeface="Courier New" pitchFamily="34" charset="-122"/>
                <a:cs typeface="Courier New" pitchFamily="34" charset="-120"/>
              </a:rPr>
              <a:t>        Animal a = </a:t>
            </a:r>
            <a:r>
              <a:rPr lang="en-US" sz="1000" b="1" dirty="0">
                <a:solidFill>
                  <a:srgbClr val="569CD6"/>
                </a:solidFill>
                <a:latin typeface="Courier New" pitchFamily="34" charset="0"/>
                <a:ea typeface="Courier New" pitchFamily="34" charset="-122"/>
                <a:cs typeface="Courier New" pitchFamily="34" charset="-120"/>
              </a:rPr>
              <a:t>new</a:t>
            </a:r>
            <a:r>
              <a:rPr lang="en-US" sz="1000" dirty="0">
                <a:solidFill>
                  <a:srgbClr val="D4D4D4"/>
                </a:solidFill>
                <a:latin typeface="Courier New" pitchFamily="34" charset="0"/>
                <a:ea typeface="Courier New" pitchFamily="34" charset="-122"/>
                <a:cs typeface="Courier New" pitchFamily="34" charset="-120"/>
              </a:rPr>
              <a:t> </a:t>
            </a:r>
            <a:r>
              <a:rPr lang="en-US" sz="1000" dirty="0">
                <a:solidFill>
                  <a:srgbClr val="DCDCAA"/>
                </a:solidFill>
                <a:latin typeface="Courier New" pitchFamily="34" charset="0"/>
                <a:ea typeface="Courier New" pitchFamily="34" charset="-122"/>
                <a:cs typeface="Courier New" pitchFamily="34" charset="-120"/>
              </a:rPr>
              <a:t>Dog</a:t>
            </a:r>
            <a:r>
              <a:rPr lang="en-US" sz="1000" dirty="0">
                <a:solidFill>
                  <a:srgbClr val="D4D4D4"/>
                </a:solidFill>
                <a:latin typeface="Courier New" pitchFamily="34" charset="0"/>
                <a:ea typeface="Courier New" pitchFamily="34" charset="-122"/>
                <a:cs typeface="Courier New" pitchFamily="34" charset="-120"/>
              </a:rPr>
              <a:t>();   </a:t>
            </a:r>
            <a:r>
              <a:rPr lang="en-US" sz="1000" i="1" dirty="0">
                <a:solidFill>
                  <a:srgbClr val="6A9955"/>
                </a:solidFill>
                <a:latin typeface="Courier New" pitchFamily="34" charset="0"/>
                <a:ea typeface="Courier New" pitchFamily="34" charset="-122"/>
                <a:cs typeface="Courier New" pitchFamily="34" charset="-120"/>
              </a:rPr>
              <a:t>// upcasting</a:t>
            </a:r>
            <a:endParaRPr lang="en-US" sz="1000" dirty="0"/>
          </a:p>
          <a:p>
            <a:pPr marL="0" indent="0" algn="l">
              <a:lnSpc>
                <a:spcPct val="118000"/>
              </a:lnSpc>
              <a:buNone/>
            </a:pPr>
            <a:r>
              <a:rPr lang="en-US" sz="1000" dirty="0">
                <a:solidFill>
                  <a:srgbClr val="D4D4D4"/>
                </a:solidFill>
                <a:latin typeface="Courier New" pitchFamily="34" charset="0"/>
                <a:ea typeface="Courier New" pitchFamily="34" charset="-122"/>
                <a:cs typeface="Courier New" pitchFamily="34" charset="-120"/>
              </a:rPr>
              <a:t>        a.</a:t>
            </a:r>
            <a:r>
              <a:rPr lang="en-US" sz="1000" dirty="0">
                <a:solidFill>
                  <a:srgbClr val="DCDCAA"/>
                </a:solidFill>
                <a:latin typeface="Courier New" pitchFamily="34" charset="0"/>
                <a:ea typeface="Courier New" pitchFamily="34" charset="-122"/>
                <a:cs typeface="Courier New" pitchFamily="34" charset="-120"/>
              </a:rPr>
              <a:t>makeSound</a:t>
            </a:r>
            <a:r>
              <a:rPr lang="en-US" sz="1000" dirty="0">
                <a:solidFill>
                  <a:srgbClr val="D4D4D4"/>
                </a:solidFill>
                <a:latin typeface="Courier New" pitchFamily="34" charset="0"/>
                <a:ea typeface="Courier New" pitchFamily="34" charset="-122"/>
                <a:cs typeface="Courier New" pitchFamily="34" charset="-120"/>
              </a:rPr>
              <a:t>();</a:t>
            </a:r>
            <a:endParaRPr lang="en-US" sz="1000" dirty="0"/>
          </a:p>
          <a:p>
            <a:pPr marL="0" indent="0" algn="l">
              <a:lnSpc>
                <a:spcPct val="118000"/>
              </a:lnSpc>
              <a:buNone/>
            </a:pPr>
            <a:r>
              <a:rPr lang="en-US" sz="1000" dirty="0">
                <a:solidFill>
                  <a:srgbClr val="D4D4D4"/>
                </a:solidFill>
                <a:latin typeface="Courier New" pitchFamily="34" charset="0"/>
                <a:ea typeface="Courier New" pitchFamily="34" charset="-122"/>
                <a:cs typeface="Courier New" pitchFamily="34" charset="-120"/>
              </a:rPr>
              <a:t>        </a:t>
            </a:r>
            <a:r>
              <a:rPr lang="en-US" sz="1000" i="1" dirty="0">
                <a:solidFill>
                  <a:srgbClr val="6A9955"/>
                </a:solidFill>
                <a:latin typeface="Courier New" pitchFamily="34" charset="0"/>
                <a:ea typeface="Courier New" pitchFamily="34" charset="-122"/>
                <a:cs typeface="Courier New" pitchFamily="34" charset="-120"/>
              </a:rPr>
              <a:t>// a.fetch();   not visible through an Animal reference</a:t>
            </a:r>
            <a:endParaRPr lang="en-US" sz="1000" dirty="0"/>
          </a:p>
          <a:p>
            <a:pPr marL="0" indent="0" algn="l">
              <a:lnSpc>
                <a:spcPct val="118000"/>
              </a:lnSpc>
              <a:buNone/>
            </a:pPr>
            <a:r>
              <a:rPr lang="en-US" sz="1000" dirty="0">
                <a:solidFill>
                  <a:srgbClr val="D4D4D4"/>
                </a:solidFill>
                <a:latin typeface="Courier New" pitchFamily="34" charset="0"/>
                <a:ea typeface="Courier New" pitchFamily="34" charset="-122"/>
                <a:cs typeface="Courier New" pitchFamily="34" charset="-120"/>
              </a:rPr>
              <a:t>    }</a:t>
            </a:r>
            <a:endParaRPr lang="en-US" sz="1000" dirty="0"/>
          </a:p>
          <a:p>
            <a:pPr marL="0" indent="0" algn="l">
              <a:lnSpc>
                <a:spcPct val="118000"/>
              </a:lnSpc>
              <a:buNone/>
            </a:pPr>
            <a:r>
              <a:rPr lang="en-US" sz="1000" dirty="0">
                <a:solidFill>
                  <a:srgbClr val="D4D4D4"/>
                </a:solidFill>
                <a:latin typeface="Courier New" pitchFamily="34" charset="0"/>
                <a:ea typeface="Courier New" pitchFamily="34" charset="-122"/>
                <a:cs typeface="Courier New" pitchFamily="34" charset="-120"/>
              </a:rPr>
              <a:t>}</a:t>
            </a:r>
            <a:endParaRPr lang="en-US" sz="1000" dirty="0"/>
          </a:p>
        </p:txBody>
      </p:sp>
      <p:sp>
        <p:nvSpPr>
          <p:cNvPr id="17" name="Shape 15"/>
          <p:cNvSpPr/>
          <p:nvPr/>
        </p:nvSpPr>
        <p:spPr>
          <a:xfrm>
            <a:off x="0" y="0"/>
            <a:ext cx="12191695" cy="384048"/>
          </a:xfrm>
          <a:prstGeom prst="rect">
            <a:avLst/>
          </a:prstGeom>
          <a:solidFill>
            <a:srgbClr val="1B2A4A"/>
          </a:solidFill>
          <a:ln w="12700">
            <a:solidFill>
              <a:srgbClr val="1B2A4A"/>
            </a:solidFill>
            <a:prstDash val="solid"/>
          </a:ln>
        </p:spPr>
      </p:sp>
      <p:sp>
        <p:nvSpPr>
          <p:cNvPr id="18" name="Text 16"/>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9" name="Shape 17"/>
          <p:cNvSpPr/>
          <p:nvPr/>
        </p:nvSpPr>
        <p:spPr>
          <a:xfrm>
            <a:off x="219456" y="301752"/>
            <a:ext cx="960120" cy="0"/>
          </a:xfrm>
          <a:prstGeom prst="line">
            <a:avLst/>
          </a:prstGeom>
          <a:noFill/>
          <a:ln w="9525">
            <a:solidFill>
              <a:srgbClr val="4A5570"/>
            </a:solidFill>
            <a:prstDash val="solid"/>
          </a:ln>
        </p:spPr>
      </p:sp>
      <p:sp>
        <p:nvSpPr>
          <p:cNvPr id="20" name="Text 18"/>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1" name="Text 19"/>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2" name="Text 20"/>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3" name="Shape 21"/>
          <p:cNvSpPr/>
          <p:nvPr/>
        </p:nvSpPr>
        <p:spPr>
          <a:xfrm>
            <a:off x="0" y="6291072"/>
            <a:ext cx="12191695" cy="566928"/>
          </a:xfrm>
          <a:prstGeom prst="rect">
            <a:avLst/>
          </a:prstGeom>
          <a:solidFill>
            <a:srgbClr val="1B2A4A"/>
          </a:solidFill>
          <a:ln w="12700">
            <a:solidFill>
              <a:srgbClr val="1B2A4A"/>
            </a:solidFill>
            <a:prstDash val="solid"/>
          </a:ln>
        </p:spPr>
      </p:sp>
      <p:sp>
        <p:nvSpPr>
          <p:cNvPr id="24" name="Text 22"/>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5" name="Text 23"/>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RUNTIME BEHAVIOR</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Dynamic Method Dispatch</a:t>
            </a:r>
            <a:endParaRPr lang="en-US" sz="2700" dirty="0"/>
          </a:p>
        </p:txBody>
      </p:sp>
      <p:sp>
        <p:nvSpPr>
          <p:cNvPr id="4" name="Text 2"/>
          <p:cNvSpPr/>
          <p:nvPr/>
        </p:nvSpPr>
        <p:spPr>
          <a:xfrm>
            <a:off x="594360" y="1600200"/>
            <a:ext cx="10607040" cy="365760"/>
          </a:xfrm>
          <a:prstGeom prst="rect">
            <a:avLst/>
          </a:prstGeom>
          <a:noFill/>
          <a:ln/>
        </p:spPr>
        <p:txBody>
          <a:bodyPr wrap="square" lIns="0" tIns="0" rIns="0" bIns="0" rtlCol="0" anchor="ctr"/>
          <a:lstStyle/>
          <a:p>
            <a:pPr marL="0" indent="0">
              <a:buNone/>
            </a:pPr>
            <a:r>
              <a:rPr lang="en-US" sz="1250" i="1" dirty="0">
                <a:solidFill>
                  <a:srgbClr val="5A6472"/>
                </a:solidFill>
                <a:latin typeface="Times New Roman" pitchFamily="34" charset="0"/>
                <a:ea typeface="Times New Roman" pitchFamily="34" charset="-122"/>
                <a:cs typeface="Times New Roman" pitchFamily="34" charset="-120"/>
              </a:rPr>
              <a:t>Even though a is declared as Animal, the Dog version of makeSound runs.</a:t>
            </a:r>
            <a:endParaRPr lang="en-US" sz="1250" dirty="0"/>
          </a:p>
        </p:txBody>
      </p:sp>
      <p:sp>
        <p:nvSpPr>
          <p:cNvPr id="5" name="Shape 3"/>
          <p:cNvSpPr/>
          <p:nvPr/>
        </p:nvSpPr>
        <p:spPr>
          <a:xfrm>
            <a:off x="594360" y="2002536"/>
            <a:ext cx="7040880" cy="4032504"/>
          </a:xfrm>
          <a:prstGeom prst="roundRect">
            <a:avLst>
              <a:gd name="adj" fmla="val 1814"/>
            </a:avLst>
          </a:prstGeom>
          <a:solidFill>
            <a:srgbClr val="1E1E2E"/>
          </a:solidFill>
          <a:ln w="12700">
            <a:solidFill>
              <a:srgbClr val="000000"/>
            </a:solidFill>
            <a:prstDash val="solid"/>
          </a:ln>
        </p:spPr>
      </p:sp>
      <p:sp>
        <p:nvSpPr>
          <p:cNvPr id="6" name="Shape 4"/>
          <p:cNvSpPr/>
          <p:nvPr/>
        </p:nvSpPr>
        <p:spPr>
          <a:xfrm>
            <a:off x="594360" y="2002536"/>
            <a:ext cx="7040880" cy="274320"/>
          </a:xfrm>
          <a:prstGeom prst="roundRect">
            <a:avLst>
              <a:gd name="adj" fmla="val 26667"/>
            </a:avLst>
          </a:prstGeom>
          <a:solidFill>
            <a:srgbClr val="17172A"/>
          </a:solidFill>
          <a:ln w="12700">
            <a:solidFill>
              <a:srgbClr val="000000"/>
            </a:solidFill>
            <a:prstDash val="solid"/>
          </a:ln>
        </p:spPr>
      </p:sp>
      <p:sp>
        <p:nvSpPr>
          <p:cNvPr id="7" name="Shape 5"/>
          <p:cNvSpPr/>
          <p:nvPr/>
        </p:nvSpPr>
        <p:spPr>
          <a:xfrm>
            <a:off x="594360" y="2203704"/>
            <a:ext cx="7040880" cy="73152"/>
          </a:xfrm>
          <a:prstGeom prst="rect">
            <a:avLst/>
          </a:prstGeom>
          <a:solidFill>
            <a:srgbClr val="17172A"/>
          </a:solidFill>
          <a:ln w="12700">
            <a:solidFill>
              <a:srgbClr val="000000"/>
            </a:solidFill>
            <a:prstDash val="solid"/>
          </a:ln>
        </p:spPr>
      </p:sp>
      <p:sp>
        <p:nvSpPr>
          <p:cNvPr id="8" name="Shape 6"/>
          <p:cNvSpPr/>
          <p:nvPr/>
        </p:nvSpPr>
        <p:spPr>
          <a:xfrm>
            <a:off x="722376" y="2101291"/>
            <a:ext cx="76810" cy="76810"/>
          </a:xfrm>
          <a:prstGeom prst="ellipse">
            <a:avLst/>
          </a:prstGeom>
          <a:solidFill>
            <a:srgbClr val="FF5F56"/>
          </a:solidFill>
          <a:ln w="12700">
            <a:solidFill>
              <a:srgbClr val="000000"/>
            </a:solidFill>
            <a:prstDash val="solid"/>
          </a:ln>
        </p:spPr>
      </p:sp>
      <p:sp>
        <p:nvSpPr>
          <p:cNvPr id="9" name="Shape 7"/>
          <p:cNvSpPr/>
          <p:nvPr/>
        </p:nvSpPr>
        <p:spPr>
          <a:xfrm>
            <a:off x="886968" y="2101291"/>
            <a:ext cx="76810" cy="76810"/>
          </a:xfrm>
          <a:prstGeom prst="ellipse">
            <a:avLst/>
          </a:prstGeom>
          <a:solidFill>
            <a:srgbClr val="FFBD2E"/>
          </a:solidFill>
          <a:ln w="12700">
            <a:solidFill>
              <a:srgbClr val="000000"/>
            </a:solidFill>
            <a:prstDash val="solid"/>
          </a:ln>
        </p:spPr>
      </p:sp>
      <p:sp>
        <p:nvSpPr>
          <p:cNvPr id="10" name="Shape 8"/>
          <p:cNvSpPr/>
          <p:nvPr/>
        </p:nvSpPr>
        <p:spPr>
          <a:xfrm>
            <a:off x="1051560" y="2101291"/>
            <a:ext cx="76810" cy="76810"/>
          </a:xfrm>
          <a:prstGeom prst="ellipse">
            <a:avLst/>
          </a:prstGeom>
          <a:solidFill>
            <a:srgbClr val="27C93F"/>
          </a:solidFill>
          <a:ln w="12700">
            <a:solidFill>
              <a:srgbClr val="000000"/>
            </a:solidFill>
            <a:prstDash val="solid"/>
          </a:ln>
        </p:spPr>
      </p:sp>
      <p:sp>
        <p:nvSpPr>
          <p:cNvPr id="11" name="Text 9"/>
          <p:cNvSpPr/>
          <p:nvPr/>
        </p:nvSpPr>
        <p:spPr>
          <a:xfrm>
            <a:off x="1371600" y="2002536"/>
            <a:ext cx="6126480" cy="274320"/>
          </a:xfrm>
          <a:prstGeom prst="rect">
            <a:avLst/>
          </a:prstGeom>
          <a:noFill/>
          <a:ln/>
        </p:spPr>
        <p:txBody>
          <a:bodyPr wrap="square" lIns="0" tIns="0" rIns="0" bIns="0" rtlCol="0" anchor="ctr"/>
          <a:lstStyle/>
          <a:p>
            <a:pPr marL="0" indent="0" algn="l">
              <a:buNone/>
            </a:pPr>
            <a:r>
              <a:rPr lang="en-US" sz="1000" dirty="0">
                <a:solidFill>
                  <a:srgbClr val="8A8FA3"/>
                </a:solidFill>
                <a:latin typeface="Courier New" pitchFamily="34" charset="0"/>
                <a:ea typeface="Courier New" pitchFamily="34" charset="-122"/>
                <a:cs typeface="Courier New" pitchFamily="34" charset="-120"/>
              </a:rPr>
              <a:t>Main.java</a:t>
            </a:r>
            <a:endParaRPr lang="en-US" sz="1000" dirty="0"/>
          </a:p>
        </p:txBody>
      </p:sp>
      <p:sp>
        <p:nvSpPr>
          <p:cNvPr id="12" name="Text 10"/>
          <p:cNvSpPr/>
          <p:nvPr/>
        </p:nvSpPr>
        <p:spPr>
          <a:xfrm>
            <a:off x="777240" y="2350008"/>
            <a:ext cx="6675120" cy="3611880"/>
          </a:xfrm>
          <a:prstGeom prst="rect">
            <a:avLst/>
          </a:prstGeom>
          <a:noFill/>
          <a:ln/>
        </p:spPr>
        <p:txBody>
          <a:bodyPr wrap="square" lIns="0" tIns="0" rIns="0" bIns="0" rtlCol="0" anchor="t"/>
          <a:lstStyle/>
          <a:p>
            <a:pPr marL="0" indent="0" algn="l">
              <a:lnSpc>
                <a:spcPct val="118000"/>
              </a:lnSpc>
              <a:buNone/>
            </a:pPr>
            <a:r>
              <a:rPr lang="en-US" sz="1500" b="1" dirty="0">
                <a:solidFill>
                  <a:srgbClr val="569CD6"/>
                </a:solidFill>
                <a:latin typeface="Courier New" pitchFamily="34" charset="0"/>
                <a:ea typeface="Courier New" pitchFamily="34" charset="-122"/>
                <a:cs typeface="Courier New" pitchFamily="34" charset="-120"/>
              </a:rPr>
              <a:t>public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class</a:t>
            </a:r>
            <a:r>
              <a:rPr lang="en-US" sz="1500" dirty="0">
                <a:solidFill>
                  <a:srgbClr val="D4D4D4"/>
                </a:solidFill>
                <a:latin typeface="Courier New" pitchFamily="34" charset="0"/>
                <a:ea typeface="Courier New" pitchFamily="34" charset="-122"/>
                <a:cs typeface="Courier New" pitchFamily="34" charset="-120"/>
              </a:rPr>
              <a:t> Main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public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static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void</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DCDCAA"/>
                </a:solidFill>
                <a:latin typeface="Courier New" pitchFamily="34" charset="0"/>
                <a:ea typeface="Courier New" pitchFamily="34" charset="-122"/>
                <a:cs typeface="Courier New" pitchFamily="34" charset="-120"/>
              </a:rPr>
              <a:t>main</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4EC9B0"/>
                </a:solidFill>
                <a:latin typeface="Courier New" pitchFamily="34" charset="0"/>
                <a:ea typeface="Courier New" pitchFamily="34" charset="-122"/>
                <a:cs typeface="Courier New" pitchFamily="34" charset="-120"/>
              </a:rPr>
              <a:t>String</a:t>
            </a:r>
            <a:r>
              <a:rPr lang="en-US" sz="1500" dirty="0">
                <a:solidFill>
                  <a:srgbClr val="D4D4D4"/>
                </a:solidFill>
                <a:latin typeface="Courier New" pitchFamily="34" charset="0"/>
                <a:ea typeface="Courier New" pitchFamily="34" charset="-122"/>
                <a:cs typeface="Courier New" pitchFamily="34" charset="-120"/>
              </a:rPr>
              <a:t>[] args)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Animal a = </a:t>
            </a:r>
            <a:r>
              <a:rPr lang="en-US" sz="1500" b="1" dirty="0">
                <a:solidFill>
                  <a:srgbClr val="569CD6"/>
                </a:solidFill>
                <a:latin typeface="Courier New" pitchFamily="34" charset="0"/>
                <a:ea typeface="Courier New" pitchFamily="34" charset="-122"/>
                <a:cs typeface="Courier New" pitchFamily="34" charset="-120"/>
              </a:rPr>
              <a:t>new</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DCDCAA"/>
                </a:solidFill>
                <a:latin typeface="Courier New" pitchFamily="34" charset="0"/>
                <a:ea typeface="Courier New" pitchFamily="34" charset="-122"/>
                <a:cs typeface="Courier New" pitchFamily="34" charset="-120"/>
              </a:rPr>
              <a:t>Dog</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a:t>
            </a:r>
            <a:r>
              <a:rPr lang="en-US" sz="1500" dirty="0">
                <a:solidFill>
                  <a:srgbClr val="DCDCAA"/>
                </a:solidFill>
                <a:latin typeface="Courier New" pitchFamily="34" charset="0"/>
                <a:ea typeface="Courier New" pitchFamily="34" charset="-122"/>
                <a:cs typeface="Courier New" pitchFamily="34" charset="-120"/>
              </a:rPr>
              <a:t>makeSound</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a:t>
            </a:r>
            <a:endParaRPr lang="en-US" sz="1500" dirty="0"/>
          </a:p>
        </p:txBody>
      </p:sp>
      <p:sp>
        <p:nvSpPr>
          <p:cNvPr id="13" name="Shape 11"/>
          <p:cNvSpPr/>
          <p:nvPr/>
        </p:nvSpPr>
        <p:spPr>
          <a:xfrm>
            <a:off x="7909560" y="2002536"/>
            <a:ext cx="3886200" cy="4032504"/>
          </a:xfrm>
          <a:prstGeom prst="roundRect">
            <a:avLst>
              <a:gd name="adj" fmla="val 1882"/>
            </a:avLst>
          </a:prstGeom>
          <a:solidFill>
            <a:srgbClr val="181C24"/>
          </a:solidFill>
          <a:ln w="12700">
            <a:solidFill>
              <a:srgbClr val="000000"/>
            </a:solidFill>
            <a:prstDash val="solid"/>
          </a:ln>
        </p:spPr>
      </p:sp>
      <p:sp>
        <p:nvSpPr>
          <p:cNvPr id="14" name="Text 12"/>
          <p:cNvSpPr/>
          <p:nvPr/>
        </p:nvSpPr>
        <p:spPr>
          <a:xfrm>
            <a:off x="8074152" y="2130552"/>
            <a:ext cx="3557016" cy="274320"/>
          </a:xfrm>
          <a:prstGeom prst="rect">
            <a:avLst/>
          </a:prstGeom>
          <a:noFill/>
          <a:ln/>
        </p:spPr>
        <p:txBody>
          <a:bodyPr wrap="square" lIns="0" tIns="0" rIns="0" bIns="0" rtlCol="0" anchor="ctr"/>
          <a:lstStyle/>
          <a:p>
            <a:pPr marL="0" indent="0">
              <a:buNone/>
            </a:pPr>
            <a:r>
              <a:rPr lang="en-US" sz="1000" b="1" kern="0" spc="100" dirty="0">
                <a:solidFill>
                  <a:srgbClr val="E8590C"/>
                </a:solidFill>
                <a:latin typeface="Times New Roman" pitchFamily="34" charset="0"/>
                <a:ea typeface="Times New Roman" pitchFamily="34" charset="-122"/>
                <a:cs typeface="Times New Roman" pitchFamily="34" charset="-120"/>
              </a:rPr>
              <a:t>CONSOLE OUTPUT</a:t>
            </a:r>
            <a:endParaRPr lang="en-US" sz="1000" dirty="0"/>
          </a:p>
        </p:txBody>
      </p:sp>
      <p:sp>
        <p:nvSpPr>
          <p:cNvPr id="15" name="Text 13"/>
          <p:cNvSpPr/>
          <p:nvPr/>
        </p:nvSpPr>
        <p:spPr>
          <a:xfrm>
            <a:off x="8074152" y="2459736"/>
            <a:ext cx="3557016" cy="3429000"/>
          </a:xfrm>
          <a:prstGeom prst="rect">
            <a:avLst/>
          </a:prstGeom>
          <a:noFill/>
          <a:ln/>
        </p:spPr>
        <p:txBody>
          <a:bodyPr wrap="square" lIns="0" tIns="0" rIns="0" bIns="0" rtlCol="0" anchor="t"/>
          <a:lstStyle/>
          <a:p>
            <a:pPr marL="0" indent="0">
              <a:lnSpc>
                <a:spcPct val="130000"/>
              </a:lnSpc>
              <a:buNone/>
            </a:pPr>
            <a:r>
              <a:rPr lang="en-US" sz="1300" dirty="0">
                <a:solidFill>
                  <a:srgbClr val="D8E6D0"/>
                </a:solidFill>
                <a:latin typeface="Courier New" pitchFamily="34" charset="0"/>
                <a:ea typeface="Courier New" pitchFamily="34" charset="-122"/>
                <a:cs typeface="Courier New" pitchFamily="34" charset="-120"/>
              </a:rPr>
              <a:t>Woof!</a:t>
            </a:r>
            <a:endParaRPr lang="en-US" sz="1300" dirty="0"/>
          </a:p>
        </p:txBody>
      </p:sp>
      <p:sp>
        <p:nvSpPr>
          <p:cNvPr id="16" name="Shape 14"/>
          <p:cNvSpPr/>
          <p:nvPr/>
        </p:nvSpPr>
        <p:spPr>
          <a:xfrm>
            <a:off x="0" y="0"/>
            <a:ext cx="12191695" cy="384048"/>
          </a:xfrm>
          <a:prstGeom prst="rect">
            <a:avLst/>
          </a:prstGeom>
          <a:solidFill>
            <a:srgbClr val="1B2A4A"/>
          </a:solidFill>
          <a:ln w="12700">
            <a:solidFill>
              <a:srgbClr val="1B2A4A"/>
            </a:solidFill>
            <a:prstDash val="solid"/>
          </a:ln>
        </p:spPr>
      </p:sp>
      <p:sp>
        <p:nvSpPr>
          <p:cNvPr id="17" name="Text 15"/>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8" name="Shape 16"/>
          <p:cNvSpPr/>
          <p:nvPr/>
        </p:nvSpPr>
        <p:spPr>
          <a:xfrm>
            <a:off x="219456" y="301752"/>
            <a:ext cx="960120" cy="0"/>
          </a:xfrm>
          <a:prstGeom prst="line">
            <a:avLst/>
          </a:prstGeom>
          <a:noFill/>
          <a:ln w="9525">
            <a:solidFill>
              <a:srgbClr val="4A5570"/>
            </a:solidFill>
            <a:prstDash val="solid"/>
          </a:ln>
        </p:spPr>
      </p:sp>
      <p:sp>
        <p:nvSpPr>
          <p:cNvPr id="19" name="Text 17"/>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0" name="Text 18"/>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1" name="Text 19"/>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2" name="Shape 20"/>
          <p:cNvSpPr/>
          <p:nvPr/>
        </p:nvSpPr>
        <p:spPr>
          <a:xfrm>
            <a:off x="0" y="6291072"/>
            <a:ext cx="12191695" cy="566928"/>
          </a:xfrm>
          <a:prstGeom prst="rect">
            <a:avLst/>
          </a:prstGeom>
          <a:solidFill>
            <a:srgbClr val="1B2A4A"/>
          </a:solidFill>
          <a:ln w="12700">
            <a:solidFill>
              <a:srgbClr val="1B2A4A"/>
            </a:solidFill>
            <a:prstDash val="solid"/>
          </a:ln>
        </p:spPr>
      </p:sp>
      <p:sp>
        <p:nvSpPr>
          <p:cNvPr id="23" name="Text 21"/>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4" name="Text 22"/>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GOING BACK DOWN</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Downcasting</a:t>
            </a:r>
            <a:endParaRPr lang="en-US" sz="2700" dirty="0"/>
          </a:p>
        </p:txBody>
      </p:sp>
      <p:sp>
        <p:nvSpPr>
          <p:cNvPr id="4" name="Shape 2"/>
          <p:cNvSpPr/>
          <p:nvPr/>
        </p:nvSpPr>
        <p:spPr>
          <a:xfrm>
            <a:off x="594360" y="1600200"/>
            <a:ext cx="10607040" cy="896112"/>
          </a:xfrm>
          <a:prstGeom prst="roundRect">
            <a:avLst>
              <a:gd name="adj" fmla="val 6122"/>
            </a:avLst>
          </a:prstGeom>
          <a:solidFill>
            <a:srgbClr val="F5F6FA"/>
          </a:solidFill>
          <a:ln w="9525">
            <a:solidFill>
              <a:srgbClr val="E4E7EE"/>
            </a:solidFill>
            <a:prstDash val="solid"/>
          </a:ln>
        </p:spPr>
      </p:sp>
      <p:sp>
        <p:nvSpPr>
          <p:cNvPr id="5" name="Shape 3"/>
          <p:cNvSpPr/>
          <p:nvPr/>
        </p:nvSpPr>
        <p:spPr>
          <a:xfrm>
            <a:off x="804672" y="1755648"/>
            <a:ext cx="100584" cy="100584"/>
          </a:xfrm>
          <a:prstGeom prst="ellipse">
            <a:avLst/>
          </a:prstGeom>
          <a:solidFill>
            <a:srgbClr val="E8590C"/>
          </a:solidFill>
          <a:ln w="12700">
            <a:solidFill>
              <a:srgbClr val="000000"/>
            </a:solidFill>
            <a:prstDash val="solid"/>
          </a:ln>
        </p:spPr>
      </p:sp>
      <p:sp>
        <p:nvSpPr>
          <p:cNvPr id="6" name="Text 4"/>
          <p:cNvSpPr/>
          <p:nvPr/>
        </p:nvSpPr>
        <p:spPr>
          <a:xfrm>
            <a:off x="1051560" y="1655064"/>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Downcasting converts a parent type reference back to a more specific subclass type.</a:t>
            </a:r>
            <a:endParaRPr lang="en-US" sz="1250" dirty="0"/>
          </a:p>
        </p:txBody>
      </p:sp>
      <p:sp>
        <p:nvSpPr>
          <p:cNvPr id="7" name="Shape 5"/>
          <p:cNvSpPr/>
          <p:nvPr/>
        </p:nvSpPr>
        <p:spPr>
          <a:xfrm>
            <a:off x="804672" y="2103120"/>
            <a:ext cx="100584" cy="100584"/>
          </a:xfrm>
          <a:prstGeom prst="ellipse">
            <a:avLst/>
          </a:prstGeom>
          <a:solidFill>
            <a:srgbClr val="E8590C"/>
          </a:solidFill>
          <a:ln w="12700">
            <a:solidFill>
              <a:srgbClr val="000000"/>
            </a:solidFill>
            <a:prstDash val="solid"/>
          </a:ln>
        </p:spPr>
      </p:sp>
      <p:sp>
        <p:nvSpPr>
          <p:cNvPr id="8" name="Text 6"/>
          <p:cNvSpPr/>
          <p:nvPr/>
        </p:nvSpPr>
        <p:spPr>
          <a:xfrm>
            <a:off x="1051560" y="2002536"/>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It must be written explicitly, using a cast, since it is not automatic like upcasting.</a:t>
            </a:r>
            <a:endParaRPr lang="en-US" sz="1250" dirty="0"/>
          </a:p>
        </p:txBody>
      </p:sp>
      <p:sp>
        <p:nvSpPr>
          <p:cNvPr id="9" name="Shape 7"/>
          <p:cNvSpPr/>
          <p:nvPr/>
        </p:nvSpPr>
        <p:spPr>
          <a:xfrm>
            <a:off x="594360" y="2642616"/>
            <a:ext cx="10607040" cy="3392424"/>
          </a:xfrm>
          <a:prstGeom prst="roundRect">
            <a:avLst>
              <a:gd name="adj" fmla="val 2156"/>
            </a:avLst>
          </a:prstGeom>
          <a:solidFill>
            <a:srgbClr val="1E1E2E"/>
          </a:solidFill>
          <a:ln w="12700">
            <a:solidFill>
              <a:srgbClr val="000000"/>
            </a:solidFill>
            <a:prstDash val="solid"/>
          </a:ln>
        </p:spPr>
      </p:sp>
      <p:sp>
        <p:nvSpPr>
          <p:cNvPr id="10" name="Shape 8"/>
          <p:cNvSpPr/>
          <p:nvPr/>
        </p:nvSpPr>
        <p:spPr>
          <a:xfrm>
            <a:off x="594360" y="2642616"/>
            <a:ext cx="10607040" cy="274320"/>
          </a:xfrm>
          <a:prstGeom prst="roundRect">
            <a:avLst>
              <a:gd name="adj" fmla="val 26667"/>
            </a:avLst>
          </a:prstGeom>
          <a:solidFill>
            <a:srgbClr val="17172A"/>
          </a:solidFill>
          <a:ln w="12700">
            <a:solidFill>
              <a:srgbClr val="000000"/>
            </a:solidFill>
            <a:prstDash val="solid"/>
          </a:ln>
        </p:spPr>
      </p:sp>
      <p:sp>
        <p:nvSpPr>
          <p:cNvPr id="11" name="Shape 9"/>
          <p:cNvSpPr/>
          <p:nvPr/>
        </p:nvSpPr>
        <p:spPr>
          <a:xfrm>
            <a:off x="594360" y="2843784"/>
            <a:ext cx="10607040" cy="73152"/>
          </a:xfrm>
          <a:prstGeom prst="rect">
            <a:avLst/>
          </a:prstGeom>
          <a:solidFill>
            <a:srgbClr val="17172A"/>
          </a:solidFill>
          <a:ln w="12700">
            <a:solidFill>
              <a:srgbClr val="000000"/>
            </a:solidFill>
            <a:prstDash val="solid"/>
          </a:ln>
        </p:spPr>
      </p:sp>
      <p:sp>
        <p:nvSpPr>
          <p:cNvPr id="12" name="Shape 10"/>
          <p:cNvSpPr/>
          <p:nvPr/>
        </p:nvSpPr>
        <p:spPr>
          <a:xfrm>
            <a:off x="722376" y="2741371"/>
            <a:ext cx="76810" cy="76810"/>
          </a:xfrm>
          <a:prstGeom prst="ellipse">
            <a:avLst/>
          </a:prstGeom>
          <a:solidFill>
            <a:srgbClr val="FF5F56"/>
          </a:solidFill>
          <a:ln w="12700">
            <a:solidFill>
              <a:srgbClr val="000000"/>
            </a:solidFill>
            <a:prstDash val="solid"/>
          </a:ln>
        </p:spPr>
      </p:sp>
      <p:sp>
        <p:nvSpPr>
          <p:cNvPr id="13" name="Shape 11"/>
          <p:cNvSpPr/>
          <p:nvPr/>
        </p:nvSpPr>
        <p:spPr>
          <a:xfrm>
            <a:off x="886968" y="2741371"/>
            <a:ext cx="76810" cy="76810"/>
          </a:xfrm>
          <a:prstGeom prst="ellipse">
            <a:avLst/>
          </a:prstGeom>
          <a:solidFill>
            <a:srgbClr val="FFBD2E"/>
          </a:solidFill>
          <a:ln w="12700">
            <a:solidFill>
              <a:srgbClr val="000000"/>
            </a:solidFill>
            <a:prstDash val="solid"/>
          </a:ln>
        </p:spPr>
      </p:sp>
      <p:sp>
        <p:nvSpPr>
          <p:cNvPr id="14" name="Shape 12"/>
          <p:cNvSpPr/>
          <p:nvPr/>
        </p:nvSpPr>
        <p:spPr>
          <a:xfrm>
            <a:off x="1051560" y="2741371"/>
            <a:ext cx="76810" cy="76810"/>
          </a:xfrm>
          <a:prstGeom prst="ellipse">
            <a:avLst/>
          </a:prstGeom>
          <a:solidFill>
            <a:srgbClr val="27C93F"/>
          </a:solidFill>
          <a:ln w="12700">
            <a:solidFill>
              <a:srgbClr val="000000"/>
            </a:solidFill>
            <a:prstDash val="solid"/>
          </a:ln>
        </p:spPr>
      </p:sp>
      <p:sp>
        <p:nvSpPr>
          <p:cNvPr id="15" name="Text 13"/>
          <p:cNvSpPr/>
          <p:nvPr/>
        </p:nvSpPr>
        <p:spPr>
          <a:xfrm>
            <a:off x="1371600" y="2642616"/>
            <a:ext cx="9692640" cy="274320"/>
          </a:xfrm>
          <a:prstGeom prst="rect">
            <a:avLst/>
          </a:prstGeom>
          <a:noFill/>
          <a:ln/>
        </p:spPr>
        <p:txBody>
          <a:bodyPr wrap="square" lIns="0" tIns="0" rIns="0" bIns="0" rtlCol="0" anchor="ctr"/>
          <a:lstStyle/>
          <a:p>
            <a:pPr marL="0" indent="0" algn="l">
              <a:buNone/>
            </a:pPr>
            <a:r>
              <a:rPr lang="en-US" sz="1000" dirty="0">
                <a:solidFill>
                  <a:srgbClr val="8A8FA3"/>
                </a:solidFill>
                <a:latin typeface="Courier New" pitchFamily="34" charset="0"/>
                <a:ea typeface="Courier New" pitchFamily="34" charset="-122"/>
                <a:cs typeface="Courier New" pitchFamily="34" charset="-120"/>
              </a:rPr>
              <a:t>Main.java</a:t>
            </a:r>
            <a:endParaRPr lang="en-US" sz="1000" dirty="0"/>
          </a:p>
        </p:txBody>
      </p:sp>
      <p:sp>
        <p:nvSpPr>
          <p:cNvPr id="16" name="Text 14"/>
          <p:cNvSpPr/>
          <p:nvPr/>
        </p:nvSpPr>
        <p:spPr>
          <a:xfrm>
            <a:off x="777240" y="2990088"/>
            <a:ext cx="10241280" cy="2971800"/>
          </a:xfrm>
          <a:prstGeom prst="rect">
            <a:avLst/>
          </a:prstGeom>
          <a:noFill/>
          <a:ln/>
        </p:spPr>
        <p:txBody>
          <a:bodyPr wrap="square" lIns="0" tIns="0" rIns="0" bIns="0" rtlCol="0" anchor="t"/>
          <a:lstStyle/>
          <a:p>
            <a:pPr marL="0" indent="0" algn="l">
              <a:lnSpc>
                <a:spcPct val="118000"/>
              </a:lnSpc>
              <a:buNone/>
            </a:pPr>
            <a:r>
              <a:rPr lang="en-US" sz="1500" b="1" dirty="0">
                <a:solidFill>
                  <a:srgbClr val="569CD6"/>
                </a:solidFill>
                <a:latin typeface="Courier New" pitchFamily="34" charset="0"/>
                <a:ea typeface="Courier New" pitchFamily="34" charset="-122"/>
                <a:cs typeface="Courier New" pitchFamily="34" charset="-120"/>
              </a:rPr>
              <a:t>public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class</a:t>
            </a:r>
            <a:r>
              <a:rPr lang="en-US" sz="1500" dirty="0">
                <a:solidFill>
                  <a:srgbClr val="D4D4D4"/>
                </a:solidFill>
                <a:latin typeface="Courier New" pitchFamily="34" charset="0"/>
                <a:ea typeface="Courier New" pitchFamily="34" charset="-122"/>
                <a:cs typeface="Courier New" pitchFamily="34" charset="-120"/>
              </a:rPr>
              <a:t> DowncastDemo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public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static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void</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DCDCAA"/>
                </a:solidFill>
                <a:latin typeface="Courier New" pitchFamily="34" charset="0"/>
                <a:ea typeface="Courier New" pitchFamily="34" charset="-122"/>
                <a:cs typeface="Courier New" pitchFamily="34" charset="-120"/>
              </a:rPr>
              <a:t>main</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4EC9B0"/>
                </a:solidFill>
                <a:latin typeface="Courier New" pitchFamily="34" charset="0"/>
                <a:ea typeface="Courier New" pitchFamily="34" charset="-122"/>
                <a:cs typeface="Courier New" pitchFamily="34" charset="-120"/>
              </a:rPr>
              <a:t>String</a:t>
            </a:r>
            <a:r>
              <a:rPr lang="en-US" sz="1500" dirty="0">
                <a:solidFill>
                  <a:srgbClr val="D4D4D4"/>
                </a:solidFill>
                <a:latin typeface="Courier New" pitchFamily="34" charset="0"/>
                <a:ea typeface="Courier New" pitchFamily="34" charset="-122"/>
                <a:cs typeface="Courier New" pitchFamily="34" charset="-120"/>
              </a:rPr>
              <a:t>[] args)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Animal a = </a:t>
            </a:r>
            <a:r>
              <a:rPr lang="en-US" sz="1500" b="1" dirty="0">
                <a:solidFill>
                  <a:srgbClr val="569CD6"/>
                </a:solidFill>
                <a:latin typeface="Courier New" pitchFamily="34" charset="0"/>
                <a:ea typeface="Courier New" pitchFamily="34" charset="-122"/>
                <a:cs typeface="Courier New" pitchFamily="34" charset="-120"/>
              </a:rPr>
              <a:t>new</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DCDCAA"/>
                </a:solidFill>
                <a:latin typeface="Courier New" pitchFamily="34" charset="0"/>
                <a:ea typeface="Courier New" pitchFamily="34" charset="-122"/>
                <a:cs typeface="Courier New" pitchFamily="34" charset="-120"/>
              </a:rPr>
              <a:t>Dog</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Dog d = (Dog) a;    </a:t>
            </a:r>
            <a:r>
              <a:rPr lang="en-US" sz="1500" i="1" dirty="0">
                <a:solidFill>
                  <a:srgbClr val="6A9955"/>
                </a:solidFill>
                <a:latin typeface="Courier New" pitchFamily="34" charset="0"/>
                <a:ea typeface="Courier New" pitchFamily="34" charset="-122"/>
                <a:cs typeface="Courier New" pitchFamily="34" charset="-120"/>
              </a:rPr>
              <a:t>// downcasting</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d.</a:t>
            </a:r>
            <a:r>
              <a:rPr lang="en-US" sz="1500" dirty="0">
                <a:solidFill>
                  <a:srgbClr val="DCDCAA"/>
                </a:solidFill>
                <a:latin typeface="Courier New" pitchFamily="34" charset="0"/>
                <a:ea typeface="Courier New" pitchFamily="34" charset="-122"/>
                <a:cs typeface="Courier New" pitchFamily="34" charset="-120"/>
              </a:rPr>
              <a:t>fetch</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a:t>
            </a:r>
            <a:endParaRPr lang="en-US" sz="1500" dirty="0"/>
          </a:p>
        </p:txBody>
      </p:sp>
      <p:sp>
        <p:nvSpPr>
          <p:cNvPr id="17" name="Shape 15"/>
          <p:cNvSpPr/>
          <p:nvPr/>
        </p:nvSpPr>
        <p:spPr>
          <a:xfrm>
            <a:off x="0" y="0"/>
            <a:ext cx="12191695" cy="384048"/>
          </a:xfrm>
          <a:prstGeom prst="rect">
            <a:avLst/>
          </a:prstGeom>
          <a:solidFill>
            <a:srgbClr val="1B2A4A"/>
          </a:solidFill>
          <a:ln w="12700">
            <a:solidFill>
              <a:srgbClr val="1B2A4A"/>
            </a:solidFill>
            <a:prstDash val="solid"/>
          </a:ln>
        </p:spPr>
      </p:sp>
      <p:sp>
        <p:nvSpPr>
          <p:cNvPr id="18" name="Text 16"/>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9" name="Shape 17"/>
          <p:cNvSpPr/>
          <p:nvPr/>
        </p:nvSpPr>
        <p:spPr>
          <a:xfrm>
            <a:off x="219456" y="301752"/>
            <a:ext cx="960120" cy="0"/>
          </a:xfrm>
          <a:prstGeom prst="line">
            <a:avLst/>
          </a:prstGeom>
          <a:noFill/>
          <a:ln w="9525">
            <a:solidFill>
              <a:srgbClr val="4A5570"/>
            </a:solidFill>
            <a:prstDash val="solid"/>
          </a:ln>
        </p:spPr>
      </p:sp>
      <p:sp>
        <p:nvSpPr>
          <p:cNvPr id="20" name="Text 18"/>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1" name="Text 19"/>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2" name="Text 20"/>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3" name="Shape 21"/>
          <p:cNvSpPr/>
          <p:nvPr/>
        </p:nvSpPr>
        <p:spPr>
          <a:xfrm>
            <a:off x="0" y="6291072"/>
            <a:ext cx="12191695" cy="566928"/>
          </a:xfrm>
          <a:prstGeom prst="rect">
            <a:avLst/>
          </a:prstGeom>
          <a:solidFill>
            <a:srgbClr val="1B2A4A"/>
          </a:solidFill>
          <a:ln w="12700">
            <a:solidFill>
              <a:srgbClr val="1B2A4A"/>
            </a:solidFill>
            <a:prstDash val="solid"/>
          </a:ln>
        </p:spPr>
      </p:sp>
      <p:sp>
        <p:nvSpPr>
          <p:cNvPr id="24" name="Text 22"/>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5" name="Text 23"/>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SAFETY CHECK</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The instanceof Operator</a:t>
            </a:r>
            <a:endParaRPr lang="en-US" sz="2700" dirty="0"/>
          </a:p>
        </p:txBody>
      </p:sp>
      <p:sp>
        <p:nvSpPr>
          <p:cNvPr id="4" name="Shape 2"/>
          <p:cNvSpPr/>
          <p:nvPr/>
        </p:nvSpPr>
        <p:spPr>
          <a:xfrm>
            <a:off x="594360" y="1600200"/>
            <a:ext cx="10607040" cy="896112"/>
          </a:xfrm>
          <a:prstGeom prst="roundRect">
            <a:avLst>
              <a:gd name="adj" fmla="val 6122"/>
            </a:avLst>
          </a:prstGeom>
          <a:solidFill>
            <a:srgbClr val="F5F6FA"/>
          </a:solidFill>
          <a:ln w="9525">
            <a:solidFill>
              <a:srgbClr val="E4E7EE"/>
            </a:solidFill>
            <a:prstDash val="solid"/>
          </a:ln>
        </p:spPr>
      </p:sp>
      <p:sp>
        <p:nvSpPr>
          <p:cNvPr id="5" name="Shape 3"/>
          <p:cNvSpPr/>
          <p:nvPr/>
        </p:nvSpPr>
        <p:spPr>
          <a:xfrm>
            <a:off x="804672" y="1755648"/>
            <a:ext cx="100584" cy="100584"/>
          </a:xfrm>
          <a:prstGeom prst="ellipse">
            <a:avLst/>
          </a:prstGeom>
          <a:solidFill>
            <a:srgbClr val="E8590C"/>
          </a:solidFill>
          <a:ln w="12700">
            <a:solidFill>
              <a:srgbClr val="000000"/>
            </a:solidFill>
            <a:prstDash val="solid"/>
          </a:ln>
        </p:spPr>
      </p:sp>
      <p:sp>
        <p:nvSpPr>
          <p:cNvPr id="6" name="Text 4"/>
          <p:cNvSpPr/>
          <p:nvPr/>
        </p:nvSpPr>
        <p:spPr>
          <a:xfrm>
            <a:off x="1051560" y="1655064"/>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instanceof checks whether an object is really of the target type before a downcast is attempted.</a:t>
            </a:r>
            <a:endParaRPr lang="en-US" sz="1250" dirty="0"/>
          </a:p>
        </p:txBody>
      </p:sp>
      <p:sp>
        <p:nvSpPr>
          <p:cNvPr id="7" name="Shape 5"/>
          <p:cNvSpPr/>
          <p:nvPr/>
        </p:nvSpPr>
        <p:spPr>
          <a:xfrm>
            <a:off x="804672" y="2103120"/>
            <a:ext cx="100584" cy="100584"/>
          </a:xfrm>
          <a:prstGeom prst="ellipse">
            <a:avLst/>
          </a:prstGeom>
          <a:solidFill>
            <a:srgbClr val="E8590C"/>
          </a:solidFill>
          <a:ln w="12700">
            <a:solidFill>
              <a:srgbClr val="000000"/>
            </a:solidFill>
            <a:prstDash val="solid"/>
          </a:ln>
        </p:spPr>
      </p:sp>
      <p:sp>
        <p:nvSpPr>
          <p:cNvPr id="8" name="Text 6"/>
          <p:cNvSpPr/>
          <p:nvPr/>
        </p:nvSpPr>
        <p:spPr>
          <a:xfrm>
            <a:off x="1051560" y="2002536"/>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This avoids a downcast failing at run time on an object of the wrong actual type.</a:t>
            </a:r>
            <a:endParaRPr lang="en-US" sz="1250" dirty="0"/>
          </a:p>
        </p:txBody>
      </p:sp>
      <p:sp>
        <p:nvSpPr>
          <p:cNvPr id="9" name="Shape 7"/>
          <p:cNvSpPr/>
          <p:nvPr/>
        </p:nvSpPr>
        <p:spPr>
          <a:xfrm>
            <a:off x="594360" y="2642616"/>
            <a:ext cx="10607040" cy="3392424"/>
          </a:xfrm>
          <a:prstGeom prst="roundRect">
            <a:avLst>
              <a:gd name="adj" fmla="val 2156"/>
            </a:avLst>
          </a:prstGeom>
          <a:solidFill>
            <a:srgbClr val="1E1E2E"/>
          </a:solidFill>
          <a:ln w="12700">
            <a:solidFill>
              <a:srgbClr val="000000"/>
            </a:solidFill>
            <a:prstDash val="solid"/>
          </a:ln>
        </p:spPr>
      </p:sp>
      <p:sp>
        <p:nvSpPr>
          <p:cNvPr id="10" name="Shape 8"/>
          <p:cNvSpPr/>
          <p:nvPr/>
        </p:nvSpPr>
        <p:spPr>
          <a:xfrm>
            <a:off x="594360" y="2642616"/>
            <a:ext cx="10607040" cy="274320"/>
          </a:xfrm>
          <a:prstGeom prst="roundRect">
            <a:avLst>
              <a:gd name="adj" fmla="val 26667"/>
            </a:avLst>
          </a:prstGeom>
          <a:solidFill>
            <a:srgbClr val="17172A"/>
          </a:solidFill>
          <a:ln w="12700">
            <a:solidFill>
              <a:srgbClr val="000000"/>
            </a:solidFill>
            <a:prstDash val="solid"/>
          </a:ln>
        </p:spPr>
      </p:sp>
      <p:sp>
        <p:nvSpPr>
          <p:cNvPr id="11" name="Shape 9"/>
          <p:cNvSpPr/>
          <p:nvPr/>
        </p:nvSpPr>
        <p:spPr>
          <a:xfrm>
            <a:off x="594360" y="2843784"/>
            <a:ext cx="10607040" cy="73152"/>
          </a:xfrm>
          <a:prstGeom prst="rect">
            <a:avLst/>
          </a:prstGeom>
          <a:solidFill>
            <a:srgbClr val="17172A"/>
          </a:solidFill>
          <a:ln w="12700">
            <a:solidFill>
              <a:srgbClr val="000000"/>
            </a:solidFill>
            <a:prstDash val="solid"/>
          </a:ln>
        </p:spPr>
      </p:sp>
      <p:sp>
        <p:nvSpPr>
          <p:cNvPr id="12" name="Shape 10"/>
          <p:cNvSpPr/>
          <p:nvPr/>
        </p:nvSpPr>
        <p:spPr>
          <a:xfrm>
            <a:off x="722376" y="2741371"/>
            <a:ext cx="76810" cy="76810"/>
          </a:xfrm>
          <a:prstGeom prst="ellipse">
            <a:avLst/>
          </a:prstGeom>
          <a:solidFill>
            <a:srgbClr val="FF5F56"/>
          </a:solidFill>
          <a:ln w="12700">
            <a:solidFill>
              <a:srgbClr val="000000"/>
            </a:solidFill>
            <a:prstDash val="solid"/>
          </a:ln>
        </p:spPr>
      </p:sp>
      <p:sp>
        <p:nvSpPr>
          <p:cNvPr id="13" name="Shape 11"/>
          <p:cNvSpPr/>
          <p:nvPr/>
        </p:nvSpPr>
        <p:spPr>
          <a:xfrm>
            <a:off x="886968" y="2741371"/>
            <a:ext cx="76810" cy="76810"/>
          </a:xfrm>
          <a:prstGeom prst="ellipse">
            <a:avLst/>
          </a:prstGeom>
          <a:solidFill>
            <a:srgbClr val="FFBD2E"/>
          </a:solidFill>
          <a:ln w="12700">
            <a:solidFill>
              <a:srgbClr val="000000"/>
            </a:solidFill>
            <a:prstDash val="solid"/>
          </a:ln>
        </p:spPr>
      </p:sp>
      <p:sp>
        <p:nvSpPr>
          <p:cNvPr id="14" name="Shape 12"/>
          <p:cNvSpPr/>
          <p:nvPr/>
        </p:nvSpPr>
        <p:spPr>
          <a:xfrm>
            <a:off x="1051560" y="2741371"/>
            <a:ext cx="76810" cy="76810"/>
          </a:xfrm>
          <a:prstGeom prst="ellipse">
            <a:avLst/>
          </a:prstGeom>
          <a:solidFill>
            <a:srgbClr val="27C93F"/>
          </a:solidFill>
          <a:ln w="12700">
            <a:solidFill>
              <a:srgbClr val="000000"/>
            </a:solidFill>
            <a:prstDash val="solid"/>
          </a:ln>
        </p:spPr>
      </p:sp>
      <p:sp>
        <p:nvSpPr>
          <p:cNvPr id="15" name="Text 13"/>
          <p:cNvSpPr/>
          <p:nvPr/>
        </p:nvSpPr>
        <p:spPr>
          <a:xfrm>
            <a:off x="1371600" y="2642616"/>
            <a:ext cx="9692640" cy="274320"/>
          </a:xfrm>
          <a:prstGeom prst="rect">
            <a:avLst/>
          </a:prstGeom>
          <a:noFill/>
          <a:ln/>
        </p:spPr>
        <p:txBody>
          <a:bodyPr wrap="square" lIns="0" tIns="0" rIns="0" bIns="0" rtlCol="0" anchor="ctr"/>
          <a:lstStyle/>
          <a:p>
            <a:pPr marL="0" indent="0" algn="l">
              <a:buNone/>
            </a:pPr>
            <a:r>
              <a:rPr lang="en-US" sz="1000" dirty="0">
                <a:solidFill>
                  <a:srgbClr val="8A8FA3"/>
                </a:solidFill>
                <a:latin typeface="Courier New" pitchFamily="34" charset="0"/>
                <a:ea typeface="Courier New" pitchFamily="34" charset="-122"/>
                <a:cs typeface="Courier New" pitchFamily="34" charset="-120"/>
              </a:rPr>
              <a:t>Main.java</a:t>
            </a:r>
            <a:endParaRPr lang="en-US" sz="1000" dirty="0"/>
          </a:p>
        </p:txBody>
      </p:sp>
      <p:sp>
        <p:nvSpPr>
          <p:cNvPr id="16" name="Text 14"/>
          <p:cNvSpPr/>
          <p:nvPr/>
        </p:nvSpPr>
        <p:spPr>
          <a:xfrm>
            <a:off x="777240" y="2990088"/>
            <a:ext cx="10241280" cy="2971800"/>
          </a:xfrm>
          <a:prstGeom prst="rect">
            <a:avLst/>
          </a:prstGeom>
          <a:noFill/>
          <a:ln/>
        </p:spPr>
        <p:txBody>
          <a:bodyPr wrap="square" lIns="0" tIns="0" rIns="0" bIns="0" rtlCol="0" anchor="t"/>
          <a:lstStyle/>
          <a:p>
            <a:pPr marL="0" indent="0" algn="l">
              <a:lnSpc>
                <a:spcPct val="118000"/>
              </a:lnSpc>
              <a:buNone/>
            </a:pPr>
            <a:r>
              <a:rPr lang="en-US" sz="1500" b="1" dirty="0">
                <a:solidFill>
                  <a:srgbClr val="569CD6"/>
                </a:solidFill>
                <a:latin typeface="Courier New" pitchFamily="34" charset="0"/>
                <a:ea typeface="Courier New" pitchFamily="34" charset="-122"/>
                <a:cs typeface="Courier New" pitchFamily="34" charset="-120"/>
              </a:rPr>
              <a:t>public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class</a:t>
            </a:r>
            <a:r>
              <a:rPr lang="en-US" sz="1500" dirty="0">
                <a:solidFill>
                  <a:srgbClr val="D4D4D4"/>
                </a:solidFill>
                <a:latin typeface="Courier New" pitchFamily="34" charset="0"/>
                <a:ea typeface="Courier New" pitchFamily="34" charset="-122"/>
                <a:cs typeface="Courier New" pitchFamily="34" charset="-120"/>
              </a:rPr>
              <a:t> SafeDowncast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public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static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void</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DCDCAA"/>
                </a:solidFill>
                <a:latin typeface="Courier New" pitchFamily="34" charset="0"/>
                <a:ea typeface="Courier New" pitchFamily="34" charset="-122"/>
                <a:cs typeface="Courier New" pitchFamily="34" charset="-120"/>
              </a:rPr>
              <a:t>main</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4EC9B0"/>
                </a:solidFill>
                <a:latin typeface="Courier New" pitchFamily="34" charset="0"/>
                <a:ea typeface="Courier New" pitchFamily="34" charset="-122"/>
                <a:cs typeface="Courier New" pitchFamily="34" charset="-120"/>
              </a:rPr>
              <a:t>String</a:t>
            </a:r>
            <a:r>
              <a:rPr lang="en-US" sz="1500" dirty="0">
                <a:solidFill>
                  <a:srgbClr val="D4D4D4"/>
                </a:solidFill>
                <a:latin typeface="Courier New" pitchFamily="34" charset="0"/>
                <a:ea typeface="Courier New" pitchFamily="34" charset="-122"/>
                <a:cs typeface="Courier New" pitchFamily="34" charset="-120"/>
              </a:rPr>
              <a:t>[] args)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Animal a = </a:t>
            </a:r>
            <a:r>
              <a:rPr lang="en-US" sz="1500" b="1" dirty="0">
                <a:solidFill>
                  <a:srgbClr val="569CD6"/>
                </a:solidFill>
                <a:latin typeface="Courier New" pitchFamily="34" charset="0"/>
                <a:ea typeface="Courier New" pitchFamily="34" charset="-122"/>
                <a:cs typeface="Courier New" pitchFamily="34" charset="-120"/>
              </a:rPr>
              <a:t>new</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DCDCAA"/>
                </a:solidFill>
                <a:latin typeface="Courier New" pitchFamily="34" charset="0"/>
                <a:ea typeface="Courier New" pitchFamily="34" charset="-122"/>
                <a:cs typeface="Courier New" pitchFamily="34" charset="-120"/>
              </a:rPr>
              <a:t>Dog</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if</a:t>
            </a:r>
            <a:r>
              <a:rPr lang="en-US" sz="1500" dirty="0">
                <a:solidFill>
                  <a:srgbClr val="D4D4D4"/>
                </a:solidFill>
                <a:latin typeface="Courier New" pitchFamily="34" charset="0"/>
                <a:ea typeface="Courier New" pitchFamily="34" charset="-122"/>
                <a:cs typeface="Courier New" pitchFamily="34" charset="-120"/>
              </a:rPr>
              <a:t> (a </a:t>
            </a:r>
            <a:r>
              <a:rPr lang="en-US" sz="1500" b="1" dirty="0">
                <a:solidFill>
                  <a:srgbClr val="569CD6"/>
                </a:solidFill>
                <a:latin typeface="Courier New" pitchFamily="34" charset="0"/>
                <a:ea typeface="Courier New" pitchFamily="34" charset="-122"/>
                <a:cs typeface="Courier New" pitchFamily="34" charset="-120"/>
              </a:rPr>
              <a:t>instanceof</a:t>
            </a:r>
            <a:r>
              <a:rPr lang="en-US" sz="1500" dirty="0">
                <a:solidFill>
                  <a:srgbClr val="D4D4D4"/>
                </a:solidFill>
                <a:latin typeface="Courier New" pitchFamily="34" charset="0"/>
                <a:ea typeface="Courier New" pitchFamily="34" charset="-122"/>
                <a:cs typeface="Courier New" pitchFamily="34" charset="-120"/>
              </a:rPr>
              <a:t> Dog)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Dog d = (Dog) a;</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d.</a:t>
            </a:r>
            <a:r>
              <a:rPr lang="en-US" sz="1500" dirty="0">
                <a:solidFill>
                  <a:srgbClr val="DCDCAA"/>
                </a:solidFill>
                <a:latin typeface="Courier New" pitchFamily="34" charset="0"/>
                <a:ea typeface="Courier New" pitchFamily="34" charset="-122"/>
                <a:cs typeface="Courier New" pitchFamily="34" charset="-120"/>
              </a:rPr>
              <a:t>fetch</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a:t>
            </a:r>
            <a:endParaRPr lang="en-US" sz="1500" dirty="0"/>
          </a:p>
        </p:txBody>
      </p:sp>
      <p:sp>
        <p:nvSpPr>
          <p:cNvPr id="17" name="Shape 15"/>
          <p:cNvSpPr/>
          <p:nvPr/>
        </p:nvSpPr>
        <p:spPr>
          <a:xfrm>
            <a:off x="0" y="0"/>
            <a:ext cx="12191695" cy="384048"/>
          </a:xfrm>
          <a:prstGeom prst="rect">
            <a:avLst/>
          </a:prstGeom>
          <a:solidFill>
            <a:srgbClr val="1B2A4A"/>
          </a:solidFill>
          <a:ln w="12700">
            <a:solidFill>
              <a:srgbClr val="1B2A4A"/>
            </a:solidFill>
            <a:prstDash val="solid"/>
          </a:ln>
        </p:spPr>
      </p:sp>
      <p:sp>
        <p:nvSpPr>
          <p:cNvPr id="18" name="Text 16"/>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9" name="Shape 17"/>
          <p:cNvSpPr/>
          <p:nvPr/>
        </p:nvSpPr>
        <p:spPr>
          <a:xfrm>
            <a:off x="219456" y="301752"/>
            <a:ext cx="960120" cy="0"/>
          </a:xfrm>
          <a:prstGeom prst="line">
            <a:avLst/>
          </a:prstGeom>
          <a:noFill/>
          <a:ln w="9525">
            <a:solidFill>
              <a:srgbClr val="4A5570"/>
            </a:solidFill>
            <a:prstDash val="solid"/>
          </a:ln>
        </p:spPr>
      </p:sp>
      <p:sp>
        <p:nvSpPr>
          <p:cNvPr id="20" name="Text 18"/>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1" name="Text 19"/>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2" name="Text 20"/>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3" name="Shape 21"/>
          <p:cNvSpPr/>
          <p:nvPr/>
        </p:nvSpPr>
        <p:spPr>
          <a:xfrm>
            <a:off x="0" y="6291072"/>
            <a:ext cx="12191695" cy="566928"/>
          </a:xfrm>
          <a:prstGeom prst="rect">
            <a:avLst/>
          </a:prstGeom>
          <a:solidFill>
            <a:srgbClr val="1B2A4A"/>
          </a:solidFill>
          <a:ln w="12700">
            <a:solidFill>
              <a:srgbClr val="1B2A4A"/>
            </a:solidFill>
            <a:prstDash val="solid"/>
          </a:ln>
        </p:spPr>
      </p:sp>
      <p:sp>
        <p:nvSpPr>
          <p:cNvPr id="24" name="Text 22"/>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5" name="Text 23"/>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COLLECTIONS OF TYPES</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Polymorphism with an Array</a:t>
            </a:r>
            <a:endParaRPr lang="en-US" sz="2700" dirty="0"/>
          </a:p>
        </p:txBody>
      </p:sp>
      <p:sp>
        <p:nvSpPr>
          <p:cNvPr id="4" name="Text 2"/>
          <p:cNvSpPr/>
          <p:nvPr/>
        </p:nvSpPr>
        <p:spPr>
          <a:xfrm>
            <a:off x="594360" y="1600200"/>
            <a:ext cx="10607040" cy="365760"/>
          </a:xfrm>
          <a:prstGeom prst="rect">
            <a:avLst/>
          </a:prstGeom>
          <a:noFill/>
          <a:ln/>
        </p:spPr>
        <p:txBody>
          <a:bodyPr wrap="square" lIns="0" tIns="0" rIns="0" bIns="0" rtlCol="0" anchor="ctr"/>
          <a:lstStyle/>
          <a:p>
            <a:pPr marL="0" indent="0">
              <a:buNone/>
            </a:pPr>
            <a:r>
              <a:rPr lang="en-US" sz="1250" i="1" dirty="0">
                <a:solidFill>
                  <a:srgbClr val="5A6472"/>
                </a:solidFill>
                <a:latin typeface="Times New Roman" pitchFamily="34" charset="0"/>
                <a:ea typeface="Times New Roman" pitchFamily="34" charset="-122"/>
                <a:cs typeface="Times New Roman" pitchFamily="34" charset="-120"/>
              </a:rPr>
              <a:t>One array, one loop, and each element still runs its own overridden method.</a:t>
            </a:r>
            <a:endParaRPr lang="en-US" sz="1250" dirty="0"/>
          </a:p>
        </p:txBody>
      </p:sp>
      <p:sp>
        <p:nvSpPr>
          <p:cNvPr id="5" name="Shape 3"/>
          <p:cNvSpPr/>
          <p:nvPr/>
        </p:nvSpPr>
        <p:spPr>
          <a:xfrm>
            <a:off x="594360" y="2002536"/>
            <a:ext cx="7040880" cy="4032504"/>
          </a:xfrm>
          <a:prstGeom prst="roundRect">
            <a:avLst>
              <a:gd name="adj" fmla="val 1814"/>
            </a:avLst>
          </a:prstGeom>
          <a:solidFill>
            <a:srgbClr val="1E1E2E"/>
          </a:solidFill>
          <a:ln w="12700">
            <a:solidFill>
              <a:srgbClr val="000000"/>
            </a:solidFill>
            <a:prstDash val="solid"/>
          </a:ln>
        </p:spPr>
      </p:sp>
      <p:sp>
        <p:nvSpPr>
          <p:cNvPr id="6" name="Shape 4"/>
          <p:cNvSpPr/>
          <p:nvPr/>
        </p:nvSpPr>
        <p:spPr>
          <a:xfrm>
            <a:off x="594360" y="2002536"/>
            <a:ext cx="7040880" cy="274320"/>
          </a:xfrm>
          <a:prstGeom prst="roundRect">
            <a:avLst>
              <a:gd name="adj" fmla="val 26667"/>
            </a:avLst>
          </a:prstGeom>
          <a:solidFill>
            <a:srgbClr val="17172A"/>
          </a:solidFill>
          <a:ln w="12700">
            <a:solidFill>
              <a:srgbClr val="000000"/>
            </a:solidFill>
            <a:prstDash val="solid"/>
          </a:ln>
        </p:spPr>
      </p:sp>
      <p:sp>
        <p:nvSpPr>
          <p:cNvPr id="7" name="Shape 5"/>
          <p:cNvSpPr/>
          <p:nvPr/>
        </p:nvSpPr>
        <p:spPr>
          <a:xfrm>
            <a:off x="594360" y="2203704"/>
            <a:ext cx="7040880" cy="73152"/>
          </a:xfrm>
          <a:prstGeom prst="rect">
            <a:avLst/>
          </a:prstGeom>
          <a:solidFill>
            <a:srgbClr val="17172A"/>
          </a:solidFill>
          <a:ln w="12700">
            <a:solidFill>
              <a:srgbClr val="000000"/>
            </a:solidFill>
            <a:prstDash val="solid"/>
          </a:ln>
        </p:spPr>
      </p:sp>
      <p:sp>
        <p:nvSpPr>
          <p:cNvPr id="8" name="Shape 6"/>
          <p:cNvSpPr/>
          <p:nvPr/>
        </p:nvSpPr>
        <p:spPr>
          <a:xfrm>
            <a:off x="722376" y="2101291"/>
            <a:ext cx="76810" cy="76810"/>
          </a:xfrm>
          <a:prstGeom prst="ellipse">
            <a:avLst/>
          </a:prstGeom>
          <a:solidFill>
            <a:srgbClr val="FF5F56"/>
          </a:solidFill>
          <a:ln w="12700">
            <a:solidFill>
              <a:srgbClr val="000000"/>
            </a:solidFill>
            <a:prstDash val="solid"/>
          </a:ln>
        </p:spPr>
      </p:sp>
      <p:sp>
        <p:nvSpPr>
          <p:cNvPr id="9" name="Shape 7"/>
          <p:cNvSpPr/>
          <p:nvPr/>
        </p:nvSpPr>
        <p:spPr>
          <a:xfrm>
            <a:off x="886968" y="2101291"/>
            <a:ext cx="76810" cy="76810"/>
          </a:xfrm>
          <a:prstGeom prst="ellipse">
            <a:avLst/>
          </a:prstGeom>
          <a:solidFill>
            <a:srgbClr val="FFBD2E"/>
          </a:solidFill>
          <a:ln w="12700">
            <a:solidFill>
              <a:srgbClr val="000000"/>
            </a:solidFill>
            <a:prstDash val="solid"/>
          </a:ln>
        </p:spPr>
      </p:sp>
      <p:sp>
        <p:nvSpPr>
          <p:cNvPr id="10" name="Shape 8"/>
          <p:cNvSpPr/>
          <p:nvPr/>
        </p:nvSpPr>
        <p:spPr>
          <a:xfrm>
            <a:off x="1051560" y="2101291"/>
            <a:ext cx="76810" cy="76810"/>
          </a:xfrm>
          <a:prstGeom prst="ellipse">
            <a:avLst/>
          </a:prstGeom>
          <a:solidFill>
            <a:srgbClr val="27C93F"/>
          </a:solidFill>
          <a:ln w="12700">
            <a:solidFill>
              <a:srgbClr val="000000"/>
            </a:solidFill>
            <a:prstDash val="solid"/>
          </a:ln>
        </p:spPr>
      </p:sp>
      <p:sp>
        <p:nvSpPr>
          <p:cNvPr id="11" name="Text 9"/>
          <p:cNvSpPr/>
          <p:nvPr/>
        </p:nvSpPr>
        <p:spPr>
          <a:xfrm>
            <a:off x="1371600" y="2002536"/>
            <a:ext cx="6126480" cy="274320"/>
          </a:xfrm>
          <a:prstGeom prst="rect">
            <a:avLst/>
          </a:prstGeom>
          <a:noFill/>
          <a:ln/>
        </p:spPr>
        <p:txBody>
          <a:bodyPr wrap="square" lIns="0" tIns="0" rIns="0" bIns="0" rtlCol="0" anchor="ctr"/>
          <a:lstStyle/>
          <a:p>
            <a:pPr marL="0" indent="0" algn="l">
              <a:buNone/>
            </a:pPr>
            <a:r>
              <a:rPr lang="en-US" sz="1000" dirty="0">
                <a:solidFill>
                  <a:srgbClr val="8A8FA3"/>
                </a:solidFill>
                <a:latin typeface="Courier New" pitchFamily="34" charset="0"/>
                <a:ea typeface="Courier New" pitchFamily="34" charset="-122"/>
                <a:cs typeface="Courier New" pitchFamily="34" charset="-120"/>
              </a:rPr>
              <a:t>Main.java</a:t>
            </a:r>
            <a:endParaRPr lang="en-US" sz="1000" dirty="0"/>
          </a:p>
        </p:txBody>
      </p:sp>
      <p:sp>
        <p:nvSpPr>
          <p:cNvPr id="12" name="Text 10"/>
          <p:cNvSpPr/>
          <p:nvPr/>
        </p:nvSpPr>
        <p:spPr>
          <a:xfrm>
            <a:off x="777240" y="2350008"/>
            <a:ext cx="6675120" cy="3611880"/>
          </a:xfrm>
          <a:prstGeom prst="rect">
            <a:avLst/>
          </a:prstGeom>
          <a:noFill/>
          <a:ln/>
        </p:spPr>
        <p:txBody>
          <a:bodyPr wrap="square" lIns="0" tIns="0" rIns="0" bIns="0" rtlCol="0" anchor="t"/>
          <a:lstStyle/>
          <a:p>
            <a:pPr marL="0" indent="0" algn="l">
              <a:lnSpc>
                <a:spcPct val="118000"/>
              </a:lnSpc>
              <a:buNone/>
            </a:pPr>
            <a:r>
              <a:rPr lang="en-US" sz="1500" b="1" dirty="0">
                <a:solidFill>
                  <a:srgbClr val="569CD6"/>
                </a:solidFill>
                <a:latin typeface="Courier New" pitchFamily="34" charset="0"/>
                <a:ea typeface="Courier New" pitchFamily="34" charset="-122"/>
                <a:cs typeface="Courier New" pitchFamily="34" charset="-120"/>
              </a:rPr>
              <a:t>public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class</a:t>
            </a:r>
            <a:r>
              <a:rPr lang="en-US" sz="1500" dirty="0">
                <a:solidFill>
                  <a:srgbClr val="D4D4D4"/>
                </a:solidFill>
                <a:latin typeface="Courier New" pitchFamily="34" charset="0"/>
                <a:ea typeface="Courier New" pitchFamily="34" charset="-122"/>
                <a:cs typeface="Courier New" pitchFamily="34" charset="-120"/>
              </a:rPr>
              <a:t> Main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public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static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void</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DCDCAA"/>
                </a:solidFill>
                <a:latin typeface="Courier New" pitchFamily="34" charset="0"/>
                <a:ea typeface="Courier New" pitchFamily="34" charset="-122"/>
                <a:cs typeface="Courier New" pitchFamily="34" charset="-120"/>
              </a:rPr>
              <a:t>main</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4EC9B0"/>
                </a:solidFill>
                <a:latin typeface="Courier New" pitchFamily="34" charset="0"/>
                <a:ea typeface="Courier New" pitchFamily="34" charset="-122"/>
                <a:cs typeface="Courier New" pitchFamily="34" charset="-120"/>
              </a:rPr>
              <a:t>String</a:t>
            </a:r>
            <a:r>
              <a:rPr lang="en-US" sz="1500" dirty="0">
                <a:solidFill>
                  <a:srgbClr val="D4D4D4"/>
                </a:solidFill>
                <a:latin typeface="Courier New" pitchFamily="34" charset="0"/>
                <a:ea typeface="Courier New" pitchFamily="34" charset="-122"/>
                <a:cs typeface="Courier New" pitchFamily="34" charset="-120"/>
              </a:rPr>
              <a:t>[] args)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Animal[] animals = { </a:t>
            </a:r>
            <a:r>
              <a:rPr lang="en-US" sz="1500" b="1" dirty="0">
                <a:solidFill>
                  <a:srgbClr val="569CD6"/>
                </a:solidFill>
                <a:latin typeface="Courier New" pitchFamily="34" charset="0"/>
                <a:ea typeface="Courier New" pitchFamily="34" charset="-122"/>
                <a:cs typeface="Courier New" pitchFamily="34" charset="-120"/>
              </a:rPr>
              <a:t>new</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DCDCAA"/>
                </a:solidFill>
                <a:latin typeface="Courier New" pitchFamily="34" charset="0"/>
                <a:ea typeface="Courier New" pitchFamily="34" charset="-122"/>
                <a:cs typeface="Courier New" pitchFamily="34" charset="-120"/>
              </a:rPr>
              <a:t>Dog</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new</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DCDCAA"/>
                </a:solidFill>
                <a:latin typeface="Courier New" pitchFamily="34" charset="0"/>
                <a:ea typeface="Courier New" pitchFamily="34" charset="-122"/>
                <a:cs typeface="Courier New" pitchFamily="34" charset="-120"/>
              </a:rPr>
              <a:t>Cat</a:t>
            </a: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for</a:t>
            </a:r>
            <a:r>
              <a:rPr lang="en-US" sz="1500" dirty="0">
                <a:solidFill>
                  <a:srgbClr val="D4D4D4"/>
                </a:solidFill>
                <a:latin typeface="Courier New" pitchFamily="34" charset="0"/>
                <a:ea typeface="Courier New" pitchFamily="34" charset="-122"/>
                <a:cs typeface="Courier New" pitchFamily="34" charset="-120"/>
              </a:rPr>
              <a:t> (Animal a : animals)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a:t>
            </a:r>
            <a:r>
              <a:rPr lang="en-US" sz="1500" dirty="0">
                <a:solidFill>
                  <a:srgbClr val="DCDCAA"/>
                </a:solidFill>
                <a:latin typeface="Courier New" pitchFamily="34" charset="0"/>
                <a:ea typeface="Courier New" pitchFamily="34" charset="-122"/>
                <a:cs typeface="Courier New" pitchFamily="34" charset="-120"/>
              </a:rPr>
              <a:t>makeSound</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a:t>
            </a:r>
            <a:endParaRPr lang="en-US" sz="1500" dirty="0"/>
          </a:p>
        </p:txBody>
      </p:sp>
      <p:sp>
        <p:nvSpPr>
          <p:cNvPr id="13" name="Shape 11"/>
          <p:cNvSpPr/>
          <p:nvPr/>
        </p:nvSpPr>
        <p:spPr>
          <a:xfrm>
            <a:off x="7909560" y="2002536"/>
            <a:ext cx="3886200" cy="4032504"/>
          </a:xfrm>
          <a:prstGeom prst="roundRect">
            <a:avLst>
              <a:gd name="adj" fmla="val 1882"/>
            </a:avLst>
          </a:prstGeom>
          <a:solidFill>
            <a:srgbClr val="181C24"/>
          </a:solidFill>
          <a:ln w="12700">
            <a:solidFill>
              <a:srgbClr val="000000"/>
            </a:solidFill>
            <a:prstDash val="solid"/>
          </a:ln>
        </p:spPr>
      </p:sp>
      <p:sp>
        <p:nvSpPr>
          <p:cNvPr id="14" name="Text 12"/>
          <p:cNvSpPr/>
          <p:nvPr/>
        </p:nvSpPr>
        <p:spPr>
          <a:xfrm>
            <a:off x="8074152" y="2130552"/>
            <a:ext cx="3557016" cy="274320"/>
          </a:xfrm>
          <a:prstGeom prst="rect">
            <a:avLst/>
          </a:prstGeom>
          <a:noFill/>
          <a:ln/>
        </p:spPr>
        <p:txBody>
          <a:bodyPr wrap="square" lIns="0" tIns="0" rIns="0" bIns="0" rtlCol="0" anchor="ctr"/>
          <a:lstStyle/>
          <a:p>
            <a:pPr marL="0" indent="0">
              <a:buNone/>
            </a:pPr>
            <a:r>
              <a:rPr lang="en-US" sz="1000" b="1" kern="0" spc="100" dirty="0">
                <a:solidFill>
                  <a:srgbClr val="E8590C"/>
                </a:solidFill>
                <a:latin typeface="Times New Roman" pitchFamily="34" charset="0"/>
                <a:ea typeface="Times New Roman" pitchFamily="34" charset="-122"/>
                <a:cs typeface="Times New Roman" pitchFamily="34" charset="-120"/>
              </a:rPr>
              <a:t>CONSOLE OUTPUT</a:t>
            </a:r>
            <a:endParaRPr lang="en-US" sz="1000" dirty="0"/>
          </a:p>
        </p:txBody>
      </p:sp>
      <p:sp>
        <p:nvSpPr>
          <p:cNvPr id="15" name="Text 13"/>
          <p:cNvSpPr/>
          <p:nvPr/>
        </p:nvSpPr>
        <p:spPr>
          <a:xfrm>
            <a:off x="8074152" y="2459736"/>
            <a:ext cx="3557016" cy="3429000"/>
          </a:xfrm>
          <a:prstGeom prst="rect">
            <a:avLst/>
          </a:prstGeom>
          <a:noFill/>
          <a:ln/>
        </p:spPr>
        <p:txBody>
          <a:bodyPr wrap="square" lIns="0" tIns="0" rIns="0" bIns="0" rtlCol="0" anchor="t"/>
          <a:lstStyle/>
          <a:p>
            <a:pPr marL="0" indent="0">
              <a:lnSpc>
                <a:spcPct val="130000"/>
              </a:lnSpc>
              <a:buNone/>
            </a:pPr>
            <a:r>
              <a:rPr lang="en-US" sz="1300" dirty="0">
                <a:solidFill>
                  <a:srgbClr val="D8E6D0"/>
                </a:solidFill>
                <a:latin typeface="Courier New" pitchFamily="34" charset="0"/>
                <a:ea typeface="Courier New" pitchFamily="34" charset="-122"/>
                <a:cs typeface="Courier New" pitchFamily="34" charset="-120"/>
              </a:rPr>
              <a:t>Woof!</a:t>
            </a:r>
            <a:endParaRPr lang="en-US" sz="1300" dirty="0"/>
          </a:p>
          <a:p>
            <a:pPr marL="0" indent="0">
              <a:lnSpc>
                <a:spcPct val="130000"/>
              </a:lnSpc>
              <a:buNone/>
            </a:pPr>
            <a:r>
              <a:rPr lang="en-US" sz="1300" dirty="0">
                <a:solidFill>
                  <a:srgbClr val="D8E6D0"/>
                </a:solidFill>
                <a:latin typeface="Courier New" pitchFamily="34" charset="0"/>
                <a:ea typeface="Courier New" pitchFamily="34" charset="-122"/>
                <a:cs typeface="Courier New" pitchFamily="34" charset="-120"/>
              </a:rPr>
              <a:t>Meow</a:t>
            </a:r>
            <a:endParaRPr lang="en-US" sz="1300" dirty="0"/>
          </a:p>
        </p:txBody>
      </p:sp>
      <p:sp>
        <p:nvSpPr>
          <p:cNvPr id="16" name="Shape 14"/>
          <p:cNvSpPr/>
          <p:nvPr/>
        </p:nvSpPr>
        <p:spPr>
          <a:xfrm>
            <a:off x="0" y="0"/>
            <a:ext cx="12191695" cy="384048"/>
          </a:xfrm>
          <a:prstGeom prst="rect">
            <a:avLst/>
          </a:prstGeom>
          <a:solidFill>
            <a:srgbClr val="1B2A4A"/>
          </a:solidFill>
          <a:ln w="12700">
            <a:solidFill>
              <a:srgbClr val="1B2A4A"/>
            </a:solidFill>
            <a:prstDash val="solid"/>
          </a:ln>
        </p:spPr>
      </p:sp>
      <p:sp>
        <p:nvSpPr>
          <p:cNvPr id="17" name="Text 15"/>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8" name="Shape 16"/>
          <p:cNvSpPr/>
          <p:nvPr/>
        </p:nvSpPr>
        <p:spPr>
          <a:xfrm>
            <a:off x="219456" y="301752"/>
            <a:ext cx="960120" cy="0"/>
          </a:xfrm>
          <a:prstGeom prst="line">
            <a:avLst/>
          </a:prstGeom>
          <a:noFill/>
          <a:ln w="9525">
            <a:solidFill>
              <a:srgbClr val="4A5570"/>
            </a:solidFill>
            <a:prstDash val="solid"/>
          </a:ln>
        </p:spPr>
      </p:sp>
      <p:sp>
        <p:nvSpPr>
          <p:cNvPr id="19" name="Text 17"/>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0" name="Text 18"/>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1" name="Text 19"/>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2" name="Shape 20"/>
          <p:cNvSpPr/>
          <p:nvPr/>
        </p:nvSpPr>
        <p:spPr>
          <a:xfrm>
            <a:off x="0" y="6291072"/>
            <a:ext cx="12191695" cy="566928"/>
          </a:xfrm>
          <a:prstGeom prst="rect">
            <a:avLst/>
          </a:prstGeom>
          <a:solidFill>
            <a:srgbClr val="1B2A4A"/>
          </a:solidFill>
          <a:ln w="12700">
            <a:solidFill>
              <a:srgbClr val="1B2A4A"/>
            </a:solidFill>
            <a:prstDash val="solid"/>
          </a:ln>
        </p:spPr>
      </p:sp>
      <p:sp>
        <p:nvSpPr>
          <p:cNvPr id="23" name="Text 21"/>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4" name="Text 22"/>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WHY IT MATTERS</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The Value of Polymorphism</a:t>
            </a:r>
            <a:endParaRPr lang="en-US" sz="2700" dirty="0"/>
          </a:p>
        </p:txBody>
      </p:sp>
      <p:sp>
        <p:nvSpPr>
          <p:cNvPr id="4" name="Shape 2"/>
          <p:cNvSpPr/>
          <p:nvPr/>
        </p:nvSpPr>
        <p:spPr>
          <a:xfrm>
            <a:off x="594360" y="1691640"/>
            <a:ext cx="10607040" cy="2089404"/>
          </a:xfrm>
          <a:prstGeom prst="roundRect">
            <a:avLst>
              <a:gd name="adj" fmla="val 2626"/>
            </a:avLst>
          </a:prstGeom>
          <a:solidFill>
            <a:srgbClr val="F5F6FA"/>
          </a:solidFill>
          <a:ln w="9525">
            <a:solidFill>
              <a:srgbClr val="E4E7EE"/>
            </a:solidFill>
            <a:prstDash val="solid"/>
          </a:ln>
        </p:spPr>
      </p:sp>
      <p:sp>
        <p:nvSpPr>
          <p:cNvPr id="5" name="Shape 3"/>
          <p:cNvSpPr/>
          <p:nvPr/>
        </p:nvSpPr>
        <p:spPr>
          <a:xfrm>
            <a:off x="777240" y="1874520"/>
            <a:ext cx="109728" cy="109728"/>
          </a:xfrm>
          <a:prstGeom prst="ellipse">
            <a:avLst/>
          </a:prstGeom>
          <a:solidFill>
            <a:srgbClr val="E8590C"/>
          </a:solidFill>
          <a:ln w="12700">
            <a:solidFill>
              <a:srgbClr val="000000"/>
            </a:solidFill>
            <a:prstDash val="solid"/>
          </a:ln>
        </p:spPr>
      </p:sp>
      <p:sp>
        <p:nvSpPr>
          <p:cNvPr id="6" name="Text 4"/>
          <p:cNvSpPr/>
          <p:nvPr/>
        </p:nvSpPr>
        <p:spPr>
          <a:xfrm>
            <a:off x="1051560" y="1764792"/>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Simplifies code that works with many related types</a:t>
            </a:r>
            <a:endParaRPr lang="en-US" sz="1500" dirty="0"/>
          </a:p>
        </p:txBody>
      </p:sp>
      <p:sp>
        <p:nvSpPr>
          <p:cNvPr id="7" name="Text 5"/>
          <p:cNvSpPr/>
          <p:nvPr/>
        </p:nvSpPr>
        <p:spPr>
          <a:xfrm>
            <a:off x="1051560" y="2057400"/>
            <a:ext cx="9966960" cy="1668780"/>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One loop over a parent type can correctly handle every subclass, present or future, without special cases.</a:t>
            </a:r>
            <a:endParaRPr lang="en-US" sz="1250" dirty="0"/>
          </a:p>
        </p:txBody>
      </p:sp>
      <p:sp>
        <p:nvSpPr>
          <p:cNvPr id="8" name="Shape 6"/>
          <p:cNvSpPr/>
          <p:nvPr/>
        </p:nvSpPr>
        <p:spPr>
          <a:xfrm>
            <a:off x="594360" y="3945636"/>
            <a:ext cx="10607040" cy="2089404"/>
          </a:xfrm>
          <a:prstGeom prst="roundRect">
            <a:avLst>
              <a:gd name="adj" fmla="val 2626"/>
            </a:avLst>
          </a:prstGeom>
          <a:solidFill>
            <a:srgbClr val="F5F6FA"/>
          </a:solidFill>
          <a:ln w="9525">
            <a:solidFill>
              <a:srgbClr val="E4E7EE"/>
            </a:solidFill>
            <a:prstDash val="solid"/>
          </a:ln>
        </p:spPr>
      </p:sp>
      <p:sp>
        <p:nvSpPr>
          <p:cNvPr id="9" name="Shape 7"/>
          <p:cNvSpPr/>
          <p:nvPr/>
        </p:nvSpPr>
        <p:spPr>
          <a:xfrm>
            <a:off x="777240" y="4128516"/>
            <a:ext cx="109728" cy="109728"/>
          </a:xfrm>
          <a:prstGeom prst="ellipse">
            <a:avLst/>
          </a:prstGeom>
          <a:solidFill>
            <a:srgbClr val="E8590C"/>
          </a:solidFill>
          <a:ln w="12700">
            <a:solidFill>
              <a:srgbClr val="000000"/>
            </a:solidFill>
            <a:prstDash val="solid"/>
          </a:ln>
        </p:spPr>
      </p:sp>
      <p:sp>
        <p:nvSpPr>
          <p:cNvPr id="10" name="Text 8"/>
          <p:cNvSpPr/>
          <p:nvPr/>
        </p:nvSpPr>
        <p:spPr>
          <a:xfrm>
            <a:off x="1051560" y="4018788"/>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Encourages designing around behavior, not concrete types</a:t>
            </a:r>
            <a:endParaRPr lang="en-US" sz="1500" dirty="0"/>
          </a:p>
        </p:txBody>
      </p:sp>
      <p:sp>
        <p:nvSpPr>
          <p:cNvPr id="11" name="Text 9"/>
          <p:cNvSpPr/>
          <p:nvPr/>
        </p:nvSpPr>
        <p:spPr>
          <a:xfrm>
            <a:off x="1051560" y="4311396"/>
            <a:ext cx="9966960" cy="1668780"/>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Code depends on what an object can do, rather than exactly which subclass it is.</a:t>
            </a:r>
            <a:endParaRPr lang="en-US" sz="1250" dirty="0"/>
          </a:p>
        </p:txBody>
      </p:sp>
      <p:sp>
        <p:nvSpPr>
          <p:cNvPr id="12" name="Shape 10"/>
          <p:cNvSpPr/>
          <p:nvPr/>
        </p:nvSpPr>
        <p:spPr>
          <a:xfrm>
            <a:off x="0" y="0"/>
            <a:ext cx="12191695" cy="384048"/>
          </a:xfrm>
          <a:prstGeom prst="rect">
            <a:avLst/>
          </a:prstGeom>
          <a:solidFill>
            <a:srgbClr val="1B2A4A"/>
          </a:solidFill>
          <a:ln w="12700">
            <a:solidFill>
              <a:srgbClr val="1B2A4A"/>
            </a:solidFill>
            <a:prstDash val="solid"/>
          </a:ln>
        </p:spPr>
      </p:sp>
      <p:sp>
        <p:nvSpPr>
          <p:cNvPr id="13" name="Text 11"/>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4" name="Shape 12"/>
          <p:cNvSpPr/>
          <p:nvPr/>
        </p:nvSpPr>
        <p:spPr>
          <a:xfrm>
            <a:off x="219456" y="301752"/>
            <a:ext cx="960120" cy="0"/>
          </a:xfrm>
          <a:prstGeom prst="line">
            <a:avLst/>
          </a:prstGeom>
          <a:noFill/>
          <a:ln w="9525">
            <a:solidFill>
              <a:srgbClr val="4A5570"/>
            </a:solidFill>
            <a:prstDash val="solid"/>
          </a:ln>
        </p:spPr>
      </p:sp>
      <p:sp>
        <p:nvSpPr>
          <p:cNvPr id="15" name="Text 13"/>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16" name="Text 14"/>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17" name="Text 15"/>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18" name="Shape 16"/>
          <p:cNvSpPr/>
          <p:nvPr/>
        </p:nvSpPr>
        <p:spPr>
          <a:xfrm>
            <a:off x="0" y="6291072"/>
            <a:ext cx="12191695" cy="566928"/>
          </a:xfrm>
          <a:prstGeom prst="rect">
            <a:avLst/>
          </a:prstGeom>
          <a:solidFill>
            <a:srgbClr val="1B2A4A"/>
          </a:solidFill>
          <a:ln w="12700">
            <a:solidFill>
              <a:srgbClr val="1B2A4A"/>
            </a:solidFill>
            <a:prstDash val="solid"/>
          </a:ln>
        </p:spPr>
      </p:sp>
      <p:sp>
        <p:nvSpPr>
          <p:cNvPr id="19" name="Text 17"/>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0" name="Text 18"/>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COMMON PITFALLS</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Mistakes with Polymorphism</a:t>
            </a:r>
            <a:endParaRPr lang="en-US" sz="2700" dirty="0"/>
          </a:p>
        </p:txBody>
      </p:sp>
      <p:sp>
        <p:nvSpPr>
          <p:cNvPr id="4" name="Shape 2"/>
          <p:cNvSpPr/>
          <p:nvPr/>
        </p:nvSpPr>
        <p:spPr>
          <a:xfrm>
            <a:off x="594360" y="1691640"/>
            <a:ext cx="10607040" cy="2089404"/>
          </a:xfrm>
          <a:prstGeom prst="roundRect">
            <a:avLst>
              <a:gd name="adj" fmla="val 2626"/>
            </a:avLst>
          </a:prstGeom>
          <a:solidFill>
            <a:srgbClr val="F5F6FA"/>
          </a:solidFill>
          <a:ln w="9525">
            <a:solidFill>
              <a:srgbClr val="E4E7EE"/>
            </a:solidFill>
            <a:prstDash val="solid"/>
          </a:ln>
        </p:spPr>
      </p:sp>
      <p:sp>
        <p:nvSpPr>
          <p:cNvPr id="5" name="Shape 3"/>
          <p:cNvSpPr/>
          <p:nvPr/>
        </p:nvSpPr>
        <p:spPr>
          <a:xfrm>
            <a:off x="777240" y="1874520"/>
            <a:ext cx="109728" cy="109728"/>
          </a:xfrm>
          <a:prstGeom prst="ellipse">
            <a:avLst/>
          </a:prstGeom>
          <a:solidFill>
            <a:srgbClr val="E8590C"/>
          </a:solidFill>
          <a:ln w="12700">
            <a:solidFill>
              <a:srgbClr val="000000"/>
            </a:solidFill>
            <a:prstDash val="solid"/>
          </a:ln>
        </p:spPr>
      </p:sp>
      <p:sp>
        <p:nvSpPr>
          <p:cNvPr id="6" name="Text 4"/>
          <p:cNvSpPr/>
          <p:nvPr/>
        </p:nvSpPr>
        <p:spPr>
          <a:xfrm>
            <a:off x="1051560" y="1764792"/>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Downcasting without checking first</a:t>
            </a:r>
            <a:endParaRPr lang="en-US" sz="1500" dirty="0"/>
          </a:p>
        </p:txBody>
      </p:sp>
      <p:sp>
        <p:nvSpPr>
          <p:cNvPr id="7" name="Text 5"/>
          <p:cNvSpPr/>
          <p:nvPr/>
        </p:nvSpPr>
        <p:spPr>
          <a:xfrm>
            <a:off x="1051560" y="2057400"/>
            <a:ext cx="9966960" cy="1668780"/>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Skipping instanceof before a downcast risks a ClassCastException at run time.</a:t>
            </a:r>
            <a:endParaRPr lang="en-US" sz="1250" dirty="0"/>
          </a:p>
        </p:txBody>
      </p:sp>
      <p:sp>
        <p:nvSpPr>
          <p:cNvPr id="8" name="Shape 6"/>
          <p:cNvSpPr/>
          <p:nvPr/>
        </p:nvSpPr>
        <p:spPr>
          <a:xfrm>
            <a:off x="594360" y="3945636"/>
            <a:ext cx="10607040" cy="2089404"/>
          </a:xfrm>
          <a:prstGeom prst="roundRect">
            <a:avLst>
              <a:gd name="adj" fmla="val 2626"/>
            </a:avLst>
          </a:prstGeom>
          <a:solidFill>
            <a:srgbClr val="F5F6FA"/>
          </a:solidFill>
          <a:ln w="9525">
            <a:solidFill>
              <a:srgbClr val="E4E7EE"/>
            </a:solidFill>
            <a:prstDash val="solid"/>
          </a:ln>
        </p:spPr>
      </p:sp>
      <p:sp>
        <p:nvSpPr>
          <p:cNvPr id="9" name="Shape 7"/>
          <p:cNvSpPr/>
          <p:nvPr/>
        </p:nvSpPr>
        <p:spPr>
          <a:xfrm>
            <a:off x="777240" y="4128516"/>
            <a:ext cx="109728" cy="109728"/>
          </a:xfrm>
          <a:prstGeom prst="ellipse">
            <a:avLst/>
          </a:prstGeom>
          <a:solidFill>
            <a:srgbClr val="E8590C"/>
          </a:solidFill>
          <a:ln w="12700">
            <a:solidFill>
              <a:srgbClr val="000000"/>
            </a:solidFill>
            <a:prstDash val="solid"/>
          </a:ln>
        </p:spPr>
      </p:sp>
      <p:sp>
        <p:nvSpPr>
          <p:cNvPr id="10" name="Text 8"/>
          <p:cNvSpPr/>
          <p:nvPr/>
        </p:nvSpPr>
        <p:spPr>
          <a:xfrm>
            <a:off x="1051560" y="4018788"/>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Expecting fields to be polymorphic</a:t>
            </a:r>
            <a:endParaRPr lang="en-US" sz="1500" dirty="0"/>
          </a:p>
        </p:txBody>
      </p:sp>
      <p:sp>
        <p:nvSpPr>
          <p:cNvPr id="11" name="Text 9"/>
          <p:cNvSpPr/>
          <p:nvPr/>
        </p:nvSpPr>
        <p:spPr>
          <a:xfrm>
            <a:off x="1051560" y="4311396"/>
            <a:ext cx="9966960" cy="1668780"/>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Field access is resolved using the declared type, not the actual object, unlike overridden methods.</a:t>
            </a:r>
            <a:endParaRPr lang="en-US" sz="1250" dirty="0"/>
          </a:p>
        </p:txBody>
      </p:sp>
      <p:sp>
        <p:nvSpPr>
          <p:cNvPr id="12" name="Shape 10"/>
          <p:cNvSpPr/>
          <p:nvPr/>
        </p:nvSpPr>
        <p:spPr>
          <a:xfrm>
            <a:off x="0" y="0"/>
            <a:ext cx="12191695" cy="384048"/>
          </a:xfrm>
          <a:prstGeom prst="rect">
            <a:avLst/>
          </a:prstGeom>
          <a:solidFill>
            <a:srgbClr val="1B2A4A"/>
          </a:solidFill>
          <a:ln w="12700">
            <a:solidFill>
              <a:srgbClr val="1B2A4A"/>
            </a:solidFill>
            <a:prstDash val="solid"/>
          </a:ln>
        </p:spPr>
      </p:sp>
      <p:sp>
        <p:nvSpPr>
          <p:cNvPr id="13" name="Text 11"/>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4" name="Shape 12"/>
          <p:cNvSpPr/>
          <p:nvPr/>
        </p:nvSpPr>
        <p:spPr>
          <a:xfrm>
            <a:off x="219456" y="301752"/>
            <a:ext cx="960120" cy="0"/>
          </a:xfrm>
          <a:prstGeom prst="line">
            <a:avLst/>
          </a:prstGeom>
          <a:noFill/>
          <a:ln w="9525">
            <a:solidFill>
              <a:srgbClr val="4A5570"/>
            </a:solidFill>
            <a:prstDash val="solid"/>
          </a:ln>
        </p:spPr>
      </p:sp>
      <p:sp>
        <p:nvSpPr>
          <p:cNvPr id="15" name="Text 13"/>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16" name="Text 14"/>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17" name="Text 15"/>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18" name="Shape 16"/>
          <p:cNvSpPr/>
          <p:nvPr/>
        </p:nvSpPr>
        <p:spPr>
          <a:xfrm>
            <a:off x="0" y="6291072"/>
            <a:ext cx="12191695" cy="566928"/>
          </a:xfrm>
          <a:prstGeom prst="rect">
            <a:avLst/>
          </a:prstGeom>
          <a:solidFill>
            <a:srgbClr val="1B2A4A"/>
          </a:solidFill>
          <a:ln w="12700">
            <a:solidFill>
              <a:srgbClr val="1B2A4A"/>
            </a:solidFill>
            <a:prstDash val="solid"/>
          </a:ln>
        </p:spPr>
      </p:sp>
      <p:sp>
        <p:nvSpPr>
          <p:cNvPr id="19" name="Text 17"/>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0" name="Text 18"/>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PRACTICE</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Practice: A Polymorphic Shape Program</a:t>
            </a:r>
            <a:endParaRPr lang="en-US" sz="2700" dirty="0"/>
          </a:p>
        </p:txBody>
      </p:sp>
      <p:sp>
        <p:nvSpPr>
          <p:cNvPr id="4" name="Text 2"/>
          <p:cNvSpPr/>
          <p:nvPr/>
        </p:nvSpPr>
        <p:spPr>
          <a:xfrm>
            <a:off x="594360" y="1600200"/>
            <a:ext cx="10607040" cy="365760"/>
          </a:xfrm>
          <a:prstGeom prst="rect">
            <a:avLst/>
          </a:prstGeom>
          <a:noFill/>
          <a:ln/>
        </p:spPr>
        <p:txBody>
          <a:bodyPr wrap="square" lIns="0" tIns="0" rIns="0" bIns="0" rtlCol="0" anchor="ctr"/>
          <a:lstStyle/>
          <a:p>
            <a:pPr marL="0" indent="0">
              <a:buNone/>
            </a:pPr>
            <a:r>
              <a:rPr lang="en-US" sz="1250" i="1" dirty="0">
                <a:solidFill>
                  <a:srgbClr val="5A6472"/>
                </a:solidFill>
                <a:latin typeface="Times New Roman" pitchFamily="34" charset="0"/>
                <a:ea typeface="Times New Roman" pitchFamily="34" charset="-122"/>
                <a:cs typeface="Times New Roman" pitchFamily="34" charset="-120"/>
              </a:rPr>
              <a:t>One method, area(), behaving differently depending on the actual shape.</a:t>
            </a:r>
            <a:endParaRPr lang="en-US" sz="1250" dirty="0"/>
          </a:p>
        </p:txBody>
      </p:sp>
      <p:sp>
        <p:nvSpPr>
          <p:cNvPr id="5" name="Shape 3"/>
          <p:cNvSpPr/>
          <p:nvPr/>
        </p:nvSpPr>
        <p:spPr>
          <a:xfrm>
            <a:off x="594360" y="2002536"/>
            <a:ext cx="7040880" cy="4032504"/>
          </a:xfrm>
          <a:prstGeom prst="roundRect">
            <a:avLst>
              <a:gd name="adj" fmla="val 1814"/>
            </a:avLst>
          </a:prstGeom>
          <a:solidFill>
            <a:srgbClr val="1E1E2E"/>
          </a:solidFill>
          <a:ln w="12700">
            <a:solidFill>
              <a:srgbClr val="000000"/>
            </a:solidFill>
            <a:prstDash val="solid"/>
          </a:ln>
        </p:spPr>
      </p:sp>
      <p:sp>
        <p:nvSpPr>
          <p:cNvPr id="6" name="Shape 4"/>
          <p:cNvSpPr/>
          <p:nvPr/>
        </p:nvSpPr>
        <p:spPr>
          <a:xfrm>
            <a:off x="594360" y="2002536"/>
            <a:ext cx="7040880" cy="274320"/>
          </a:xfrm>
          <a:prstGeom prst="roundRect">
            <a:avLst>
              <a:gd name="adj" fmla="val 26667"/>
            </a:avLst>
          </a:prstGeom>
          <a:solidFill>
            <a:srgbClr val="17172A"/>
          </a:solidFill>
          <a:ln w="12700">
            <a:solidFill>
              <a:srgbClr val="000000"/>
            </a:solidFill>
            <a:prstDash val="solid"/>
          </a:ln>
        </p:spPr>
      </p:sp>
      <p:sp>
        <p:nvSpPr>
          <p:cNvPr id="7" name="Shape 5"/>
          <p:cNvSpPr/>
          <p:nvPr/>
        </p:nvSpPr>
        <p:spPr>
          <a:xfrm>
            <a:off x="594360" y="2203704"/>
            <a:ext cx="7040880" cy="73152"/>
          </a:xfrm>
          <a:prstGeom prst="rect">
            <a:avLst/>
          </a:prstGeom>
          <a:solidFill>
            <a:srgbClr val="17172A"/>
          </a:solidFill>
          <a:ln w="12700">
            <a:solidFill>
              <a:srgbClr val="000000"/>
            </a:solidFill>
            <a:prstDash val="solid"/>
          </a:ln>
        </p:spPr>
      </p:sp>
      <p:sp>
        <p:nvSpPr>
          <p:cNvPr id="8" name="Shape 6"/>
          <p:cNvSpPr/>
          <p:nvPr/>
        </p:nvSpPr>
        <p:spPr>
          <a:xfrm>
            <a:off x="722376" y="2101291"/>
            <a:ext cx="76810" cy="76810"/>
          </a:xfrm>
          <a:prstGeom prst="ellipse">
            <a:avLst/>
          </a:prstGeom>
          <a:solidFill>
            <a:srgbClr val="FF5F56"/>
          </a:solidFill>
          <a:ln w="12700">
            <a:solidFill>
              <a:srgbClr val="000000"/>
            </a:solidFill>
            <a:prstDash val="solid"/>
          </a:ln>
        </p:spPr>
      </p:sp>
      <p:sp>
        <p:nvSpPr>
          <p:cNvPr id="9" name="Shape 7"/>
          <p:cNvSpPr/>
          <p:nvPr/>
        </p:nvSpPr>
        <p:spPr>
          <a:xfrm>
            <a:off x="886968" y="2101291"/>
            <a:ext cx="76810" cy="76810"/>
          </a:xfrm>
          <a:prstGeom prst="ellipse">
            <a:avLst/>
          </a:prstGeom>
          <a:solidFill>
            <a:srgbClr val="FFBD2E"/>
          </a:solidFill>
          <a:ln w="12700">
            <a:solidFill>
              <a:srgbClr val="000000"/>
            </a:solidFill>
            <a:prstDash val="solid"/>
          </a:ln>
        </p:spPr>
      </p:sp>
      <p:sp>
        <p:nvSpPr>
          <p:cNvPr id="10" name="Shape 8"/>
          <p:cNvSpPr/>
          <p:nvPr/>
        </p:nvSpPr>
        <p:spPr>
          <a:xfrm>
            <a:off x="1051560" y="2101291"/>
            <a:ext cx="76810" cy="76810"/>
          </a:xfrm>
          <a:prstGeom prst="ellipse">
            <a:avLst/>
          </a:prstGeom>
          <a:solidFill>
            <a:srgbClr val="27C93F"/>
          </a:solidFill>
          <a:ln w="12700">
            <a:solidFill>
              <a:srgbClr val="000000"/>
            </a:solidFill>
            <a:prstDash val="solid"/>
          </a:ln>
        </p:spPr>
      </p:sp>
      <p:sp>
        <p:nvSpPr>
          <p:cNvPr id="11" name="Text 9"/>
          <p:cNvSpPr/>
          <p:nvPr/>
        </p:nvSpPr>
        <p:spPr>
          <a:xfrm>
            <a:off x="1371600" y="2002536"/>
            <a:ext cx="6126480" cy="274320"/>
          </a:xfrm>
          <a:prstGeom prst="rect">
            <a:avLst/>
          </a:prstGeom>
          <a:noFill/>
          <a:ln/>
        </p:spPr>
        <p:txBody>
          <a:bodyPr wrap="square" lIns="0" tIns="0" rIns="0" bIns="0" rtlCol="0" anchor="ctr"/>
          <a:lstStyle/>
          <a:p>
            <a:pPr marL="0" indent="0" algn="l">
              <a:buNone/>
            </a:pPr>
            <a:r>
              <a:rPr lang="en-US" sz="1000" dirty="0">
                <a:solidFill>
                  <a:srgbClr val="8A8FA3"/>
                </a:solidFill>
                <a:latin typeface="Courier New" pitchFamily="34" charset="0"/>
                <a:ea typeface="Courier New" pitchFamily="34" charset="-122"/>
                <a:cs typeface="Courier New" pitchFamily="34" charset="-120"/>
              </a:rPr>
              <a:t>Main.java</a:t>
            </a:r>
            <a:endParaRPr lang="en-US" sz="1000" dirty="0"/>
          </a:p>
        </p:txBody>
      </p:sp>
      <p:sp>
        <p:nvSpPr>
          <p:cNvPr id="12" name="Text 10"/>
          <p:cNvSpPr/>
          <p:nvPr/>
        </p:nvSpPr>
        <p:spPr>
          <a:xfrm>
            <a:off x="777240" y="2350008"/>
            <a:ext cx="6675120" cy="3611880"/>
          </a:xfrm>
          <a:prstGeom prst="rect">
            <a:avLst/>
          </a:prstGeom>
          <a:noFill/>
          <a:ln/>
        </p:spPr>
        <p:txBody>
          <a:bodyPr wrap="square" lIns="0" tIns="0" rIns="0" bIns="0" rtlCol="0" anchor="t"/>
          <a:lstStyle/>
          <a:p>
            <a:pPr marL="0" indent="0" algn="l">
              <a:lnSpc>
                <a:spcPct val="118000"/>
              </a:lnSpc>
              <a:buNone/>
            </a:pPr>
            <a:r>
              <a:rPr lang="en-US" sz="1100" b="1" dirty="0">
                <a:solidFill>
                  <a:srgbClr val="569CD6"/>
                </a:solidFill>
                <a:latin typeface="Courier New" pitchFamily="34" charset="0"/>
                <a:ea typeface="Courier New" pitchFamily="34" charset="-122"/>
                <a:cs typeface="Courier New" pitchFamily="34" charset="-120"/>
              </a:rPr>
              <a:t>public</a:t>
            </a:r>
            <a:r>
              <a:rPr lang="en-US" sz="1100" dirty="0">
                <a:solidFill>
                  <a:srgbClr val="D4D4D4"/>
                </a:solidFill>
                <a:latin typeface="Courier New" pitchFamily="34" charset="0"/>
                <a:ea typeface="Courier New" pitchFamily="34" charset="-122"/>
                <a:cs typeface="Courier New" pitchFamily="34" charset="-120"/>
              </a:rPr>
              <a:t> </a:t>
            </a:r>
            <a:r>
              <a:rPr lang="en-US" sz="1100" b="1" dirty="0">
                <a:solidFill>
                  <a:srgbClr val="569CD6"/>
                </a:solidFill>
                <a:latin typeface="Courier New" pitchFamily="34" charset="0"/>
                <a:ea typeface="Courier New" pitchFamily="34" charset="-122"/>
                <a:cs typeface="Courier New" pitchFamily="34" charset="-120"/>
              </a:rPr>
              <a:t>class</a:t>
            </a:r>
            <a:r>
              <a:rPr lang="en-US" sz="1100" dirty="0">
                <a:solidFill>
                  <a:srgbClr val="D4D4D4"/>
                </a:solidFill>
                <a:latin typeface="Courier New" pitchFamily="34" charset="0"/>
                <a:ea typeface="Courier New" pitchFamily="34" charset="-122"/>
                <a:cs typeface="Courier New" pitchFamily="34" charset="-120"/>
              </a:rPr>
              <a:t> Circle </a:t>
            </a:r>
            <a:r>
              <a:rPr lang="en-US" sz="1100" b="1" dirty="0">
                <a:solidFill>
                  <a:srgbClr val="569CD6"/>
                </a:solidFill>
                <a:latin typeface="Courier New" pitchFamily="34" charset="0"/>
                <a:ea typeface="Courier New" pitchFamily="34" charset="-122"/>
                <a:cs typeface="Courier New" pitchFamily="34" charset="-120"/>
              </a:rPr>
              <a:t>extends</a:t>
            </a:r>
            <a:r>
              <a:rPr lang="en-US" sz="1100" dirty="0">
                <a:solidFill>
                  <a:srgbClr val="D4D4D4"/>
                </a:solidFill>
                <a:latin typeface="Courier New" pitchFamily="34" charset="0"/>
                <a:ea typeface="Courier New" pitchFamily="34" charset="-122"/>
                <a:cs typeface="Courier New" pitchFamily="34" charset="-120"/>
              </a:rPr>
              <a:t> Shape {</a:t>
            </a:r>
            <a:endParaRPr lang="en-US" sz="1100" dirty="0"/>
          </a:p>
          <a:p>
            <a:pPr marL="0" indent="0" algn="l">
              <a:lnSpc>
                <a:spcPct val="118000"/>
              </a:lnSpc>
              <a:buNone/>
            </a:pPr>
            <a:r>
              <a:rPr lang="en-US" sz="1100" dirty="0">
                <a:solidFill>
                  <a:srgbClr val="D4D4D4"/>
                </a:solidFill>
                <a:latin typeface="Courier New" pitchFamily="34" charset="0"/>
                <a:ea typeface="Courier New" pitchFamily="34" charset="-122"/>
                <a:cs typeface="Courier New" pitchFamily="34" charset="-120"/>
              </a:rPr>
              <a:t>    </a:t>
            </a:r>
            <a:r>
              <a:rPr lang="en-US" sz="1100" b="1" dirty="0">
                <a:solidFill>
                  <a:srgbClr val="569CD6"/>
                </a:solidFill>
                <a:latin typeface="Courier New" pitchFamily="34" charset="0"/>
                <a:ea typeface="Courier New" pitchFamily="34" charset="-122"/>
                <a:cs typeface="Courier New" pitchFamily="34" charset="-120"/>
              </a:rPr>
              <a:t>double</a:t>
            </a:r>
            <a:r>
              <a:rPr lang="en-US" sz="1100" dirty="0">
                <a:solidFill>
                  <a:srgbClr val="D4D4D4"/>
                </a:solidFill>
                <a:latin typeface="Courier New" pitchFamily="34" charset="0"/>
                <a:ea typeface="Courier New" pitchFamily="34" charset="-122"/>
                <a:cs typeface="Courier New" pitchFamily="34" charset="-120"/>
              </a:rPr>
              <a:t> radius = </a:t>
            </a:r>
            <a:r>
              <a:rPr lang="en-US" sz="1100" dirty="0">
                <a:solidFill>
                  <a:srgbClr val="B5CEA8"/>
                </a:solidFill>
                <a:latin typeface="Courier New" pitchFamily="34" charset="0"/>
                <a:ea typeface="Courier New" pitchFamily="34" charset="-122"/>
                <a:cs typeface="Courier New" pitchFamily="34" charset="-120"/>
              </a:rPr>
              <a:t>3</a:t>
            </a:r>
            <a:r>
              <a:rPr lang="en-US" sz="1100" dirty="0">
                <a:solidFill>
                  <a:srgbClr val="D4D4D4"/>
                </a:solidFill>
                <a:latin typeface="Courier New" pitchFamily="34" charset="0"/>
                <a:ea typeface="Courier New" pitchFamily="34" charset="-122"/>
                <a:cs typeface="Courier New" pitchFamily="34" charset="-120"/>
              </a:rPr>
              <a:t>;</a:t>
            </a:r>
            <a:endParaRPr lang="en-US" sz="1100" dirty="0"/>
          </a:p>
          <a:p>
            <a:pPr marL="0" indent="0" algn="l">
              <a:lnSpc>
                <a:spcPct val="118000"/>
              </a:lnSpc>
              <a:buNone/>
            </a:pPr>
            <a:r>
              <a:rPr lang="en-US" sz="1100" dirty="0">
                <a:solidFill>
                  <a:srgbClr val="D4D4D4"/>
                </a:solidFill>
                <a:latin typeface="Courier New" pitchFamily="34" charset="0"/>
                <a:ea typeface="Courier New" pitchFamily="34" charset="-122"/>
                <a:cs typeface="Courier New" pitchFamily="34" charset="-120"/>
              </a:rPr>
              <a:t>    </a:t>
            </a:r>
            <a:r>
              <a:rPr lang="en-US" sz="1100" b="1" dirty="0">
                <a:solidFill>
                  <a:srgbClr val="569CD6"/>
                </a:solidFill>
                <a:latin typeface="Courier New" pitchFamily="34" charset="0"/>
                <a:ea typeface="Courier New" pitchFamily="34" charset="-122"/>
                <a:cs typeface="Courier New" pitchFamily="34" charset="-120"/>
              </a:rPr>
              <a:t>double</a:t>
            </a:r>
            <a:r>
              <a:rPr lang="en-US" sz="1100" dirty="0">
                <a:solidFill>
                  <a:srgbClr val="D4D4D4"/>
                </a:solidFill>
                <a:latin typeface="Courier New" pitchFamily="34" charset="0"/>
                <a:ea typeface="Courier New" pitchFamily="34" charset="-122"/>
                <a:cs typeface="Courier New" pitchFamily="34" charset="-120"/>
              </a:rPr>
              <a:t> </a:t>
            </a:r>
            <a:r>
              <a:rPr lang="en-US" sz="1100" dirty="0">
                <a:solidFill>
                  <a:srgbClr val="DCDCAA"/>
                </a:solidFill>
                <a:latin typeface="Courier New" pitchFamily="34" charset="0"/>
                <a:ea typeface="Courier New" pitchFamily="34" charset="-122"/>
                <a:cs typeface="Courier New" pitchFamily="34" charset="-120"/>
              </a:rPr>
              <a:t>area</a:t>
            </a:r>
            <a:r>
              <a:rPr lang="en-US" sz="1100" dirty="0">
                <a:solidFill>
                  <a:srgbClr val="D4D4D4"/>
                </a:solidFill>
                <a:latin typeface="Courier New" pitchFamily="34" charset="0"/>
                <a:ea typeface="Courier New" pitchFamily="34" charset="-122"/>
                <a:cs typeface="Courier New" pitchFamily="34" charset="-120"/>
              </a:rPr>
              <a:t>() { </a:t>
            </a:r>
            <a:r>
              <a:rPr lang="en-US" sz="1100" b="1" dirty="0">
                <a:solidFill>
                  <a:srgbClr val="569CD6"/>
                </a:solidFill>
                <a:latin typeface="Courier New" pitchFamily="34" charset="0"/>
                <a:ea typeface="Courier New" pitchFamily="34" charset="-122"/>
                <a:cs typeface="Courier New" pitchFamily="34" charset="-120"/>
              </a:rPr>
              <a:t>return</a:t>
            </a:r>
            <a:r>
              <a:rPr lang="en-US" sz="1100" dirty="0">
                <a:solidFill>
                  <a:srgbClr val="D4D4D4"/>
                </a:solidFill>
                <a:latin typeface="Courier New" pitchFamily="34" charset="0"/>
                <a:ea typeface="Courier New" pitchFamily="34" charset="-122"/>
                <a:cs typeface="Courier New" pitchFamily="34" charset="-120"/>
              </a:rPr>
              <a:t> </a:t>
            </a:r>
            <a:r>
              <a:rPr lang="en-US" sz="1100" dirty="0">
                <a:solidFill>
                  <a:srgbClr val="4EC9B0"/>
                </a:solidFill>
                <a:latin typeface="Courier New" pitchFamily="34" charset="0"/>
                <a:ea typeface="Courier New" pitchFamily="34" charset="-122"/>
                <a:cs typeface="Courier New" pitchFamily="34" charset="-120"/>
              </a:rPr>
              <a:t>Math</a:t>
            </a:r>
            <a:r>
              <a:rPr lang="en-US" sz="1100" dirty="0">
                <a:solidFill>
                  <a:srgbClr val="D4D4D4"/>
                </a:solidFill>
                <a:latin typeface="Courier New" pitchFamily="34" charset="0"/>
                <a:ea typeface="Courier New" pitchFamily="34" charset="-122"/>
                <a:cs typeface="Courier New" pitchFamily="34" charset="-120"/>
              </a:rPr>
              <a:t>.PI * radius * radius; }</a:t>
            </a:r>
            <a:endParaRPr lang="en-US" sz="1100" dirty="0"/>
          </a:p>
          <a:p>
            <a:pPr marL="0" indent="0" algn="l">
              <a:lnSpc>
                <a:spcPct val="118000"/>
              </a:lnSpc>
              <a:buNone/>
            </a:pPr>
            <a:r>
              <a:rPr lang="en-US" sz="1100" dirty="0">
                <a:solidFill>
                  <a:srgbClr val="D4D4D4"/>
                </a:solidFill>
                <a:latin typeface="Courier New" pitchFamily="34" charset="0"/>
                <a:ea typeface="Courier New" pitchFamily="34" charset="-122"/>
                <a:cs typeface="Courier New" pitchFamily="34" charset="-120"/>
              </a:rPr>
              <a:t>}</a:t>
            </a:r>
            <a:endParaRPr lang="en-US" sz="1100" dirty="0"/>
          </a:p>
          <a:p>
            <a:pPr marL="0" indent="0" algn="l">
              <a:lnSpc>
                <a:spcPct val="118000"/>
              </a:lnSpc>
              <a:buNone/>
            </a:pPr>
            <a:r>
              <a:rPr lang="en-US" sz="1100" dirty="0">
                <a:solidFill>
                  <a:srgbClr val="D4D4D4"/>
                </a:solidFill>
                <a:latin typeface="Courier New" pitchFamily="34" charset="0"/>
                <a:ea typeface="Courier New" pitchFamily="34" charset="-122"/>
                <a:cs typeface="Courier New" pitchFamily="34" charset="-120"/>
              </a:rPr>
              <a:t> </a:t>
            </a:r>
            <a:endParaRPr lang="en-US" sz="1100" dirty="0"/>
          </a:p>
          <a:p>
            <a:pPr marL="0" indent="0" algn="l">
              <a:lnSpc>
                <a:spcPct val="118000"/>
              </a:lnSpc>
              <a:buNone/>
            </a:pPr>
            <a:r>
              <a:rPr lang="en-US" sz="1100" b="1" dirty="0">
                <a:solidFill>
                  <a:srgbClr val="569CD6"/>
                </a:solidFill>
                <a:latin typeface="Courier New" pitchFamily="34" charset="0"/>
                <a:ea typeface="Courier New" pitchFamily="34" charset="-122"/>
                <a:cs typeface="Courier New" pitchFamily="34" charset="-120"/>
              </a:rPr>
              <a:t>public</a:t>
            </a:r>
            <a:r>
              <a:rPr lang="en-US" sz="1100" dirty="0">
                <a:solidFill>
                  <a:srgbClr val="D4D4D4"/>
                </a:solidFill>
                <a:latin typeface="Courier New" pitchFamily="34" charset="0"/>
                <a:ea typeface="Courier New" pitchFamily="34" charset="-122"/>
                <a:cs typeface="Courier New" pitchFamily="34" charset="-120"/>
              </a:rPr>
              <a:t> </a:t>
            </a:r>
            <a:r>
              <a:rPr lang="en-US" sz="1100" b="1" dirty="0">
                <a:solidFill>
                  <a:srgbClr val="569CD6"/>
                </a:solidFill>
                <a:latin typeface="Courier New" pitchFamily="34" charset="0"/>
                <a:ea typeface="Courier New" pitchFamily="34" charset="-122"/>
                <a:cs typeface="Courier New" pitchFamily="34" charset="-120"/>
              </a:rPr>
              <a:t>class</a:t>
            </a:r>
            <a:r>
              <a:rPr lang="en-US" sz="1100" dirty="0">
                <a:solidFill>
                  <a:srgbClr val="D4D4D4"/>
                </a:solidFill>
                <a:latin typeface="Courier New" pitchFamily="34" charset="0"/>
                <a:ea typeface="Courier New" pitchFamily="34" charset="-122"/>
                <a:cs typeface="Courier New" pitchFamily="34" charset="-120"/>
              </a:rPr>
              <a:t> Square </a:t>
            </a:r>
            <a:r>
              <a:rPr lang="en-US" sz="1100" b="1" dirty="0">
                <a:solidFill>
                  <a:srgbClr val="569CD6"/>
                </a:solidFill>
                <a:latin typeface="Courier New" pitchFamily="34" charset="0"/>
                <a:ea typeface="Courier New" pitchFamily="34" charset="-122"/>
                <a:cs typeface="Courier New" pitchFamily="34" charset="-120"/>
              </a:rPr>
              <a:t>extends</a:t>
            </a:r>
            <a:r>
              <a:rPr lang="en-US" sz="1100" dirty="0">
                <a:solidFill>
                  <a:srgbClr val="D4D4D4"/>
                </a:solidFill>
                <a:latin typeface="Courier New" pitchFamily="34" charset="0"/>
                <a:ea typeface="Courier New" pitchFamily="34" charset="-122"/>
                <a:cs typeface="Courier New" pitchFamily="34" charset="-120"/>
              </a:rPr>
              <a:t> Shape {</a:t>
            </a:r>
            <a:endParaRPr lang="en-US" sz="1100" dirty="0"/>
          </a:p>
          <a:p>
            <a:pPr marL="0" indent="0" algn="l">
              <a:lnSpc>
                <a:spcPct val="118000"/>
              </a:lnSpc>
              <a:buNone/>
            </a:pPr>
            <a:r>
              <a:rPr lang="en-US" sz="1100" dirty="0">
                <a:solidFill>
                  <a:srgbClr val="D4D4D4"/>
                </a:solidFill>
                <a:latin typeface="Courier New" pitchFamily="34" charset="0"/>
                <a:ea typeface="Courier New" pitchFamily="34" charset="-122"/>
                <a:cs typeface="Courier New" pitchFamily="34" charset="-120"/>
              </a:rPr>
              <a:t>    </a:t>
            </a:r>
            <a:r>
              <a:rPr lang="en-US" sz="1100" b="1" dirty="0">
                <a:solidFill>
                  <a:srgbClr val="569CD6"/>
                </a:solidFill>
                <a:latin typeface="Courier New" pitchFamily="34" charset="0"/>
                <a:ea typeface="Courier New" pitchFamily="34" charset="-122"/>
                <a:cs typeface="Courier New" pitchFamily="34" charset="-120"/>
              </a:rPr>
              <a:t>double</a:t>
            </a:r>
            <a:r>
              <a:rPr lang="en-US" sz="1100" dirty="0">
                <a:solidFill>
                  <a:srgbClr val="D4D4D4"/>
                </a:solidFill>
                <a:latin typeface="Courier New" pitchFamily="34" charset="0"/>
                <a:ea typeface="Courier New" pitchFamily="34" charset="-122"/>
                <a:cs typeface="Courier New" pitchFamily="34" charset="-120"/>
              </a:rPr>
              <a:t> side = </a:t>
            </a:r>
            <a:r>
              <a:rPr lang="en-US" sz="1100" dirty="0">
                <a:solidFill>
                  <a:srgbClr val="B5CEA8"/>
                </a:solidFill>
                <a:latin typeface="Courier New" pitchFamily="34" charset="0"/>
                <a:ea typeface="Courier New" pitchFamily="34" charset="-122"/>
                <a:cs typeface="Courier New" pitchFamily="34" charset="-120"/>
              </a:rPr>
              <a:t>4</a:t>
            </a:r>
            <a:r>
              <a:rPr lang="en-US" sz="1100" dirty="0">
                <a:solidFill>
                  <a:srgbClr val="D4D4D4"/>
                </a:solidFill>
                <a:latin typeface="Courier New" pitchFamily="34" charset="0"/>
                <a:ea typeface="Courier New" pitchFamily="34" charset="-122"/>
                <a:cs typeface="Courier New" pitchFamily="34" charset="-120"/>
              </a:rPr>
              <a:t>;</a:t>
            </a:r>
            <a:endParaRPr lang="en-US" sz="1100" dirty="0"/>
          </a:p>
          <a:p>
            <a:pPr marL="0" indent="0" algn="l">
              <a:lnSpc>
                <a:spcPct val="118000"/>
              </a:lnSpc>
              <a:buNone/>
            </a:pPr>
            <a:r>
              <a:rPr lang="en-US" sz="1100" dirty="0">
                <a:solidFill>
                  <a:srgbClr val="D4D4D4"/>
                </a:solidFill>
                <a:latin typeface="Courier New" pitchFamily="34" charset="0"/>
                <a:ea typeface="Courier New" pitchFamily="34" charset="-122"/>
                <a:cs typeface="Courier New" pitchFamily="34" charset="-120"/>
              </a:rPr>
              <a:t>    </a:t>
            </a:r>
            <a:r>
              <a:rPr lang="en-US" sz="1100" b="1" dirty="0">
                <a:solidFill>
                  <a:srgbClr val="569CD6"/>
                </a:solidFill>
                <a:latin typeface="Courier New" pitchFamily="34" charset="0"/>
                <a:ea typeface="Courier New" pitchFamily="34" charset="-122"/>
                <a:cs typeface="Courier New" pitchFamily="34" charset="-120"/>
              </a:rPr>
              <a:t>double</a:t>
            </a:r>
            <a:r>
              <a:rPr lang="en-US" sz="1100" dirty="0">
                <a:solidFill>
                  <a:srgbClr val="D4D4D4"/>
                </a:solidFill>
                <a:latin typeface="Courier New" pitchFamily="34" charset="0"/>
                <a:ea typeface="Courier New" pitchFamily="34" charset="-122"/>
                <a:cs typeface="Courier New" pitchFamily="34" charset="-120"/>
              </a:rPr>
              <a:t> </a:t>
            </a:r>
            <a:r>
              <a:rPr lang="en-US" sz="1100" dirty="0">
                <a:solidFill>
                  <a:srgbClr val="DCDCAA"/>
                </a:solidFill>
                <a:latin typeface="Courier New" pitchFamily="34" charset="0"/>
                <a:ea typeface="Courier New" pitchFamily="34" charset="-122"/>
                <a:cs typeface="Courier New" pitchFamily="34" charset="-120"/>
              </a:rPr>
              <a:t>area</a:t>
            </a:r>
            <a:r>
              <a:rPr lang="en-US" sz="1100" dirty="0">
                <a:solidFill>
                  <a:srgbClr val="D4D4D4"/>
                </a:solidFill>
                <a:latin typeface="Courier New" pitchFamily="34" charset="0"/>
                <a:ea typeface="Courier New" pitchFamily="34" charset="-122"/>
                <a:cs typeface="Courier New" pitchFamily="34" charset="-120"/>
              </a:rPr>
              <a:t>() { </a:t>
            </a:r>
            <a:r>
              <a:rPr lang="en-US" sz="1100" b="1" dirty="0">
                <a:solidFill>
                  <a:srgbClr val="569CD6"/>
                </a:solidFill>
                <a:latin typeface="Courier New" pitchFamily="34" charset="0"/>
                <a:ea typeface="Courier New" pitchFamily="34" charset="-122"/>
                <a:cs typeface="Courier New" pitchFamily="34" charset="-120"/>
              </a:rPr>
              <a:t>return</a:t>
            </a:r>
            <a:r>
              <a:rPr lang="en-US" sz="1100" dirty="0">
                <a:solidFill>
                  <a:srgbClr val="D4D4D4"/>
                </a:solidFill>
                <a:latin typeface="Courier New" pitchFamily="34" charset="0"/>
                <a:ea typeface="Courier New" pitchFamily="34" charset="-122"/>
                <a:cs typeface="Courier New" pitchFamily="34" charset="-120"/>
              </a:rPr>
              <a:t> side * side; }</a:t>
            </a:r>
            <a:endParaRPr lang="en-US" sz="1100" dirty="0"/>
          </a:p>
          <a:p>
            <a:pPr marL="0" indent="0" algn="l">
              <a:lnSpc>
                <a:spcPct val="118000"/>
              </a:lnSpc>
              <a:buNone/>
            </a:pPr>
            <a:r>
              <a:rPr lang="en-US" sz="1100" dirty="0">
                <a:solidFill>
                  <a:srgbClr val="D4D4D4"/>
                </a:solidFill>
                <a:latin typeface="Courier New" pitchFamily="34" charset="0"/>
                <a:ea typeface="Courier New" pitchFamily="34" charset="-122"/>
                <a:cs typeface="Courier New" pitchFamily="34" charset="-120"/>
              </a:rPr>
              <a:t>}</a:t>
            </a:r>
            <a:endParaRPr lang="en-US" sz="1100" dirty="0"/>
          </a:p>
          <a:p>
            <a:pPr marL="0" indent="0" algn="l">
              <a:lnSpc>
                <a:spcPct val="118000"/>
              </a:lnSpc>
              <a:buNone/>
            </a:pPr>
            <a:r>
              <a:rPr lang="en-US" sz="1100" dirty="0">
                <a:solidFill>
                  <a:srgbClr val="D4D4D4"/>
                </a:solidFill>
                <a:latin typeface="Courier New" pitchFamily="34" charset="0"/>
                <a:ea typeface="Courier New" pitchFamily="34" charset="-122"/>
                <a:cs typeface="Courier New" pitchFamily="34" charset="-120"/>
              </a:rPr>
              <a:t> </a:t>
            </a:r>
            <a:endParaRPr lang="en-US" sz="1100" dirty="0"/>
          </a:p>
          <a:p>
            <a:pPr marL="0" indent="0" algn="l">
              <a:lnSpc>
                <a:spcPct val="118000"/>
              </a:lnSpc>
              <a:buNone/>
            </a:pPr>
            <a:r>
              <a:rPr lang="en-US" sz="1100" b="1" dirty="0">
                <a:solidFill>
                  <a:srgbClr val="569CD6"/>
                </a:solidFill>
                <a:latin typeface="Courier New" pitchFamily="34" charset="0"/>
                <a:ea typeface="Courier New" pitchFamily="34" charset="-122"/>
                <a:cs typeface="Courier New" pitchFamily="34" charset="-120"/>
              </a:rPr>
              <a:t>public</a:t>
            </a:r>
            <a:r>
              <a:rPr lang="en-US" sz="1100" dirty="0">
                <a:solidFill>
                  <a:srgbClr val="D4D4D4"/>
                </a:solidFill>
                <a:latin typeface="Courier New" pitchFamily="34" charset="0"/>
                <a:ea typeface="Courier New" pitchFamily="34" charset="-122"/>
                <a:cs typeface="Courier New" pitchFamily="34" charset="-120"/>
              </a:rPr>
              <a:t> </a:t>
            </a:r>
            <a:r>
              <a:rPr lang="en-US" sz="1100" b="1" dirty="0">
                <a:solidFill>
                  <a:srgbClr val="569CD6"/>
                </a:solidFill>
                <a:latin typeface="Courier New" pitchFamily="34" charset="0"/>
                <a:ea typeface="Courier New" pitchFamily="34" charset="-122"/>
                <a:cs typeface="Courier New" pitchFamily="34" charset="-120"/>
              </a:rPr>
              <a:t>class</a:t>
            </a:r>
            <a:r>
              <a:rPr lang="en-US" sz="1100" dirty="0">
                <a:solidFill>
                  <a:srgbClr val="D4D4D4"/>
                </a:solidFill>
                <a:latin typeface="Courier New" pitchFamily="34" charset="0"/>
                <a:ea typeface="Courier New" pitchFamily="34" charset="-122"/>
                <a:cs typeface="Courier New" pitchFamily="34" charset="-120"/>
              </a:rPr>
              <a:t> Main {</a:t>
            </a:r>
            <a:endParaRPr lang="en-US" sz="1100" dirty="0"/>
          </a:p>
          <a:p>
            <a:pPr marL="0" indent="0" algn="l">
              <a:lnSpc>
                <a:spcPct val="118000"/>
              </a:lnSpc>
              <a:buNone/>
            </a:pPr>
            <a:r>
              <a:rPr lang="en-US" sz="1100" dirty="0">
                <a:solidFill>
                  <a:srgbClr val="D4D4D4"/>
                </a:solidFill>
                <a:latin typeface="Courier New" pitchFamily="34" charset="0"/>
                <a:ea typeface="Courier New" pitchFamily="34" charset="-122"/>
                <a:cs typeface="Courier New" pitchFamily="34" charset="-120"/>
              </a:rPr>
              <a:t>    </a:t>
            </a:r>
            <a:r>
              <a:rPr lang="en-US" sz="1100" b="1" dirty="0">
                <a:solidFill>
                  <a:srgbClr val="569CD6"/>
                </a:solidFill>
                <a:latin typeface="Courier New" pitchFamily="34" charset="0"/>
                <a:ea typeface="Courier New" pitchFamily="34" charset="-122"/>
                <a:cs typeface="Courier New" pitchFamily="34" charset="-120"/>
              </a:rPr>
              <a:t>public</a:t>
            </a:r>
            <a:r>
              <a:rPr lang="en-US" sz="1100" dirty="0">
                <a:solidFill>
                  <a:srgbClr val="D4D4D4"/>
                </a:solidFill>
                <a:latin typeface="Courier New" pitchFamily="34" charset="0"/>
                <a:ea typeface="Courier New" pitchFamily="34" charset="-122"/>
                <a:cs typeface="Courier New" pitchFamily="34" charset="-120"/>
              </a:rPr>
              <a:t> </a:t>
            </a:r>
            <a:r>
              <a:rPr lang="en-US" sz="1100" b="1" dirty="0">
                <a:solidFill>
                  <a:srgbClr val="569CD6"/>
                </a:solidFill>
                <a:latin typeface="Courier New" pitchFamily="34" charset="0"/>
                <a:ea typeface="Courier New" pitchFamily="34" charset="-122"/>
                <a:cs typeface="Courier New" pitchFamily="34" charset="-120"/>
              </a:rPr>
              <a:t>static</a:t>
            </a:r>
            <a:r>
              <a:rPr lang="en-US" sz="1100" dirty="0">
                <a:solidFill>
                  <a:srgbClr val="D4D4D4"/>
                </a:solidFill>
                <a:latin typeface="Courier New" pitchFamily="34" charset="0"/>
                <a:ea typeface="Courier New" pitchFamily="34" charset="-122"/>
                <a:cs typeface="Courier New" pitchFamily="34" charset="-120"/>
              </a:rPr>
              <a:t> </a:t>
            </a:r>
            <a:r>
              <a:rPr lang="en-US" sz="1100" b="1" dirty="0">
                <a:solidFill>
                  <a:srgbClr val="569CD6"/>
                </a:solidFill>
                <a:latin typeface="Courier New" pitchFamily="34" charset="0"/>
                <a:ea typeface="Courier New" pitchFamily="34" charset="-122"/>
                <a:cs typeface="Courier New" pitchFamily="34" charset="-120"/>
              </a:rPr>
              <a:t>void</a:t>
            </a:r>
            <a:r>
              <a:rPr lang="en-US" sz="1100" dirty="0">
                <a:solidFill>
                  <a:srgbClr val="D4D4D4"/>
                </a:solidFill>
                <a:latin typeface="Courier New" pitchFamily="34" charset="0"/>
                <a:ea typeface="Courier New" pitchFamily="34" charset="-122"/>
                <a:cs typeface="Courier New" pitchFamily="34" charset="-120"/>
              </a:rPr>
              <a:t> </a:t>
            </a:r>
            <a:r>
              <a:rPr lang="en-US" sz="1100" dirty="0">
                <a:solidFill>
                  <a:srgbClr val="DCDCAA"/>
                </a:solidFill>
                <a:latin typeface="Courier New" pitchFamily="34" charset="0"/>
                <a:ea typeface="Courier New" pitchFamily="34" charset="-122"/>
                <a:cs typeface="Courier New" pitchFamily="34" charset="-120"/>
              </a:rPr>
              <a:t>main</a:t>
            </a:r>
            <a:r>
              <a:rPr lang="en-US" sz="1100" dirty="0">
                <a:solidFill>
                  <a:srgbClr val="D4D4D4"/>
                </a:solidFill>
                <a:latin typeface="Courier New" pitchFamily="34" charset="0"/>
                <a:ea typeface="Courier New" pitchFamily="34" charset="-122"/>
                <a:cs typeface="Courier New" pitchFamily="34" charset="-120"/>
              </a:rPr>
              <a:t>(</a:t>
            </a:r>
            <a:r>
              <a:rPr lang="en-US" sz="1100" dirty="0">
                <a:solidFill>
                  <a:srgbClr val="4EC9B0"/>
                </a:solidFill>
                <a:latin typeface="Courier New" pitchFamily="34" charset="0"/>
                <a:ea typeface="Courier New" pitchFamily="34" charset="-122"/>
                <a:cs typeface="Courier New" pitchFamily="34" charset="-120"/>
              </a:rPr>
              <a:t>String</a:t>
            </a:r>
            <a:r>
              <a:rPr lang="en-US" sz="1100" dirty="0">
                <a:solidFill>
                  <a:srgbClr val="D4D4D4"/>
                </a:solidFill>
                <a:latin typeface="Courier New" pitchFamily="34" charset="0"/>
                <a:ea typeface="Courier New" pitchFamily="34" charset="-122"/>
                <a:cs typeface="Courier New" pitchFamily="34" charset="-120"/>
              </a:rPr>
              <a:t>[] args) {</a:t>
            </a:r>
            <a:endParaRPr lang="en-US" sz="1100" dirty="0"/>
          </a:p>
          <a:p>
            <a:pPr marL="0" indent="0" algn="l">
              <a:lnSpc>
                <a:spcPct val="118000"/>
              </a:lnSpc>
              <a:buNone/>
            </a:pPr>
            <a:r>
              <a:rPr lang="en-US" sz="1100" dirty="0">
                <a:solidFill>
                  <a:srgbClr val="D4D4D4"/>
                </a:solidFill>
                <a:latin typeface="Courier New" pitchFamily="34" charset="0"/>
                <a:ea typeface="Courier New" pitchFamily="34" charset="-122"/>
                <a:cs typeface="Courier New" pitchFamily="34" charset="-120"/>
              </a:rPr>
              <a:t>        Shape[] shapes = { </a:t>
            </a:r>
            <a:r>
              <a:rPr lang="en-US" sz="1100" b="1" dirty="0">
                <a:solidFill>
                  <a:srgbClr val="569CD6"/>
                </a:solidFill>
                <a:latin typeface="Courier New" pitchFamily="34" charset="0"/>
                <a:ea typeface="Courier New" pitchFamily="34" charset="-122"/>
                <a:cs typeface="Courier New" pitchFamily="34" charset="-120"/>
              </a:rPr>
              <a:t>new</a:t>
            </a:r>
            <a:r>
              <a:rPr lang="en-US" sz="1100" dirty="0">
                <a:solidFill>
                  <a:srgbClr val="D4D4D4"/>
                </a:solidFill>
                <a:latin typeface="Courier New" pitchFamily="34" charset="0"/>
                <a:ea typeface="Courier New" pitchFamily="34" charset="-122"/>
                <a:cs typeface="Courier New" pitchFamily="34" charset="-120"/>
              </a:rPr>
              <a:t> </a:t>
            </a:r>
            <a:r>
              <a:rPr lang="en-US" sz="1100" dirty="0">
                <a:solidFill>
                  <a:srgbClr val="DCDCAA"/>
                </a:solidFill>
                <a:latin typeface="Courier New" pitchFamily="34" charset="0"/>
                <a:ea typeface="Courier New" pitchFamily="34" charset="-122"/>
                <a:cs typeface="Courier New" pitchFamily="34" charset="-120"/>
              </a:rPr>
              <a:t>Circle</a:t>
            </a:r>
            <a:r>
              <a:rPr lang="en-US" sz="1100" dirty="0">
                <a:solidFill>
                  <a:srgbClr val="D4D4D4"/>
                </a:solidFill>
                <a:latin typeface="Courier New" pitchFamily="34" charset="0"/>
                <a:ea typeface="Courier New" pitchFamily="34" charset="-122"/>
                <a:cs typeface="Courier New" pitchFamily="34" charset="-120"/>
              </a:rPr>
              <a:t>(), </a:t>
            </a:r>
            <a:r>
              <a:rPr lang="en-US" sz="1100" b="1" dirty="0">
                <a:solidFill>
                  <a:srgbClr val="569CD6"/>
                </a:solidFill>
                <a:latin typeface="Courier New" pitchFamily="34" charset="0"/>
                <a:ea typeface="Courier New" pitchFamily="34" charset="-122"/>
                <a:cs typeface="Courier New" pitchFamily="34" charset="-120"/>
              </a:rPr>
              <a:t>new</a:t>
            </a:r>
            <a:r>
              <a:rPr lang="en-US" sz="1100" dirty="0">
                <a:solidFill>
                  <a:srgbClr val="D4D4D4"/>
                </a:solidFill>
                <a:latin typeface="Courier New" pitchFamily="34" charset="0"/>
                <a:ea typeface="Courier New" pitchFamily="34" charset="-122"/>
                <a:cs typeface="Courier New" pitchFamily="34" charset="-120"/>
              </a:rPr>
              <a:t> </a:t>
            </a:r>
            <a:r>
              <a:rPr lang="en-US" sz="1100" dirty="0">
                <a:solidFill>
                  <a:srgbClr val="DCDCAA"/>
                </a:solidFill>
                <a:latin typeface="Courier New" pitchFamily="34" charset="0"/>
                <a:ea typeface="Courier New" pitchFamily="34" charset="-122"/>
                <a:cs typeface="Courier New" pitchFamily="34" charset="-120"/>
              </a:rPr>
              <a:t>Square</a:t>
            </a:r>
            <a:r>
              <a:rPr lang="en-US" sz="1100" dirty="0">
                <a:solidFill>
                  <a:srgbClr val="D4D4D4"/>
                </a:solidFill>
                <a:latin typeface="Courier New" pitchFamily="34" charset="0"/>
                <a:ea typeface="Courier New" pitchFamily="34" charset="-122"/>
                <a:cs typeface="Courier New" pitchFamily="34" charset="-120"/>
              </a:rPr>
              <a:t>() };</a:t>
            </a:r>
            <a:endParaRPr lang="en-US" sz="1100" dirty="0"/>
          </a:p>
          <a:p>
            <a:pPr marL="0" indent="0" algn="l">
              <a:lnSpc>
                <a:spcPct val="118000"/>
              </a:lnSpc>
              <a:buNone/>
            </a:pPr>
            <a:r>
              <a:rPr lang="en-US" sz="1100" dirty="0">
                <a:solidFill>
                  <a:srgbClr val="D4D4D4"/>
                </a:solidFill>
                <a:latin typeface="Courier New" pitchFamily="34" charset="0"/>
                <a:ea typeface="Courier New" pitchFamily="34" charset="-122"/>
                <a:cs typeface="Courier New" pitchFamily="34" charset="-120"/>
              </a:rPr>
              <a:t>        </a:t>
            </a:r>
            <a:r>
              <a:rPr lang="en-US" sz="1100" b="1" dirty="0">
                <a:solidFill>
                  <a:srgbClr val="569CD6"/>
                </a:solidFill>
                <a:latin typeface="Courier New" pitchFamily="34" charset="0"/>
                <a:ea typeface="Courier New" pitchFamily="34" charset="-122"/>
                <a:cs typeface="Courier New" pitchFamily="34" charset="-120"/>
              </a:rPr>
              <a:t>for</a:t>
            </a:r>
            <a:r>
              <a:rPr lang="en-US" sz="1100" dirty="0">
                <a:solidFill>
                  <a:srgbClr val="D4D4D4"/>
                </a:solidFill>
                <a:latin typeface="Courier New" pitchFamily="34" charset="0"/>
                <a:ea typeface="Courier New" pitchFamily="34" charset="-122"/>
                <a:cs typeface="Courier New" pitchFamily="34" charset="-120"/>
              </a:rPr>
              <a:t> (Shape s : shapes) {</a:t>
            </a:r>
            <a:endParaRPr lang="en-US" sz="1100" dirty="0"/>
          </a:p>
          <a:p>
            <a:pPr marL="0" indent="0" algn="l">
              <a:lnSpc>
                <a:spcPct val="118000"/>
              </a:lnSpc>
              <a:buNone/>
            </a:pPr>
            <a:r>
              <a:rPr lang="en-US" sz="1100" dirty="0">
                <a:solidFill>
                  <a:srgbClr val="D4D4D4"/>
                </a:solidFill>
                <a:latin typeface="Courier New" pitchFamily="34" charset="0"/>
                <a:ea typeface="Courier New" pitchFamily="34" charset="-122"/>
                <a:cs typeface="Courier New" pitchFamily="34" charset="-120"/>
              </a:rPr>
              <a:t>            </a:t>
            </a:r>
            <a:r>
              <a:rPr lang="en-US" sz="1100" dirty="0">
                <a:solidFill>
                  <a:srgbClr val="4EC9B0"/>
                </a:solidFill>
                <a:latin typeface="Courier New" pitchFamily="34" charset="0"/>
                <a:ea typeface="Courier New" pitchFamily="34" charset="-122"/>
                <a:cs typeface="Courier New" pitchFamily="34" charset="-120"/>
              </a:rPr>
              <a:t>System</a:t>
            </a:r>
            <a:r>
              <a:rPr lang="en-US" sz="1100" dirty="0">
                <a:solidFill>
                  <a:srgbClr val="D4D4D4"/>
                </a:solidFill>
                <a:latin typeface="Courier New" pitchFamily="34" charset="0"/>
                <a:ea typeface="Courier New" pitchFamily="34" charset="-122"/>
                <a:cs typeface="Courier New" pitchFamily="34" charset="-120"/>
              </a:rPr>
              <a:t>.out.</a:t>
            </a:r>
            <a:r>
              <a:rPr lang="en-US" sz="1100" dirty="0">
                <a:solidFill>
                  <a:srgbClr val="DCDCAA"/>
                </a:solidFill>
                <a:latin typeface="Courier New" pitchFamily="34" charset="0"/>
                <a:ea typeface="Courier New" pitchFamily="34" charset="-122"/>
                <a:cs typeface="Courier New" pitchFamily="34" charset="-120"/>
              </a:rPr>
              <a:t>println</a:t>
            </a:r>
            <a:r>
              <a:rPr lang="en-US" sz="1100" dirty="0">
                <a:solidFill>
                  <a:srgbClr val="D4D4D4"/>
                </a:solidFill>
                <a:latin typeface="Courier New" pitchFamily="34" charset="0"/>
                <a:ea typeface="Courier New" pitchFamily="34" charset="-122"/>
                <a:cs typeface="Courier New" pitchFamily="34" charset="-120"/>
              </a:rPr>
              <a:t>(s.</a:t>
            </a:r>
            <a:r>
              <a:rPr lang="en-US" sz="1100" dirty="0">
                <a:solidFill>
                  <a:srgbClr val="DCDCAA"/>
                </a:solidFill>
                <a:latin typeface="Courier New" pitchFamily="34" charset="0"/>
                <a:ea typeface="Courier New" pitchFamily="34" charset="-122"/>
                <a:cs typeface="Courier New" pitchFamily="34" charset="-120"/>
              </a:rPr>
              <a:t>area</a:t>
            </a:r>
            <a:r>
              <a:rPr lang="en-US" sz="1100" dirty="0">
                <a:solidFill>
                  <a:srgbClr val="D4D4D4"/>
                </a:solidFill>
                <a:latin typeface="Courier New" pitchFamily="34" charset="0"/>
                <a:ea typeface="Courier New" pitchFamily="34" charset="-122"/>
                <a:cs typeface="Courier New" pitchFamily="34" charset="-120"/>
              </a:rPr>
              <a:t>());</a:t>
            </a:r>
            <a:endParaRPr lang="en-US" sz="1100" dirty="0"/>
          </a:p>
          <a:p>
            <a:pPr marL="0" indent="0" algn="l">
              <a:lnSpc>
                <a:spcPct val="118000"/>
              </a:lnSpc>
              <a:buNone/>
            </a:pPr>
            <a:r>
              <a:rPr lang="en-US" sz="1100" dirty="0">
                <a:solidFill>
                  <a:srgbClr val="D4D4D4"/>
                </a:solidFill>
                <a:latin typeface="Courier New" pitchFamily="34" charset="0"/>
                <a:ea typeface="Courier New" pitchFamily="34" charset="-122"/>
                <a:cs typeface="Courier New" pitchFamily="34" charset="-120"/>
              </a:rPr>
              <a:t>        }</a:t>
            </a:r>
            <a:endParaRPr lang="en-US" sz="1100" dirty="0"/>
          </a:p>
          <a:p>
            <a:pPr marL="0" indent="0" algn="l">
              <a:lnSpc>
                <a:spcPct val="118000"/>
              </a:lnSpc>
              <a:buNone/>
            </a:pPr>
            <a:r>
              <a:rPr lang="en-US" sz="1100" dirty="0">
                <a:solidFill>
                  <a:srgbClr val="D4D4D4"/>
                </a:solidFill>
                <a:latin typeface="Courier New" pitchFamily="34" charset="0"/>
                <a:ea typeface="Courier New" pitchFamily="34" charset="-122"/>
                <a:cs typeface="Courier New" pitchFamily="34" charset="-120"/>
              </a:rPr>
              <a:t>    }</a:t>
            </a:r>
            <a:endParaRPr lang="en-US" sz="1100" dirty="0"/>
          </a:p>
          <a:p>
            <a:pPr marL="0" indent="0" algn="l">
              <a:lnSpc>
                <a:spcPct val="118000"/>
              </a:lnSpc>
              <a:buNone/>
            </a:pPr>
            <a:r>
              <a:rPr lang="en-US" sz="1100" dirty="0">
                <a:solidFill>
                  <a:srgbClr val="D4D4D4"/>
                </a:solidFill>
                <a:latin typeface="Courier New" pitchFamily="34" charset="0"/>
                <a:ea typeface="Courier New" pitchFamily="34" charset="-122"/>
                <a:cs typeface="Courier New" pitchFamily="34" charset="-120"/>
              </a:rPr>
              <a:t>}</a:t>
            </a:r>
            <a:endParaRPr lang="en-US" sz="1100" dirty="0"/>
          </a:p>
        </p:txBody>
      </p:sp>
      <p:sp>
        <p:nvSpPr>
          <p:cNvPr id="13" name="Shape 11"/>
          <p:cNvSpPr/>
          <p:nvPr/>
        </p:nvSpPr>
        <p:spPr>
          <a:xfrm>
            <a:off x="7909560" y="2002536"/>
            <a:ext cx="3886200" cy="4032504"/>
          </a:xfrm>
          <a:prstGeom prst="roundRect">
            <a:avLst>
              <a:gd name="adj" fmla="val 1882"/>
            </a:avLst>
          </a:prstGeom>
          <a:solidFill>
            <a:srgbClr val="181C24"/>
          </a:solidFill>
          <a:ln w="12700">
            <a:solidFill>
              <a:srgbClr val="000000"/>
            </a:solidFill>
            <a:prstDash val="solid"/>
          </a:ln>
        </p:spPr>
      </p:sp>
      <p:sp>
        <p:nvSpPr>
          <p:cNvPr id="14" name="Text 12"/>
          <p:cNvSpPr/>
          <p:nvPr/>
        </p:nvSpPr>
        <p:spPr>
          <a:xfrm>
            <a:off x="8074152" y="2130552"/>
            <a:ext cx="3557016" cy="274320"/>
          </a:xfrm>
          <a:prstGeom prst="rect">
            <a:avLst/>
          </a:prstGeom>
          <a:noFill/>
          <a:ln/>
        </p:spPr>
        <p:txBody>
          <a:bodyPr wrap="square" lIns="0" tIns="0" rIns="0" bIns="0" rtlCol="0" anchor="ctr"/>
          <a:lstStyle/>
          <a:p>
            <a:pPr marL="0" indent="0">
              <a:buNone/>
            </a:pPr>
            <a:r>
              <a:rPr lang="en-US" sz="1000" b="1" kern="0" spc="100" dirty="0">
                <a:solidFill>
                  <a:srgbClr val="E8590C"/>
                </a:solidFill>
                <a:latin typeface="Times New Roman" pitchFamily="34" charset="0"/>
                <a:ea typeface="Times New Roman" pitchFamily="34" charset="-122"/>
                <a:cs typeface="Times New Roman" pitchFamily="34" charset="-120"/>
              </a:rPr>
              <a:t>CONSOLE OUTPUT</a:t>
            </a:r>
            <a:endParaRPr lang="en-US" sz="1000" dirty="0"/>
          </a:p>
        </p:txBody>
      </p:sp>
      <p:sp>
        <p:nvSpPr>
          <p:cNvPr id="15" name="Text 13"/>
          <p:cNvSpPr/>
          <p:nvPr/>
        </p:nvSpPr>
        <p:spPr>
          <a:xfrm>
            <a:off x="8074152" y="2459736"/>
            <a:ext cx="3557016" cy="3429000"/>
          </a:xfrm>
          <a:prstGeom prst="rect">
            <a:avLst/>
          </a:prstGeom>
          <a:noFill/>
          <a:ln/>
        </p:spPr>
        <p:txBody>
          <a:bodyPr wrap="square" lIns="0" tIns="0" rIns="0" bIns="0" rtlCol="0" anchor="t"/>
          <a:lstStyle/>
          <a:p>
            <a:pPr marL="0" indent="0">
              <a:lnSpc>
                <a:spcPct val="130000"/>
              </a:lnSpc>
              <a:buNone/>
            </a:pPr>
            <a:r>
              <a:rPr lang="en-US" sz="1300" dirty="0">
                <a:solidFill>
                  <a:srgbClr val="D8E6D0"/>
                </a:solidFill>
                <a:latin typeface="Courier New" pitchFamily="34" charset="0"/>
                <a:ea typeface="Courier New" pitchFamily="34" charset="-122"/>
                <a:cs typeface="Courier New" pitchFamily="34" charset="-120"/>
              </a:rPr>
              <a:t>28.274333882308138</a:t>
            </a:r>
            <a:endParaRPr lang="en-US" sz="1300" dirty="0"/>
          </a:p>
          <a:p>
            <a:pPr marL="0" indent="0">
              <a:lnSpc>
                <a:spcPct val="130000"/>
              </a:lnSpc>
              <a:buNone/>
            </a:pPr>
            <a:r>
              <a:rPr lang="en-US" sz="1300" dirty="0">
                <a:solidFill>
                  <a:srgbClr val="D8E6D0"/>
                </a:solidFill>
                <a:latin typeface="Courier New" pitchFamily="34" charset="0"/>
                <a:ea typeface="Courier New" pitchFamily="34" charset="-122"/>
                <a:cs typeface="Courier New" pitchFamily="34" charset="-120"/>
              </a:rPr>
              <a:t>16.0</a:t>
            </a:r>
            <a:endParaRPr lang="en-US" sz="1300" dirty="0"/>
          </a:p>
        </p:txBody>
      </p:sp>
      <p:sp>
        <p:nvSpPr>
          <p:cNvPr id="16" name="Shape 14"/>
          <p:cNvSpPr/>
          <p:nvPr/>
        </p:nvSpPr>
        <p:spPr>
          <a:xfrm>
            <a:off x="0" y="0"/>
            <a:ext cx="12191695" cy="384048"/>
          </a:xfrm>
          <a:prstGeom prst="rect">
            <a:avLst/>
          </a:prstGeom>
          <a:solidFill>
            <a:srgbClr val="1B2A4A"/>
          </a:solidFill>
          <a:ln w="12700">
            <a:solidFill>
              <a:srgbClr val="1B2A4A"/>
            </a:solidFill>
            <a:prstDash val="solid"/>
          </a:ln>
        </p:spPr>
      </p:sp>
      <p:sp>
        <p:nvSpPr>
          <p:cNvPr id="17" name="Text 15"/>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8" name="Shape 16"/>
          <p:cNvSpPr/>
          <p:nvPr/>
        </p:nvSpPr>
        <p:spPr>
          <a:xfrm>
            <a:off x="219456" y="301752"/>
            <a:ext cx="960120" cy="0"/>
          </a:xfrm>
          <a:prstGeom prst="line">
            <a:avLst/>
          </a:prstGeom>
          <a:noFill/>
          <a:ln w="9525">
            <a:solidFill>
              <a:srgbClr val="4A5570"/>
            </a:solidFill>
            <a:prstDash val="solid"/>
          </a:ln>
        </p:spPr>
      </p:sp>
      <p:sp>
        <p:nvSpPr>
          <p:cNvPr id="19" name="Text 17"/>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0" name="Text 18"/>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1" name="Text 19"/>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2" name="Shape 20"/>
          <p:cNvSpPr/>
          <p:nvPr/>
        </p:nvSpPr>
        <p:spPr>
          <a:xfrm>
            <a:off x="0" y="6291072"/>
            <a:ext cx="12191695" cy="566928"/>
          </a:xfrm>
          <a:prstGeom prst="rect">
            <a:avLst/>
          </a:prstGeom>
          <a:solidFill>
            <a:srgbClr val="1B2A4A"/>
          </a:solidFill>
          <a:ln w="12700">
            <a:solidFill>
              <a:srgbClr val="1B2A4A"/>
            </a:solidFill>
            <a:prstDash val="solid"/>
          </a:ln>
        </p:spPr>
      </p:sp>
      <p:sp>
        <p:nvSpPr>
          <p:cNvPr id="23" name="Text 21"/>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4" name="Text 22"/>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181C24"/>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81C24"/>
          </a:solidFill>
          <a:ln w="12700">
            <a:solidFill>
              <a:srgbClr val="181C24"/>
            </a:solidFill>
            <a:prstDash val="solid"/>
          </a:ln>
        </p:spPr>
      </p:sp>
      <p:sp>
        <p:nvSpPr>
          <p:cNvPr id="3" name="Shape 1"/>
          <p:cNvSpPr/>
          <p:nvPr/>
        </p:nvSpPr>
        <p:spPr>
          <a:xfrm>
            <a:off x="0" y="3246120"/>
            <a:ext cx="12191695" cy="18288"/>
          </a:xfrm>
          <a:prstGeom prst="rect">
            <a:avLst/>
          </a:prstGeom>
          <a:solidFill>
            <a:srgbClr val="2A2F3B"/>
          </a:solidFill>
          <a:ln w="12700">
            <a:solidFill>
              <a:srgbClr val="000000"/>
            </a:solidFill>
            <a:prstDash val="solid"/>
          </a:ln>
        </p:spPr>
      </p:sp>
      <p:sp>
        <p:nvSpPr>
          <p:cNvPr id="4" name="Text 2"/>
          <p:cNvSpPr/>
          <p:nvPr/>
        </p:nvSpPr>
        <p:spPr>
          <a:xfrm>
            <a:off x="640080" y="2651760"/>
            <a:ext cx="5486400" cy="365760"/>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SECTION 8 / 10</a:t>
            </a:r>
            <a:endParaRPr lang="en-US" sz="1300" dirty="0"/>
          </a:p>
        </p:txBody>
      </p:sp>
      <p:sp>
        <p:nvSpPr>
          <p:cNvPr id="5" name="Text 3"/>
          <p:cNvSpPr/>
          <p:nvPr/>
        </p:nvSpPr>
        <p:spPr>
          <a:xfrm>
            <a:off x="594360" y="2971800"/>
            <a:ext cx="10515600" cy="1005840"/>
          </a:xfrm>
          <a:prstGeom prst="rect">
            <a:avLst/>
          </a:prstGeom>
          <a:noFill/>
          <a:ln/>
        </p:spPr>
        <p:txBody>
          <a:bodyPr wrap="square" lIns="0" tIns="0" rIns="0" bIns="0" rtlCol="0" anchor="ctr"/>
          <a:lstStyle/>
          <a:p>
            <a:pPr marL="0" indent="0">
              <a:buNone/>
            </a:pPr>
            <a:r>
              <a:rPr lang="en-US" sz="3400" b="1" dirty="0">
                <a:solidFill>
                  <a:srgbClr val="FFFFFF"/>
                </a:solidFill>
                <a:latin typeface="Times New Roman" pitchFamily="34" charset="0"/>
                <a:ea typeface="Times New Roman" pitchFamily="34" charset="-122"/>
                <a:cs typeface="Times New Roman" pitchFamily="34" charset="-120"/>
              </a:rPr>
              <a:t>Abstraction and Interfaces</a:t>
            </a:r>
            <a:endParaRPr lang="en-US" sz="3400" dirty="0"/>
          </a:p>
        </p:txBody>
      </p:sp>
      <p:sp>
        <p:nvSpPr>
          <p:cNvPr id="6" name="Text 4"/>
          <p:cNvSpPr/>
          <p:nvPr/>
        </p:nvSpPr>
        <p:spPr>
          <a:xfrm>
            <a:off x="640080" y="3977640"/>
            <a:ext cx="9144000" cy="548640"/>
          </a:xfrm>
          <a:prstGeom prst="rect">
            <a:avLst/>
          </a:prstGeom>
          <a:noFill/>
          <a:ln/>
        </p:spPr>
        <p:txBody>
          <a:bodyPr wrap="square" lIns="0" tIns="0" rIns="0" bIns="0" rtlCol="0" anchor="t"/>
          <a:lstStyle/>
          <a:p>
            <a:pPr marL="0" indent="0">
              <a:buNone/>
            </a:pPr>
            <a:r>
              <a:rPr lang="en-US" sz="1500" dirty="0">
                <a:solidFill>
                  <a:srgbClr val="8C93A0"/>
                </a:solidFill>
                <a:latin typeface="Times New Roman" pitchFamily="34" charset="0"/>
                <a:ea typeface="Times New Roman" pitchFamily="34" charset="-122"/>
                <a:cs typeface="Times New Roman" pitchFamily="34" charset="-120"/>
              </a:rPr>
              <a:t>Defining what a class must do without fixing every detail</a:t>
            </a:r>
            <a:endParaRPr lang="en-US" sz="1500" dirty="0"/>
          </a:p>
        </p:txBody>
      </p:sp>
      <p:sp>
        <p:nvSpPr>
          <p:cNvPr id="7" name="Shape 5"/>
          <p:cNvSpPr/>
          <p:nvPr/>
        </p:nvSpPr>
        <p:spPr>
          <a:xfrm>
            <a:off x="0" y="0"/>
            <a:ext cx="12191695" cy="384048"/>
          </a:xfrm>
          <a:prstGeom prst="rect">
            <a:avLst/>
          </a:prstGeom>
          <a:solidFill>
            <a:srgbClr val="1B2A4A"/>
          </a:solidFill>
          <a:ln w="12700">
            <a:solidFill>
              <a:srgbClr val="1B2A4A"/>
            </a:solidFill>
            <a:prstDash val="solid"/>
          </a:ln>
        </p:spPr>
      </p:sp>
      <p:sp>
        <p:nvSpPr>
          <p:cNvPr id="8" name="Text 6"/>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9" name="Shape 7"/>
          <p:cNvSpPr/>
          <p:nvPr/>
        </p:nvSpPr>
        <p:spPr>
          <a:xfrm>
            <a:off x="219456" y="301752"/>
            <a:ext cx="960120" cy="0"/>
          </a:xfrm>
          <a:prstGeom prst="line">
            <a:avLst/>
          </a:prstGeom>
          <a:noFill/>
          <a:ln w="9525">
            <a:solidFill>
              <a:srgbClr val="4A5570"/>
            </a:solidFill>
            <a:prstDash val="solid"/>
          </a:ln>
        </p:spPr>
      </p:sp>
      <p:sp>
        <p:nvSpPr>
          <p:cNvPr id="10" name="Text 8"/>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11" name="Text 9"/>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12" name="Text 10"/>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13" name="Shape 11"/>
          <p:cNvSpPr/>
          <p:nvPr/>
        </p:nvSpPr>
        <p:spPr>
          <a:xfrm>
            <a:off x="0" y="6291072"/>
            <a:ext cx="12191695" cy="566928"/>
          </a:xfrm>
          <a:prstGeom prst="rect">
            <a:avLst/>
          </a:prstGeom>
          <a:solidFill>
            <a:srgbClr val="1B2A4A"/>
          </a:solidFill>
          <a:ln w="12700">
            <a:solidFill>
              <a:srgbClr val="1B2A4A"/>
            </a:solidFill>
            <a:prstDash val="solid"/>
          </a:ln>
        </p:spPr>
      </p:sp>
      <p:sp>
        <p:nvSpPr>
          <p:cNvPr id="14" name="Text 12"/>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15" name="Text 13"/>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CONCEPT</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What Is Abstraction?</a:t>
            </a:r>
            <a:endParaRPr lang="en-US" sz="2700" dirty="0"/>
          </a:p>
        </p:txBody>
      </p:sp>
      <p:sp>
        <p:nvSpPr>
          <p:cNvPr id="4" name="Shape 2"/>
          <p:cNvSpPr/>
          <p:nvPr/>
        </p:nvSpPr>
        <p:spPr>
          <a:xfrm>
            <a:off x="594360" y="1691640"/>
            <a:ext cx="10607040" cy="2089404"/>
          </a:xfrm>
          <a:prstGeom prst="roundRect">
            <a:avLst>
              <a:gd name="adj" fmla="val 2626"/>
            </a:avLst>
          </a:prstGeom>
          <a:solidFill>
            <a:srgbClr val="F5F6FA"/>
          </a:solidFill>
          <a:ln w="9525">
            <a:solidFill>
              <a:srgbClr val="E4E7EE"/>
            </a:solidFill>
            <a:prstDash val="solid"/>
          </a:ln>
        </p:spPr>
      </p:sp>
      <p:sp>
        <p:nvSpPr>
          <p:cNvPr id="5" name="Shape 3"/>
          <p:cNvSpPr/>
          <p:nvPr/>
        </p:nvSpPr>
        <p:spPr>
          <a:xfrm>
            <a:off x="777240" y="1874520"/>
            <a:ext cx="109728" cy="109728"/>
          </a:xfrm>
          <a:prstGeom prst="ellipse">
            <a:avLst/>
          </a:prstGeom>
          <a:solidFill>
            <a:srgbClr val="E8590C"/>
          </a:solidFill>
          <a:ln w="12700">
            <a:solidFill>
              <a:srgbClr val="000000"/>
            </a:solidFill>
            <a:prstDash val="solid"/>
          </a:ln>
        </p:spPr>
      </p:sp>
      <p:sp>
        <p:nvSpPr>
          <p:cNvPr id="6" name="Text 4"/>
          <p:cNvSpPr/>
          <p:nvPr/>
        </p:nvSpPr>
        <p:spPr>
          <a:xfrm>
            <a:off x="1051560" y="1764792"/>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Focuses on what, not how</a:t>
            </a:r>
            <a:endParaRPr lang="en-US" sz="1500" dirty="0"/>
          </a:p>
        </p:txBody>
      </p:sp>
      <p:sp>
        <p:nvSpPr>
          <p:cNvPr id="7" name="Text 5"/>
          <p:cNvSpPr/>
          <p:nvPr/>
        </p:nvSpPr>
        <p:spPr>
          <a:xfrm>
            <a:off x="1051560" y="2057400"/>
            <a:ext cx="9966960" cy="1668780"/>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Abstraction describes the actions a class supports without necessarily fixing how every one of them is implemented.</a:t>
            </a:r>
            <a:endParaRPr lang="en-US" sz="1250" dirty="0"/>
          </a:p>
        </p:txBody>
      </p:sp>
      <p:sp>
        <p:nvSpPr>
          <p:cNvPr id="8" name="Shape 6"/>
          <p:cNvSpPr/>
          <p:nvPr/>
        </p:nvSpPr>
        <p:spPr>
          <a:xfrm>
            <a:off x="594360" y="3945636"/>
            <a:ext cx="10607040" cy="2089404"/>
          </a:xfrm>
          <a:prstGeom prst="roundRect">
            <a:avLst>
              <a:gd name="adj" fmla="val 2626"/>
            </a:avLst>
          </a:prstGeom>
          <a:solidFill>
            <a:srgbClr val="F5F6FA"/>
          </a:solidFill>
          <a:ln w="9525">
            <a:solidFill>
              <a:srgbClr val="E4E7EE"/>
            </a:solidFill>
            <a:prstDash val="solid"/>
          </a:ln>
        </p:spPr>
      </p:sp>
      <p:sp>
        <p:nvSpPr>
          <p:cNvPr id="9" name="Shape 7"/>
          <p:cNvSpPr/>
          <p:nvPr/>
        </p:nvSpPr>
        <p:spPr>
          <a:xfrm>
            <a:off x="777240" y="4128516"/>
            <a:ext cx="109728" cy="109728"/>
          </a:xfrm>
          <a:prstGeom prst="ellipse">
            <a:avLst/>
          </a:prstGeom>
          <a:solidFill>
            <a:srgbClr val="E8590C"/>
          </a:solidFill>
          <a:ln w="12700">
            <a:solidFill>
              <a:srgbClr val="000000"/>
            </a:solidFill>
            <a:prstDash val="solid"/>
          </a:ln>
        </p:spPr>
      </p:sp>
      <p:sp>
        <p:nvSpPr>
          <p:cNvPr id="10" name="Text 8"/>
          <p:cNvSpPr/>
          <p:nvPr/>
        </p:nvSpPr>
        <p:spPr>
          <a:xfrm>
            <a:off x="1051560" y="4018788"/>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Achieved in Java with abstract classes and interfaces</a:t>
            </a:r>
            <a:endParaRPr lang="en-US" sz="1500" dirty="0"/>
          </a:p>
        </p:txBody>
      </p:sp>
      <p:sp>
        <p:nvSpPr>
          <p:cNvPr id="11" name="Text 9"/>
          <p:cNvSpPr/>
          <p:nvPr/>
        </p:nvSpPr>
        <p:spPr>
          <a:xfrm>
            <a:off x="1051560" y="4311396"/>
            <a:ext cx="9966960" cy="1668780"/>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Both let a class declare behavior that subclasses are required to provide.</a:t>
            </a:r>
            <a:endParaRPr lang="en-US" sz="1250" dirty="0"/>
          </a:p>
        </p:txBody>
      </p:sp>
      <p:sp>
        <p:nvSpPr>
          <p:cNvPr id="12" name="Shape 10"/>
          <p:cNvSpPr/>
          <p:nvPr/>
        </p:nvSpPr>
        <p:spPr>
          <a:xfrm>
            <a:off x="0" y="0"/>
            <a:ext cx="12191695" cy="384048"/>
          </a:xfrm>
          <a:prstGeom prst="rect">
            <a:avLst/>
          </a:prstGeom>
          <a:solidFill>
            <a:srgbClr val="1B2A4A"/>
          </a:solidFill>
          <a:ln w="12700">
            <a:solidFill>
              <a:srgbClr val="1B2A4A"/>
            </a:solidFill>
            <a:prstDash val="solid"/>
          </a:ln>
        </p:spPr>
      </p:sp>
      <p:sp>
        <p:nvSpPr>
          <p:cNvPr id="13" name="Text 11"/>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4" name="Shape 12"/>
          <p:cNvSpPr/>
          <p:nvPr/>
        </p:nvSpPr>
        <p:spPr>
          <a:xfrm>
            <a:off x="219456" y="301752"/>
            <a:ext cx="960120" cy="0"/>
          </a:xfrm>
          <a:prstGeom prst="line">
            <a:avLst/>
          </a:prstGeom>
          <a:noFill/>
          <a:ln w="9525">
            <a:solidFill>
              <a:srgbClr val="4A5570"/>
            </a:solidFill>
            <a:prstDash val="solid"/>
          </a:ln>
        </p:spPr>
      </p:sp>
      <p:sp>
        <p:nvSpPr>
          <p:cNvPr id="15" name="Text 13"/>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16" name="Text 14"/>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17" name="Text 15"/>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18" name="Shape 16"/>
          <p:cNvSpPr/>
          <p:nvPr/>
        </p:nvSpPr>
        <p:spPr>
          <a:xfrm>
            <a:off x="0" y="6291072"/>
            <a:ext cx="12191695" cy="566928"/>
          </a:xfrm>
          <a:prstGeom prst="rect">
            <a:avLst/>
          </a:prstGeom>
          <a:solidFill>
            <a:srgbClr val="1B2A4A"/>
          </a:solidFill>
          <a:ln w="12700">
            <a:solidFill>
              <a:srgbClr val="1B2A4A"/>
            </a:solidFill>
            <a:prstDash val="solid"/>
          </a:ln>
        </p:spPr>
      </p:sp>
      <p:sp>
        <p:nvSpPr>
          <p:cNvPr id="19" name="Text 17"/>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0" name="Text 18"/>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DECLARATION</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Abstract Classes: The abstract Keyword</a:t>
            </a:r>
            <a:endParaRPr lang="en-US" sz="2700" dirty="0"/>
          </a:p>
        </p:txBody>
      </p:sp>
      <p:sp>
        <p:nvSpPr>
          <p:cNvPr id="4" name="Shape 2"/>
          <p:cNvSpPr/>
          <p:nvPr/>
        </p:nvSpPr>
        <p:spPr>
          <a:xfrm>
            <a:off x="594360" y="1600200"/>
            <a:ext cx="10607040" cy="896112"/>
          </a:xfrm>
          <a:prstGeom prst="roundRect">
            <a:avLst>
              <a:gd name="adj" fmla="val 6122"/>
            </a:avLst>
          </a:prstGeom>
          <a:solidFill>
            <a:srgbClr val="F5F6FA"/>
          </a:solidFill>
          <a:ln w="9525">
            <a:solidFill>
              <a:srgbClr val="E4E7EE"/>
            </a:solidFill>
            <a:prstDash val="solid"/>
          </a:ln>
        </p:spPr>
      </p:sp>
      <p:sp>
        <p:nvSpPr>
          <p:cNvPr id="5" name="Shape 3"/>
          <p:cNvSpPr/>
          <p:nvPr/>
        </p:nvSpPr>
        <p:spPr>
          <a:xfrm>
            <a:off x="804672" y="1755648"/>
            <a:ext cx="100584" cy="100584"/>
          </a:xfrm>
          <a:prstGeom prst="ellipse">
            <a:avLst/>
          </a:prstGeom>
          <a:solidFill>
            <a:srgbClr val="E8590C"/>
          </a:solidFill>
          <a:ln w="12700">
            <a:solidFill>
              <a:srgbClr val="000000"/>
            </a:solidFill>
            <a:prstDash val="solid"/>
          </a:ln>
        </p:spPr>
      </p:sp>
      <p:sp>
        <p:nvSpPr>
          <p:cNvPr id="6" name="Text 4"/>
          <p:cNvSpPr/>
          <p:nvPr/>
        </p:nvSpPr>
        <p:spPr>
          <a:xfrm>
            <a:off x="1051560" y="1655064"/>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abstract before class marks it as a class that cannot be instantiated directly.</a:t>
            </a:r>
            <a:endParaRPr lang="en-US" sz="1250" dirty="0"/>
          </a:p>
        </p:txBody>
      </p:sp>
      <p:sp>
        <p:nvSpPr>
          <p:cNvPr id="7" name="Shape 5"/>
          <p:cNvSpPr/>
          <p:nvPr/>
        </p:nvSpPr>
        <p:spPr>
          <a:xfrm>
            <a:off x="804672" y="2103120"/>
            <a:ext cx="100584" cy="100584"/>
          </a:xfrm>
          <a:prstGeom prst="ellipse">
            <a:avLst/>
          </a:prstGeom>
          <a:solidFill>
            <a:srgbClr val="E8590C"/>
          </a:solidFill>
          <a:ln w="12700">
            <a:solidFill>
              <a:srgbClr val="000000"/>
            </a:solidFill>
            <a:prstDash val="solid"/>
          </a:ln>
        </p:spPr>
      </p:sp>
      <p:sp>
        <p:nvSpPr>
          <p:cNvPr id="8" name="Text 6"/>
          <p:cNvSpPr/>
          <p:nvPr/>
        </p:nvSpPr>
        <p:spPr>
          <a:xfrm>
            <a:off x="1051560" y="2002536"/>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An abstract class can still contain fields, constructors, and fully implemented methods.</a:t>
            </a:r>
            <a:endParaRPr lang="en-US" sz="1250" dirty="0"/>
          </a:p>
        </p:txBody>
      </p:sp>
      <p:sp>
        <p:nvSpPr>
          <p:cNvPr id="9" name="Shape 7"/>
          <p:cNvSpPr/>
          <p:nvPr/>
        </p:nvSpPr>
        <p:spPr>
          <a:xfrm>
            <a:off x="594360" y="2642616"/>
            <a:ext cx="10607040" cy="3392424"/>
          </a:xfrm>
          <a:prstGeom prst="roundRect">
            <a:avLst>
              <a:gd name="adj" fmla="val 2156"/>
            </a:avLst>
          </a:prstGeom>
          <a:solidFill>
            <a:srgbClr val="1E1E2E"/>
          </a:solidFill>
          <a:ln w="12700">
            <a:solidFill>
              <a:srgbClr val="000000"/>
            </a:solidFill>
            <a:prstDash val="solid"/>
          </a:ln>
        </p:spPr>
      </p:sp>
      <p:sp>
        <p:nvSpPr>
          <p:cNvPr id="10" name="Shape 8"/>
          <p:cNvSpPr/>
          <p:nvPr/>
        </p:nvSpPr>
        <p:spPr>
          <a:xfrm>
            <a:off x="594360" y="2642616"/>
            <a:ext cx="10607040" cy="274320"/>
          </a:xfrm>
          <a:prstGeom prst="roundRect">
            <a:avLst>
              <a:gd name="adj" fmla="val 26667"/>
            </a:avLst>
          </a:prstGeom>
          <a:solidFill>
            <a:srgbClr val="17172A"/>
          </a:solidFill>
          <a:ln w="12700">
            <a:solidFill>
              <a:srgbClr val="000000"/>
            </a:solidFill>
            <a:prstDash val="solid"/>
          </a:ln>
        </p:spPr>
      </p:sp>
      <p:sp>
        <p:nvSpPr>
          <p:cNvPr id="11" name="Shape 9"/>
          <p:cNvSpPr/>
          <p:nvPr/>
        </p:nvSpPr>
        <p:spPr>
          <a:xfrm>
            <a:off x="594360" y="2843784"/>
            <a:ext cx="10607040" cy="73152"/>
          </a:xfrm>
          <a:prstGeom prst="rect">
            <a:avLst/>
          </a:prstGeom>
          <a:solidFill>
            <a:srgbClr val="17172A"/>
          </a:solidFill>
          <a:ln w="12700">
            <a:solidFill>
              <a:srgbClr val="000000"/>
            </a:solidFill>
            <a:prstDash val="solid"/>
          </a:ln>
        </p:spPr>
      </p:sp>
      <p:sp>
        <p:nvSpPr>
          <p:cNvPr id="12" name="Shape 10"/>
          <p:cNvSpPr/>
          <p:nvPr/>
        </p:nvSpPr>
        <p:spPr>
          <a:xfrm>
            <a:off x="722376" y="2741371"/>
            <a:ext cx="76810" cy="76810"/>
          </a:xfrm>
          <a:prstGeom prst="ellipse">
            <a:avLst/>
          </a:prstGeom>
          <a:solidFill>
            <a:srgbClr val="FF5F56"/>
          </a:solidFill>
          <a:ln w="12700">
            <a:solidFill>
              <a:srgbClr val="000000"/>
            </a:solidFill>
            <a:prstDash val="solid"/>
          </a:ln>
        </p:spPr>
      </p:sp>
      <p:sp>
        <p:nvSpPr>
          <p:cNvPr id="13" name="Shape 11"/>
          <p:cNvSpPr/>
          <p:nvPr/>
        </p:nvSpPr>
        <p:spPr>
          <a:xfrm>
            <a:off x="886968" y="2741371"/>
            <a:ext cx="76810" cy="76810"/>
          </a:xfrm>
          <a:prstGeom prst="ellipse">
            <a:avLst/>
          </a:prstGeom>
          <a:solidFill>
            <a:srgbClr val="FFBD2E"/>
          </a:solidFill>
          <a:ln w="12700">
            <a:solidFill>
              <a:srgbClr val="000000"/>
            </a:solidFill>
            <a:prstDash val="solid"/>
          </a:ln>
        </p:spPr>
      </p:sp>
      <p:sp>
        <p:nvSpPr>
          <p:cNvPr id="14" name="Shape 12"/>
          <p:cNvSpPr/>
          <p:nvPr/>
        </p:nvSpPr>
        <p:spPr>
          <a:xfrm>
            <a:off x="1051560" y="2741371"/>
            <a:ext cx="76810" cy="76810"/>
          </a:xfrm>
          <a:prstGeom prst="ellipse">
            <a:avLst/>
          </a:prstGeom>
          <a:solidFill>
            <a:srgbClr val="27C93F"/>
          </a:solidFill>
          <a:ln w="12700">
            <a:solidFill>
              <a:srgbClr val="000000"/>
            </a:solidFill>
            <a:prstDash val="solid"/>
          </a:ln>
        </p:spPr>
      </p:sp>
      <p:sp>
        <p:nvSpPr>
          <p:cNvPr id="15" name="Text 13"/>
          <p:cNvSpPr/>
          <p:nvPr/>
        </p:nvSpPr>
        <p:spPr>
          <a:xfrm>
            <a:off x="1371600" y="2642616"/>
            <a:ext cx="9692640" cy="274320"/>
          </a:xfrm>
          <a:prstGeom prst="rect">
            <a:avLst/>
          </a:prstGeom>
          <a:noFill/>
          <a:ln/>
        </p:spPr>
        <p:txBody>
          <a:bodyPr wrap="square" lIns="0" tIns="0" rIns="0" bIns="0" rtlCol="0" anchor="ctr"/>
          <a:lstStyle/>
          <a:p>
            <a:pPr marL="0" indent="0" algn="l">
              <a:buNone/>
            </a:pPr>
            <a:r>
              <a:rPr lang="en-US" sz="1000" dirty="0">
                <a:solidFill>
                  <a:srgbClr val="8A8FA3"/>
                </a:solidFill>
                <a:latin typeface="Courier New" pitchFamily="34" charset="0"/>
                <a:ea typeface="Courier New" pitchFamily="34" charset="-122"/>
                <a:cs typeface="Courier New" pitchFamily="34" charset="-120"/>
              </a:rPr>
              <a:t>Main.java</a:t>
            </a:r>
            <a:endParaRPr lang="en-US" sz="1000" dirty="0"/>
          </a:p>
        </p:txBody>
      </p:sp>
      <p:sp>
        <p:nvSpPr>
          <p:cNvPr id="16" name="Text 14"/>
          <p:cNvSpPr/>
          <p:nvPr/>
        </p:nvSpPr>
        <p:spPr>
          <a:xfrm>
            <a:off x="777240" y="2990088"/>
            <a:ext cx="10241280" cy="2971800"/>
          </a:xfrm>
          <a:prstGeom prst="rect">
            <a:avLst/>
          </a:prstGeom>
          <a:noFill/>
          <a:ln/>
        </p:spPr>
        <p:txBody>
          <a:bodyPr wrap="square" lIns="0" tIns="0" rIns="0" bIns="0" rtlCol="0" anchor="t"/>
          <a:lstStyle/>
          <a:p>
            <a:pPr marL="0" indent="0" algn="l">
              <a:lnSpc>
                <a:spcPct val="118000"/>
              </a:lnSpc>
              <a:buNone/>
            </a:pPr>
            <a:r>
              <a:rPr lang="en-US" sz="1500" b="1" dirty="0">
                <a:solidFill>
                  <a:srgbClr val="569CD6"/>
                </a:solidFill>
                <a:latin typeface="Courier New" pitchFamily="34" charset="0"/>
                <a:ea typeface="Courier New" pitchFamily="34" charset="-122"/>
                <a:cs typeface="Courier New" pitchFamily="34" charset="-120"/>
              </a:rPr>
              <a:t>public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abstract</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class</a:t>
            </a:r>
            <a:r>
              <a:rPr lang="en-US" sz="1500" dirty="0">
                <a:solidFill>
                  <a:srgbClr val="D4D4D4"/>
                </a:solidFill>
                <a:latin typeface="Courier New" pitchFamily="34" charset="0"/>
                <a:ea typeface="Courier New" pitchFamily="34" charset="-122"/>
                <a:cs typeface="Courier New" pitchFamily="34" charset="-120"/>
              </a:rPr>
              <a:t> Shape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4EC9B0"/>
                </a:solidFill>
                <a:latin typeface="Courier New" pitchFamily="34" charset="0"/>
                <a:ea typeface="Courier New" pitchFamily="34" charset="-122"/>
                <a:cs typeface="Courier New" pitchFamily="34" charset="-120"/>
              </a:rPr>
              <a:t>String</a:t>
            </a:r>
            <a:r>
              <a:rPr lang="en-US" sz="1500" dirty="0">
                <a:solidFill>
                  <a:srgbClr val="D4D4D4"/>
                </a:solidFill>
                <a:latin typeface="Courier New" pitchFamily="34" charset="0"/>
                <a:ea typeface="Courier New" pitchFamily="34" charset="-122"/>
                <a:cs typeface="Courier New" pitchFamily="34" charset="-120"/>
              </a:rPr>
              <a:t> name;</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DCDCAA"/>
                </a:solidFill>
                <a:latin typeface="Courier New" pitchFamily="34" charset="0"/>
                <a:ea typeface="Courier New" pitchFamily="34" charset="-122"/>
                <a:cs typeface="Courier New" pitchFamily="34" charset="-120"/>
              </a:rPr>
              <a:t>Shape</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4EC9B0"/>
                </a:solidFill>
                <a:latin typeface="Courier New" pitchFamily="34" charset="0"/>
                <a:ea typeface="Courier New" pitchFamily="34" charset="-122"/>
                <a:cs typeface="Courier New" pitchFamily="34" charset="-120"/>
              </a:rPr>
              <a:t>String</a:t>
            </a:r>
            <a:r>
              <a:rPr lang="en-US" sz="1500" dirty="0">
                <a:solidFill>
                  <a:srgbClr val="D4D4D4"/>
                </a:solidFill>
                <a:latin typeface="Courier New" pitchFamily="34" charset="0"/>
                <a:ea typeface="Courier New" pitchFamily="34" charset="-122"/>
                <a:cs typeface="Courier New" pitchFamily="34" charset="-120"/>
              </a:rPr>
              <a:t> name)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this</a:t>
            </a:r>
            <a:r>
              <a:rPr lang="en-US" sz="1500" dirty="0">
                <a:solidFill>
                  <a:srgbClr val="D4D4D4"/>
                </a:solidFill>
                <a:latin typeface="Courier New" pitchFamily="34" charset="0"/>
                <a:ea typeface="Courier New" pitchFamily="34" charset="-122"/>
                <a:cs typeface="Courier New" pitchFamily="34" charset="-120"/>
              </a:rPr>
              <a:t>.name = name;</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a:t>
            </a:r>
            <a:endParaRPr lang="en-US" sz="1500" dirty="0"/>
          </a:p>
        </p:txBody>
      </p:sp>
      <p:sp>
        <p:nvSpPr>
          <p:cNvPr id="17" name="Shape 15"/>
          <p:cNvSpPr/>
          <p:nvPr/>
        </p:nvSpPr>
        <p:spPr>
          <a:xfrm>
            <a:off x="0" y="0"/>
            <a:ext cx="12191695" cy="384048"/>
          </a:xfrm>
          <a:prstGeom prst="rect">
            <a:avLst/>
          </a:prstGeom>
          <a:solidFill>
            <a:srgbClr val="1B2A4A"/>
          </a:solidFill>
          <a:ln w="12700">
            <a:solidFill>
              <a:srgbClr val="1B2A4A"/>
            </a:solidFill>
            <a:prstDash val="solid"/>
          </a:ln>
        </p:spPr>
      </p:sp>
      <p:sp>
        <p:nvSpPr>
          <p:cNvPr id="18" name="Text 16"/>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9" name="Shape 17"/>
          <p:cNvSpPr/>
          <p:nvPr/>
        </p:nvSpPr>
        <p:spPr>
          <a:xfrm>
            <a:off x="219456" y="301752"/>
            <a:ext cx="960120" cy="0"/>
          </a:xfrm>
          <a:prstGeom prst="line">
            <a:avLst/>
          </a:prstGeom>
          <a:noFill/>
          <a:ln w="9525">
            <a:solidFill>
              <a:srgbClr val="4A5570"/>
            </a:solidFill>
            <a:prstDash val="solid"/>
          </a:ln>
        </p:spPr>
      </p:sp>
      <p:sp>
        <p:nvSpPr>
          <p:cNvPr id="20" name="Text 18"/>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1" name="Text 19"/>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2" name="Text 20"/>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3" name="Shape 21"/>
          <p:cNvSpPr/>
          <p:nvPr/>
        </p:nvSpPr>
        <p:spPr>
          <a:xfrm>
            <a:off x="0" y="6291072"/>
            <a:ext cx="12191695" cy="566928"/>
          </a:xfrm>
          <a:prstGeom prst="rect">
            <a:avLst/>
          </a:prstGeom>
          <a:solidFill>
            <a:srgbClr val="1B2A4A"/>
          </a:solidFill>
          <a:ln w="12700">
            <a:solidFill>
              <a:srgbClr val="1B2A4A"/>
            </a:solidFill>
            <a:prstDash val="solid"/>
          </a:ln>
        </p:spPr>
      </p:sp>
      <p:sp>
        <p:nvSpPr>
          <p:cNvPr id="24" name="Text 22"/>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5" name="Text 23"/>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CONTRACTS</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Abstract Methods</a:t>
            </a:r>
            <a:endParaRPr lang="en-US" sz="2700" dirty="0"/>
          </a:p>
        </p:txBody>
      </p:sp>
      <p:sp>
        <p:nvSpPr>
          <p:cNvPr id="4" name="Shape 2"/>
          <p:cNvSpPr/>
          <p:nvPr/>
        </p:nvSpPr>
        <p:spPr>
          <a:xfrm>
            <a:off x="594360" y="1600200"/>
            <a:ext cx="10607040" cy="896112"/>
          </a:xfrm>
          <a:prstGeom prst="roundRect">
            <a:avLst>
              <a:gd name="adj" fmla="val 6122"/>
            </a:avLst>
          </a:prstGeom>
          <a:solidFill>
            <a:srgbClr val="F5F6FA"/>
          </a:solidFill>
          <a:ln w="9525">
            <a:solidFill>
              <a:srgbClr val="E4E7EE"/>
            </a:solidFill>
            <a:prstDash val="solid"/>
          </a:ln>
        </p:spPr>
      </p:sp>
      <p:sp>
        <p:nvSpPr>
          <p:cNvPr id="5" name="Shape 3"/>
          <p:cNvSpPr/>
          <p:nvPr/>
        </p:nvSpPr>
        <p:spPr>
          <a:xfrm>
            <a:off x="804672" y="1755648"/>
            <a:ext cx="100584" cy="100584"/>
          </a:xfrm>
          <a:prstGeom prst="ellipse">
            <a:avLst/>
          </a:prstGeom>
          <a:solidFill>
            <a:srgbClr val="E8590C"/>
          </a:solidFill>
          <a:ln w="12700">
            <a:solidFill>
              <a:srgbClr val="000000"/>
            </a:solidFill>
            <a:prstDash val="solid"/>
          </a:ln>
        </p:spPr>
      </p:sp>
      <p:sp>
        <p:nvSpPr>
          <p:cNvPr id="6" name="Text 4"/>
          <p:cNvSpPr/>
          <p:nvPr/>
        </p:nvSpPr>
        <p:spPr>
          <a:xfrm>
            <a:off x="1051560" y="1655064"/>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An abstract method has no body and ends with a semicolon instead of curly braces.</a:t>
            </a:r>
            <a:endParaRPr lang="en-US" sz="1250" dirty="0"/>
          </a:p>
        </p:txBody>
      </p:sp>
      <p:sp>
        <p:nvSpPr>
          <p:cNvPr id="7" name="Shape 5"/>
          <p:cNvSpPr/>
          <p:nvPr/>
        </p:nvSpPr>
        <p:spPr>
          <a:xfrm>
            <a:off x="804672" y="2103120"/>
            <a:ext cx="100584" cy="100584"/>
          </a:xfrm>
          <a:prstGeom prst="ellipse">
            <a:avLst/>
          </a:prstGeom>
          <a:solidFill>
            <a:srgbClr val="E8590C"/>
          </a:solidFill>
          <a:ln w="12700">
            <a:solidFill>
              <a:srgbClr val="000000"/>
            </a:solidFill>
            <a:prstDash val="solid"/>
          </a:ln>
        </p:spPr>
      </p:sp>
      <p:sp>
        <p:nvSpPr>
          <p:cNvPr id="8" name="Text 6"/>
          <p:cNvSpPr/>
          <p:nvPr/>
        </p:nvSpPr>
        <p:spPr>
          <a:xfrm>
            <a:off x="1051560" y="2002536"/>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Every concrete subclass must provide an implementation for each abstract method it inherits.</a:t>
            </a:r>
            <a:endParaRPr lang="en-US" sz="1250" dirty="0"/>
          </a:p>
        </p:txBody>
      </p:sp>
      <p:sp>
        <p:nvSpPr>
          <p:cNvPr id="9" name="Shape 7"/>
          <p:cNvSpPr/>
          <p:nvPr/>
        </p:nvSpPr>
        <p:spPr>
          <a:xfrm>
            <a:off x="594360" y="2642616"/>
            <a:ext cx="10607040" cy="3392424"/>
          </a:xfrm>
          <a:prstGeom prst="roundRect">
            <a:avLst>
              <a:gd name="adj" fmla="val 2156"/>
            </a:avLst>
          </a:prstGeom>
          <a:solidFill>
            <a:srgbClr val="1E1E2E"/>
          </a:solidFill>
          <a:ln w="12700">
            <a:solidFill>
              <a:srgbClr val="000000"/>
            </a:solidFill>
            <a:prstDash val="solid"/>
          </a:ln>
        </p:spPr>
      </p:sp>
      <p:sp>
        <p:nvSpPr>
          <p:cNvPr id="10" name="Shape 8"/>
          <p:cNvSpPr/>
          <p:nvPr/>
        </p:nvSpPr>
        <p:spPr>
          <a:xfrm>
            <a:off x="594360" y="2642616"/>
            <a:ext cx="10607040" cy="274320"/>
          </a:xfrm>
          <a:prstGeom prst="roundRect">
            <a:avLst>
              <a:gd name="adj" fmla="val 26667"/>
            </a:avLst>
          </a:prstGeom>
          <a:solidFill>
            <a:srgbClr val="17172A"/>
          </a:solidFill>
          <a:ln w="12700">
            <a:solidFill>
              <a:srgbClr val="000000"/>
            </a:solidFill>
            <a:prstDash val="solid"/>
          </a:ln>
        </p:spPr>
      </p:sp>
      <p:sp>
        <p:nvSpPr>
          <p:cNvPr id="11" name="Shape 9"/>
          <p:cNvSpPr/>
          <p:nvPr/>
        </p:nvSpPr>
        <p:spPr>
          <a:xfrm>
            <a:off x="594360" y="2843784"/>
            <a:ext cx="10607040" cy="73152"/>
          </a:xfrm>
          <a:prstGeom prst="rect">
            <a:avLst/>
          </a:prstGeom>
          <a:solidFill>
            <a:srgbClr val="17172A"/>
          </a:solidFill>
          <a:ln w="12700">
            <a:solidFill>
              <a:srgbClr val="000000"/>
            </a:solidFill>
            <a:prstDash val="solid"/>
          </a:ln>
        </p:spPr>
      </p:sp>
      <p:sp>
        <p:nvSpPr>
          <p:cNvPr id="12" name="Shape 10"/>
          <p:cNvSpPr/>
          <p:nvPr/>
        </p:nvSpPr>
        <p:spPr>
          <a:xfrm>
            <a:off x="722376" y="2741371"/>
            <a:ext cx="76810" cy="76810"/>
          </a:xfrm>
          <a:prstGeom prst="ellipse">
            <a:avLst/>
          </a:prstGeom>
          <a:solidFill>
            <a:srgbClr val="FF5F56"/>
          </a:solidFill>
          <a:ln w="12700">
            <a:solidFill>
              <a:srgbClr val="000000"/>
            </a:solidFill>
            <a:prstDash val="solid"/>
          </a:ln>
        </p:spPr>
      </p:sp>
      <p:sp>
        <p:nvSpPr>
          <p:cNvPr id="13" name="Shape 11"/>
          <p:cNvSpPr/>
          <p:nvPr/>
        </p:nvSpPr>
        <p:spPr>
          <a:xfrm>
            <a:off x="886968" y="2741371"/>
            <a:ext cx="76810" cy="76810"/>
          </a:xfrm>
          <a:prstGeom prst="ellipse">
            <a:avLst/>
          </a:prstGeom>
          <a:solidFill>
            <a:srgbClr val="FFBD2E"/>
          </a:solidFill>
          <a:ln w="12700">
            <a:solidFill>
              <a:srgbClr val="000000"/>
            </a:solidFill>
            <a:prstDash val="solid"/>
          </a:ln>
        </p:spPr>
      </p:sp>
      <p:sp>
        <p:nvSpPr>
          <p:cNvPr id="14" name="Shape 12"/>
          <p:cNvSpPr/>
          <p:nvPr/>
        </p:nvSpPr>
        <p:spPr>
          <a:xfrm>
            <a:off x="1051560" y="2741371"/>
            <a:ext cx="76810" cy="76810"/>
          </a:xfrm>
          <a:prstGeom prst="ellipse">
            <a:avLst/>
          </a:prstGeom>
          <a:solidFill>
            <a:srgbClr val="27C93F"/>
          </a:solidFill>
          <a:ln w="12700">
            <a:solidFill>
              <a:srgbClr val="000000"/>
            </a:solidFill>
            <a:prstDash val="solid"/>
          </a:ln>
        </p:spPr>
      </p:sp>
      <p:sp>
        <p:nvSpPr>
          <p:cNvPr id="15" name="Text 13"/>
          <p:cNvSpPr/>
          <p:nvPr/>
        </p:nvSpPr>
        <p:spPr>
          <a:xfrm>
            <a:off x="1371600" y="2642616"/>
            <a:ext cx="9692640" cy="274320"/>
          </a:xfrm>
          <a:prstGeom prst="rect">
            <a:avLst/>
          </a:prstGeom>
          <a:noFill/>
          <a:ln/>
        </p:spPr>
        <p:txBody>
          <a:bodyPr wrap="square" lIns="0" tIns="0" rIns="0" bIns="0" rtlCol="0" anchor="ctr"/>
          <a:lstStyle/>
          <a:p>
            <a:pPr marL="0" indent="0" algn="l">
              <a:buNone/>
            </a:pPr>
            <a:r>
              <a:rPr lang="en-US" sz="1000" dirty="0">
                <a:solidFill>
                  <a:srgbClr val="8A8FA3"/>
                </a:solidFill>
                <a:latin typeface="Courier New" pitchFamily="34" charset="0"/>
                <a:ea typeface="Courier New" pitchFamily="34" charset="-122"/>
                <a:cs typeface="Courier New" pitchFamily="34" charset="-120"/>
              </a:rPr>
              <a:t>Main.java</a:t>
            </a:r>
            <a:endParaRPr lang="en-US" sz="1000" dirty="0"/>
          </a:p>
        </p:txBody>
      </p:sp>
      <p:sp>
        <p:nvSpPr>
          <p:cNvPr id="16" name="Text 14"/>
          <p:cNvSpPr/>
          <p:nvPr/>
        </p:nvSpPr>
        <p:spPr>
          <a:xfrm>
            <a:off x="777240" y="2990088"/>
            <a:ext cx="10241280" cy="2971800"/>
          </a:xfrm>
          <a:prstGeom prst="rect">
            <a:avLst/>
          </a:prstGeom>
          <a:noFill/>
          <a:ln/>
        </p:spPr>
        <p:txBody>
          <a:bodyPr wrap="square" lIns="0" tIns="0" rIns="0" bIns="0" rtlCol="0" anchor="t"/>
          <a:lstStyle/>
          <a:p>
            <a:pPr marL="0" indent="0" algn="l">
              <a:lnSpc>
                <a:spcPct val="118000"/>
              </a:lnSpc>
              <a:buNone/>
            </a:pPr>
            <a:r>
              <a:rPr lang="en-US" sz="1500" b="1" dirty="0">
                <a:solidFill>
                  <a:srgbClr val="569CD6"/>
                </a:solidFill>
                <a:latin typeface="Courier New" pitchFamily="34" charset="0"/>
                <a:ea typeface="Courier New" pitchFamily="34" charset="-122"/>
                <a:cs typeface="Courier New" pitchFamily="34" charset="-120"/>
              </a:rPr>
              <a:t>public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abstract</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class</a:t>
            </a:r>
            <a:r>
              <a:rPr lang="en-US" sz="1500" dirty="0">
                <a:solidFill>
                  <a:srgbClr val="D4D4D4"/>
                </a:solidFill>
                <a:latin typeface="Courier New" pitchFamily="34" charset="0"/>
                <a:ea typeface="Courier New" pitchFamily="34" charset="-122"/>
                <a:cs typeface="Courier New" pitchFamily="34" charset="-120"/>
              </a:rPr>
              <a:t> Shape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abstract</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double</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DCDCAA"/>
                </a:solidFill>
                <a:latin typeface="Courier New" pitchFamily="34" charset="0"/>
                <a:ea typeface="Courier New" pitchFamily="34" charset="-122"/>
                <a:cs typeface="Courier New" pitchFamily="34" charset="-120"/>
              </a:rPr>
              <a:t>area</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abstract</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double</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DCDCAA"/>
                </a:solidFill>
                <a:latin typeface="Courier New" pitchFamily="34" charset="0"/>
                <a:ea typeface="Courier New" pitchFamily="34" charset="-122"/>
                <a:cs typeface="Courier New" pitchFamily="34" charset="-120"/>
              </a:rPr>
              <a:t>perimeter</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a:t>
            </a:r>
            <a:endParaRPr lang="en-US" sz="1500" dirty="0"/>
          </a:p>
        </p:txBody>
      </p:sp>
      <p:sp>
        <p:nvSpPr>
          <p:cNvPr id="17" name="Shape 15"/>
          <p:cNvSpPr/>
          <p:nvPr/>
        </p:nvSpPr>
        <p:spPr>
          <a:xfrm>
            <a:off x="0" y="0"/>
            <a:ext cx="12191695" cy="384048"/>
          </a:xfrm>
          <a:prstGeom prst="rect">
            <a:avLst/>
          </a:prstGeom>
          <a:solidFill>
            <a:srgbClr val="1B2A4A"/>
          </a:solidFill>
          <a:ln w="12700">
            <a:solidFill>
              <a:srgbClr val="1B2A4A"/>
            </a:solidFill>
            <a:prstDash val="solid"/>
          </a:ln>
        </p:spPr>
      </p:sp>
      <p:sp>
        <p:nvSpPr>
          <p:cNvPr id="18" name="Text 16"/>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9" name="Shape 17"/>
          <p:cNvSpPr/>
          <p:nvPr/>
        </p:nvSpPr>
        <p:spPr>
          <a:xfrm>
            <a:off x="219456" y="301752"/>
            <a:ext cx="960120" cy="0"/>
          </a:xfrm>
          <a:prstGeom prst="line">
            <a:avLst/>
          </a:prstGeom>
          <a:noFill/>
          <a:ln w="9525">
            <a:solidFill>
              <a:srgbClr val="4A5570"/>
            </a:solidFill>
            <a:prstDash val="solid"/>
          </a:ln>
        </p:spPr>
      </p:sp>
      <p:sp>
        <p:nvSpPr>
          <p:cNvPr id="20" name="Text 18"/>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1" name="Text 19"/>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2" name="Text 20"/>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3" name="Shape 21"/>
          <p:cNvSpPr/>
          <p:nvPr/>
        </p:nvSpPr>
        <p:spPr>
          <a:xfrm>
            <a:off x="0" y="6291072"/>
            <a:ext cx="12191695" cy="566928"/>
          </a:xfrm>
          <a:prstGeom prst="rect">
            <a:avLst/>
          </a:prstGeom>
          <a:solidFill>
            <a:srgbClr val="1B2A4A"/>
          </a:solidFill>
          <a:ln w="12700">
            <a:solidFill>
              <a:srgbClr val="1B2A4A"/>
            </a:solidFill>
            <a:prstDash val="solid"/>
          </a:ln>
        </p:spPr>
      </p:sp>
      <p:sp>
        <p:nvSpPr>
          <p:cNvPr id="24" name="Text 22"/>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5" name="Text 23"/>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FULFILLING THE CONTRACT</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Extending an Abstract Class</a:t>
            </a:r>
            <a:endParaRPr lang="en-US" sz="2700" dirty="0"/>
          </a:p>
        </p:txBody>
      </p:sp>
      <p:sp>
        <p:nvSpPr>
          <p:cNvPr id="4" name="Shape 2"/>
          <p:cNvSpPr/>
          <p:nvPr/>
        </p:nvSpPr>
        <p:spPr>
          <a:xfrm>
            <a:off x="594360" y="1600200"/>
            <a:ext cx="10607040" cy="896112"/>
          </a:xfrm>
          <a:prstGeom prst="roundRect">
            <a:avLst>
              <a:gd name="adj" fmla="val 6122"/>
            </a:avLst>
          </a:prstGeom>
          <a:solidFill>
            <a:srgbClr val="F5F6FA"/>
          </a:solidFill>
          <a:ln w="9525">
            <a:solidFill>
              <a:srgbClr val="E4E7EE"/>
            </a:solidFill>
            <a:prstDash val="solid"/>
          </a:ln>
        </p:spPr>
      </p:sp>
      <p:sp>
        <p:nvSpPr>
          <p:cNvPr id="5" name="Shape 3"/>
          <p:cNvSpPr/>
          <p:nvPr/>
        </p:nvSpPr>
        <p:spPr>
          <a:xfrm>
            <a:off x="804672" y="1755648"/>
            <a:ext cx="100584" cy="100584"/>
          </a:xfrm>
          <a:prstGeom prst="ellipse">
            <a:avLst/>
          </a:prstGeom>
          <a:solidFill>
            <a:srgbClr val="E8590C"/>
          </a:solidFill>
          <a:ln w="12700">
            <a:solidFill>
              <a:srgbClr val="000000"/>
            </a:solidFill>
            <a:prstDash val="solid"/>
          </a:ln>
        </p:spPr>
      </p:sp>
      <p:sp>
        <p:nvSpPr>
          <p:cNvPr id="6" name="Text 4"/>
          <p:cNvSpPr/>
          <p:nvPr/>
        </p:nvSpPr>
        <p:spPr>
          <a:xfrm>
            <a:off x="1051560" y="1655064"/>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A concrete subclass uses extends and must implement every abstract method it inherits.</a:t>
            </a:r>
            <a:endParaRPr lang="en-US" sz="1250" dirty="0"/>
          </a:p>
        </p:txBody>
      </p:sp>
      <p:sp>
        <p:nvSpPr>
          <p:cNvPr id="7" name="Shape 5"/>
          <p:cNvSpPr/>
          <p:nvPr/>
        </p:nvSpPr>
        <p:spPr>
          <a:xfrm>
            <a:off x="804672" y="2103120"/>
            <a:ext cx="100584" cy="100584"/>
          </a:xfrm>
          <a:prstGeom prst="ellipse">
            <a:avLst/>
          </a:prstGeom>
          <a:solidFill>
            <a:srgbClr val="E8590C"/>
          </a:solidFill>
          <a:ln w="12700">
            <a:solidFill>
              <a:srgbClr val="000000"/>
            </a:solidFill>
            <a:prstDash val="solid"/>
          </a:ln>
        </p:spPr>
      </p:sp>
      <p:sp>
        <p:nvSpPr>
          <p:cNvPr id="8" name="Text 6"/>
          <p:cNvSpPr/>
          <p:nvPr/>
        </p:nvSpPr>
        <p:spPr>
          <a:xfrm>
            <a:off x="1051560" y="2002536"/>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Once every abstract method has a body, the subclass can be instantiated normally.</a:t>
            </a:r>
            <a:endParaRPr lang="en-US" sz="1250" dirty="0"/>
          </a:p>
        </p:txBody>
      </p:sp>
      <p:sp>
        <p:nvSpPr>
          <p:cNvPr id="9" name="Shape 7"/>
          <p:cNvSpPr/>
          <p:nvPr/>
        </p:nvSpPr>
        <p:spPr>
          <a:xfrm>
            <a:off x="594360" y="2642616"/>
            <a:ext cx="10607040" cy="3392424"/>
          </a:xfrm>
          <a:prstGeom prst="roundRect">
            <a:avLst>
              <a:gd name="adj" fmla="val 2156"/>
            </a:avLst>
          </a:prstGeom>
          <a:solidFill>
            <a:srgbClr val="1E1E2E"/>
          </a:solidFill>
          <a:ln w="12700">
            <a:solidFill>
              <a:srgbClr val="000000"/>
            </a:solidFill>
            <a:prstDash val="solid"/>
          </a:ln>
        </p:spPr>
      </p:sp>
      <p:sp>
        <p:nvSpPr>
          <p:cNvPr id="10" name="Shape 8"/>
          <p:cNvSpPr/>
          <p:nvPr/>
        </p:nvSpPr>
        <p:spPr>
          <a:xfrm>
            <a:off x="594360" y="2642616"/>
            <a:ext cx="10607040" cy="274320"/>
          </a:xfrm>
          <a:prstGeom prst="roundRect">
            <a:avLst>
              <a:gd name="adj" fmla="val 26667"/>
            </a:avLst>
          </a:prstGeom>
          <a:solidFill>
            <a:srgbClr val="17172A"/>
          </a:solidFill>
          <a:ln w="12700">
            <a:solidFill>
              <a:srgbClr val="000000"/>
            </a:solidFill>
            <a:prstDash val="solid"/>
          </a:ln>
        </p:spPr>
      </p:sp>
      <p:sp>
        <p:nvSpPr>
          <p:cNvPr id="11" name="Shape 9"/>
          <p:cNvSpPr/>
          <p:nvPr/>
        </p:nvSpPr>
        <p:spPr>
          <a:xfrm>
            <a:off x="594360" y="2843784"/>
            <a:ext cx="10607040" cy="73152"/>
          </a:xfrm>
          <a:prstGeom prst="rect">
            <a:avLst/>
          </a:prstGeom>
          <a:solidFill>
            <a:srgbClr val="17172A"/>
          </a:solidFill>
          <a:ln w="12700">
            <a:solidFill>
              <a:srgbClr val="000000"/>
            </a:solidFill>
            <a:prstDash val="solid"/>
          </a:ln>
        </p:spPr>
      </p:sp>
      <p:sp>
        <p:nvSpPr>
          <p:cNvPr id="12" name="Shape 10"/>
          <p:cNvSpPr/>
          <p:nvPr/>
        </p:nvSpPr>
        <p:spPr>
          <a:xfrm>
            <a:off x="722376" y="2741371"/>
            <a:ext cx="76810" cy="76810"/>
          </a:xfrm>
          <a:prstGeom prst="ellipse">
            <a:avLst/>
          </a:prstGeom>
          <a:solidFill>
            <a:srgbClr val="FF5F56"/>
          </a:solidFill>
          <a:ln w="12700">
            <a:solidFill>
              <a:srgbClr val="000000"/>
            </a:solidFill>
            <a:prstDash val="solid"/>
          </a:ln>
        </p:spPr>
      </p:sp>
      <p:sp>
        <p:nvSpPr>
          <p:cNvPr id="13" name="Shape 11"/>
          <p:cNvSpPr/>
          <p:nvPr/>
        </p:nvSpPr>
        <p:spPr>
          <a:xfrm>
            <a:off x="886968" y="2741371"/>
            <a:ext cx="76810" cy="76810"/>
          </a:xfrm>
          <a:prstGeom prst="ellipse">
            <a:avLst/>
          </a:prstGeom>
          <a:solidFill>
            <a:srgbClr val="FFBD2E"/>
          </a:solidFill>
          <a:ln w="12700">
            <a:solidFill>
              <a:srgbClr val="000000"/>
            </a:solidFill>
            <a:prstDash val="solid"/>
          </a:ln>
        </p:spPr>
      </p:sp>
      <p:sp>
        <p:nvSpPr>
          <p:cNvPr id="14" name="Shape 12"/>
          <p:cNvSpPr/>
          <p:nvPr/>
        </p:nvSpPr>
        <p:spPr>
          <a:xfrm>
            <a:off x="1051560" y="2741371"/>
            <a:ext cx="76810" cy="76810"/>
          </a:xfrm>
          <a:prstGeom prst="ellipse">
            <a:avLst/>
          </a:prstGeom>
          <a:solidFill>
            <a:srgbClr val="27C93F"/>
          </a:solidFill>
          <a:ln w="12700">
            <a:solidFill>
              <a:srgbClr val="000000"/>
            </a:solidFill>
            <a:prstDash val="solid"/>
          </a:ln>
        </p:spPr>
      </p:sp>
      <p:sp>
        <p:nvSpPr>
          <p:cNvPr id="15" name="Text 13"/>
          <p:cNvSpPr/>
          <p:nvPr/>
        </p:nvSpPr>
        <p:spPr>
          <a:xfrm>
            <a:off x="1371600" y="2642616"/>
            <a:ext cx="9692640" cy="274320"/>
          </a:xfrm>
          <a:prstGeom prst="rect">
            <a:avLst/>
          </a:prstGeom>
          <a:noFill/>
          <a:ln/>
        </p:spPr>
        <p:txBody>
          <a:bodyPr wrap="square" lIns="0" tIns="0" rIns="0" bIns="0" rtlCol="0" anchor="ctr"/>
          <a:lstStyle/>
          <a:p>
            <a:pPr marL="0" indent="0" algn="l">
              <a:buNone/>
            </a:pPr>
            <a:r>
              <a:rPr lang="en-US" sz="1000" dirty="0">
                <a:solidFill>
                  <a:srgbClr val="8A8FA3"/>
                </a:solidFill>
                <a:latin typeface="Courier New" pitchFamily="34" charset="0"/>
                <a:ea typeface="Courier New" pitchFamily="34" charset="-122"/>
                <a:cs typeface="Courier New" pitchFamily="34" charset="-120"/>
              </a:rPr>
              <a:t>Main.java</a:t>
            </a:r>
            <a:endParaRPr lang="en-US" sz="1000" dirty="0"/>
          </a:p>
        </p:txBody>
      </p:sp>
      <p:sp>
        <p:nvSpPr>
          <p:cNvPr id="16" name="Text 14"/>
          <p:cNvSpPr/>
          <p:nvPr/>
        </p:nvSpPr>
        <p:spPr>
          <a:xfrm>
            <a:off x="777240" y="2990088"/>
            <a:ext cx="10241280" cy="2971800"/>
          </a:xfrm>
          <a:prstGeom prst="rect">
            <a:avLst/>
          </a:prstGeom>
          <a:noFill/>
          <a:ln/>
        </p:spPr>
        <p:txBody>
          <a:bodyPr wrap="square" lIns="0" tIns="0" rIns="0" bIns="0" rtlCol="0" anchor="t"/>
          <a:lstStyle/>
          <a:p>
            <a:pPr marL="0" indent="0" algn="l">
              <a:lnSpc>
                <a:spcPct val="118000"/>
              </a:lnSpc>
              <a:buNone/>
            </a:pPr>
            <a:r>
              <a:rPr lang="en-US" sz="1500" b="1" dirty="0">
                <a:solidFill>
                  <a:srgbClr val="569CD6"/>
                </a:solidFill>
                <a:latin typeface="Courier New" pitchFamily="34" charset="0"/>
                <a:ea typeface="Courier New" pitchFamily="34" charset="-122"/>
                <a:cs typeface="Courier New" pitchFamily="34" charset="-120"/>
              </a:rPr>
              <a:t>public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class</a:t>
            </a:r>
            <a:r>
              <a:rPr lang="en-US" sz="1500" dirty="0">
                <a:solidFill>
                  <a:srgbClr val="D4D4D4"/>
                </a:solidFill>
                <a:latin typeface="Courier New" pitchFamily="34" charset="0"/>
                <a:ea typeface="Courier New" pitchFamily="34" charset="-122"/>
                <a:cs typeface="Courier New" pitchFamily="34" charset="-120"/>
              </a:rPr>
              <a:t> Circle </a:t>
            </a:r>
            <a:r>
              <a:rPr lang="en-US" sz="1500" b="1" dirty="0">
                <a:solidFill>
                  <a:srgbClr val="569CD6"/>
                </a:solidFill>
                <a:latin typeface="Courier New" pitchFamily="34" charset="0"/>
                <a:ea typeface="Courier New" pitchFamily="34" charset="-122"/>
                <a:cs typeface="Courier New" pitchFamily="34" charset="-120"/>
              </a:rPr>
              <a:t>extends</a:t>
            </a:r>
            <a:r>
              <a:rPr lang="en-US" sz="1500" dirty="0">
                <a:solidFill>
                  <a:srgbClr val="D4D4D4"/>
                </a:solidFill>
                <a:latin typeface="Courier New" pitchFamily="34" charset="0"/>
                <a:ea typeface="Courier New" pitchFamily="34" charset="-122"/>
                <a:cs typeface="Courier New" pitchFamily="34" charset="-120"/>
              </a:rPr>
              <a:t> Shape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double</a:t>
            </a:r>
            <a:r>
              <a:rPr lang="en-US" sz="1500" dirty="0">
                <a:solidFill>
                  <a:srgbClr val="D4D4D4"/>
                </a:solidFill>
                <a:latin typeface="Courier New" pitchFamily="34" charset="0"/>
                <a:ea typeface="Courier New" pitchFamily="34" charset="-122"/>
                <a:cs typeface="Courier New" pitchFamily="34" charset="-120"/>
              </a:rPr>
              <a:t> radius;</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DCDCAA"/>
                </a:solidFill>
                <a:latin typeface="Courier New" pitchFamily="34" charset="0"/>
                <a:ea typeface="Courier New" pitchFamily="34" charset="-122"/>
                <a:cs typeface="Courier New" pitchFamily="34" charset="-120"/>
              </a:rPr>
              <a:t>Circle</a:t>
            </a:r>
            <a:r>
              <a:rPr lang="en-US" sz="1500" dirty="0">
                <a:solidFill>
                  <a:srgbClr val="D4D4D4"/>
                </a:solidFill>
                <a:latin typeface="Courier New" pitchFamily="34" charset="0"/>
                <a:ea typeface="Courier New" pitchFamily="34" charset="-122"/>
                <a:cs typeface="Courier New" pitchFamily="34" charset="-120"/>
              </a:rPr>
              <a:t>(</a:t>
            </a:r>
            <a:r>
              <a:rPr lang="en-US" sz="1500" b="1" dirty="0">
                <a:solidFill>
                  <a:srgbClr val="569CD6"/>
                </a:solidFill>
                <a:latin typeface="Courier New" pitchFamily="34" charset="0"/>
                <a:ea typeface="Courier New" pitchFamily="34" charset="-122"/>
                <a:cs typeface="Courier New" pitchFamily="34" charset="-120"/>
              </a:rPr>
              <a:t>double</a:t>
            </a:r>
            <a:r>
              <a:rPr lang="en-US" sz="1500" dirty="0">
                <a:solidFill>
                  <a:srgbClr val="D4D4D4"/>
                </a:solidFill>
                <a:latin typeface="Courier New" pitchFamily="34" charset="0"/>
                <a:ea typeface="Courier New" pitchFamily="34" charset="-122"/>
                <a:cs typeface="Courier New" pitchFamily="34" charset="-120"/>
              </a:rPr>
              <a:t> radius)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super</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CE9178"/>
                </a:solidFill>
                <a:latin typeface="Courier New" pitchFamily="34" charset="0"/>
                <a:ea typeface="Courier New" pitchFamily="34" charset="-122"/>
                <a:cs typeface="Courier New" pitchFamily="34" charset="-120"/>
              </a:rPr>
              <a:t>"Circle"</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this</a:t>
            </a:r>
            <a:r>
              <a:rPr lang="en-US" sz="1500" dirty="0">
                <a:solidFill>
                  <a:srgbClr val="D4D4D4"/>
                </a:solidFill>
                <a:latin typeface="Courier New" pitchFamily="34" charset="0"/>
                <a:ea typeface="Courier New" pitchFamily="34" charset="-122"/>
                <a:cs typeface="Courier New" pitchFamily="34" charset="-120"/>
              </a:rPr>
              <a:t>.radius = radius;</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double</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DCDCAA"/>
                </a:solidFill>
                <a:latin typeface="Courier New" pitchFamily="34" charset="0"/>
                <a:ea typeface="Courier New" pitchFamily="34" charset="-122"/>
                <a:cs typeface="Courier New" pitchFamily="34" charset="-120"/>
              </a:rPr>
              <a:t>area</a:t>
            </a:r>
            <a:r>
              <a:rPr lang="en-US" sz="1500" dirty="0">
                <a:solidFill>
                  <a:srgbClr val="D4D4D4"/>
                </a:solidFill>
                <a:latin typeface="Courier New" pitchFamily="34" charset="0"/>
                <a:ea typeface="Courier New" pitchFamily="34" charset="-122"/>
                <a:cs typeface="Courier New" pitchFamily="34" charset="-120"/>
              </a:rPr>
              <a:t>() { </a:t>
            </a:r>
            <a:r>
              <a:rPr lang="en-US" sz="1500" b="1" dirty="0">
                <a:solidFill>
                  <a:srgbClr val="569CD6"/>
                </a:solidFill>
                <a:latin typeface="Courier New" pitchFamily="34" charset="0"/>
                <a:ea typeface="Courier New" pitchFamily="34" charset="-122"/>
                <a:cs typeface="Courier New" pitchFamily="34" charset="-120"/>
              </a:rPr>
              <a:t>return</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4EC9B0"/>
                </a:solidFill>
                <a:latin typeface="Courier New" pitchFamily="34" charset="0"/>
                <a:ea typeface="Courier New" pitchFamily="34" charset="-122"/>
                <a:cs typeface="Courier New" pitchFamily="34" charset="-120"/>
              </a:rPr>
              <a:t>Math</a:t>
            </a:r>
            <a:r>
              <a:rPr lang="en-US" sz="1500" dirty="0">
                <a:solidFill>
                  <a:srgbClr val="D4D4D4"/>
                </a:solidFill>
                <a:latin typeface="Courier New" pitchFamily="34" charset="0"/>
                <a:ea typeface="Courier New" pitchFamily="34" charset="-122"/>
                <a:cs typeface="Courier New" pitchFamily="34" charset="-120"/>
              </a:rPr>
              <a:t>.PI * radius * radius;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double</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DCDCAA"/>
                </a:solidFill>
                <a:latin typeface="Courier New" pitchFamily="34" charset="0"/>
                <a:ea typeface="Courier New" pitchFamily="34" charset="-122"/>
                <a:cs typeface="Courier New" pitchFamily="34" charset="-120"/>
              </a:rPr>
              <a:t>perimeter</a:t>
            </a:r>
            <a:r>
              <a:rPr lang="en-US" sz="1500" dirty="0">
                <a:solidFill>
                  <a:srgbClr val="D4D4D4"/>
                </a:solidFill>
                <a:latin typeface="Courier New" pitchFamily="34" charset="0"/>
                <a:ea typeface="Courier New" pitchFamily="34" charset="-122"/>
                <a:cs typeface="Courier New" pitchFamily="34" charset="-120"/>
              </a:rPr>
              <a:t>() { </a:t>
            </a:r>
            <a:r>
              <a:rPr lang="en-US" sz="1500" b="1" dirty="0">
                <a:solidFill>
                  <a:srgbClr val="569CD6"/>
                </a:solidFill>
                <a:latin typeface="Courier New" pitchFamily="34" charset="0"/>
                <a:ea typeface="Courier New" pitchFamily="34" charset="-122"/>
                <a:cs typeface="Courier New" pitchFamily="34" charset="-120"/>
              </a:rPr>
              <a:t>return</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B5CEA8"/>
                </a:solidFill>
                <a:latin typeface="Courier New" pitchFamily="34" charset="0"/>
                <a:ea typeface="Courier New" pitchFamily="34" charset="-122"/>
                <a:cs typeface="Courier New" pitchFamily="34" charset="-120"/>
              </a:rPr>
              <a:t>2</a:t>
            </a:r>
            <a:r>
              <a:rPr lang="en-US" sz="1500" dirty="0">
                <a:solidFill>
                  <a:srgbClr val="D4D4D4"/>
                </a:solidFill>
                <a:latin typeface="Courier New" pitchFamily="34" charset="0"/>
                <a:ea typeface="Courier New" pitchFamily="34" charset="-122"/>
                <a:cs typeface="Courier New" pitchFamily="34" charset="-120"/>
              </a:rPr>
              <a:t> * </a:t>
            </a:r>
            <a:r>
              <a:rPr lang="en-US" sz="1500" dirty="0">
                <a:solidFill>
                  <a:srgbClr val="4EC9B0"/>
                </a:solidFill>
                <a:latin typeface="Courier New" pitchFamily="34" charset="0"/>
                <a:ea typeface="Courier New" pitchFamily="34" charset="-122"/>
                <a:cs typeface="Courier New" pitchFamily="34" charset="-120"/>
              </a:rPr>
              <a:t>Math</a:t>
            </a:r>
            <a:r>
              <a:rPr lang="en-US" sz="1500" dirty="0">
                <a:solidFill>
                  <a:srgbClr val="D4D4D4"/>
                </a:solidFill>
                <a:latin typeface="Courier New" pitchFamily="34" charset="0"/>
                <a:ea typeface="Courier New" pitchFamily="34" charset="-122"/>
                <a:cs typeface="Courier New" pitchFamily="34" charset="-120"/>
              </a:rPr>
              <a:t>.PI * radius;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a:t>
            </a:r>
            <a:endParaRPr lang="en-US" sz="1500" dirty="0"/>
          </a:p>
        </p:txBody>
      </p:sp>
      <p:sp>
        <p:nvSpPr>
          <p:cNvPr id="17" name="Shape 15"/>
          <p:cNvSpPr/>
          <p:nvPr/>
        </p:nvSpPr>
        <p:spPr>
          <a:xfrm>
            <a:off x="0" y="0"/>
            <a:ext cx="12191695" cy="384048"/>
          </a:xfrm>
          <a:prstGeom prst="rect">
            <a:avLst/>
          </a:prstGeom>
          <a:solidFill>
            <a:srgbClr val="1B2A4A"/>
          </a:solidFill>
          <a:ln w="12700">
            <a:solidFill>
              <a:srgbClr val="1B2A4A"/>
            </a:solidFill>
            <a:prstDash val="solid"/>
          </a:ln>
        </p:spPr>
      </p:sp>
      <p:sp>
        <p:nvSpPr>
          <p:cNvPr id="18" name="Text 16"/>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9" name="Shape 17"/>
          <p:cNvSpPr/>
          <p:nvPr/>
        </p:nvSpPr>
        <p:spPr>
          <a:xfrm>
            <a:off x="219456" y="301752"/>
            <a:ext cx="960120" cy="0"/>
          </a:xfrm>
          <a:prstGeom prst="line">
            <a:avLst/>
          </a:prstGeom>
          <a:noFill/>
          <a:ln w="9525">
            <a:solidFill>
              <a:srgbClr val="4A5570"/>
            </a:solidFill>
            <a:prstDash val="solid"/>
          </a:ln>
        </p:spPr>
      </p:sp>
      <p:sp>
        <p:nvSpPr>
          <p:cNvPr id="20" name="Text 18"/>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1" name="Text 19"/>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2" name="Text 20"/>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3" name="Shape 21"/>
          <p:cNvSpPr/>
          <p:nvPr/>
        </p:nvSpPr>
        <p:spPr>
          <a:xfrm>
            <a:off x="0" y="6291072"/>
            <a:ext cx="12191695" cy="566928"/>
          </a:xfrm>
          <a:prstGeom prst="rect">
            <a:avLst/>
          </a:prstGeom>
          <a:solidFill>
            <a:srgbClr val="1B2A4A"/>
          </a:solidFill>
          <a:ln w="12700">
            <a:solidFill>
              <a:srgbClr val="1B2A4A"/>
            </a:solidFill>
            <a:prstDash val="solid"/>
          </a:ln>
        </p:spPr>
      </p:sp>
      <p:sp>
        <p:nvSpPr>
          <p:cNvPr id="24" name="Text 22"/>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5" name="Text 23"/>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MOTIVATION</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Why Use Abstraction?</a:t>
            </a:r>
            <a:endParaRPr lang="en-US" sz="2700" dirty="0"/>
          </a:p>
        </p:txBody>
      </p:sp>
      <p:sp>
        <p:nvSpPr>
          <p:cNvPr id="4" name="Shape 2"/>
          <p:cNvSpPr/>
          <p:nvPr/>
        </p:nvSpPr>
        <p:spPr>
          <a:xfrm>
            <a:off x="594360" y="1691640"/>
            <a:ext cx="10607040" cy="2089404"/>
          </a:xfrm>
          <a:prstGeom prst="roundRect">
            <a:avLst>
              <a:gd name="adj" fmla="val 2626"/>
            </a:avLst>
          </a:prstGeom>
          <a:solidFill>
            <a:srgbClr val="F5F6FA"/>
          </a:solidFill>
          <a:ln w="9525">
            <a:solidFill>
              <a:srgbClr val="E4E7EE"/>
            </a:solidFill>
            <a:prstDash val="solid"/>
          </a:ln>
        </p:spPr>
      </p:sp>
      <p:sp>
        <p:nvSpPr>
          <p:cNvPr id="5" name="Shape 3"/>
          <p:cNvSpPr/>
          <p:nvPr/>
        </p:nvSpPr>
        <p:spPr>
          <a:xfrm>
            <a:off x="777240" y="1874520"/>
            <a:ext cx="109728" cy="109728"/>
          </a:xfrm>
          <a:prstGeom prst="ellipse">
            <a:avLst/>
          </a:prstGeom>
          <a:solidFill>
            <a:srgbClr val="E8590C"/>
          </a:solidFill>
          <a:ln w="12700">
            <a:solidFill>
              <a:srgbClr val="000000"/>
            </a:solidFill>
            <a:prstDash val="solid"/>
          </a:ln>
        </p:spPr>
      </p:sp>
      <p:sp>
        <p:nvSpPr>
          <p:cNvPr id="6" name="Text 4"/>
          <p:cNvSpPr/>
          <p:nvPr/>
        </p:nvSpPr>
        <p:spPr>
          <a:xfrm>
            <a:off x="1051560" y="1764792"/>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Enforces a shared contract</a:t>
            </a:r>
            <a:endParaRPr lang="en-US" sz="1500" dirty="0"/>
          </a:p>
        </p:txBody>
      </p:sp>
      <p:sp>
        <p:nvSpPr>
          <p:cNvPr id="7" name="Text 5"/>
          <p:cNvSpPr/>
          <p:nvPr/>
        </p:nvSpPr>
        <p:spPr>
          <a:xfrm>
            <a:off x="1051560" y="2057400"/>
            <a:ext cx="9966960" cy="1668780"/>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Every subclass is guaranteed to implement the abstract methods, so code using the parent type can rely on them existing.</a:t>
            </a:r>
            <a:endParaRPr lang="en-US" sz="1250" dirty="0"/>
          </a:p>
        </p:txBody>
      </p:sp>
      <p:sp>
        <p:nvSpPr>
          <p:cNvPr id="8" name="Shape 6"/>
          <p:cNvSpPr/>
          <p:nvPr/>
        </p:nvSpPr>
        <p:spPr>
          <a:xfrm>
            <a:off x="594360" y="3945636"/>
            <a:ext cx="10607040" cy="2089404"/>
          </a:xfrm>
          <a:prstGeom prst="roundRect">
            <a:avLst>
              <a:gd name="adj" fmla="val 2626"/>
            </a:avLst>
          </a:prstGeom>
          <a:solidFill>
            <a:srgbClr val="F5F6FA"/>
          </a:solidFill>
          <a:ln w="9525">
            <a:solidFill>
              <a:srgbClr val="E4E7EE"/>
            </a:solidFill>
            <a:prstDash val="solid"/>
          </a:ln>
        </p:spPr>
      </p:sp>
      <p:sp>
        <p:nvSpPr>
          <p:cNvPr id="9" name="Shape 7"/>
          <p:cNvSpPr/>
          <p:nvPr/>
        </p:nvSpPr>
        <p:spPr>
          <a:xfrm>
            <a:off x="777240" y="4128516"/>
            <a:ext cx="109728" cy="109728"/>
          </a:xfrm>
          <a:prstGeom prst="ellipse">
            <a:avLst/>
          </a:prstGeom>
          <a:solidFill>
            <a:srgbClr val="E8590C"/>
          </a:solidFill>
          <a:ln w="12700">
            <a:solidFill>
              <a:srgbClr val="000000"/>
            </a:solidFill>
            <a:prstDash val="solid"/>
          </a:ln>
        </p:spPr>
      </p:sp>
      <p:sp>
        <p:nvSpPr>
          <p:cNvPr id="10" name="Text 8"/>
          <p:cNvSpPr/>
          <p:nvPr/>
        </p:nvSpPr>
        <p:spPr>
          <a:xfrm>
            <a:off x="1051560" y="4018788"/>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Shares common code once</a:t>
            </a:r>
            <a:endParaRPr lang="en-US" sz="1500" dirty="0"/>
          </a:p>
        </p:txBody>
      </p:sp>
      <p:sp>
        <p:nvSpPr>
          <p:cNvPr id="11" name="Text 9"/>
          <p:cNvSpPr/>
          <p:nvPr/>
        </p:nvSpPr>
        <p:spPr>
          <a:xfrm>
            <a:off x="1051560" y="4311396"/>
            <a:ext cx="9966960" cy="1668780"/>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Fields, constructors, and concrete methods that every subclass needs are written a single time in the abstract class.</a:t>
            </a:r>
            <a:endParaRPr lang="en-US" sz="1250" dirty="0"/>
          </a:p>
        </p:txBody>
      </p:sp>
      <p:sp>
        <p:nvSpPr>
          <p:cNvPr id="12" name="Shape 10"/>
          <p:cNvSpPr/>
          <p:nvPr/>
        </p:nvSpPr>
        <p:spPr>
          <a:xfrm>
            <a:off x="0" y="0"/>
            <a:ext cx="12191695" cy="384048"/>
          </a:xfrm>
          <a:prstGeom prst="rect">
            <a:avLst/>
          </a:prstGeom>
          <a:solidFill>
            <a:srgbClr val="1B2A4A"/>
          </a:solidFill>
          <a:ln w="12700">
            <a:solidFill>
              <a:srgbClr val="1B2A4A"/>
            </a:solidFill>
            <a:prstDash val="solid"/>
          </a:ln>
        </p:spPr>
      </p:sp>
      <p:sp>
        <p:nvSpPr>
          <p:cNvPr id="13" name="Text 11"/>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4" name="Shape 12"/>
          <p:cNvSpPr/>
          <p:nvPr/>
        </p:nvSpPr>
        <p:spPr>
          <a:xfrm>
            <a:off x="219456" y="301752"/>
            <a:ext cx="960120" cy="0"/>
          </a:xfrm>
          <a:prstGeom prst="line">
            <a:avLst/>
          </a:prstGeom>
          <a:noFill/>
          <a:ln w="9525">
            <a:solidFill>
              <a:srgbClr val="4A5570"/>
            </a:solidFill>
            <a:prstDash val="solid"/>
          </a:ln>
        </p:spPr>
      </p:sp>
      <p:sp>
        <p:nvSpPr>
          <p:cNvPr id="15" name="Text 13"/>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16" name="Text 14"/>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17" name="Text 15"/>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18" name="Shape 16"/>
          <p:cNvSpPr/>
          <p:nvPr/>
        </p:nvSpPr>
        <p:spPr>
          <a:xfrm>
            <a:off x="0" y="6291072"/>
            <a:ext cx="12191695" cy="566928"/>
          </a:xfrm>
          <a:prstGeom prst="rect">
            <a:avLst/>
          </a:prstGeom>
          <a:solidFill>
            <a:srgbClr val="1B2A4A"/>
          </a:solidFill>
          <a:ln w="12700">
            <a:solidFill>
              <a:srgbClr val="1B2A4A"/>
            </a:solidFill>
            <a:prstDash val="solid"/>
          </a:ln>
        </p:spPr>
      </p:sp>
      <p:sp>
        <p:nvSpPr>
          <p:cNvPr id="19" name="Text 17"/>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0" name="Text 18"/>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CONCEPT</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What Is an Interface?</a:t>
            </a:r>
            <a:endParaRPr lang="en-US" sz="2700" dirty="0"/>
          </a:p>
        </p:txBody>
      </p:sp>
      <p:sp>
        <p:nvSpPr>
          <p:cNvPr id="4" name="Shape 2"/>
          <p:cNvSpPr/>
          <p:nvPr/>
        </p:nvSpPr>
        <p:spPr>
          <a:xfrm>
            <a:off x="594360" y="1691640"/>
            <a:ext cx="10607040" cy="2089404"/>
          </a:xfrm>
          <a:prstGeom prst="roundRect">
            <a:avLst>
              <a:gd name="adj" fmla="val 2626"/>
            </a:avLst>
          </a:prstGeom>
          <a:solidFill>
            <a:srgbClr val="F5F6FA"/>
          </a:solidFill>
          <a:ln w="9525">
            <a:solidFill>
              <a:srgbClr val="E4E7EE"/>
            </a:solidFill>
            <a:prstDash val="solid"/>
          </a:ln>
        </p:spPr>
      </p:sp>
      <p:sp>
        <p:nvSpPr>
          <p:cNvPr id="5" name="Shape 3"/>
          <p:cNvSpPr/>
          <p:nvPr/>
        </p:nvSpPr>
        <p:spPr>
          <a:xfrm>
            <a:off x="777240" y="1874520"/>
            <a:ext cx="109728" cy="109728"/>
          </a:xfrm>
          <a:prstGeom prst="ellipse">
            <a:avLst/>
          </a:prstGeom>
          <a:solidFill>
            <a:srgbClr val="E8590C"/>
          </a:solidFill>
          <a:ln w="12700">
            <a:solidFill>
              <a:srgbClr val="000000"/>
            </a:solidFill>
            <a:prstDash val="solid"/>
          </a:ln>
        </p:spPr>
      </p:sp>
      <p:sp>
        <p:nvSpPr>
          <p:cNvPr id="6" name="Text 4"/>
          <p:cNvSpPr/>
          <p:nvPr/>
        </p:nvSpPr>
        <p:spPr>
          <a:xfrm>
            <a:off x="1051560" y="1764792"/>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A pure contract of behavior</a:t>
            </a:r>
            <a:endParaRPr lang="en-US" sz="1500" dirty="0"/>
          </a:p>
        </p:txBody>
      </p:sp>
      <p:sp>
        <p:nvSpPr>
          <p:cNvPr id="7" name="Text 5"/>
          <p:cNvSpPr/>
          <p:nvPr/>
        </p:nvSpPr>
        <p:spPr>
          <a:xfrm>
            <a:off x="1051560" y="2057400"/>
            <a:ext cx="9966960" cy="1668780"/>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An interface declares what methods a class must provide, without saying how they work.</a:t>
            </a:r>
            <a:endParaRPr lang="en-US" sz="1250" dirty="0"/>
          </a:p>
        </p:txBody>
      </p:sp>
      <p:sp>
        <p:nvSpPr>
          <p:cNvPr id="8" name="Shape 6"/>
          <p:cNvSpPr/>
          <p:nvPr/>
        </p:nvSpPr>
        <p:spPr>
          <a:xfrm>
            <a:off x="594360" y="3945636"/>
            <a:ext cx="10607040" cy="2089404"/>
          </a:xfrm>
          <a:prstGeom prst="roundRect">
            <a:avLst>
              <a:gd name="adj" fmla="val 2626"/>
            </a:avLst>
          </a:prstGeom>
          <a:solidFill>
            <a:srgbClr val="F5F6FA"/>
          </a:solidFill>
          <a:ln w="9525">
            <a:solidFill>
              <a:srgbClr val="E4E7EE"/>
            </a:solidFill>
            <a:prstDash val="solid"/>
          </a:ln>
        </p:spPr>
      </p:sp>
      <p:sp>
        <p:nvSpPr>
          <p:cNvPr id="9" name="Shape 7"/>
          <p:cNvSpPr/>
          <p:nvPr/>
        </p:nvSpPr>
        <p:spPr>
          <a:xfrm>
            <a:off x="777240" y="4128516"/>
            <a:ext cx="109728" cy="109728"/>
          </a:xfrm>
          <a:prstGeom prst="ellipse">
            <a:avLst/>
          </a:prstGeom>
          <a:solidFill>
            <a:srgbClr val="E8590C"/>
          </a:solidFill>
          <a:ln w="12700">
            <a:solidFill>
              <a:srgbClr val="000000"/>
            </a:solidFill>
            <a:prstDash val="solid"/>
          </a:ln>
        </p:spPr>
      </p:sp>
      <p:sp>
        <p:nvSpPr>
          <p:cNvPr id="10" name="Text 8"/>
          <p:cNvSpPr/>
          <p:nvPr/>
        </p:nvSpPr>
        <p:spPr>
          <a:xfrm>
            <a:off x="1051560" y="4018788"/>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Any unrelated class can implement it</a:t>
            </a:r>
            <a:endParaRPr lang="en-US" sz="1500" dirty="0"/>
          </a:p>
        </p:txBody>
      </p:sp>
      <p:sp>
        <p:nvSpPr>
          <p:cNvPr id="11" name="Text 9"/>
          <p:cNvSpPr/>
          <p:nvPr/>
        </p:nvSpPr>
        <p:spPr>
          <a:xfrm>
            <a:off x="1051560" y="4311396"/>
            <a:ext cx="9966960" cy="1668780"/>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Classes that share no inheritance relationship can still implement the same interface.</a:t>
            </a:r>
            <a:endParaRPr lang="en-US" sz="1250" dirty="0"/>
          </a:p>
        </p:txBody>
      </p:sp>
      <p:sp>
        <p:nvSpPr>
          <p:cNvPr id="12" name="Shape 10"/>
          <p:cNvSpPr/>
          <p:nvPr/>
        </p:nvSpPr>
        <p:spPr>
          <a:xfrm>
            <a:off x="0" y="0"/>
            <a:ext cx="12191695" cy="384048"/>
          </a:xfrm>
          <a:prstGeom prst="rect">
            <a:avLst/>
          </a:prstGeom>
          <a:solidFill>
            <a:srgbClr val="1B2A4A"/>
          </a:solidFill>
          <a:ln w="12700">
            <a:solidFill>
              <a:srgbClr val="1B2A4A"/>
            </a:solidFill>
            <a:prstDash val="solid"/>
          </a:ln>
        </p:spPr>
      </p:sp>
      <p:sp>
        <p:nvSpPr>
          <p:cNvPr id="13" name="Text 11"/>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4" name="Shape 12"/>
          <p:cNvSpPr/>
          <p:nvPr/>
        </p:nvSpPr>
        <p:spPr>
          <a:xfrm>
            <a:off x="219456" y="301752"/>
            <a:ext cx="960120" cy="0"/>
          </a:xfrm>
          <a:prstGeom prst="line">
            <a:avLst/>
          </a:prstGeom>
          <a:noFill/>
          <a:ln w="9525">
            <a:solidFill>
              <a:srgbClr val="4A5570"/>
            </a:solidFill>
            <a:prstDash val="solid"/>
          </a:ln>
        </p:spPr>
      </p:sp>
      <p:sp>
        <p:nvSpPr>
          <p:cNvPr id="15" name="Text 13"/>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16" name="Text 14"/>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17" name="Text 15"/>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18" name="Shape 16"/>
          <p:cNvSpPr/>
          <p:nvPr/>
        </p:nvSpPr>
        <p:spPr>
          <a:xfrm>
            <a:off x="0" y="6291072"/>
            <a:ext cx="12191695" cy="566928"/>
          </a:xfrm>
          <a:prstGeom prst="rect">
            <a:avLst/>
          </a:prstGeom>
          <a:solidFill>
            <a:srgbClr val="1B2A4A"/>
          </a:solidFill>
          <a:ln w="12700">
            <a:solidFill>
              <a:srgbClr val="1B2A4A"/>
            </a:solidFill>
            <a:prstDash val="solid"/>
          </a:ln>
        </p:spPr>
      </p:sp>
      <p:sp>
        <p:nvSpPr>
          <p:cNvPr id="19" name="Text 17"/>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0" name="Text 18"/>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DECLARATION AND USE</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Declaring and Implementing an Interface</a:t>
            </a:r>
            <a:endParaRPr lang="en-US" sz="2700" dirty="0"/>
          </a:p>
        </p:txBody>
      </p:sp>
      <p:sp>
        <p:nvSpPr>
          <p:cNvPr id="4" name="Shape 2"/>
          <p:cNvSpPr/>
          <p:nvPr/>
        </p:nvSpPr>
        <p:spPr>
          <a:xfrm>
            <a:off x="594360" y="1600200"/>
            <a:ext cx="10607040" cy="896112"/>
          </a:xfrm>
          <a:prstGeom prst="roundRect">
            <a:avLst>
              <a:gd name="adj" fmla="val 6122"/>
            </a:avLst>
          </a:prstGeom>
          <a:solidFill>
            <a:srgbClr val="F5F6FA"/>
          </a:solidFill>
          <a:ln w="9525">
            <a:solidFill>
              <a:srgbClr val="E4E7EE"/>
            </a:solidFill>
            <a:prstDash val="solid"/>
          </a:ln>
        </p:spPr>
      </p:sp>
      <p:sp>
        <p:nvSpPr>
          <p:cNvPr id="5" name="Shape 3"/>
          <p:cNvSpPr/>
          <p:nvPr/>
        </p:nvSpPr>
        <p:spPr>
          <a:xfrm>
            <a:off x="804672" y="1755648"/>
            <a:ext cx="100584" cy="100584"/>
          </a:xfrm>
          <a:prstGeom prst="ellipse">
            <a:avLst/>
          </a:prstGeom>
          <a:solidFill>
            <a:srgbClr val="E8590C"/>
          </a:solidFill>
          <a:ln w="12700">
            <a:solidFill>
              <a:srgbClr val="000000"/>
            </a:solidFill>
            <a:prstDash val="solid"/>
          </a:ln>
        </p:spPr>
      </p:sp>
      <p:sp>
        <p:nvSpPr>
          <p:cNvPr id="6" name="Text 4"/>
          <p:cNvSpPr/>
          <p:nvPr/>
        </p:nvSpPr>
        <p:spPr>
          <a:xfrm>
            <a:off x="1051560" y="1655064"/>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interface introduces a new interface, and implements attaches its contract to a class.</a:t>
            </a:r>
            <a:endParaRPr lang="en-US" sz="1250" dirty="0"/>
          </a:p>
        </p:txBody>
      </p:sp>
      <p:sp>
        <p:nvSpPr>
          <p:cNvPr id="7" name="Shape 5"/>
          <p:cNvSpPr/>
          <p:nvPr/>
        </p:nvSpPr>
        <p:spPr>
          <a:xfrm>
            <a:off x="804672" y="2103120"/>
            <a:ext cx="100584" cy="100584"/>
          </a:xfrm>
          <a:prstGeom prst="ellipse">
            <a:avLst/>
          </a:prstGeom>
          <a:solidFill>
            <a:srgbClr val="E8590C"/>
          </a:solidFill>
          <a:ln w="12700">
            <a:solidFill>
              <a:srgbClr val="000000"/>
            </a:solidFill>
            <a:prstDash val="solid"/>
          </a:ln>
        </p:spPr>
      </p:sp>
      <p:sp>
        <p:nvSpPr>
          <p:cNvPr id="8" name="Text 6"/>
          <p:cNvSpPr/>
          <p:nvPr/>
        </p:nvSpPr>
        <p:spPr>
          <a:xfrm>
            <a:off x="1051560" y="2002536"/>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The class must provide a body for every abstract method the interface declares.</a:t>
            </a:r>
            <a:endParaRPr lang="en-US" sz="1250" dirty="0"/>
          </a:p>
        </p:txBody>
      </p:sp>
      <p:sp>
        <p:nvSpPr>
          <p:cNvPr id="9" name="Shape 7"/>
          <p:cNvSpPr/>
          <p:nvPr/>
        </p:nvSpPr>
        <p:spPr>
          <a:xfrm>
            <a:off x="594360" y="2642616"/>
            <a:ext cx="10607040" cy="3392424"/>
          </a:xfrm>
          <a:prstGeom prst="roundRect">
            <a:avLst>
              <a:gd name="adj" fmla="val 2156"/>
            </a:avLst>
          </a:prstGeom>
          <a:solidFill>
            <a:srgbClr val="1E1E2E"/>
          </a:solidFill>
          <a:ln w="12700">
            <a:solidFill>
              <a:srgbClr val="000000"/>
            </a:solidFill>
            <a:prstDash val="solid"/>
          </a:ln>
        </p:spPr>
      </p:sp>
      <p:sp>
        <p:nvSpPr>
          <p:cNvPr id="10" name="Shape 8"/>
          <p:cNvSpPr/>
          <p:nvPr/>
        </p:nvSpPr>
        <p:spPr>
          <a:xfrm>
            <a:off x="594360" y="2642616"/>
            <a:ext cx="10607040" cy="274320"/>
          </a:xfrm>
          <a:prstGeom prst="roundRect">
            <a:avLst>
              <a:gd name="adj" fmla="val 26667"/>
            </a:avLst>
          </a:prstGeom>
          <a:solidFill>
            <a:srgbClr val="17172A"/>
          </a:solidFill>
          <a:ln w="12700">
            <a:solidFill>
              <a:srgbClr val="000000"/>
            </a:solidFill>
            <a:prstDash val="solid"/>
          </a:ln>
        </p:spPr>
      </p:sp>
      <p:sp>
        <p:nvSpPr>
          <p:cNvPr id="11" name="Shape 9"/>
          <p:cNvSpPr/>
          <p:nvPr/>
        </p:nvSpPr>
        <p:spPr>
          <a:xfrm>
            <a:off x="594360" y="2843784"/>
            <a:ext cx="10607040" cy="73152"/>
          </a:xfrm>
          <a:prstGeom prst="rect">
            <a:avLst/>
          </a:prstGeom>
          <a:solidFill>
            <a:srgbClr val="17172A"/>
          </a:solidFill>
          <a:ln w="12700">
            <a:solidFill>
              <a:srgbClr val="000000"/>
            </a:solidFill>
            <a:prstDash val="solid"/>
          </a:ln>
        </p:spPr>
      </p:sp>
      <p:sp>
        <p:nvSpPr>
          <p:cNvPr id="12" name="Shape 10"/>
          <p:cNvSpPr/>
          <p:nvPr/>
        </p:nvSpPr>
        <p:spPr>
          <a:xfrm>
            <a:off x="722376" y="2741371"/>
            <a:ext cx="76810" cy="76810"/>
          </a:xfrm>
          <a:prstGeom prst="ellipse">
            <a:avLst/>
          </a:prstGeom>
          <a:solidFill>
            <a:srgbClr val="FF5F56"/>
          </a:solidFill>
          <a:ln w="12700">
            <a:solidFill>
              <a:srgbClr val="000000"/>
            </a:solidFill>
            <a:prstDash val="solid"/>
          </a:ln>
        </p:spPr>
      </p:sp>
      <p:sp>
        <p:nvSpPr>
          <p:cNvPr id="13" name="Shape 11"/>
          <p:cNvSpPr/>
          <p:nvPr/>
        </p:nvSpPr>
        <p:spPr>
          <a:xfrm>
            <a:off x="886968" y="2741371"/>
            <a:ext cx="76810" cy="76810"/>
          </a:xfrm>
          <a:prstGeom prst="ellipse">
            <a:avLst/>
          </a:prstGeom>
          <a:solidFill>
            <a:srgbClr val="FFBD2E"/>
          </a:solidFill>
          <a:ln w="12700">
            <a:solidFill>
              <a:srgbClr val="000000"/>
            </a:solidFill>
            <a:prstDash val="solid"/>
          </a:ln>
        </p:spPr>
      </p:sp>
      <p:sp>
        <p:nvSpPr>
          <p:cNvPr id="14" name="Shape 12"/>
          <p:cNvSpPr/>
          <p:nvPr/>
        </p:nvSpPr>
        <p:spPr>
          <a:xfrm>
            <a:off x="1051560" y="2741371"/>
            <a:ext cx="76810" cy="76810"/>
          </a:xfrm>
          <a:prstGeom prst="ellipse">
            <a:avLst/>
          </a:prstGeom>
          <a:solidFill>
            <a:srgbClr val="27C93F"/>
          </a:solidFill>
          <a:ln w="12700">
            <a:solidFill>
              <a:srgbClr val="000000"/>
            </a:solidFill>
            <a:prstDash val="solid"/>
          </a:ln>
        </p:spPr>
      </p:sp>
      <p:sp>
        <p:nvSpPr>
          <p:cNvPr id="15" name="Text 13"/>
          <p:cNvSpPr/>
          <p:nvPr/>
        </p:nvSpPr>
        <p:spPr>
          <a:xfrm>
            <a:off x="1371600" y="2642616"/>
            <a:ext cx="9692640" cy="274320"/>
          </a:xfrm>
          <a:prstGeom prst="rect">
            <a:avLst/>
          </a:prstGeom>
          <a:noFill/>
          <a:ln/>
        </p:spPr>
        <p:txBody>
          <a:bodyPr wrap="square" lIns="0" tIns="0" rIns="0" bIns="0" rtlCol="0" anchor="ctr"/>
          <a:lstStyle/>
          <a:p>
            <a:pPr marL="0" indent="0" algn="l">
              <a:buNone/>
            </a:pPr>
            <a:r>
              <a:rPr lang="en-US" sz="1000" dirty="0">
                <a:solidFill>
                  <a:srgbClr val="8A8FA3"/>
                </a:solidFill>
                <a:latin typeface="Courier New" pitchFamily="34" charset="0"/>
                <a:ea typeface="Courier New" pitchFamily="34" charset="-122"/>
                <a:cs typeface="Courier New" pitchFamily="34" charset="-120"/>
              </a:rPr>
              <a:t>Main.java</a:t>
            </a:r>
            <a:endParaRPr lang="en-US" sz="1000" dirty="0"/>
          </a:p>
        </p:txBody>
      </p:sp>
      <p:sp>
        <p:nvSpPr>
          <p:cNvPr id="16" name="Text 14"/>
          <p:cNvSpPr/>
          <p:nvPr/>
        </p:nvSpPr>
        <p:spPr>
          <a:xfrm>
            <a:off x="777240" y="2990088"/>
            <a:ext cx="10241280" cy="2971800"/>
          </a:xfrm>
          <a:prstGeom prst="rect">
            <a:avLst/>
          </a:prstGeom>
          <a:noFill/>
          <a:ln/>
        </p:spPr>
        <p:txBody>
          <a:bodyPr wrap="square" lIns="0" tIns="0" rIns="0" bIns="0" rtlCol="0" anchor="t"/>
          <a:lstStyle/>
          <a:p>
            <a:pPr marL="0" indent="0" algn="l">
              <a:lnSpc>
                <a:spcPct val="118000"/>
              </a:lnSpc>
              <a:buNone/>
            </a:pPr>
            <a:r>
              <a:rPr lang="en-US" sz="1500" b="1" dirty="0">
                <a:solidFill>
                  <a:srgbClr val="569CD6"/>
                </a:solidFill>
                <a:latin typeface="Courier New" pitchFamily="34" charset="0"/>
                <a:ea typeface="Courier New" pitchFamily="34" charset="-122"/>
                <a:cs typeface="Courier New" pitchFamily="34" charset="-120"/>
              </a:rPr>
              <a:t>public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interface</a:t>
            </a:r>
            <a:r>
              <a:rPr lang="en-US" sz="1500" dirty="0">
                <a:solidFill>
                  <a:srgbClr val="D4D4D4"/>
                </a:solidFill>
                <a:latin typeface="Courier New" pitchFamily="34" charset="0"/>
                <a:ea typeface="Courier New" pitchFamily="34" charset="-122"/>
                <a:cs typeface="Courier New" pitchFamily="34" charset="-120"/>
              </a:rPr>
              <a:t> Payable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double</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DCDCAA"/>
                </a:solidFill>
                <a:latin typeface="Courier New" pitchFamily="34" charset="0"/>
                <a:ea typeface="Courier New" pitchFamily="34" charset="-122"/>
                <a:cs typeface="Courier New" pitchFamily="34" charset="-120"/>
              </a:rPr>
              <a:t>calculatePayment</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b="1" dirty="0">
                <a:solidFill>
                  <a:srgbClr val="569CD6"/>
                </a:solidFill>
                <a:latin typeface="Courier New" pitchFamily="34" charset="0"/>
                <a:ea typeface="Courier New" pitchFamily="34" charset="-122"/>
                <a:cs typeface="Courier New" pitchFamily="34" charset="-120"/>
              </a:rPr>
              <a:t>public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class</a:t>
            </a:r>
            <a:r>
              <a:rPr lang="en-US" sz="1500" dirty="0">
                <a:solidFill>
                  <a:srgbClr val="D4D4D4"/>
                </a:solidFill>
                <a:latin typeface="Courier New" pitchFamily="34" charset="0"/>
                <a:ea typeface="Courier New" pitchFamily="34" charset="-122"/>
                <a:cs typeface="Courier New" pitchFamily="34" charset="-120"/>
              </a:rPr>
              <a:t> Invoice </a:t>
            </a:r>
            <a:r>
              <a:rPr lang="en-US" sz="1500" b="1" dirty="0">
                <a:solidFill>
                  <a:srgbClr val="569CD6"/>
                </a:solidFill>
                <a:latin typeface="Courier New" pitchFamily="34" charset="0"/>
                <a:ea typeface="Courier New" pitchFamily="34" charset="-122"/>
                <a:cs typeface="Courier New" pitchFamily="34" charset="-120"/>
              </a:rPr>
              <a:t>implements</a:t>
            </a:r>
            <a:r>
              <a:rPr lang="en-US" sz="1500" dirty="0">
                <a:solidFill>
                  <a:srgbClr val="D4D4D4"/>
                </a:solidFill>
                <a:latin typeface="Courier New" pitchFamily="34" charset="0"/>
                <a:ea typeface="Courier New" pitchFamily="34" charset="-122"/>
                <a:cs typeface="Courier New" pitchFamily="34" charset="-120"/>
              </a:rPr>
              <a:t> Payable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double</a:t>
            </a:r>
            <a:r>
              <a:rPr lang="en-US" sz="1500" dirty="0">
                <a:solidFill>
                  <a:srgbClr val="D4D4D4"/>
                </a:solidFill>
                <a:latin typeface="Courier New" pitchFamily="34" charset="0"/>
                <a:ea typeface="Courier New" pitchFamily="34" charset="-122"/>
                <a:cs typeface="Courier New" pitchFamily="34" charset="-120"/>
              </a:rPr>
              <a:t> amount;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public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double</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DCDCAA"/>
                </a:solidFill>
                <a:latin typeface="Courier New" pitchFamily="34" charset="0"/>
                <a:ea typeface="Courier New" pitchFamily="34" charset="-122"/>
                <a:cs typeface="Courier New" pitchFamily="34" charset="-120"/>
              </a:rPr>
              <a:t>calculatePayment</a:t>
            </a: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return</a:t>
            </a:r>
            <a:r>
              <a:rPr lang="en-US" sz="1500" dirty="0">
                <a:solidFill>
                  <a:srgbClr val="D4D4D4"/>
                </a:solidFill>
                <a:latin typeface="Courier New" pitchFamily="34" charset="0"/>
                <a:ea typeface="Courier New" pitchFamily="34" charset="-122"/>
                <a:cs typeface="Courier New" pitchFamily="34" charset="-120"/>
              </a:rPr>
              <a:t> amount;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a:t>
            </a:r>
            <a:endParaRPr lang="en-US" sz="1500" dirty="0"/>
          </a:p>
        </p:txBody>
      </p:sp>
      <p:sp>
        <p:nvSpPr>
          <p:cNvPr id="17" name="Shape 15"/>
          <p:cNvSpPr/>
          <p:nvPr/>
        </p:nvSpPr>
        <p:spPr>
          <a:xfrm>
            <a:off x="0" y="0"/>
            <a:ext cx="12191695" cy="384048"/>
          </a:xfrm>
          <a:prstGeom prst="rect">
            <a:avLst/>
          </a:prstGeom>
          <a:solidFill>
            <a:srgbClr val="1B2A4A"/>
          </a:solidFill>
          <a:ln w="12700">
            <a:solidFill>
              <a:srgbClr val="1B2A4A"/>
            </a:solidFill>
            <a:prstDash val="solid"/>
          </a:ln>
        </p:spPr>
      </p:sp>
      <p:sp>
        <p:nvSpPr>
          <p:cNvPr id="18" name="Text 16"/>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9" name="Shape 17"/>
          <p:cNvSpPr/>
          <p:nvPr/>
        </p:nvSpPr>
        <p:spPr>
          <a:xfrm>
            <a:off x="219456" y="301752"/>
            <a:ext cx="960120" cy="0"/>
          </a:xfrm>
          <a:prstGeom prst="line">
            <a:avLst/>
          </a:prstGeom>
          <a:noFill/>
          <a:ln w="9525">
            <a:solidFill>
              <a:srgbClr val="4A5570"/>
            </a:solidFill>
            <a:prstDash val="solid"/>
          </a:ln>
        </p:spPr>
      </p:sp>
      <p:sp>
        <p:nvSpPr>
          <p:cNvPr id="20" name="Text 18"/>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1" name="Text 19"/>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2" name="Text 20"/>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3" name="Shape 21"/>
          <p:cNvSpPr/>
          <p:nvPr/>
        </p:nvSpPr>
        <p:spPr>
          <a:xfrm>
            <a:off x="0" y="6291072"/>
            <a:ext cx="12191695" cy="566928"/>
          </a:xfrm>
          <a:prstGeom prst="rect">
            <a:avLst/>
          </a:prstGeom>
          <a:solidFill>
            <a:srgbClr val="1B2A4A"/>
          </a:solidFill>
          <a:ln w="12700">
            <a:solidFill>
              <a:srgbClr val="1B2A4A"/>
            </a:solidFill>
            <a:prstDash val="solid"/>
          </a:ln>
        </p:spPr>
      </p:sp>
      <p:sp>
        <p:nvSpPr>
          <p:cNvPr id="24" name="Text 22"/>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5" name="Text 23"/>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MULTIPLE CONTRACTS</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Implementing More Than One Interface</a:t>
            </a:r>
            <a:endParaRPr lang="en-US" sz="2700" dirty="0"/>
          </a:p>
        </p:txBody>
      </p:sp>
      <p:sp>
        <p:nvSpPr>
          <p:cNvPr id="4" name="Shape 2"/>
          <p:cNvSpPr/>
          <p:nvPr/>
        </p:nvSpPr>
        <p:spPr>
          <a:xfrm>
            <a:off x="594360" y="1600200"/>
            <a:ext cx="10607040" cy="896112"/>
          </a:xfrm>
          <a:prstGeom prst="roundRect">
            <a:avLst>
              <a:gd name="adj" fmla="val 6122"/>
            </a:avLst>
          </a:prstGeom>
          <a:solidFill>
            <a:srgbClr val="F5F6FA"/>
          </a:solidFill>
          <a:ln w="9525">
            <a:solidFill>
              <a:srgbClr val="E4E7EE"/>
            </a:solidFill>
            <a:prstDash val="solid"/>
          </a:ln>
        </p:spPr>
      </p:sp>
      <p:sp>
        <p:nvSpPr>
          <p:cNvPr id="5" name="Shape 3"/>
          <p:cNvSpPr/>
          <p:nvPr/>
        </p:nvSpPr>
        <p:spPr>
          <a:xfrm>
            <a:off x="804672" y="1755648"/>
            <a:ext cx="100584" cy="100584"/>
          </a:xfrm>
          <a:prstGeom prst="ellipse">
            <a:avLst/>
          </a:prstGeom>
          <a:solidFill>
            <a:srgbClr val="E8590C"/>
          </a:solidFill>
          <a:ln w="12700">
            <a:solidFill>
              <a:srgbClr val="000000"/>
            </a:solidFill>
            <a:prstDash val="solid"/>
          </a:ln>
        </p:spPr>
      </p:sp>
      <p:sp>
        <p:nvSpPr>
          <p:cNvPr id="6" name="Text 4"/>
          <p:cNvSpPr/>
          <p:nvPr/>
        </p:nvSpPr>
        <p:spPr>
          <a:xfrm>
            <a:off x="1051560" y="1655064"/>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A class can implement several interfaces at once, separated by commas.</a:t>
            </a:r>
            <a:endParaRPr lang="en-US" sz="1250" dirty="0"/>
          </a:p>
        </p:txBody>
      </p:sp>
      <p:sp>
        <p:nvSpPr>
          <p:cNvPr id="7" name="Shape 5"/>
          <p:cNvSpPr/>
          <p:nvPr/>
        </p:nvSpPr>
        <p:spPr>
          <a:xfrm>
            <a:off x="804672" y="2103120"/>
            <a:ext cx="100584" cy="100584"/>
          </a:xfrm>
          <a:prstGeom prst="ellipse">
            <a:avLst/>
          </a:prstGeom>
          <a:solidFill>
            <a:srgbClr val="E8590C"/>
          </a:solidFill>
          <a:ln w="12700">
            <a:solidFill>
              <a:srgbClr val="000000"/>
            </a:solidFill>
            <a:prstDash val="solid"/>
          </a:ln>
        </p:spPr>
      </p:sp>
      <p:sp>
        <p:nvSpPr>
          <p:cNvPr id="8" name="Text 6"/>
          <p:cNvSpPr/>
          <p:nvPr/>
        </p:nvSpPr>
        <p:spPr>
          <a:xfrm>
            <a:off x="1051560" y="2002536"/>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This is how Java achieves some of the flexibility that multiple class inheritance would otherwise provide.</a:t>
            </a:r>
            <a:endParaRPr lang="en-US" sz="1250" dirty="0"/>
          </a:p>
        </p:txBody>
      </p:sp>
      <p:sp>
        <p:nvSpPr>
          <p:cNvPr id="9" name="Shape 7"/>
          <p:cNvSpPr/>
          <p:nvPr/>
        </p:nvSpPr>
        <p:spPr>
          <a:xfrm>
            <a:off x="594360" y="2642616"/>
            <a:ext cx="10607040" cy="3392424"/>
          </a:xfrm>
          <a:prstGeom prst="roundRect">
            <a:avLst>
              <a:gd name="adj" fmla="val 2156"/>
            </a:avLst>
          </a:prstGeom>
          <a:solidFill>
            <a:srgbClr val="1E1E2E"/>
          </a:solidFill>
          <a:ln w="12700">
            <a:solidFill>
              <a:srgbClr val="000000"/>
            </a:solidFill>
            <a:prstDash val="solid"/>
          </a:ln>
        </p:spPr>
      </p:sp>
      <p:sp>
        <p:nvSpPr>
          <p:cNvPr id="10" name="Shape 8"/>
          <p:cNvSpPr/>
          <p:nvPr/>
        </p:nvSpPr>
        <p:spPr>
          <a:xfrm>
            <a:off x="594360" y="2642616"/>
            <a:ext cx="10607040" cy="274320"/>
          </a:xfrm>
          <a:prstGeom prst="roundRect">
            <a:avLst>
              <a:gd name="adj" fmla="val 26667"/>
            </a:avLst>
          </a:prstGeom>
          <a:solidFill>
            <a:srgbClr val="17172A"/>
          </a:solidFill>
          <a:ln w="12700">
            <a:solidFill>
              <a:srgbClr val="000000"/>
            </a:solidFill>
            <a:prstDash val="solid"/>
          </a:ln>
        </p:spPr>
      </p:sp>
      <p:sp>
        <p:nvSpPr>
          <p:cNvPr id="11" name="Shape 9"/>
          <p:cNvSpPr/>
          <p:nvPr/>
        </p:nvSpPr>
        <p:spPr>
          <a:xfrm>
            <a:off x="594360" y="2843784"/>
            <a:ext cx="10607040" cy="73152"/>
          </a:xfrm>
          <a:prstGeom prst="rect">
            <a:avLst/>
          </a:prstGeom>
          <a:solidFill>
            <a:srgbClr val="17172A"/>
          </a:solidFill>
          <a:ln w="12700">
            <a:solidFill>
              <a:srgbClr val="000000"/>
            </a:solidFill>
            <a:prstDash val="solid"/>
          </a:ln>
        </p:spPr>
      </p:sp>
      <p:sp>
        <p:nvSpPr>
          <p:cNvPr id="12" name="Shape 10"/>
          <p:cNvSpPr/>
          <p:nvPr/>
        </p:nvSpPr>
        <p:spPr>
          <a:xfrm>
            <a:off x="722376" y="2741371"/>
            <a:ext cx="76810" cy="76810"/>
          </a:xfrm>
          <a:prstGeom prst="ellipse">
            <a:avLst/>
          </a:prstGeom>
          <a:solidFill>
            <a:srgbClr val="FF5F56"/>
          </a:solidFill>
          <a:ln w="12700">
            <a:solidFill>
              <a:srgbClr val="000000"/>
            </a:solidFill>
            <a:prstDash val="solid"/>
          </a:ln>
        </p:spPr>
      </p:sp>
      <p:sp>
        <p:nvSpPr>
          <p:cNvPr id="13" name="Shape 11"/>
          <p:cNvSpPr/>
          <p:nvPr/>
        </p:nvSpPr>
        <p:spPr>
          <a:xfrm>
            <a:off x="886968" y="2741371"/>
            <a:ext cx="76810" cy="76810"/>
          </a:xfrm>
          <a:prstGeom prst="ellipse">
            <a:avLst/>
          </a:prstGeom>
          <a:solidFill>
            <a:srgbClr val="FFBD2E"/>
          </a:solidFill>
          <a:ln w="12700">
            <a:solidFill>
              <a:srgbClr val="000000"/>
            </a:solidFill>
            <a:prstDash val="solid"/>
          </a:ln>
        </p:spPr>
      </p:sp>
      <p:sp>
        <p:nvSpPr>
          <p:cNvPr id="14" name="Shape 12"/>
          <p:cNvSpPr/>
          <p:nvPr/>
        </p:nvSpPr>
        <p:spPr>
          <a:xfrm>
            <a:off x="1051560" y="2741371"/>
            <a:ext cx="76810" cy="76810"/>
          </a:xfrm>
          <a:prstGeom prst="ellipse">
            <a:avLst/>
          </a:prstGeom>
          <a:solidFill>
            <a:srgbClr val="27C93F"/>
          </a:solidFill>
          <a:ln w="12700">
            <a:solidFill>
              <a:srgbClr val="000000"/>
            </a:solidFill>
            <a:prstDash val="solid"/>
          </a:ln>
        </p:spPr>
      </p:sp>
      <p:sp>
        <p:nvSpPr>
          <p:cNvPr id="15" name="Text 13"/>
          <p:cNvSpPr/>
          <p:nvPr/>
        </p:nvSpPr>
        <p:spPr>
          <a:xfrm>
            <a:off x="1371600" y="2642616"/>
            <a:ext cx="9692640" cy="274320"/>
          </a:xfrm>
          <a:prstGeom prst="rect">
            <a:avLst/>
          </a:prstGeom>
          <a:noFill/>
          <a:ln/>
        </p:spPr>
        <p:txBody>
          <a:bodyPr wrap="square" lIns="0" tIns="0" rIns="0" bIns="0" rtlCol="0" anchor="ctr"/>
          <a:lstStyle/>
          <a:p>
            <a:pPr marL="0" indent="0" algn="l">
              <a:buNone/>
            </a:pPr>
            <a:r>
              <a:rPr lang="en-US" sz="1000" dirty="0">
                <a:solidFill>
                  <a:srgbClr val="8A8FA3"/>
                </a:solidFill>
                <a:latin typeface="Courier New" pitchFamily="34" charset="0"/>
                <a:ea typeface="Courier New" pitchFamily="34" charset="-122"/>
                <a:cs typeface="Courier New" pitchFamily="34" charset="-120"/>
              </a:rPr>
              <a:t>Main.java</a:t>
            </a:r>
            <a:endParaRPr lang="en-US" sz="1000" dirty="0"/>
          </a:p>
        </p:txBody>
      </p:sp>
      <p:sp>
        <p:nvSpPr>
          <p:cNvPr id="16" name="Text 14"/>
          <p:cNvSpPr/>
          <p:nvPr/>
        </p:nvSpPr>
        <p:spPr>
          <a:xfrm>
            <a:off x="777240" y="2990088"/>
            <a:ext cx="10241280" cy="2971800"/>
          </a:xfrm>
          <a:prstGeom prst="rect">
            <a:avLst/>
          </a:prstGeom>
          <a:noFill/>
          <a:ln/>
        </p:spPr>
        <p:txBody>
          <a:bodyPr wrap="square" lIns="0" tIns="0" rIns="0" bIns="0" rtlCol="0" anchor="t"/>
          <a:lstStyle/>
          <a:p>
            <a:pPr marL="0" indent="0" algn="l">
              <a:lnSpc>
                <a:spcPct val="118000"/>
              </a:lnSpc>
              <a:buNone/>
            </a:pPr>
            <a:r>
              <a:rPr lang="en-US" sz="1500" b="1" dirty="0">
                <a:solidFill>
                  <a:srgbClr val="569CD6"/>
                </a:solidFill>
                <a:latin typeface="Courier New" pitchFamily="34" charset="0"/>
                <a:ea typeface="Courier New" pitchFamily="34" charset="-122"/>
                <a:cs typeface="Courier New" pitchFamily="34" charset="-120"/>
              </a:rPr>
              <a:t>public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interface</a:t>
            </a:r>
            <a:r>
              <a:rPr lang="en-US" sz="1500" dirty="0">
                <a:solidFill>
                  <a:srgbClr val="D4D4D4"/>
                </a:solidFill>
                <a:latin typeface="Courier New" pitchFamily="34" charset="0"/>
                <a:ea typeface="Courier New" pitchFamily="34" charset="-122"/>
                <a:cs typeface="Courier New" pitchFamily="34" charset="-120"/>
              </a:rPr>
              <a:t> Printable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void</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DCDCAA"/>
                </a:solidFill>
                <a:latin typeface="Courier New" pitchFamily="34" charset="0"/>
                <a:ea typeface="Courier New" pitchFamily="34" charset="-122"/>
                <a:cs typeface="Courier New" pitchFamily="34" charset="-120"/>
              </a:rPr>
              <a:t>print</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b="1" dirty="0">
                <a:solidFill>
                  <a:srgbClr val="569CD6"/>
                </a:solidFill>
                <a:latin typeface="Courier New" pitchFamily="34" charset="0"/>
                <a:ea typeface="Courier New" pitchFamily="34" charset="-122"/>
                <a:cs typeface="Courier New" pitchFamily="34" charset="-120"/>
              </a:rPr>
              <a:t>public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class</a:t>
            </a:r>
            <a:r>
              <a:rPr lang="en-US" sz="1500" dirty="0">
                <a:solidFill>
                  <a:srgbClr val="D4D4D4"/>
                </a:solidFill>
                <a:latin typeface="Courier New" pitchFamily="34" charset="0"/>
                <a:ea typeface="Courier New" pitchFamily="34" charset="-122"/>
                <a:cs typeface="Courier New" pitchFamily="34" charset="-120"/>
              </a:rPr>
              <a:t> Invoice </a:t>
            </a:r>
            <a:r>
              <a:rPr lang="en-US" sz="1500" b="1" dirty="0">
                <a:solidFill>
                  <a:srgbClr val="569CD6"/>
                </a:solidFill>
                <a:latin typeface="Courier New" pitchFamily="34" charset="0"/>
                <a:ea typeface="Courier New" pitchFamily="34" charset="-122"/>
                <a:cs typeface="Courier New" pitchFamily="34" charset="-120"/>
              </a:rPr>
              <a:t>implements</a:t>
            </a:r>
            <a:r>
              <a:rPr lang="en-US" sz="1500" dirty="0">
                <a:solidFill>
                  <a:srgbClr val="D4D4D4"/>
                </a:solidFill>
                <a:latin typeface="Courier New" pitchFamily="34" charset="0"/>
                <a:ea typeface="Courier New" pitchFamily="34" charset="-122"/>
                <a:cs typeface="Courier New" pitchFamily="34" charset="-120"/>
              </a:rPr>
              <a:t> Payable, Printable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double</a:t>
            </a:r>
            <a:r>
              <a:rPr lang="en-US" sz="1500" dirty="0">
                <a:solidFill>
                  <a:srgbClr val="D4D4D4"/>
                </a:solidFill>
                <a:latin typeface="Courier New" pitchFamily="34" charset="0"/>
                <a:ea typeface="Courier New" pitchFamily="34" charset="-122"/>
                <a:cs typeface="Courier New" pitchFamily="34" charset="-120"/>
              </a:rPr>
              <a:t> amount;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public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double</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DCDCAA"/>
                </a:solidFill>
                <a:latin typeface="Courier New" pitchFamily="34" charset="0"/>
                <a:ea typeface="Courier New" pitchFamily="34" charset="-122"/>
                <a:cs typeface="Courier New" pitchFamily="34" charset="-120"/>
              </a:rPr>
              <a:t>calculatePayment</a:t>
            </a:r>
            <a:r>
              <a:rPr lang="en-US" sz="1500" dirty="0">
                <a:solidFill>
                  <a:srgbClr val="D4D4D4"/>
                </a:solidFill>
                <a:latin typeface="Courier New" pitchFamily="34" charset="0"/>
                <a:ea typeface="Courier New" pitchFamily="34" charset="-122"/>
                <a:cs typeface="Courier New" pitchFamily="34" charset="-120"/>
              </a:rPr>
              <a:t>() { </a:t>
            </a:r>
            <a:r>
              <a:rPr lang="en-US" sz="1500" b="1" dirty="0">
                <a:solidFill>
                  <a:srgbClr val="569CD6"/>
                </a:solidFill>
                <a:latin typeface="Courier New" pitchFamily="34" charset="0"/>
                <a:ea typeface="Courier New" pitchFamily="34" charset="-122"/>
                <a:cs typeface="Courier New" pitchFamily="34" charset="-120"/>
              </a:rPr>
              <a:t>return</a:t>
            </a:r>
            <a:r>
              <a:rPr lang="en-US" sz="1500" dirty="0">
                <a:solidFill>
                  <a:srgbClr val="D4D4D4"/>
                </a:solidFill>
                <a:latin typeface="Courier New" pitchFamily="34" charset="0"/>
                <a:ea typeface="Courier New" pitchFamily="34" charset="-122"/>
                <a:cs typeface="Courier New" pitchFamily="34" charset="-120"/>
              </a:rPr>
              <a:t> amount;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public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void</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DCDCAA"/>
                </a:solidFill>
                <a:latin typeface="Courier New" pitchFamily="34" charset="0"/>
                <a:ea typeface="Courier New" pitchFamily="34" charset="-122"/>
                <a:cs typeface="Courier New" pitchFamily="34" charset="-120"/>
              </a:rPr>
              <a:t>print</a:t>
            </a:r>
            <a:r>
              <a:rPr lang="en-US" sz="1500" dirty="0">
                <a:solidFill>
                  <a:srgbClr val="D4D4D4"/>
                </a:solidFill>
                <a:latin typeface="Courier New" pitchFamily="34" charset="0"/>
                <a:ea typeface="Courier New" pitchFamily="34" charset="-122"/>
                <a:cs typeface="Courier New" pitchFamily="34" charset="-120"/>
              </a:rPr>
              <a:t>() { </a:t>
            </a:r>
            <a:r>
              <a:rPr lang="en-US" sz="1500" dirty="0">
                <a:solidFill>
                  <a:srgbClr val="4EC9B0"/>
                </a:solidFill>
                <a:latin typeface="Courier New" pitchFamily="34" charset="0"/>
                <a:ea typeface="Courier New" pitchFamily="34" charset="-122"/>
                <a:cs typeface="Courier New" pitchFamily="34" charset="-120"/>
              </a:rPr>
              <a:t>System</a:t>
            </a:r>
            <a:r>
              <a:rPr lang="en-US" sz="1500" dirty="0">
                <a:solidFill>
                  <a:srgbClr val="D4D4D4"/>
                </a:solidFill>
                <a:latin typeface="Courier New" pitchFamily="34" charset="0"/>
                <a:ea typeface="Courier New" pitchFamily="34" charset="-122"/>
                <a:cs typeface="Courier New" pitchFamily="34" charset="-120"/>
              </a:rPr>
              <a:t>.out.</a:t>
            </a:r>
            <a:r>
              <a:rPr lang="en-US" sz="1500" dirty="0">
                <a:solidFill>
                  <a:srgbClr val="DCDCAA"/>
                </a:solidFill>
                <a:latin typeface="Courier New" pitchFamily="34" charset="0"/>
                <a:ea typeface="Courier New" pitchFamily="34" charset="-122"/>
                <a:cs typeface="Courier New" pitchFamily="34" charset="-120"/>
              </a:rPr>
              <a:t>println</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CE9178"/>
                </a:solidFill>
                <a:latin typeface="Courier New" pitchFamily="34" charset="0"/>
                <a:ea typeface="Courier New" pitchFamily="34" charset="-122"/>
                <a:cs typeface="Courier New" pitchFamily="34" charset="-120"/>
              </a:rPr>
              <a:t>"Invoice: "</a:t>
            </a:r>
            <a:r>
              <a:rPr lang="en-US" sz="1500" dirty="0">
                <a:solidFill>
                  <a:srgbClr val="D4D4D4"/>
                </a:solidFill>
                <a:latin typeface="Courier New" pitchFamily="34" charset="0"/>
                <a:ea typeface="Courier New" pitchFamily="34" charset="-122"/>
                <a:cs typeface="Courier New" pitchFamily="34" charset="-120"/>
              </a:rPr>
              <a:t> + amount);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a:t>
            </a:r>
            <a:endParaRPr lang="en-US" sz="1500" dirty="0"/>
          </a:p>
        </p:txBody>
      </p:sp>
      <p:sp>
        <p:nvSpPr>
          <p:cNvPr id="17" name="Shape 15"/>
          <p:cNvSpPr/>
          <p:nvPr/>
        </p:nvSpPr>
        <p:spPr>
          <a:xfrm>
            <a:off x="0" y="0"/>
            <a:ext cx="12191695" cy="384048"/>
          </a:xfrm>
          <a:prstGeom prst="rect">
            <a:avLst/>
          </a:prstGeom>
          <a:solidFill>
            <a:srgbClr val="1B2A4A"/>
          </a:solidFill>
          <a:ln w="12700">
            <a:solidFill>
              <a:srgbClr val="1B2A4A"/>
            </a:solidFill>
            <a:prstDash val="solid"/>
          </a:ln>
        </p:spPr>
      </p:sp>
      <p:sp>
        <p:nvSpPr>
          <p:cNvPr id="18" name="Text 16"/>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9" name="Shape 17"/>
          <p:cNvSpPr/>
          <p:nvPr/>
        </p:nvSpPr>
        <p:spPr>
          <a:xfrm>
            <a:off x="219456" y="301752"/>
            <a:ext cx="960120" cy="0"/>
          </a:xfrm>
          <a:prstGeom prst="line">
            <a:avLst/>
          </a:prstGeom>
          <a:noFill/>
          <a:ln w="9525">
            <a:solidFill>
              <a:srgbClr val="4A5570"/>
            </a:solidFill>
            <a:prstDash val="solid"/>
          </a:ln>
        </p:spPr>
      </p:sp>
      <p:sp>
        <p:nvSpPr>
          <p:cNvPr id="20" name="Text 18"/>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1" name="Text 19"/>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2" name="Text 20"/>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3" name="Shape 21"/>
          <p:cNvSpPr/>
          <p:nvPr/>
        </p:nvSpPr>
        <p:spPr>
          <a:xfrm>
            <a:off x="0" y="6291072"/>
            <a:ext cx="12191695" cy="566928"/>
          </a:xfrm>
          <a:prstGeom prst="rect">
            <a:avLst/>
          </a:prstGeom>
          <a:solidFill>
            <a:srgbClr val="1B2A4A"/>
          </a:solidFill>
          <a:ln w="12700">
            <a:solidFill>
              <a:srgbClr val="1B2A4A"/>
            </a:solidFill>
            <a:prstDash val="solid"/>
          </a:ln>
        </p:spPr>
      </p:sp>
      <p:sp>
        <p:nvSpPr>
          <p:cNvPr id="24" name="Text 22"/>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5" name="Text 23"/>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READY-MADE BEHAVIOR</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Default Methods in Interfaces</a:t>
            </a:r>
            <a:endParaRPr lang="en-US" sz="2700" dirty="0"/>
          </a:p>
        </p:txBody>
      </p:sp>
      <p:sp>
        <p:nvSpPr>
          <p:cNvPr id="4" name="Shape 2"/>
          <p:cNvSpPr/>
          <p:nvPr/>
        </p:nvSpPr>
        <p:spPr>
          <a:xfrm>
            <a:off x="594360" y="1600200"/>
            <a:ext cx="10607040" cy="896112"/>
          </a:xfrm>
          <a:prstGeom prst="roundRect">
            <a:avLst>
              <a:gd name="adj" fmla="val 6122"/>
            </a:avLst>
          </a:prstGeom>
          <a:solidFill>
            <a:srgbClr val="F5F6FA"/>
          </a:solidFill>
          <a:ln w="9525">
            <a:solidFill>
              <a:srgbClr val="E4E7EE"/>
            </a:solidFill>
            <a:prstDash val="solid"/>
          </a:ln>
        </p:spPr>
      </p:sp>
      <p:sp>
        <p:nvSpPr>
          <p:cNvPr id="5" name="Shape 3"/>
          <p:cNvSpPr/>
          <p:nvPr/>
        </p:nvSpPr>
        <p:spPr>
          <a:xfrm>
            <a:off x="804672" y="1755648"/>
            <a:ext cx="100584" cy="100584"/>
          </a:xfrm>
          <a:prstGeom prst="ellipse">
            <a:avLst/>
          </a:prstGeom>
          <a:solidFill>
            <a:srgbClr val="E8590C"/>
          </a:solidFill>
          <a:ln w="12700">
            <a:solidFill>
              <a:srgbClr val="000000"/>
            </a:solidFill>
            <a:prstDash val="solid"/>
          </a:ln>
        </p:spPr>
      </p:sp>
      <p:sp>
        <p:nvSpPr>
          <p:cNvPr id="6" name="Text 4"/>
          <p:cNvSpPr/>
          <p:nvPr/>
        </p:nvSpPr>
        <p:spPr>
          <a:xfrm>
            <a:off x="1051560" y="1655064"/>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A default method provides a body directly inside the interface, so implementing classes can use it as is.</a:t>
            </a:r>
            <a:endParaRPr lang="en-US" sz="1250" dirty="0"/>
          </a:p>
        </p:txBody>
      </p:sp>
      <p:sp>
        <p:nvSpPr>
          <p:cNvPr id="7" name="Shape 5"/>
          <p:cNvSpPr/>
          <p:nvPr/>
        </p:nvSpPr>
        <p:spPr>
          <a:xfrm>
            <a:off x="804672" y="2103120"/>
            <a:ext cx="100584" cy="100584"/>
          </a:xfrm>
          <a:prstGeom prst="ellipse">
            <a:avLst/>
          </a:prstGeom>
          <a:solidFill>
            <a:srgbClr val="E8590C"/>
          </a:solidFill>
          <a:ln w="12700">
            <a:solidFill>
              <a:srgbClr val="000000"/>
            </a:solidFill>
            <a:prstDash val="solid"/>
          </a:ln>
        </p:spPr>
      </p:sp>
      <p:sp>
        <p:nvSpPr>
          <p:cNvPr id="8" name="Text 6"/>
          <p:cNvSpPr/>
          <p:nvPr/>
        </p:nvSpPr>
        <p:spPr>
          <a:xfrm>
            <a:off x="1051560" y="2002536"/>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Implementing classes are still free to override a default method if they need different behavior.</a:t>
            </a:r>
            <a:endParaRPr lang="en-US" sz="1250" dirty="0"/>
          </a:p>
        </p:txBody>
      </p:sp>
      <p:sp>
        <p:nvSpPr>
          <p:cNvPr id="9" name="Shape 7"/>
          <p:cNvSpPr/>
          <p:nvPr/>
        </p:nvSpPr>
        <p:spPr>
          <a:xfrm>
            <a:off x="594360" y="2642616"/>
            <a:ext cx="10607040" cy="3392424"/>
          </a:xfrm>
          <a:prstGeom prst="roundRect">
            <a:avLst>
              <a:gd name="adj" fmla="val 2156"/>
            </a:avLst>
          </a:prstGeom>
          <a:solidFill>
            <a:srgbClr val="1E1E2E"/>
          </a:solidFill>
          <a:ln w="12700">
            <a:solidFill>
              <a:srgbClr val="000000"/>
            </a:solidFill>
            <a:prstDash val="solid"/>
          </a:ln>
        </p:spPr>
      </p:sp>
      <p:sp>
        <p:nvSpPr>
          <p:cNvPr id="10" name="Shape 8"/>
          <p:cNvSpPr/>
          <p:nvPr/>
        </p:nvSpPr>
        <p:spPr>
          <a:xfrm>
            <a:off x="594360" y="2642616"/>
            <a:ext cx="10607040" cy="274320"/>
          </a:xfrm>
          <a:prstGeom prst="roundRect">
            <a:avLst>
              <a:gd name="adj" fmla="val 26667"/>
            </a:avLst>
          </a:prstGeom>
          <a:solidFill>
            <a:srgbClr val="17172A"/>
          </a:solidFill>
          <a:ln w="12700">
            <a:solidFill>
              <a:srgbClr val="000000"/>
            </a:solidFill>
            <a:prstDash val="solid"/>
          </a:ln>
        </p:spPr>
      </p:sp>
      <p:sp>
        <p:nvSpPr>
          <p:cNvPr id="11" name="Shape 9"/>
          <p:cNvSpPr/>
          <p:nvPr/>
        </p:nvSpPr>
        <p:spPr>
          <a:xfrm>
            <a:off x="594360" y="2843784"/>
            <a:ext cx="10607040" cy="73152"/>
          </a:xfrm>
          <a:prstGeom prst="rect">
            <a:avLst/>
          </a:prstGeom>
          <a:solidFill>
            <a:srgbClr val="17172A"/>
          </a:solidFill>
          <a:ln w="12700">
            <a:solidFill>
              <a:srgbClr val="000000"/>
            </a:solidFill>
            <a:prstDash val="solid"/>
          </a:ln>
        </p:spPr>
      </p:sp>
      <p:sp>
        <p:nvSpPr>
          <p:cNvPr id="12" name="Shape 10"/>
          <p:cNvSpPr/>
          <p:nvPr/>
        </p:nvSpPr>
        <p:spPr>
          <a:xfrm>
            <a:off x="722376" y="2741371"/>
            <a:ext cx="76810" cy="76810"/>
          </a:xfrm>
          <a:prstGeom prst="ellipse">
            <a:avLst/>
          </a:prstGeom>
          <a:solidFill>
            <a:srgbClr val="FF5F56"/>
          </a:solidFill>
          <a:ln w="12700">
            <a:solidFill>
              <a:srgbClr val="000000"/>
            </a:solidFill>
            <a:prstDash val="solid"/>
          </a:ln>
        </p:spPr>
      </p:sp>
      <p:sp>
        <p:nvSpPr>
          <p:cNvPr id="13" name="Shape 11"/>
          <p:cNvSpPr/>
          <p:nvPr/>
        </p:nvSpPr>
        <p:spPr>
          <a:xfrm>
            <a:off x="886968" y="2741371"/>
            <a:ext cx="76810" cy="76810"/>
          </a:xfrm>
          <a:prstGeom prst="ellipse">
            <a:avLst/>
          </a:prstGeom>
          <a:solidFill>
            <a:srgbClr val="FFBD2E"/>
          </a:solidFill>
          <a:ln w="12700">
            <a:solidFill>
              <a:srgbClr val="000000"/>
            </a:solidFill>
            <a:prstDash val="solid"/>
          </a:ln>
        </p:spPr>
      </p:sp>
      <p:sp>
        <p:nvSpPr>
          <p:cNvPr id="14" name="Shape 12"/>
          <p:cNvSpPr/>
          <p:nvPr/>
        </p:nvSpPr>
        <p:spPr>
          <a:xfrm>
            <a:off x="1051560" y="2741371"/>
            <a:ext cx="76810" cy="76810"/>
          </a:xfrm>
          <a:prstGeom prst="ellipse">
            <a:avLst/>
          </a:prstGeom>
          <a:solidFill>
            <a:srgbClr val="27C93F"/>
          </a:solidFill>
          <a:ln w="12700">
            <a:solidFill>
              <a:srgbClr val="000000"/>
            </a:solidFill>
            <a:prstDash val="solid"/>
          </a:ln>
        </p:spPr>
      </p:sp>
      <p:sp>
        <p:nvSpPr>
          <p:cNvPr id="15" name="Text 13"/>
          <p:cNvSpPr/>
          <p:nvPr/>
        </p:nvSpPr>
        <p:spPr>
          <a:xfrm>
            <a:off x="1371600" y="2642616"/>
            <a:ext cx="9692640" cy="274320"/>
          </a:xfrm>
          <a:prstGeom prst="rect">
            <a:avLst/>
          </a:prstGeom>
          <a:noFill/>
          <a:ln/>
        </p:spPr>
        <p:txBody>
          <a:bodyPr wrap="square" lIns="0" tIns="0" rIns="0" bIns="0" rtlCol="0" anchor="ctr"/>
          <a:lstStyle/>
          <a:p>
            <a:pPr marL="0" indent="0" algn="l">
              <a:buNone/>
            </a:pPr>
            <a:r>
              <a:rPr lang="en-US" sz="1000" dirty="0">
                <a:solidFill>
                  <a:srgbClr val="8A8FA3"/>
                </a:solidFill>
                <a:latin typeface="Courier New" pitchFamily="34" charset="0"/>
                <a:ea typeface="Courier New" pitchFamily="34" charset="-122"/>
                <a:cs typeface="Courier New" pitchFamily="34" charset="-120"/>
              </a:rPr>
              <a:t>Main.java</a:t>
            </a:r>
            <a:endParaRPr lang="en-US" sz="1000" dirty="0"/>
          </a:p>
        </p:txBody>
      </p:sp>
      <p:sp>
        <p:nvSpPr>
          <p:cNvPr id="16" name="Text 14"/>
          <p:cNvSpPr/>
          <p:nvPr/>
        </p:nvSpPr>
        <p:spPr>
          <a:xfrm>
            <a:off x="777240" y="2990088"/>
            <a:ext cx="10241280" cy="2971800"/>
          </a:xfrm>
          <a:prstGeom prst="rect">
            <a:avLst/>
          </a:prstGeom>
          <a:noFill/>
          <a:ln/>
        </p:spPr>
        <p:txBody>
          <a:bodyPr wrap="square" lIns="0" tIns="0" rIns="0" bIns="0" rtlCol="0" anchor="t"/>
          <a:lstStyle/>
          <a:p>
            <a:pPr marL="0" indent="0" algn="l">
              <a:lnSpc>
                <a:spcPct val="118000"/>
              </a:lnSpc>
              <a:buNone/>
            </a:pPr>
            <a:r>
              <a:rPr lang="en-US" sz="1500" b="1" dirty="0">
                <a:solidFill>
                  <a:srgbClr val="569CD6"/>
                </a:solidFill>
                <a:latin typeface="Courier New" pitchFamily="34" charset="0"/>
                <a:ea typeface="Courier New" pitchFamily="34" charset="-122"/>
                <a:cs typeface="Courier New" pitchFamily="34" charset="-120"/>
              </a:rPr>
              <a:t>public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interface</a:t>
            </a:r>
            <a:r>
              <a:rPr lang="en-US" sz="1500" dirty="0">
                <a:solidFill>
                  <a:srgbClr val="D4D4D4"/>
                </a:solidFill>
                <a:latin typeface="Courier New" pitchFamily="34" charset="0"/>
                <a:ea typeface="Courier New" pitchFamily="34" charset="-122"/>
                <a:cs typeface="Courier New" pitchFamily="34" charset="-120"/>
              </a:rPr>
              <a:t> Greetable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4EC9B0"/>
                </a:solidFill>
                <a:latin typeface="Courier New" pitchFamily="34" charset="0"/>
                <a:ea typeface="Courier New" pitchFamily="34" charset="-122"/>
                <a:cs typeface="Courier New" pitchFamily="34" charset="-120"/>
              </a:rPr>
              <a:t>String</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DCDCAA"/>
                </a:solidFill>
                <a:latin typeface="Courier New" pitchFamily="34" charset="0"/>
                <a:ea typeface="Courier New" pitchFamily="34" charset="-122"/>
                <a:cs typeface="Courier New" pitchFamily="34" charset="-120"/>
              </a:rPr>
              <a:t>getName</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default</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void</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DCDCAA"/>
                </a:solidFill>
                <a:latin typeface="Courier New" pitchFamily="34" charset="0"/>
                <a:ea typeface="Courier New" pitchFamily="34" charset="-122"/>
                <a:cs typeface="Courier New" pitchFamily="34" charset="-120"/>
              </a:rPr>
              <a:t>greet</a:t>
            </a: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4EC9B0"/>
                </a:solidFill>
                <a:latin typeface="Courier New" pitchFamily="34" charset="0"/>
                <a:ea typeface="Courier New" pitchFamily="34" charset="-122"/>
                <a:cs typeface="Courier New" pitchFamily="34" charset="-120"/>
              </a:rPr>
              <a:t>System</a:t>
            </a:r>
            <a:r>
              <a:rPr lang="en-US" sz="1500" dirty="0">
                <a:solidFill>
                  <a:srgbClr val="D4D4D4"/>
                </a:solidFill>
                <a:latin typeface="Courier New" pitchFamily="34" charset="0"/>
                <a:ea typeface="Courier New" pitchFamily="34" charset="-122"/>
                <a:cs typeface="Courier New" pitchFamily="34" charset="-120"/>
              </a:rPr>
              <a:t>.out.</a:t>
            </a:r>
            <a:r>
              <a:rPr lang="en-US" sz="1500" dirty="0">
                <a:solidFill>
                  <a:srgbClr val="DCDCAA"/>
                </a:solidFill>
                <a:latin typeface="Courier New" pitchFamily="34" charset="0"/>
                <a:ea typeface="Courier New" pitchFamily="34" charset="-122"/>
                <a:cs typeface="Courier New" pitchFamily="34" charset="-120"/>
              </a:rPr>
              <a:t>println</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CE9178"/>
                </a:solidFill>
                <a:latin typeface="Courier New" pitchFamily="34" charset="0"/>
                <a:ea typeface="Courier New" pitchFamily="34" charset="-122"/>
                <a:cs typeface="Courier New" pitchFamily="34" charset="-120"/>
              </a:rPr>
              <a:t>"Hello, "</a:t>
            </a:r>
            <a:r>
              <a:rPr lang="en-US" sz="1500" dirty="0">
                <a:solidFill>
                  <a:srgbClr val="D4D4D4"/>
                </a:solidFill>
                <a:latin typeface="Courier New" pitchFamily="34" charset="0"/>
                <a:ea typeface="Courier New" pitchFamily="34" charset="-122"/>
                <a:cs typeface="Courier New" pitchFamily="34" charset="-120"/>
              </a:rPr>
              <a:t> + </a:t>
            </a:r>
            <a:r>
              <a:rPr lang="en-US" sz="1500" dirty="0">
                <a:solidFill>
                  <a:srgbClr val="DCDCAA"/>
                </a:solidFill>
                <a:latin typeface="Courier New" pitchFamily="34" charset="0"/>
                <a:ea typeface="Courier New" pitchFamily="34" charset="-122"/>
                <a:cs typeface="Courier New" pitchFamily="34" charset="-120"/>
              </a:rPr>
              <a:t>getName</a:t>
            </a:r>
            <a:r>
              <a:rPr lang="en-US" sz="1500" dirty="0">
                <a:solidFill>
                  <a:srgbClr val="D4D4D4"/>
                </a:solidFill>
                <a:latin typeface="Courier New" pitchFamily="34" charset="0"/>
                <a:ea typeface="Courier New" pitchFamily="34" charset="-122"/>
                <a:cs typeface="Courier New" pitchFamily="34" charset="-120"/>
              </a:rPr>
              <a:t>() + </a:t>
            </a:r>
            <a:r>
              <a:rPr lang="en-US" sz="1500" dirty="0">
                <a:solidFill>
                  <a:srgbClr val="CE9178"/>
                </a:solidFill>
                <a:latin typeface="Courier New" pitchFamily="34" charset="0"/>
                <a:ea typeface="Courier New" pitchFamily="34" charset="-122"/>
                <a:cs typeface="Courier New" pitchFamily="34" charset="-120"/>
              </a:rPr>
              <a:t>"!"</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a:t>
            </a:r>
            <a:endParaRPr lang="en-US" sz="1500" dirty="0"/>
          </a:p>
        </p:txBody>
      </p:sp>
      <p:sp>
        <p:nvSpPr>
          <p:cNvPr id="17" name="Shape 15"/>
          <p:cNvSpPr/>
          <p:nvPr/>
        </p:nvSpPr>
        <p:spPr>
          <a:xfrm>
            <a:off x="0" y="0"/>
            <a:ext cx="12191695" cy="384048"/>
          </a:xfrm>
          <a:prstGeom prst="rect">
            <a:avLst/>
          </a:prstGeom>
          <a:solidFill>
            <a:srgbClr val="1B2A4A"/>
          </a:solidFill>
          <a:ln w="12700">
            <a:solidFill>
              <a:srgbClr val="1B2A4A"/>
            </a:solidFill>
            <a:prstDash val="solid"/>
          </a:ln>
        </p:spPr>
      </p:sp>
      <p:sp>
        <p:nvSpPr>
          <p:cNvPr id="18" name="Text 16"/>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9" name="Shape 17"/>
          <p:cNvSpPr/>
          <p:nvPr/>
        </p:nvSpPr>
        <p:spPr>
          <a:xfrm>
            <a:off x="219456" y="301752"/>
            <a:ext cx="960120" cy="0"/>
          </a:xfrm>
          <a:prstGeom prst="line">
            <a:avLst/>
          </a:prstGeom>
          <a:noFill/>
          <a:ln w="9525">
            <a:solidFill>
              <a:srgbClr val="4A5570"/>
            </a:solidFill>
            <a:prstDash val="solid"/>
          </a:ln>
        </p:spPr>
      </p:sp>
      <p:sp>
        <p:nvSpPr>
          <p:cNvPr id="20" name="Text 18"/>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1" name="Text 19"/>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2" name="Text 20"/>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3" name="Shape 21"/>
          <p:cNvSpPr/>
          <p:nvPr/>
        </p:nvSpPr>
        <p:spPr>
          <a:xfrm>
            <a:off x="0" y="6291072"/>
            <a:ext cx="12191695" cy="566928"/>
          </a:xfrm>
          <a:prstGeom prst="rect">
            <a:avLst/>
          </a:prstGeom>
          <a:solidFill>
            <a:srgbClr val="1B2A4A"/>
          </a:solidFill>
          <a:ln w="12700">
            <a:solidFill>
              <a:srgbClr val="1B2A4A"/>
            </a:solidFill>
            <a:prstDash val="solid"/>
          </a:ln>
        </p:spPr>
      </p:sp>
      <p:sp>
        <p:nvSpPr>
          <p:cNvPr id="24" name="Text 22"/>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5" name="Text 23"/>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COMPARISON</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Interface vs. Abstract Class</a:t>
            </a:r>
            <a:endParaRPr lang="en-US" sz="2700" dirty="0"/>
          </a:p>
        </p:txBody>
      </p:sp>
      <p:graphicFrame>
        <p:nvGraphicFramePr>
          <p:cNvPr id="94" name="Table 0"/>
          <p:cNvGraphicFramePr>
            <a:graphicFrameLocks noGrp="1"/>
          </p:cNvGraphicFramePr>
          <p:nvPr>
            <p:extLst>
              <p:ext uri="{D42A27DB-BD31-4B8C-83A1-F6EECF244321}">
                <p14:modId xmlns:p14="http://schemas.microsoft.com/office/powerpoint/2010/main" val="1579011935"/>
              </p:ext>
            </p:extLst>
          </p:nvPr>
        </p:nvGraphicFramePr>
        <p:xfrm>
          <a:off x="594360" y="1691640"/>
          <a:ext cx="10607040" cy="4343400"/>
        </p:xfrm>
        <a:graphic>
          <a:graphicData uri="http://schemas.openxmlformats.org/drawingml/2006/table">
            <a:tbl>
              <a:tblPr/>
              <a:tblGrid>
                <a:gridCol w="3535680">
                  <a:extLst>
                    <a:ext uri="{9D8B030D-6E8A-4147-A177-3AD203B41FA5}">
                      <a16:colId xmlns:a16="http://schemas.microsoft.com/office/drawing/2014/main" val="20000"/>
                    </a:ext>
                  </a:extLst>
                </a:gridCol>
                <a:gridCol w="3535680">
                  <a:extLst>
                    <a:ext uri="{9D8B030D-6E8A-4147-A177-3AD203B41FA5}">
                      <a16:colId xmlns:a16="http://schemas.microsoft.com/office/drawing/2014/main" val="20001"/>
                    </a:ext>
                  </a:extLst>
                </a:gridCol>
                <a:gridCol w="3535680">
                  <a:extLst>
                    <a:ext uri="{9D8B030D-6E8A-4147-A177-3AD203B41FA5}">
                      <a16:colId xmlns:a16="http://schemas.microsoft.com/office/drawing/2014/main" val="20002"/>
                    </a:ext>
                  </a:extLst>
                </a:gridCol>
              </a:tblGrid>
              <a:tr h="1085850">
                <a:tc>
                  <a:txBody>
                    <a:bodyPr/>
                    <a:lstStyle/>
                    <a:p>
                      <a:pPr marL="0" indent="0" algn="l">
                        <a:buNone/>
                      </a:pPr>
                      <a:r>
                        <a:rPr lang="en-US" sz="1300" b="1" dirty="0">
                          <a:solidFill>
                            <a:srgbClr val="FFFFFF"/>
                          </a:solidFill>
                          <a:latin typeface="Times New Roman" pitchFamily="34" charset="0"/>
                          <a:ea typeface="Times New Roman" pitchFamily="34" charset="-122"/>
                          <a:cs typeface="Times New Roman" pitchFamily="34" charset="-120"/>
                        </a:rPr>
                        <a:t>Aspect</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1B2A4A"/>
                    </a:solidFill>
                  </a:tcPr>
                </a:tc>
                <a:tc>
                  <a:txBody>
                    <a:bodyPr/>
                    <a:lstStyle/>
                    <a:p>
                      <a:pPr marL="0" indent="0" algn="l">
                        <a:buNone/>
                      </a:pPr>
                      <a:r>
                        <a:rPr lang="en-US" sz="1300" b="1" dirty="0">
                          <a:solidFill>
                            <a:srgbClr val="FFFFFF"/>
                          </a:solidFill>
                          <a:latin typeface="Times New Roman" pitchFamily="34" charset="0"/>
                          <a:ea typeface="Times New Roman" pitchFamily="34" charset="-122"/>
                          <a:cs typeface="Times New Roman" pitchFamily="34" charset="-120"/>
                        </a:rPr>
                        <a:t>Interface</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1B2A4A"/>
                    </a:solidFill>
                  </a:tcPr>
                </a:tc>
                <a:tc>
                  <a:txBody>
                    <a:bodyPr/>
                    <a:lstStyle/>
                    <a:p>
                      <a:pPr marL="0" indent="0" algn="l">
                        <a:buNone/>
                      </a:pPr>
                      <a:r>
                        <a:rPr lang="en-US" sz="1300" b="1" dirty="0">
                          <a:solidFill>
                            <a:srgbClr val="FFFFFF"/>
                          </a:solidFill>
                          <a:latin typeface="Times New Roman" pitchFamily="34" charset="0"/>
                          <a:ea typeface="Times New Roman" pitchFamily="34" charset="-122"/>
                          <a:cs typeface="Times New Roman" pitchFamily="34" charset="-120"/>
                        </a:rPr>
                        <a:t>Abstract Class</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1085850">
                <a:tc>
                  <a:txBody>
                    <a:bodyPr/>
                    <a:lstStyle/>
                    <a:p>
                      <a:pPr marL="0" indent="0" algn="l">
                        <a:buNone/>
                      </a:pPr>
                      <a:r>
                        <a:rPr lang="en-US" sz="1300" b="1" dirty="0">
                          <a:solidFill>
                            <a:srgbClr val="1A202C"/>
                          </a:solidFill>
                          <a:latin typeface="Times New Roman" pitchFamily="34" charset="0"/>
                          <a:ea typeface="Times New Roman" pitchFamily="34" charset="-122"/>
                          <a:cs typeface="Times New Roman" pitchFamily="34" charset="-120"/>
                        </a:rPr>
                        <a:t>Instance fields</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FFFFF"/>
                    </a:solidFill>
                  </a:tcPr>
                </a:tc>
                <a:tc>
                  <a:txBody>
                    <a:bodyPr/>
                    <a:lstStyle/>
                    <a:p>
                      <a:pPr marL="0" indent="0" algn="l">
                        <a:buNone/>
                      </a:pPr>
                      <a:r>
                        <a:rPr lang="en-US" sz="1300" dirty="0">
                          <a:solidFill>
                            <a:srgbClr val="3D4759"/>
                          </a:solidFill>
                          <a:latin typeface="Times New Roman" pitchFamily="34" charset="0"/>
                          <a:ea typeface="Times New Roman" pitchFamily="34" charset="-122"/>
                          <a:cs typeface="Times New Roman" pitchFamily="34" charset="-120"/>
                        </a:rPr>
                        <a:t>Not allowed (only constants)</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FFFFF"/>
                    </a:solidFill>
                  </a:tcPr>
                </a:tc>
                <a:tc>
                  <a:txBody>
                    <a:bodyPr/>
                    <a:lstStyle/>
                    <a:p>
                      <a:pPr marL="0" indent="0" algn="l">
                        <a:buNone/>
                      </a:pPr>
                      <a:r>
                        <a:rPr lang="en-US" sz="1300" dirty="0">
                          <a:solidFill>
                            <a:srgbClr val="3D4759"/>
                          </a:solidFill>
                          <a:latin typeface="Times New Roman" pitchFamily="34" charset="0"/>
                          <a:ea typeface="Times New Roman" pitchFamily="34" charset="-122"/>
                          <a:cs typeface="Times New Roman" pitchFamily="34" charset="-120"/>
                        </a:rPr>
                        <a:t>Allowed</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085850">
                <a:tc>
                  <a:txBody>
                    <a:bodyPr/>
                    <a:lstStyle/>
                    <a:p>
                      <a:pPr marL="0" indent="0" algn="l">
                        <a:buNone/>
                      </a:pPr>
                      <a:r>
                        <a:rPr lang="en-US" sz="1300" b="1" dirty="0">
                          <a:solidFill>
                            <a:srgbClr val="1A202C"/>
                          </a:solidFill>
                          <a:latin typeface="Times New Roman" pitchFamily="34" charset="0"/>
                          <a:ea typeface="Times New Roman" pitchFamily="34" charset="-122"/>
                          <a:cs typeface="Times New Roman" pitchFamily="34" charset="-120"/>
                        </a:rPr>
                        <a:t>Constructors</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5F6FA"/>
                    </a:solidFill>
                  </a:tcPr>
                </a:tc>
                <a:tc>
                  <a:txBody>
                    <a:bodyPr/>
                    <a:lstStyle/>
                    <a:p>
                      <a:pPr marL="0" indent="0" algn="l">
                        <a:buNone/>
                      </a:pPr>
                      <a:r>
                        <a:rPr lang="en-US" sz="1300" dirty="0">
                          <a:solidFill>
                            <a:srgbClr val="3D4759"/>
                          </a:solidFill>
                          <a:latin typeface="Times New Roman" pitchFamily="34" charset="0"/>
                          <a:ea typeface="Times New Roman" pitchFamily="34" charset="-122"/>
                          <a:cs typeface="Times New Roman" pitchFamily="34" charset="-120"/>
                        </a:rPr>
                        <a:t>Not allowed</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5F6FA"/>
                    </a:solidFill>
                  </a:tcPr>
                </a:tc>
                <a:tc>
                  <a:txBody>
                    <a:bodyPr/>
                    <a:lstStyle/>
                    <a:p>
                      <a:pPr marL="0" indent="0" algn="l">
                        <a:buNone/>
                      </a:pPr>
                      <a:r>
                        <a:rPr lang="en-US" sz="1300" dirty="0">
                          <a:solidFill>
                            <a:srgbClr val="3D4759"/>
                          </a:solidFill>
                          <a:latin typeface="Times New Roman" pitchFamily="34" charset="0"/>
                          <a:ea typeface="Times New Roman" pitchFamily="34" charset="-122"/>
                          <a:cs typeface="Times New Roman" pitchFamily="34" charset="-120"/>
                        </a:rPr>
                        <a:t>Allowed</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5F6FA"/>
                    </a:solidFill>
                  </a:tcPr>
                </a:tc>
                <a:extLst>
                  <a:ext uri="{0D108BD9-81ED-4DB2-BD59-A6C34878D82A}">
                    <a16:rowId xmlns:a16="http://schemas.microsoft.com/office/drawing/2014/main" val="10002"/>
                  </a:ext>
                </a:extLst>
              </a:tr>
              <a:tr h="1085850">
                <a:tc>
                  <a:txBody>
                    <a:bodyPr/>
                    <a:lstStyle/>
                    <a:p>
                      <a:pPr marL="0" indent="0" algn="l">
                        <a:buNone/>
                      </a:pPr>
                      <a:r>
                        <a:rPr lang="en-US" sz="1300" b="1" dirty="0">
                          <a:solidFill>
                            <a:srgbClr val="1A202C"/>
                          </a:solidFill>
                          <a:latin typeface="Times New Roman" pitchFamily="34" charset="0"/>
                          <a:ea typeface="Times New Roman" pitchFamily="34" charset="-122"/>
                          <a:cs typeface="Times New Roman" pitchFamily="34" charset="-120"/>
                        </a:rPr>
                        <a:t>Multiple implementation</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FFFFF"/>
                    </a:solidFill>
                  </a:tcPr>
                </a:tc>
                <a:tc>
                  <a:txBody>
                    <a:bodyPr/>
                    <a:lstStyle/>
                    <a:p>
                      <a:pPr marL="0" indent="0" algn="l">
                        <a:buNone/>
                      </a:pPr>
                      <a:r>
                        <a:rPr lang="en-US" sz="1300" dirty="0">
                          <a:solidFill>
                            <a:srgbClr val="3D4759"/>
                          </a:solidFill>
                          <a:latin typeface="Times New Roman" pitchFamily="34" charset="0"/>
                          <a:ea typeface="Times New Roman" pitchFamily="34" charset="-122"/>
                          <a:cs typeface="Times New Roman" pitchFamily="34" charset="-120"/>
                        </a:rPr>
                        <a:t>A class can implement many</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FFFFF"/>
                    </a:solidFill>
                  </a:tcPr>
                </a:tc>
                <a:tc>
                  <a:txBody>
                    <a:bodyPr/>
                    <a:lstStyle/>
                    <a:p>
                      <a:pPr marL="0" indent="0" algn="l">
                        <a:buNone/>
                      </a:pPr>
                      <a:r>
                        <a:rPr lang="en-US" sz="1300" dirty="0">
                          <a:solidFill>
                            <a:srgbClr val="3D4759"/>
                          </a:solidFill>
                          <a:latin typeface="Times New Roman" pitchFamily="34" charset="0"/>
                          <a:ea typeface="Times New Roman" pitchFamily="34" charset="-122"/>
                          <a:cs typeface="Times New Roman" pitchFamily="34" charset="-120"/>
                        </a:rPr>
                        <a:t>A class can extend only one</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5" name="Shape 2"/>
          <p:cNvSpPr/>
          <p:nvPr/>
        </p:nvSpPr>
        <p:spPr>
          <a:xfrm>
            <a:off x="0" y="0"/>
            <a:ext cx="12191695" cy="384048"/>
          </a:xfrm>
          <a:prstGeom prst="rect">
            <a:avLst/>
          </a:prstGeom>
          <a:solidFill>
            <a:srgbClr val="1B2A4A"/>
          </a:solidFill>
          <a:ln w="12700">
            <a:solidFill>
              <a:srgbClr val="1B2A4A"/>
            </a:solidFill>
            <a:prstDash val="solid"/>
          </a:ln>
        </p:spPr>
      </p:sp>
      <p:sp>
        <p:nvSpPr>
          <p:cNvPr id="6" name="Text 3"/>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7" name="Shape 4"/>
          <p:cNvSpPr/>
          <p:nvPr/>
        </p:nvSpPr>
        <p:spPr>
          <a:xfrm>
            <a:off x="219456" y="301752"/>
            <a:ext cx="960120" cy="0"/>
          </a:xfrm>
          <a:prstGeom prst="line">
            <a:avLst/>
          </a:prstGeom>
          <a:noFill/>
          <a:ln w="9525">
            <a:solidFill>
              <a:srgbClr val="4A5570"/>
            </a:solidFill>
            <a:prstDash val="solid"/>
          </a:ln>
        </p:spPr>
      </p:sp>
      <p:sp>
        <p:nvSpPr>
          <p:cNvPr id="8" name="Text 5"/>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9" name="Text 6"/>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10" name="Text 7"/>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11" name="Shape 8"/>
          <p:cNvSpPr/>
          <p:nvPr/>
        </p:nvSpPr>
        <p:spPr>
          <a:xfrm>
            <a:off x="0" y="6291072"/>
            <a:ext cx="12191695" cy="566928"/>
          </a:xfrm>
          <a:prstGeom prst="rect">
            <a:avLst/>
          </a:prstGeom>
          <a:solidFill>
            <a:srgbClr val="1B2A4A"/>
          </a:solidFill>
          <a:ln w="12700">
            <a:solidFill>
              <a:srgbClr val="1B2A4A"/>
            </a:solidFill>
            <a:prstDash val="solid"/>
          </a:ln>
        </p:spPr>
      </p:sp>
      <p:sp>
        <p:nvSpPr>
          <p:cNvPr id="12" name="Text 9"/>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13" name="Text 10"/>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COMMON MISTAKES</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Pitfalls with Abstraction</a:t>
            </a:r>
            <a:endParaRPr lang="en-US" sz="2700" dirty="0"/>
          </a:p>
        </p:txBody>
      </p:sp>
      <p:sp>
        <p:nvSpPr>
          <p:cNvPr id="4" name="Shape 2"/>
          <p:cNvSpPr/>
          <p:nvPr/>
        </p:nvSpPr>
        <p:spPr>
          <a:xfrm>
            <a:off x="594360" y="1691640"/>
            <a:ext cx="10607040" cy="2089404"/>
          </a:xfrm>
          <a:prstGeom prst="roundRect">
            <a:avLst>
              <a:gd name="adj" fmla="val 2626"/>
            </a:avLst>
          </a:prstGeom>
          <a:solidFill>
            <a:srgbClr val="F5F6FA"/>
          </a:solidFill>
          <a:ln w="9525">
            <a:solidFill>
              <a:srgbClr val="E4E7EE"/>
            </a:solidFill>
            <a:prstDash val="solid"/>
          </a:ln>
        </p:spPr>
      </p:sp>
      <p:sp>
        <p:nvSpPr>
          <p:cNvPr id="5" name="Shape 3"/>
          <p:cNvSpPr/>
          <p:nvPr/>
        </p:nvSpPr>
        <p:spPr>
          <a:xfrm>
            <a:off x="777240" y="1874520"/>
            <a:ext cx="109728" cy="109728"/>
          </a:xfrm>
          <a:prstGeom prst="ellipse">
            <a:avLst/>
          </a:prstGeom>
          <a:solidFill>
            <a:srgbClr val="E8590C"/>
          </a:solidFill>
          <a:ln w="12700">
            <a:solidFill>
              <a:srgbClr val="000000"/>
            </a:solidFill>
            <a:prstDash val="solid"/>
          </a:ln>
        </p:spPr>
      </p:sp>
      <p:sp>
        <p:nvSpPr>
          <p:cNvPr id="6" name="Text 4"/>
          <p:cNvSpPr/>
          <p:nvPr/>
        </p:nvSpPr>
        <p:spPr>
          <a:xfrm>
            <a:off x="1051560" y="1764792"/>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Forgetting to implement every abstract method</a:t>
            </a:r>
            <a:endParaRPr lang="en-US" sz="1500" dirty="0"/>
          </a:p>
        </p:txBody>
      </p:sp>
      <p:sp>
        <p:nvSpPr>
          <p:cNvPr id="7" name="Text 5"/>
          <p:cNvSpPr/>
          <p:nvPr/>
        </p:nvSpPr>
        <p:spPr>
          <a:xfrm>
            <a:off x="1051560" y="2057400"/>
            <a:ext cx="9966960" cy="1668780"/>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A subclass that misses even one abstract method must itself be declared abstract, or the code fails to compile.</a:t>
            </a:r>
            <a:endParaRPr lang="en-US" sz="1250" dirty="0"/>
          </a:p>
        </p:txBody>
      </p:sp>
      <p:sp>
        <p:nvSpPr>
          <p:cNvPr id="8" name="Shape 6"/>
          <p:cNvSpPr/>
          <p:nvPr/>
        </p:nvSpPr>
        <p:spPr>
          <a:xfrm>
            <a:off x="594360" y="3945636"/>
            <a:ext cx="10607040" cy="2089404"/>
          </a:xfrm>
          <a:prstGeom prst="roundRect">
            <a:avLst>
              <a:gd name="adj" fmla="val 2626"/>
            </a:avLst>
          </a:prstGeom>
          <a:solidFill>
            <a:srgbClr val="F5F6FA"/>
          </a:solidFill>
          <a:ln w="9525">
            <a:solidFill>
              <a:srgbClr val="E4E7EE"/>
            </a:solidFill>
            <a:prstDash val="solid"/>
          </a:ln>
        </p:spPr>
      </p:sp>
      <p:sp>
        <p:nvSpPr>
          <p:cNvPr id="9" name="Shape 7"/>
          <p:cNvSpPr/>
          <p:nvPr/>
        </p:nvSpPr>
        <p:spPr>
          <a:xfrm>
            <a:off x="777240" y="4128516"/>
            <a:ext cx="109728" cy="109728"/>
          </a:xfrm>
          <a:prstGeom prst="ellipse">
            <a:avLst/>
          </a:prstGeom>
          <a:solidFill>
            <a:srgbClr val="E8590C"/>
          </a:solidFill>
          <a:ln w="12700">
            <a:solidFill>
              <a:srgbClr val="000000"/>
            </a:solidFill>
            <a:prstDash val="solid"/>
          </a:ln>
        </p:spPr>
      </p:sp>
      <p:sp>
        <p:nvSpPr>
          <p:cNvPr id="10" name="Text 8"/>
          <p:cNvSpPr/>
          <p:nvPr/>
        </p:nvSpPr>
        <p:spPr>
          <a:xfrm>
            <a:off x="1051560" y="4018788"/>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Assuming interfaces can hold regular fields</a:t>
            </a:r>
            <a:endParaRPr lang="en-US" sz="1500" dirty="0"/>
          </a:p>
        </p:txBody>
      </p:sp>
      <p:sp>
        <p:nvSpPr>
          <p:cNvPr id="11" name="Text 9"/>
          <p:cNvSpPr/>
          <p:nvPr/>
        </p:nvSpPr>
        <p:spPr>
          <a:xfrm>
            <a:off x="1051560" y="4311396"/>
            <a:ext cx="9966960" cy="1668780"/>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Any field declared in an interface is automatically a constant, not per-object state.</a:t>
            </a:r>
            <a:endParaRPr lang="en-US" sz="1250" dirty="0"/>
          </a:p>
        </p:txBody>
      </p:sp>
      <p:sp>
        <p:nvSpPr>
          <p:cNvPr id="12" name="Shape 10"/>
          <p:cNvSpPr/>
          <p:nvPr/>
        </p:nvSpPr>
        <p:spPr>
          <a:xfrm>
            <a:off x="0" y="0"/>
            <a:ext cx="12191695" cy="384048"/>
          </a:xfrm>
          <a:prstGeom prst="rect">
            <a:avLst/>
          </a:prstGeom>
          <a:solidFill>
            <a:srgbClr val="1B2A4A"/>
          </a:solidFill>
          <a:ln w="12700">
            <a:solidFill>
              <a:srgbClr val="1B2A4A"/>
            </a:solidFill>
            <a:prstDash val="solid"/>
          </a:ln>
        </p:spPr>
      </p:sp>
      <p:sp>
        <p:nvSpPr>
          <p:cNvPr id="13" name="Text 11"/>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4" name="Shape 12"/>
          <p:cNvSpPr/>
          <p:nvPr/>
        </p:nvSpPr>
        <p:spPr>
          <a:xfrm>
            <a:off x="219456" y="301752"/>
            <a:ext cx="960120" cy="0"/>
          </a:xfrm>
          <a:prstGeom prst="line">
            <a:avLst/>
          </a:prstGeom>
          <a:noFill/>
          <a:ln w="9525">
            <a:solidFill>
              <a:srgbClr val="4A5570"/>
            </a:solidFill>
            <a:prstDash val="solid"/>
          </a:ln>
        </p:spPr>
      </p:sp>
      <p:sp>
        <p:nvSpPr>
          <p:cNvPr id="15" name="Text 13"/>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16" name="Text 14"/>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17" name="Text 15"/>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18" name="Shape 16"/>
          <p:cNvSpPr/>
          <p:nvPr/>
        </p:nvSpPr>
        <p:spPr>
          <a:xfrm>
            <a:off x="0" y="6291072"/>
            <a:ext cx="12191695" cy="566928"/>
          </a:xfrm>
          <a:prstGeom prst="rect">
            <a:avLst/>
          </a:prstGeom>
          <a:solidFill>
            <a:srgbClr val="1B2A4A"/>
          </a:solidFill>
          <a:ln w="12700">
            <a:solidFill>
              <a:srgbClr val="1B2A4A"/>
            </a:solidFill>
            <a:prstDash val="solid"/>
          </a:ln>
        </p:spPr>
      </p:sp>
      <p:sp>
        <p:nvSpPr>
          <p:cNvPr id="19" name="Text 17"/>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0" name="Text 18"/>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PRACTICE</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Practice: A Payable Interface</a:t>
            </a:r>
            <a:endParaRPr lang="en-US" sz="2700" dirty="0"/>
          </a:p>
        </p:txBody>
      </p:sp>
      <p:sp>
        <p:nvSpPr>
          <p:cNvPr id="4" name="Text 2"/>
          <p:cNvSpPr/>
          <p:nvPr/>
        </p:nvSpPr>
        <p:spPr>
          <a:xfrm>
            <a:off x="594360" y="1600200"/>
            <a:ext cx="10607040" cy="365760"/>
          </a:xfrm>
          <a:prstGeom prst="rect">
            <a:avLst/>
          </a:prstGeom>
          <a:noFill/>
          <a:ln/>
        </p:spPr>
        <p:txBody>
          <a:bodyPr wrap="square" lIns="0" tIns="0" rIns="0" bIns="0" rtlCol="0" anchor="ctr"/>
          <a:lstStyle/>
          <a:p>
            <a:pPr marL="0" indent="0">
              <a:buNone/>
            </a:pPr>
            <a:r>
              <a:rPr lang="en-US" sz="1250" i="1" dirty="0">
                <a:solidFill>
                  <a:srgbClr val="5A6472"/>
                </a:solidFill>
                <a:latin typeface="Times New Roman" pitchFamily="34" charset="0"/>
                <a:ea typeface="Times New Roman" pitchFamily="34" charset="-122"/>
                <a:cs typeface="Times New Roman" pitchFamily="34" charset="-120"/>
              </a:rPr>
              <a:t>Two unrelated classes both fulfilling the same Payable contract.</a:t>
            </a:r>
            <a:endParaRPr lang="en-US" sz="1250" dirty="0"/>
          </a:p>
        </p:txBody>
      </p:sp>
      <p:sp>
        <p:nvSpPr>
          <p:cNvPr id="5" name="Shape 3"/>
          <p:cNvSpPr/>
          <p:nvPr/>
        </p:nvSpPr>
        <p:spPr>
          <a:xfrm>
            <a:off x="594360" y="2002536"/>
            <a:ext cx="7040880" cy="4032504"/>
          </a:xfrm>
          <a:prstGeom prst="roundRect">
            <a:avLst>
              <a:gd name="adj" fmla="val 1814"/>
            </a:avLst>
          </a:prstGeom>
          <a:solidFill>
            <a:srgbClr val="1E1E2E"/>
          </a:solidFill>
          <a:ln w="12700">
            <a:solidFill>
              <a:srgbClr val="000000"/>
            </a:solidFill>
            <a:prstDash val="solid"/>
          </a:ln>
        </p:spPr>
      </p:sp>
      <p:sp>
        <p:nvSpPr>
          <p:cNvPr id="6" name="Shape 4"/>
          <p:cNvSpPr/>
          <p:nvPr/>
        </p:nvSpPr>
        <p:spPr>
          <a:xfrm>
            <a:off x="594360" y="2002536"/>
            <a:ext cx="7040880" cy="274320"/>
          </a:xfrm>
          <a:prstGeom prst="roundRect">
            <a:avLst>
              <a:gd name="adj" fmla="val 26667"/>
            </a:avLst>
          </a:prstGeom>
          <a:solidFill>
            <a:srgbClr val="17172A"/>
          </a:solidFill>
          <a:ln w="12700">
            <a:solidFill>
              <a:srgbClr val="000000"/>
            </a:solidFill>
            <a:prstDash val="solid"/>
          </a:ln>
        </p:spPr>
      </p:sp>
      <p:sp>
        <p:nvSpPr>
          <p:cNvPr id="7" name="Shape 5"/>
          <p:cNvSpPr/>
          <p:nvPr/>
        </p:nvSpPr>
        <p:spPr>
          <a:xfrm>
            <a:off x="594360" y="2203704"/>
            <a:ext cx="7040880" cy="73152"/>
          </a:xfrm>
          <a:prstGeom prst="rect">
            <a:avLst/>
          </a:prstGeom>
          <a:solidFill>
            <a:srgbClr val="17172A"/>
          </a:solidFill>
          <a:ln w="12700">
            <a:solidFill>
              <a:srgbClr val="000000"/>
            </a:solidFill>
            <a:prstDash val="solid"/>
          </a:ln>
        </p:spPr>
      </p:sp>
      <p:sp>
        <p:nvSpPr>
          <p:cNvPr id="8" name="Shape 6"/>
          <p:cNvSpPr/>
          <p:nvPr/>
        </p:nvSpPr>
        <p:spPr>
          <a:xfrm>
            <a:off x="722376" y="2101291"/>
            <a:ext cx="76810" cy="76810"/>
          </a:xfrm>
          <a:prstGeom prst="ellipse">
            <a:avLst/>
          </a:prstGeom>
          <a:solidFill>
            <a:srgbClr val="FF5F56"/>
          </a:solidFill>
          <a:ln w="12700">
            <a:solidFill>
              <a:srgbClr val="000000"/>
            </a:solidFill>
            <a:prstDash val="solid"/>
          </a:ln>
        </p:spPr>
      </p:sp>
      <p:sp>
        <p:nvSpPr>
          <p:cNvPr id="9" name="Shape 7"/>
          <p:cNvSpPr/>
          <p:nvPr/>
        </p:nvSpPr>
        <p:spPr>
          <a:xfrm>
            <a:off x="886968" y="2101291"/>
            <a:ext cx="76810" cy="76810"/>
          </a:xfrm>
          <a:prstGeom prst="ellipse">
            <a:avLst/>
          </a:prstGeom>
          <a:solidFill>
            <a:srgbClr val="FFBD2E"/>
          </a:solidFill>
          <a:ln w="12700">
            <a:solidFill>
              <a:srgbClr val="000000"/>
            </a:solidFill>
            <a:prstDash val="solid"/>
          </a:ln>
        </p:spPr>
      </p:sp>
      <p:sp>
        <p:nvSpPr>
          <p:cNvPr id="10" name="Shape 8"/>
          <p:cNvSpPr/>
          <p:nvPr/>
        </p:nvSpPr>
        <p:spPr>
          <a:xfrm>
            <a:off x="1051560" y="2101291"/>
            <a:ext cx="76810" cy="76810"/>
          </a:xfrm>
          <a:prstGeom prst="ellipse">
            <a:avLst/>
          </a:prstGeom>
          <a:solidFill>
            <a:srgbClr val="27C93F"/>
          </a:solidFill>
          <a:ln w="12700">
            <a:solidFill>
              <a:srgbClr val="000000"/>
            </a:solidFill>
            <a:prstDash val="solid"/>
          </a:ln>
        </p:spPr>
      </p:sp>
      <p:sp>
        <p:nvSpPr>
          <p:cNvPr id="11" name="Text 9"/>
          <p:cNvSpPr/>
          <p:nvPr/>
        </p:nvSpPr>
        <p:spPr>
          <a:xfrm>
            <a:off x="1371600" y="2002536"/>
            <a:ext cx="6126480" cy="274320"/>
          </a:xfrm>
          <a:prstGeom prst="rect">
            <a:avLst/>
          </a:prstGeom>
          <a:noFill/>
          <a:ln/>
        </p:spPr>
        <p:txBody>
          <a:bodyPr wrap="square" lIns="0" tIns="0" rIns="0" bIns="0" rtlCol="0" anchor="ctr"/>
          <a:lstStyle/>
          <a:p>
            <a:pPr marL="0" indent="0" algn="l">
              <a:buNone/>
            </a:pPr>
            <a:r>
              <a:rPr lang="en-US" sz="1000" dirty="0">
                <a:solidFill>
                  <a:srgbClr val="8A8FA3"/>
                </a:solidFill>
                <a:latin typeface="Courier New" pitchFamily="34" charset="0"/>
                <a:ea typeface="Courier New" pitchFamily="34" charset="-122"/>
                <a:cs typeface="Courier New" pitchFamily="34" charset="-120"/>
              </a:rPr>
              <a:t>Main.java</a:t>
            </a:r>
            <a:endParaRPr lang="en-US" sz="1000" dirty="0"/>
          </a:p>
        </p:txBody>
      </p:sp>
      <p:sp>
        <p:nvSpPr>
          <p:cNvPr id="12" name="Text 10"/>
          <p:cNvSpPr/>
          <p:nvPr/>
        </p:nvSpPr>
        <p:spPr>
          <a:xfrm>
            <a:off x="777240" y="2350008"/>
            <a:ext cx="6675120" cy="3611880"/>
          </a:xfrm>
          <a:prstGeom prst="rect">
            <a:avLst/>
          </a:prstGeom>
          <a:noFill/>
          <a:ln/>
        </p:spPr>
        <p:txBody>
          <a:bodyPr wrap="square" lIns="0" tIns="0" rIns="0" bIns="0" rtlCol="0" anchor="t"/>
          <a:lstStyle/>
          <a:p>
            <a:pPr marL="0" indent="0" algn="l">
              <a:lnSpc>
                <a:spcPct val="118000"/>
              </a:lnSpc>
              <a:buNone/>
            </a:pPr>
            <a:r>
              <a:rPr lang="en-US" sz="1300" b="1" dirty="0">
                <a:solidFill>
                  <a:srgbClr val="569CD6"/>
                </a:solidFill>
                <a:latin typeface="Courier New" pitchFamily="34" charset="0"/>
                <a:ea typeface="Courier New" pitchFamily="34" charset="-122"/>
                <a:cs typeface="Courier New" pitchFamily="34" charset="-120"/>
              </a:rPr>
              <a:t>public</a:t>
            </a:r>
            <a:r>
              <a:rPr lang="en-US" sz="1300" dirty="0">
                <a:solidFill>
                  <a:srgbClr val="D4D4D4"/>
                </a:solidFill>
                <a:latin typeface="Courier New" pitchFamily="34" charset="0"/>
                <a:ea typeface="Courier New" pitchFamily="34" charset="-122"/>
                <a:cs typeface="Courier New" pitchFamily="34" charset="-120"/>
              </a:rPr>
              <a:t> </a:t>
            </a:r>
            <a:r>
              <a:rPr lang="en-US" sz="1300" b="1" dirty="0">
                <a:solidFill>
                  <a:srgbClr val="569CD6"/>
                </a:solidFill>
                <a:latin typeface="Courier New" pitchFamily="34" charset="0"/>
                <a:ea typeface="Courier New" pitchFamily="34" charset="-122"/>
                <a:cs typeface="Courier New" pitchFamily="34" charset="-120"/>
              </a:rPr>
              <a:t>interface</a:t>
            </a:r>
            <a:r>
              <a:rPr lang="en-US" sz="1300" dirty="0">
                <a:solidFill>
                  <a:srgbClr val="D4D4D4"/>
                </a:solidFill>
                <a:latin typeface="Courier New" pitchFamily="34" charset="0"/>
                <a:ea typeface="Courier New" pitchFamily="34" charset="-122"/>
                <a:cs typeface="Courier New" pitchFamily="34" charset="-120"/>
              </a:rPr>
              <a:t> Payable {</a:t>
            </a:r>
            <a:endParaRPr lang="en-US" sz="1300" dirty="0"/>
          </a:p>
          <a:p>
            <a:pPr marL="0" indent="0" algn="l">
              <a:lnSpc>
                <a:spcPct val="118000"/>
              </a:lnSpc>
              <a:buNone/>
            </a:pPr>
            <a:r>
              <a:rPr lang="en-US" sz="1300" dirty="0">
                <a:solidFill>
                  <a:srgbClr val="D4D4D4"/>
                </a:solidFill>
                <a:latin typeface="Courier New" pitchFamily="34" charset="0"/>
                <a:ea typeface="Courier New" pitchFamily="34" charset="-122"/>
                <a:cs typeface="Courier New" pitchFamily="34" charset="-120"/>
              </a:rPr>
              <a:t>    </a:t>
            </a:r>
            <a:r>
              <a:rPr lang="en-US" sz="1300" b="1" dirty="0">
                <a:solidFill>
                  <a:srgbClr val="569CD6"/>
                </a:solidFill>
                <a:latin typeface="Courier New" pitchFamily="34" charset="0"/>
                <a:ea typeface="Courier New" pitchFamily="34" charset="-122"/>
                <a:cs typeface="Courier New" pitchFamily="34" charset="-120"/>
              </a:rPr>
              <a:t>double</a:t>
            </a:r>
            <a:r>
              <a:rPr lang="en-US" sz="1300" dirty="0">
                <a:solidFill>
                  <a:srgbClr val="D4D4D4"/>
                </a:solidFill>
                <a:latin typeface="Courier New" pitchFamily="34" charset="0"/>
                <a:ea typeface="Courier New" pitchFamily="34" charset="-122"/>
                <a:cs typeface="Courier New" pitchFamily="34" charset="-120"/>
              </a:rPr>
              <a:t> </a:t>
            </a:r>
            <a:r>
              <a:rPr lang="en-US" sz="1300" dirty="0">
                <a:solidFill>
                  <a:srgbClr val="DCDCAA"/>
                </a:solidFill>
                <a:latin typeface="Courier New" pitchFamily="34" charset="0"/>
                <a:ea typeface="Courier New" pitchFamily="34" charset="-122"/>
                <a:cs typeface="Courier New" pitchFamily="34" charset="-120"/>
              </a:rPr>
              <a:t>calculatePayment</a:t>
            </a:r>
            <a:r>
              <a:rPr lang="en-US" sz="1300" dirty="0">
                <a:solidFill>
                  <a:srgbClr val="D4D4D4"/>
                </a:solidFill>
                <a:latin typeface="Courier New" pitchFamily="34" charset="0"/>
                <a:ea typeface="Courier New" pitchFamily="34" charset="-122"/>
                <a:cs typeface="Courier New" pitchFamily="34" charset="-120"/>
              </a:rPr>
              <a:t>();</a:t>
            </a:r>
            <a:endParaRPr lang="en-US" sz="1300" dirty="0"/>
          </a:p>
          <a:p>
            <a:pPr marL="0" indent="0" algn="l">
              <a:lnSpc>
                <a:spcPct val="118000"/>
              </a:lnSpc>
              <a:buNone/>
            </a:pPr>
            <a:r>
              <a:rPr lang="en-US" sz="1300" dirty="0">
                <a:solidFill>
                  <a:srgbClr val="D4D4D4"/>
                </a:solidFill>
                <a:latin typeface="Courier New" pitchFamily="34" charset="0"/>
                <a:ea typeface="Courier New" pitchFamily="34" charset="-122"/>
                <a:cs typeface="Courier New" pitchFamily="34" charset="-120"/>
              </a:rPr>
              <a:t>}</a:t>
            </a:r>
            <a:endParaRPr lang="en-US" sz="1300" dirty="0"/>
          </a:p>
          <a:p>
            <a:pPr marL="0" indent="0" algn="l">
              <a:lnSpc>
                <a:spcPct val="118000"/>
              </a:lnSpc>
              <a:buNone/>
            </a:pPr>
            <a:r>
              <a:rPr lang="en-US" sz="1300" dirty="0">
                <a:solidFill>
                  <a:srgbClr val="D4D4D4"/>
                </a:solidFill>
                <a:latin typeface="Courier New" pitchFamily="34" charset="0"/>
                <a:ea typeface="Courier New" pitchFamily="34" charset="-122"/>
                <a:cs typeface="Courier New" pitchFamily="34" charset="-120"/>
              </a:rPr>
              <a:t> </a:t>
            </a:r>
            <a:endParaRPr lang="en-US" sz="1300" dirty="0"/>
          </a:p>
          <a:p>
            <a:pPr marL="0" indent="0" algn="l">
              <a:lnSpc>
                <a:spcPct val="118000"/>
              </a:lnSpc>
              <a:buNone/>
            </a:pPr>
            <a:r>
              <a:rPr lang="en-US" sz="1300" b="1" dirty="0">
                <a:solidFill>
                  <a:srgbClr val="569CD6"/>
                </a:solidFill>
                <a:latin typeface="Courier New" pitchFamily="34" charset="0"/>
                <a:ea typeface="Courier New" pitchFamily="34" charset="-122"/>
                <a:cs typeface="Courier New" pitchFamily="34" charset="-120"/>
              </a:rPr>
              <a:t>public</a:t>
            </a:r>
            <a:r>
              <a:rPr lang="en-US" sz="1300" dirty="0">
                <a:solidFill>
                  <a:srgbClr val="D4D4D4"/>
                </a:solidFill>
                <a:latin typeface="Courier New" pitchFamily="34" charset="0"/>
                <a:ea typeface="Courier New" pitchFamily="34" charset="-122"/>
                <a:cs typeface="Courier New" pitchFamily="34" charset="-120"/>
              </a:rPr>
              <a:t> </a:t>
            </a:r>
            <a:r>
              <a:rPr lang="en-US" sz="1300" b="1" dirty="0">
                <a:solidFill>
                  <a:srgbClr val="569CD6"/>
                </a:solidFill>
                <a:latin typeface="Courier New" pitchFamily="34" charset="0"/>
                <a:ea typeface="Courier New" pitchFamily="34" charset="-122"/>
                <a:cs typeface="Courier New" pitchFamily="34" charset="-120"/>
              </a:rPr>
              <a:t>class</a:t>
            </a:r>
            <a:r>
              <a:rPr lang="en-US" sz="1300" dirty="0">
                <a:solidFill>
                  <a:srgbClr val="D4D4D4"/>
                </a:solidFill>
                <a:latin typeface="Courier New" pitchFamily="34" charset="0"/>
                <a:ea typeface="Courier New" pitchFamily="34" charset="-122"/>
                <a:cs typeface="Courier New" pitchFamily="34" charset="-120"/>
              </a:rPr>
              <a:t> Invoice </a:t>
            </a:r>
            <a:r>
              <a:rPr lang="en-US" sz="1300" b="1" dirty="0">
                <a:solidFill>
                  <a:srgbClr val="569CD6"/>
                </a:solidFill>
                <a:latin typeface="Courier New" pitchFamily="34" charset="0"/>
                <a:ea typeface="Courier New" pitchFamily="34" charset="-122"/>
                <a:cs typeface="Courier New" pitchFamily="34" charset="-120"/>
              </a:rPr>
              <a:t>implements</a:t>
            </a:r>
            <a:r>
              <a:rPr lang="en-US" sz="1300" dirty="0">
                <a:solidFill>
                  <a:srgbClr val="D4D4D4"/>
                </a:solidFill>
                <a:latin typeface="Courier New" pitchFamily="34" charset="0"/>
                <a:ea typeface="Courier New" pitchFamily="34" charset="-122"/>
                <a:cs typeface="Courier New" pitchFamily="34" charset="-120"/>
              </a:rPr>
              <a:t> Payable {</a:t>
            </a:r>
            <a:endParaRPr lang="en-US" sz="1300" dirty="0"/>
          </a:p>
          <a:p>
            <a:pPr marL="0" indent="0" algn="l">
              <a:lnSpc>
                <a:spcPct val="118000"/>
              </a:lnSpc>
              <a:buNone/>
            </a:pPr>
            <a:r>
              <a:rPr lang="en-US" sz="1300" dirty="0">
                <a:solidFill>
                  <a:srgbClr val="D4D4D4"/>
                </a:solidFill>
                <a:latin typeface="Courier New" pitchFamily="34" charset="0"/>
                <a:ea typeface="Courier New" pitchFamily="34" charset="-122"/>
                <a:cs typeface="Courier New" pitchFamily="34" charset="-120"/>
              </a:rPr>
              <a:t>    </a:t>
            </a:r>
            <a:r>
              <a:rPr lang="en-US" sz="1300" b="1" dirty="0">
                <a:solidFill>
                  <a:srgbClr val="569CD6"/>
                </a:solidFill>
                <a:latin typeface="Courier New" pitchFamily="34" charset="0"/>
                <a:ea typeface="Courier New" pitchFamily="34" charset="-122"/>
                <a:cs typeface="Courier New" pitchFamily="34" charset="-120"/>
              </a:rPr>
              <a:t>double</a:t>
            </a:r>
            <a:r>
              <a:rPr lang="en-US" sz="1300" dirty="0">
                <a:solidFill>
                  <a:srgbClr val="D4D4D4"/>
                </a:solidFill>
                <a:latin typeface="Courier New" pitchFamily="34" charset="0"/>
                <a:ea typeface="Courier New" pitchFamily="34" charset="-122"/>
                <a:cs typeface="Courier New" pitchFamily="34" charset="-120"/>
              </a:rPr>
              <a:t> amount = </a:t>
            </a:r>
            <a:r>
              <a:rPr lang="en-US" sz="1300" dirty="0">
                <a:solidFill>
                  <a:srgbClr val="B5CEA8"/>
                </a:solidFill>
                <a:latin typeface="Courier New" pitchFamily="34" charset="0"/>
                <a:ea typeface="Courier New" pitchFamily="34" charset="-122"/>
                <a:cs typeface="Courier New" pitchFamily="34" charset="-120"/>
              </a:rPr>
              <a:t>250</a:t>
            </a:r>
            <a:r>
              <a:rPr lang="en-US" sz="1300" dirty="0">
                <a:solidFill>
                  <a:srgbClr val="D4D4D4"/>
                </a:solidFill>
                <a:latin typeface="Courier New" pitchFamily="34" charset="0"/>
                <a:ea typeface="Courier New" pitchFamily="34" charset="-122"/>
                <a:cs typeface="Courier New" pitchFamily="34" charset="-120"/>
              </a:rPr>
              <a:t>;</a:t>
            </a:r>
            <a:endParaRPr lang="en-US" sz="1300" dirty="0"/>
          </a:p>
          <a:p>
            <a:pPr marL="0" indent="0" algn="l">
              <a:lnSpc>
                <a:spcPct val="118000"/>
              </a:lnSpc>
              <a:buNone/>
            </a:pPr>
            <a:r>
              <a:rPr lang="en-US" sz="1300" dirty="0">
                <a:solidFill>
                  <a:srgbClr val="D4D4D4"/>
                </a:solidFill>
                <a:latin typeface="Courier New" pitchFamily="34" charset="0"/>
                <a:ea typeface="Courier New" pitchFamily="34" charset="-122"/>
                <a:cs typeface="Courier New" pitchFamily="34" charset="-120"/>
              </a:rPr>
              <a:t>    </a:t>
            </a:r>
            <a:r>
              <a:rPr lang="en-US" sz="1300" b="1" dirty="0">
                <a:solidFill>
                  <a:srgbClr val="569CD6"/>
                </a:solidFill>
                <a:latin typeface="Courier New" pitchFamily="34" charset="0"/>
                <a:ea typeface="Courier New" pitchFamily="34" charset="-122"/>
                <a:cs typeface="Courier New" pitchFamily="34" charset="-120"/>
              </a:rPr>
              <a:t>public</a:t>
            </a:r>
            <a:r>
              <a:rPr lang="en-US" sz="1300" dirty="0">
                <a:solidFill>
                  <a:srgbClr val="D4D4D4"/>
                </a:solidFill>
                <a:latin typeface="Courier New" pitchFamily="34" charset="0"/>
                <a:ea typeface="Courier New" pitchFamily="34" charset="-122"/>
                <a:cs typeface="Courier New" pitchFamily="34" charset="-120"/>
              </a:rPr>
              <a:t> </a:t>
            </a:r>
            <a:r>
              <a:rPr lang="en-US" sz="1300" b="1" dirty="0">
                <a:solidFill>
                  <a:srgbClr val="569CD6"/>
                </a:solidFill>
                <a:latin typeface="Courier New" pitchFamily="34" charset="0"/>
                <a:ea typeface="Courier New" pitchFamily="34" charset="-122"/>
                <a:cs typeface="Courier New" pitchFamily="34" charset="-120"/>
              </a:rPr>
              <a:t>double</a:t>
            </a:r>
            <a:r>
              <a:rPr lang="en-US" sz="1300" dirty="0">
                <a:solidFill>
                  <a:srgbClr val="D4D4D4"/>
                </a:solidFill>
                <a:latin typeface="Courier New" pitchFamily="34" charset="0"/>
                <a:ea typeface="Courier New" pitchFamily="34" charset="-122"/>
                <a:cs typeface="Courier New" pitchFamily="34" charset="-120"/>
              </a:rPr>
              <a:t> </a:t>
            </a:r>
            <a:r>
              <a:rPr lang="en-US" sz="1300" dirty="0">
                <a:solidFill>
                  <a:srgbClr val="DCDCAA"/>
                </a:solidFill>
                <a:latin typeface="Courier New" pitchFamily="34" charset="0"/>
                <a:ea typeface="Courier New" pitchFamily="34" charset="-122"/>
                <a:cs typeface="Courier New" pitchFamily="34" charset="-120"/>
              </a:rPr>
              <a:t>calculatePayment</a:t>
            </a:r>
            <a:r>
              <a:rPr lang="en-US" sz="1300" dirty="0">
                <a:solidFill>
                  <a:srgbClr val="D4D4D4"/>
                </a:solidFill>
                <a:latin typeface="Courier New" pitchFamily="34" charset="0"/>
                <a:ea typeface="Courier New" pitchFamily="34" charset="-122"/>
                <a:cs typeface="Courier New" pitchFamily="34" charset="-120"/>
              </a:rPr>
              <a:t>() { </a:t>
            </a:r>
            <a:r>
              <a:rPr lang="en-US" sz="1300" b="1" dirty="0">
                <a:solidFill>
                  <a:srgbClr val="569CD6"/>
                </a:solidFill>
                <a:latin typeface="Courier New" pitchFamily="34" charset="0"/>
                <a:ea typeface="Courier New" pitchFamily="34" charset="-122"/>
                <a:cs typeface="Courier New" pitchFamily="34" charset="-120"/>
              </a:rPr>
              <a:t>return</a:t>
            </a:r>
            <a:r>
              <a:rPr lang="en-US" sz="1300" dirty="0">
                <a:solidFill>
                  <a:srgbClr val="D4D4D4"/>
                </a:solidFill>
                <a:latin typeface="Courier New" pitchFamily="34" charset="0"/>
                <a:ea typeface="Courier New" pitchFamily="34" charset="-122"/>
                <a:cs typeface="Courier New" pitchFamily="34" charset="-120"/>
              </a:rPr>
              <a:t> amount; }</a:t>
            </a:r>
            <a:endParaRPr lang="en-US" sz="1300" dirty="0"/>
          </a:p>
          <a:p>
            <a:pPr marL="0" indent="0" algn="l">
              <a:lnSpc>
                <a:spcPct val="118000"/>
              </a:lnSpc>
              <a:buNone/>
            </a:pPr>
            <a:r>
              <a:rPr lang="en-US" sz="1300" dirty="0">
                <a:solidFill>
                  <a:srgbClr val="D4D4D4"/>
                </a:solidFill>
                <a:latin typeface="Courier New" pitchFamily="34" charset="0"/>
                <a:ea typeface="Courier New" pitchFamily="34" charset="-122"/>
                <a:cs typeface="Courier New" pitchFamily="34" charset="-120"/>
              </a:rPr>
              <a:t>}</a:t>
            </a:r>
            <a:endParaRPr lang="en-US" sz="1300" dirty="0"/>
          </a:p>
          <a:p>
            <a:pPr marL="0" indent="0" algn="l">
              <a:lnSpc>
                <a:spcPct val="118000"/>
              </a:lnSpc>
              <a:buNone/>
            </a:pPr>
            <a:r>
              <a:rPr lang="en-US" sz="1300" dirty="0">
                <a:solidFill>
                  <a:srgbClr val="D4D4D4"/>
                </a:solidFill>
                <a:latin typeface="Courier New" pitchFamily="34" charset="0"/>
                <a:ea typeface="Courier New" pitchFamily="34" charset="-122"/>
                <a:cs typeface="Courier New" pitchFamily="34" charset="-120"/>
              </a:rPr>
              <a:t> </a:t>
            </a:r>
            <a:endParaRPr lang="en-US" sz="1300" dirty="0"/>
          </a:p>
          <a:p>
            <a:pPr marL="0" indent="0" algn="l">
              <a:lnSpc>
                <a:spcPct val="118000"/>
              </a:lnSpc>
              <a:buNone/>
            </a:pPr>
            <a:r>
              <a:rPr lang="en-US" sz="1300" b="1" dirty="0">
                <a:solidFill>
                  <a:srgbClr val="569CD6"/>
                </a:solidFill>
                <a:latin typeface="Courier New" pitchFamily="34" charset="0"/>
                <a:ea typeface="Courier New" pitchFamily="34" charset="-122"/>
                <a:cs typeface="Courier New" pitchFamily="34" charset="-120"/>
              </a:rPr>
              <a:t>public</a:t>
            </a:r>
            <a:r>
              <a:rPr lang="en-US" sz="1300" dirty="0">
                <a:solidFill>
                  <a:srgbClr val="D4D4D4"/>
                </a:solidFill>
                <a:latin typeface="Courier New" pitchFamily="34" charset="0"/>
                <a:ea typeface="Courier New" pitchFamily="34" charset="-122"/>
                <a:cs typeface="Courier New" pitchFamily="34" charset="-120"/>
              </a:rPr>
              <a:t> </a:t>
            </a:r>
            <a:r>
              <a:rPr lang="en-US" sz="1300" b="1" dirty="0">
                <a:solidFill>
                  <a:srgbClr val="569CD6"/>
                </a:solidFill>
                <a:latin typeface="Courier New" pitchFamily="34" charset="0"/>
                <a:ea typeface="Courier New" pitchFamily="34" charset="-122"/>
                <a:cs typeface="Courier New" pitchFamily="34" charset="-120"/>
              </a:rPr>
              <a:t>class</a:t>
            </a:r>
            <a:r>
              <a:rPr lang="en-US" sz="1300" dirty="0">
                <a:solidFill>
                  <a:srgbClr val="D4D4D4"/>
                </a:solidFill>
                <a:latin typeface="Courier New" pitchFamily="34" charset="0"/>
                <a:ea typeface="Courier New" pitchFamily="34" charset="-122"/>
                <a:cs typeface="Courier New" pitchFamily="34" charset="-120"/>
              </a:rPr>
              <a:t> Main {</a:t>
            </a:r>
            <a:endParaRPr lang="en-US" sz="1300" dirty="0"/>
          </a:p>
          <a:p>
            <a:pPr marL="0" indent="0" algn="l">
              <a:lnSpc>
                <a:spcPct val="118000"/>
              </a:lnSpc>
              <a:buNone/>
            </a:pPr>
            <a:r>
              <a:rPr lang="en-US" sz="1300" dirty="0">
                <a:solidFill>
                  <a:srgbClr val="D4D4D4"/>
                </a:solidFill>
                <a:latin typeface="Courier New" pitchFamily="34" charset="0"/>
                <a:ea typeface="Courier New" pitchFamily="34" charset="-122"/>
                <a:cs typeface="Courier New" pitchFamily="34" charset="-120"/>
              </a:rPr>
              <a:t>    </a:t>
            </a:r>
            <a:r>
              <a:rPr lang="en-US" sz="1300" b="1" dirty="0">
                <a:solidFill>
                  <a:srgbClr val="569CD6"/>
                </a:solidFill>
                <a:latin typeface="Courier New" pitchFamily="34" charset="0"/>
                <a:ea typeface="Courier New" pitchFamily="34" charset="-122"/>
                <a:cs typeface="Courier New" pitchFamily="34" charset="-120"/>
              </a:rPr>
              <a:t>public</a:t>
            </a:r>
            <a:r>
              <a:rPr lang="en-US" sz="1300" dirty="0">
                <a:solidFill>
                  <a:srgbClr val="D4D4D4"/>
                </a:solidFill>
                <a:latin typeface="Courier New" pitchFamily="34" charset="0"/>
                <a:ea typeface="Courier New" pitchFamily="34" charset="-122"/>
                <a:cs typeface="Courier New" pitchFamily="34" charset="-120"/>
              </a:rPr>
              <a:t> </a:t>
            </a:r>
            <a:r>
              <a:rPr lang="en-US" sz="1300" b="1" dirty="0">
                <a:solidFill>
                  <a:srgbClr val="569CD6"/>
                </a:solidFill>
                <a:latin typeface="Courier New" pitchFamily="34" charset="0"/>
                <a:ea typeface="Courier New" pitchFamily="34" charset="-122"/>
                <a:cs typeface="Courier New" pitchFamily="34" charset="-120"/>
              </a:rPr>
              <a:t>static</a:t>
            </a:r>
            <a:r>
              <a:rPr lang="en-US" sz="1300" dirty="0">
                <a:solidFill>
                  <a:srgbClr val="D4D4D4"/>
                </a:solidFill>
                <a:latin typeface="Courier New" pitchFamily="34" charset="0"/>
                <a:ea typeface="Courier New" pitchFamily="34" charset="-122"/>
                <a:cs typeface="Courier New" pitchFamily="34" charset="-120"/>
              </a:rPr>
              <a:t> </a:t>
            </a:r>
            <a:r>
              <a:rPr lang="en-US" sz="1300" b="1" dirty="0">
                <a:solidFill>
                  <a:srgbClr val="569CD6"/>
                </a:solidFill>
                <a:latin typeface="Courier New" pitchFamily="34" charset="0"/>
                <a:ea typeface="Courier New" pitchFamily="34" charset="-122"/>
                <a:cs typeface="Courier New" pitchFamily="34" charset="-120"/>
              </a:rPr>
              <a:t>void</a:t>
            </a:r>
            <a:r>
              <a:rPr lang="en-US" sz="1300" dirty="0">
                <a:solidFill>
                  <a:srgbClr val="D4D4D4"/>
                </a:solidFill>
                <a:latin typeface="Courier New" pitchFamily="34" charset="0"/>
                <a:ea typeface="Courier New" pitchFamily="34" charset="-122"/>
                <a:cs typeface="Courier New" pitchFamily="34" charset="-120"/>
              </a:rPr>
              <a:t> </a:t>
            </a:r>
            <a:r>
              <a:rPr lang="en-US" sz="1300" dirty="0">
                <a:solidFill>
                  <a:srgbClr val="DCDCAA"/>
                </a:solidFill>
                <a:latin typeface="Courier New" pitchFamily="34" charset="0"/>
                <a:ea typeface="Courier New" pitchFamily="34" charset="-122"/>
                <a:cs typeface="Courier New" pitchFamily="34" charset="-120"/>
              </a:rPr>
              <a:t>main</a:t>
            </a:r>
            <a:r>
              <a:rPr lang="en-US" sz="1300" dirty="0">
                <a:solidFill>
                  <a:srgbClr val="D4D4D4"/>
                </a:solidFill>
                <a:latin typeface="Courier New" pitchFamily="34" charset="0"/>
                <a:ea typeface="Courier New" pitchFamily="34" charset="-122"/>
                <a:cs typeface="Courier New" pitchFamily="34" charset="-120"/>
              </a:rPr>
              <a:t>(</a:t>
            </a:r>
            <a:r>
              <a:rPr lang="en-US" sz="1300" dirty="0">
                <a:solidFill>
                  <a:srgbClr val="4EC9B0"/>
                </a:solidFill>
                <a:latin typeface="Courier New" pitchFamily="34" charset="0"/>
                <a:ea typeface="Courier New" pitchFamily="34" charset="-122"/>
                <a:cs typeface="Courier New" pitchFamily="34" charset="-120"/>
              </a:rPr>
              <a:t>String</a:t>
            </a:r>
            <a:r>
              <a:rPr lang="en-US" sz="1300" dirty="0">
                <a:solidFill>
                  <a:srgbClr val="D4D4D4"/>
                </a:solidFill>
                <a:latin typeface="Courier New" pitchFamily="34" charset="0"/>
                <a:ea typeface="Courier New" pitchFamily="34" charset="-122"/>
                <a:cs typeface="Courier New" pitchFamily="34" charset="-120"/>
              </a:rPr>
              <a:t>[] args) {</a:t>
            </a:r>
            <a:endParaRPr lang="en-US" sz="1300" dirty="0"/>
          </a:p>
          <a:p>
            <a:pPr marL="0" indent="0" algn="l">
              <a:lnSpc>
                <a:spcPct val="118000"/>
              </a:lnSpc>
              <a:buNone/>
            </a:pPr>
            <a:r>
              <a:rPr lang="en-US" sz="1300" dirty="0">
                <a:solidFill>
                  <a:srgbClr val="D4D4D4"/>
                </a:solidFill>
                <a:latin typeface="Courier New" pitchFamily="34" charset="0"/>
                <a:ea typeface="Courier New" pitchFamily="34" charset="-122"/>
                <a:cs typeface="Courier New" pitchFamily="34" charset="-120"/>
              </a:rPr>
              <a:t>        Payable p = </a:t>
            </a:r>
            <a:r>
              <a:rPr lang="en-US" sz="1300" b="1" dirty="0">
                <a:solidFill>
                  <a:srgbClr val="569CD6"/>
                </a:solidFill>
                <a:latin typeface="Courier New" pitchFamily="34" charset="0"/>
                <a:ea typeface="Courier New" pitchFamily="34" charset="-122"/>
                <a:cs typeface="Courier New" pitchFamily="34" charset="-120"/>
              </a:rPr>
              <a:t>new</a:t>
            </a:r>
            <a:r>
              <a:rPr lang="en-US" sz="1300" dirty="0">
                <a:solidFill>
                  <a:srgbClr val="D4D4D4"/>
                </a:solidFill>
                <a:latin typeface="Courier New" pitchFamily="34" charset="0"/>
                <a:ea typeface="Courier New" pitchFamily="34" charset="-122"/>
                <a:cs typeface="Courier New" pitchFamily="34" charset="-120"/>
              </a:rPr>
              <a:t> </a:t>
            </a:r>
            <a:r>
              <a:rPr lang="en-US" sz="1300" dirty="0">
                <a:solidFill>
                  <a:srgbClr val="DCDCAA"/>
                </a:solidFill>
                <a:latin typeface="Courier New" pitchFamily="34" charset="0"/>
                <a:ea typeface="Courier New" pitchFamily="34" charset="-122"/>
                <a:cs typeface="Courier New" pitchFamily="34" charset="-120"/>
              </a:rPr>
              <a:t>Invoice</a:t>
            </a:r>
            <a:r>
              <a:rPr lang="en-US" sz="1300" dirty="0">
                <a:solidFill>
                  <a:srgbClr val="D4D4D4"/>
                </a:solidFill>
                <a:latin typeface="Courier New" pitchFamily="34" charset="0"/>
                <a:ea typeface="Courier New" pitchFamily="34" charset="-122"/>
                <a:cs typeface="Courier New" pitchFamily="34" charset="-120"/>
              </a:rPr>
              <a:t>();</a:t>
            </a:r>
            <a:endParaRPr lang="en-US" sz="1300" dirty="0"/>
          </a:p>
          <a:p>
            <a:pPr marL="0" indent="0" algn="l">
              <a:lnSpc>
                <a:spcPct val="118000"/>
              </a:lnSpc>
              <a:buNone/>
            </a:pPr>
            <a:r>
              <a:rPr lang="en-US" sz="1300" dirty="0">
                <a:solidFill>
                  <a:srgbClr val="D4D4D4"/>
                </a:solidFill>
                <a:latin typeface="Courier New" pitchFamily="34" charset="0"/>
                <a:ea typeface="Courier New" pitchFamily="34" charset="-122"/>
                <a:cs typeface="Courier New" pitchFamily="34" charset="-120"/>
              </a:rPr>
              <a:t>        </a:t>
            </a:r>
            <a:r>
              <a:rPr lang="en-US" sz="1300" dirty="0">
                <a:solidFill>
                  <a:srgbClr val="4EC9B0"/>
                </a:solidFill>
                <a:latin typeface="Courier New" pitchFamily="34" charset="0"/>
                <a:ea typeface="Courier New" pitchFamily="34" charset="-122"/>
                <a:cs typeface="Courier New" pitchFamily="34" charset="-120"/>
              </a:rPr>
              <a:t>System</a:t>
            </a:r>
            <a:r>
              <a:rPr lang="en-US" sz="1300" dirty="0">
                <a:solidFill>
                  <a:srgbClr val="D4D4D4"/>
                </a:solidFill>
                <a:latin typeface="Courier New" pitchFamily="34" charset="0"/>
                <a:ea typeface="Courier New" pitchFamily="34" charset="-122"/>
                <a:cs typeface="Courier New" pitchFamily="34" charset="-120"/>
              </a:rPr>
              <a:t>.out.</a:t>
            </a:r>
            <a:r>
              <a:rPr lang="en-US" sz="1300" dirty="0">
                <a:solidFill>
                  <a:srgbClr val="DCDCAA"/>
                </a:solidFill>
                <a:latin typeface="Courier New" pitchFamily="34" charset="0"/>
                <a:ea typeface="Courier New" pitchFamily="34" charset="-122"/>
                <a:cs typeface="Courier New" pitchFamily="34" charset="-120"/>
              </a:rPr>
              <a:t>println</a:t>
            </a:r>
            <a:r>
              <a:rPr lang="en-US" sz="1300" dirty="0">
                <a:solidFill>
                  <a:srgbClr val="D4D4D4"/>
                </a:solidFill>
                <a:latin typeface="Courier New" pitchFamily="34" charset="0"/>
                <a:ea typeface="Courier New" pitchFamily="34" charset="-122"/>
                <a:cs typeface="Courier New" pitchFamily="34" charset="-120"/>
              </a:rPr>
              <a:t>(p.</a:t>
            </a:r>
            <a:r>
              <a:rPr lang="en-US" sz="1300" dirty="0">
                <a:solidFill>
                  <a:srgbClr val="DCDCAA"/>
                </a:solidFill>
                <a:latin typeface="Courier New" pitchFamily="34" charset="0"/>
                <a:ea typeface="Courier New" pitchFamily="34" charset="-122"/>
                <a:cs typeface="Courier New" pitchFamily="34" charset="-120"/>
              </a:rPr>
              <a:t>calculatePayment</a:t>
            </a:r>
            <a:r>
              <a:rPr lang="en-US" sz="1300" dirty="0">
                <a:solidFill>
                  <a:srgbClr val="D4D4D4"/>
                </a:solidFill>
                <a:latin typeface="Courier New" pitchFamily="34" charset="0"/>
                <a:ea typeface="Courier New" pitchFamily="34" charset="-122"/>
                <a:cs typeface="Courier New" pitchFamily="34" charset="-120"/>
              </a:rPr>
              <a:t>());</a:t>
            </a:r>
            <a:endParaRPr lang="en-US" sz="1300" dirty="0"/>
          </a:p>
          <a:p>
            <a:pPr marL="0" indent="0" algn="l">
              <a:lnSpc>
                <a:spcPct val="118000"/>
              </a:lnSpc>
              <a:buNone/>
            </a:pPr>
            <a:r>
              <a:rPr lang="en-US" sz="1300" dirty="0">
                <a:solidFill>
                  <a:srgbClr val="D4D4D4"/>
                </a:solidFill>
                <a:latin typeface="Courier New" pitchFamily="34" charset="0"/>
                <a:ea typeface="Courier New" pitchFamily="34" charset="-122"/>
                <a:cs typeface="Courier New" pitchFamily="34" charset="-120"/>
              </a:rPr>
              <a:t>    }</a:t>
            </a:r>
            <a:endParaRPr lang="en-US" sz="1300" dirty="0"/>
          </a:p>
          <a:p>
            <a:pPr marL="0" indent="0" algn="l">
              <a:lnSpc>
                <a:spcPct val="118000"/>
              </a:lnSpc>
              <a:buNone/>
            </a:pPr>
            <a:r>
              <a:rPr lang="en-US" sz="1300" dirty="0">
                <a:solidFill>
                  <a:srgbClr val="D4D4D4"/>
                </a:solidFill>
                <a:latin typeface="Courier New" pitchFamily="34" charset="0"/>
                <a:ea typeface="Courier New" pitchFamily="34" charset="-122"/>
                <a:cs typeface="Courier New" pitchFamily="34" charset="-120"/>
              </a:rPr>
              <a:t>}</a:t>
            </a:r>
            <a:endParaRPr lang="en-US" sz="1300" dirty="0"/>
          </a:p>
        </p:txBody>
      </p:sp>
      <p:sp>
        <p:nvSpPr>
          <p:cNvPr id="13" name="Shape 11"/>
          <p:cNvSpPr/>
          <p:nvPr/>
        </p:nvSpPr>
        <p:spPr>
          <a:xfrm>
            <a:off x="7909560" y="2002536"/>
            <a:ext cx="3886200" cy="4032504"/>
          </a:xfrm>
          <a:prstGeom prst="roundRect">
            <a:avLst>
              <a:gd name="adj" fmla="val 1882"/>
            </a:avLst>
          </a:prstGeom>
          <a:solidFill>
            <a:srgbClr val="181C24"/>
          </a:solidFill>
          <a:ln w="12700">
            <a:solidFill>
              <a:srgbClr val="000000"/>
            </a:solidFill>
            <a:prstDash val="solid"/>
          </a:ln>
        </p:spPr>
      </p:sp>
      <p:sp>
        <p:nvSpPr>
          <p:cNvPr id="14" name="Text 12"/>
          <p:cNvSpPr/>
          <p:nvPr/>
        </p:nvSpPr>
        <p:spPr>
          <a:xfrm>
            <a:off x="8074152" y="2130552"/>
            <a:ext cx="3557016" cy="274320"/>
          </a:xfrm>
          <a:prstGeom prst="rect">
            <a:avLst/>
          </a:prstGeom>
          <a:noFill/>
          <a:ln/>
        </p:spPr>
        <p:txBody>
          <a:bodyPr wrap="square" lIns="0" tIns="0" rIns="0" bIns="0" rtlCol="0" anchor="ctr"/>
          <a:lstStyle/>
          <a:p>
            <a:pPr marL="0" indent="0">
              <a:buNone/>
            </a:pPr>
            <a:r>
              <a:rPr lang="en-US" sz="1000" b="1" kern="0" spc="100" dirty="0">
                <a:solidFill>
                  <a:srgbClr val="E8590C"/>
                </a:solidFill>
                <a:latin typeface="Times New Roman" pitchFamily="34" charset="0"/>
                <a:ea typeface="Times New Roman" pitchFamily="34" charset="-122"/>
                <a:cs typeface="Times New Roman" pitchFamily="34" charset="-120"/>
              </a:rPr>
              <a:t>CONSOLE OUTPUT</a:t>
            </a:r>
            <a:endParaRPr lang="en-US" sz="1000" dirty="0"/>
          </a:p>
        </p:txBody>
      </p:sp>
      <p:sp>
        <p:nvSpPr>
          <p:cNvPr id="15" name="Text 13"/>
          <p:cNvSpPr/>
          <p:nvPr/>
        </p:nvSpPr>
        <p:spPr>
          <a:xfrm>
            <a:off x="8074152" y="2459736"/>
            <a:ext cx="3557016" cy="3429000"/>
          </a:xfrm>
          <a:prstGeom prst="rect">
            <a:avLst/>
          </a:prstGeom>
          <a:noFill/>
          <a:ln/>
        </p:spPr>
        <p:txBody>
          <a:bodyPr wrap="square" lIns="0" tIns="0" rIns="0" bIns="0" rtlCol="0" anchor="t"/>
          <a:lstStyle/>
          <a:p>
            <a:pPr marL="0" indent="0">
              <a:lnSpc>
                <a:spcPct val="130000"/>
              </a:lnSpc>
              <a:buNone/>
            </a:pPr>
            <a:r>
              <a:rPr lang="en-US" sz="1300" dirty="0">
                <a:solidFill>
                  <a:srgbClr val="D8E6D0"/>
                </a:solidFill>
                <a:latin typeface="Courier New" pitchFamily="34" charset="0"/>
                <a:ea typeface="Courier New" pitchFamily="34" charset="-122"/>
                <a:cs typeface="Courier New" pitchFamily="34" charset="-120"/>
              </a:rPr>
              <a:t>250.0</a:t>
            </a:r>
            <a:endParaRPr lang="en-US" sz="1300" dirty="0"/>
          </a:p>
        </p:txBody>
      </p:sp>
      <p:sp>
        <p:nvSpPr>
          <p:cNvPr id="16" name="Shape 14"/>
          <p:cNvSpPr/>
          <p:nvPr/>
        </p:nvSpPr>
        <p:spPr>
          <a:xfrm>
            <a:off x="0" y="0"/>
            <a:ext cx="12191695" cy="384048"/>
          </a:xfrm>
          <a:prstGeom prst="rect">
            <a:avLst/>
          </a:prstGeom>
          <a:solidFill>
            <a:srgbClr val="1B2A4A"/>
          </a:solidFill>
          <a:ln w="12700">
            <a:solidFill>
              <a:srgbClr val="1B2A4A"/>
            </a:solidFill>
            <a:prstDash val="solid"/>
          </a:ln>
        </p:spPr>
      </p:sp>
      <p:sp>
        <p:nvSpPr>
          <p:cNvPr id="17" name="Text 15"/>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8" name="Shape 16"/>
          <p:cNvSpPr/>
          <p:nvPr/>
        </p:nvSpPr>
        <p:spPr>
          <a:xfrm>
            <a:off x="219456" y="301752"/>
            <a:ext cx="960120" cy="0"/>
          </a:xfrm>
          <a:prstGeom prst="line">
            <a:avLst/>
          </a:prstGeom>
          <a:noFill/>
          <a:ln w="9525">
            <a:solidFill>
              <a:srgbClr val="4A5570"/>
            </a:solidFill>
            <a:prstDash val="solid"/>
          </a:ln>
        </p:spPr>
      </p:sp>
      <p:sp>
        <p:nvSpPr>
          <p:cNvPr id="19" name="Text 17"/>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0" name="Text 18"/>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1" name="Text 19"/>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2" name="Shape 20"/>
          <p:cNvSpPr/>
          <p:nvPr/>
        </p:nvSpPr>
        <p:spPr>
          <a:xfrm>
            <a:off x="0" y="6291072"/>
            <a:ext cx="12191695" cy="566928"/>
          </a:xfrm>
          <a:prstGeom prst="rect">
            <a:avLst/>
          </a:prstGeom>
          <a:solidFill>
            <a:srgbClr val="1B2A4A"/>
          </a:solidFill>
          <a:ln w="12700">
            <a:solidFill>
              <a:srgbClr val="1B2A4A"/>
            </a:solidFill>
            <a:prstDash val="solid"/>
          </a:ln>
        </p:spPr>
      </p:sp>
      <p:sp>
        <p:nvSpPr>
          <p:cNvPr id="23" name="Text 21"/>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4" name="Text 22"/>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bg>
      <p:bgPr>
        <a:solidFill>
          <a:srgbClr val="181C24"/>
        </a:solidFill>
        <a:effectLst/>
      </p:bgPr>
    </p:bg>
    <p:spTree>
      <p:nvGrpSpPr>
        <p:cNvPr id="1" name=""/>
        <p:cNvGrpSpPr/>
        <p:nvPr/>
      </p:nvGrpSpPr>
      <p:grpSpPr>
        <a:xfrm>
          <a:off x="0" y="0"/>
          <a:ext cx="0" cy="0"/>
          <a:chOff x="0" y="0"/>
          <a:chExt cx="0" cy="0"/>
        </a:xfrm>
      </p:grpSpPr>
      <p:sp>
        <p:nvSpPr>
          <p:cNvPr id="2" name="Shape 0"/>
          <p:cNvSpPr/>
          <p:nvPr/>
        </p:nvSpPr>
        <p:spPr>
          <a:xfrm>
            <a:off x="505968" y="0"/>
            <a:ext cx="12191695" cy="6858000"/>
          </a:xfrm>
          <a:prstGeom prst="rect">
            <a:avLst/>
          </a:prstGeom>
          <a:solidFill>
            <a:srgbClr val="181C24"/>
          </a:solidFill>
          <a:ln w="12700">
            <a:solidFill>
              <a:srgbClr val="181C24"/>
            </a:solidFill>
            <a:prstDash val="solid"/>
          </a:ln>
        </p:spPr>
      </p:sp>
      <p:sp>
        <p:nvSpPr>
          <p:cNvPr id="3" name="Shape 1"/>
          <p:cNvSpPr/>
          <p:nvPr/>
        </p:nvSpPr>
        <p:spPr>
          <a:xfrm>
            <a:off x="0" y="3246120"/>
            <a:ext cx="12191695" cy="18288"/>
          </a:xfrm>
          <a:prstGeom prst="rect">
            <a:avLst/>
          </a:prstGeom>
          <a:solidFill>
            <a:srgbClr val="2A2F3B"/>
          </a:solidFill>
          <a:ln w="12700">
            <a:solidFill>
              <a:srgbClr val="000000"/>
            </a:solidFill>
            <a:prstDash val="solid"/>
          </a:ln>
        </p:spPr>
      </p:sp>
      <p:sp>
        <p:nvSpPr>
          <p:cNvPr id="4" name="Text 2"/>
          <p:cNvSpPr/>
          <p:nvPr/>
        </p:nvSpPr>
        <p:spPr>
          <a:xfrm>
            <a:off x="640080" y="2651760"/>
            <a:ext cx="5486400" cy="365760"/>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SECTION 9 / 10</a:t>
            </a:r>
            <a:endParaRPr lang="en-US" sz="1300" dirty="0"/>
          </a:p>
        </p:txBody>
      </p:sp>
      <p:sp>
        <p:nvSpPr>
          <p:cNvPr id="5" name="Text 3"/>
          <p:cNvSpPr/>
          <p:nvPr/>
        </p:nvSpPr>
        <p:spPr>
          <a:xfrm>
            <a:off x="594360" y="2971800"/>
            <a:ext cx="10515600" cy="1005840"/>
          </a:xfrm>
          <a:prstGeom prst="rect">
            <a:avLst/>
          </a:prstGeom>
          <a:noFill/>
          <a:ln/>
        </p:spPr>
        <p:txBody>
          <a:bodyPr wrap="square" lIns="0" tIns="0" rIns="0" bIns="0" rtlCol="0" anchor="ctr"/>
          <a:lstStyle/>
          <a:p>
            <a:pPr marL="0" indent="0">
              <a:buNone/>
            </a:pPr>
            <a:r>
              <a:rPr lang="en-US" sz="3400" b="1" dirty="0">
                <a:solidFill>
                  <a:srgbClr val="FFFFFF"/>
                </a:solidFill>
                <a:latin typeface="Times New Roman" pitchFamily="34" charset="0"/>
                <a:ea typeface="Times New Roman" pitchFamily="34" charset="-122"/>
                <a:cs typeface="Times New Roman" pitchFamily="34" charset="-120"/>
              </a:rPr>
              <a:t>Packages</a:t>
            </a:r>
            <a:endParaRPr lang="en-US" sz="3400" dirty="0"/>
          </a:p>
        </p:txBody>
      </p:sp>
      <p:sp>
        <p:nvSpPr>
          <p:cNvPr id="6" name="Text 4"/>
          <p:cNvSpPr/>
          <p:nvPr/>
        </p:nvSpPr>
        <p:spPr>
          <a:xfrm>
            <a:off x="640080" y="3977640"/>
            <a:ext cx="9144000" cy="548640"/>
          </a:xfrm>
          <a:prstGeom prst="rect">
            <a:avLst/>
          </a:prstGeom>
          <a:noFill/>
          <a:ln/>
        </p:spPr>
        <p:txBody>
          <a:bodyPr wrap="square" lIns="0" tIns="0" rIns="0" bIns="0" rtlCol="0" anchor="t"/>
          <a:lstStyle/>
          <a:p>
            <a:pPr marL="0" indent="0">
              <a:buNone/>
            </a:pPr>
            <a:r>
              <a:rPr lang="en-US" sz="1500" dirty="0">
                <a:solidFill>
                  <a:srgbClr val="8C93A0"/>
                </a:solidFill>
                <a:latin typeface="Times New Roman" pitchFamily="34" charset="0"/>
                <a:ea typeface="Times New Roman" pitchFamily="34" charset="-122"/>
                <a:cs typeface="Times New Roman" pitchFamily="34" charset="-120"/>
              </a:rPr>
              <a:t>Organizing classes into named, manageable groups</a:t>
            </a:r>
            <a:endParaRPr lang="en-US" sz="1500" dirty="0"/>
          </a:p>
        </p:txBody>
      </p:sp>
      <p:sp>
        <p:nvSpPr>
          <p:cNvPr id="7" name="Shape 5"/>
          <p:cNvSpPr/>
          <p:nvPr/>
        </p:nvSpPr>
        <p:spPr>
          <a:xfrm>
            <a:off x="0" y="0"/>
            <a:ext cx="12191695" cy="384048"/>
          </a:xfrm>
          <a:prstGeom prst="rect">
            <a:avLst/>
          </a:prstGeom>
          <a:solidFill>
            <a:srgbClr val="1B2A4A"/>
          </a:solidFill>
          <a:ln w="12700">
            <a:solidFill>
              <a:srgbClr val="1B2A4A"/>
            </a:solidFill>
            <a:prstDash val="solid"/>
          </a:ln>
        </p:spPr>
      </p:sp>
      <p:sp>
        <p:nvSpPr>
          <p:cNvPr id="8" name="Text 6"/>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9" name="Shape 7"/>
          <p:cNvSpPr/>
          <p:nvPr/>
        </p:nvSpPr>
        <p:spPr>
          <a:xfrm>
            <a:off x="219456" y="301752"/>
            <a:ext cx="960120" cy="0"/>
          </a:xfrm>
          <a:prstGeom prst="line">
            <a:avLst/>
          </a:prstGeom>
          <a:noFill/>
          <a:ln w="9525">
            <a:solidFill>
              <a:srgbClr val="4A5570"/>
            </a:solidFill>
            <a:prstDash val="solid"/>
          </a:ln>
        </p:spPr>
      </p:sp>
      <p:sp>
        <p:nvSpPr>
          <p:cNvPr id="10" name="Text 8"/>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11" name="Text 9"/>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12" name="Text 10"/>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13" name="Shape 11"/>
          <p:cNvSpPr/>
          <p:nvPr/>
        </p:nvSpPr>
        <p:spPr>
          <a:xfrm>
            <a:off x="0" y="6291072"/>
            <a:ext cx="12191695" cy="566928"/>
          </a:xfrm>
          <a:prstGeom prst="rect">
            <a:avLst/>
          </a:prstGeom>
          <a:solidFill>
            <a:srgbClr val="1B2A4A"/>
          </a:solidFill>
          <a:ln w="12700">
            <a:solidFill>
              <a:srgbClr val="1B2A4A"/>
            </a:solidFill>
            <a:prstDash val="solid"/>
          </a:ln>
        </p:spPr>
      </p:sp>
      <p:sp>
        <p:nvSpPr>
          <p:cNvPr id="14" name="Text 12"/>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15" name="Text 13"/>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CONCEPT</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What Is a Package?</a:t>
            </a:r>
            <a:endParaRPr lang="en-US" sz="2700" dirty="0"/>
          </a:p>
        </p:txBody>
      </p:sp>
      <p:sp>
        <p:nvSpPr>
          <p:cNvPr id="4" name="Shape 2"/>
          <p:cNvSpPr/>
          <p:nvPr/>
        </p:nvSpPr>
        <p:spPr>
          <a:xfrm>
            <a:off x="594360" y="1691640"/>
            <a:ext cx="10607040" cy="2089404"/>
          </a:xfrm>
          <a:prstGeom prst="roundRect">
            <a:avLst>
              <a:gd name="adj" fmla="val 2626"/>
            </a:avLst>
          </a:prstGeom>
          <a:solidFill>
            <a:srgbClr val="F5F6FA"/>
          </a:solidFill>
          <a:ln w="9525">
            <a:solidFill>
              <a:srgbClr val="E4E7EE"/>
            </a:solidFill>
            <a:prstDash val="solid"/>
          </a:ln>
        </p:spPr>
      </p:sp>
      <p:sp>
        <p:nvSpPr>
          <p:cNvPr id="5" name="Shape 3"/>
          <p:cNvSpPr/>
          <p:nvPr/>
        </p:nvSpPr>
        <p:spPr>
          <a:xfrm>
            <a:off x="777240" y="1874520"/>
            <a:ext cx="109728" cy="109728"/>
          </a:xfrm>
          <a:prstGeom prst="ellipse">
            <a:avLst/>
          </a:prstGeom>
          <a:solidFill>
            <a:srgbClr val="E8590C"/>
          </a:solidFill>
          <a:ln w="12700">
            <a:solidFill>
              <a:srgbClr val="000000"/>
            </a:solidFill>
            <a:prstDash val="solid"/>
          </a:ln>
        </p:spPr>
      </p:sp>
      <p:sp>
        <p:nvSpPr>
          <p:cNvPr id="6" name="Text 4"/>
          <p:cNvSpPr/>
          <p:nvPr/>
        </p:nvSpPr>
        <p:spPr>
          <a:xfrm>
            <a:off x="1051560" y="1764792"/>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A named group of related classes</a:t>
            </a:r>
            <a:endParaRPr lang="en-US" sz="1500" dirty="0"/>
          </a:p>
        </p:txBody>
      </p:sp>
      <p:sp>
        <p:nvSpPr>
          <p:cNvPr id="7" name="Text 5"/>
          <p:cNvSpPr/>
          <p:nvPr/>
        </p:nvSpPr>
        <p:spPr>
          <a:xfrm>
            <a:off x="1051560" y="2057400"/>
            <a:ext cx="9966960" cy="1668780"/>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A package works like a folder that organizes classes belonging to the same part of a program.</a:t>
            </a:r>
            <a:endParaRPr lang="en-US" sz="1250" dirty="0"/>
          </a:p>
        </p:txBody>
      </p:sp>
      <p:sp>
        <p:nvSpPr>
          <p:cNvPr id="8" name="Shape 6"/>
          <p:cNvSpPr/>
          <p:nvPr/>
        </p:nvSpPr>
        <p:spPr>
          <a:xfrm>
            <a:off x="594360" y="3945636"/>
            <a:ext cx="10607040" cy="2089404"/>
          </a:xfrm>
          <a:prstGeom prst="roundRect">
            <a:avLst>
              <a:gd name="adj" fmla="val 2626"/>
            </a:avLst>
          </a:prstGeom>
          <a:solidFill>
            <a:srgbClr val="F5F6FA"/>
          </a:solidFill>
          <a:ln w="9525">
            <a:solidFill>
              <a:srgbClr val="E4E7EE"/>
            </a:solidFill>
            <a:prstDash val="solid"/>
          </a:ln>
        </p:spPr>
      </p:sp>
      <p:sp>
        <p:nvSpPr>
          <p:cNvPr id="9" name="Shape 7"/>
          <p:cNvSpPr/>
          <p:nvPr/>
        </p:nvSpPr>
        <p:spPr>
          <a:xfrm>
            <a:off x="777240" y="4128516"/>
            <a:ext cx="109728" cy="109728"/>
          </a:xfrm>
          <a:prstGeom prst="ellipse">
            <a:avLst/>
          </a:prstGeom>
          <a:solidFill>
            <a:srgbClr val="E8590C"/>
          </a:solidFill>
          <a:ln w="12700">
            <a:solidFill>
              <a:srgbClr val="000000"/>
            </a:solidFill>
            <a:prstDash val="solid"/>
          </a:ln>
        </p:spPr>
      </p:sp>
      <p:sp>
        <p:nvSpPr>
          <p:cNvPr id="10" name="Text 8"/>
          <p:cNvSpPr/>
          <p:nvPr/>
        </p:nvSpPr>
        <p:spPr>
          <a:xfrm>
            <a:off x="1051560" y="4018788"/>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Avoids naming collisions</a:t>
            </a:r>
            <a:endParaRPr lang="en-US" sz="1500" dirty="0"/>
          </a:p>
        </p:txBody>
      </p:sp>
      <p:sp>
        <p:nvSpPr>
          <p:cNvPr id="11" name="Text 9"/>
          <p:cNvSpPr/>
          <p:nvPr/>
        </p:nvSpPr>
        <p:spPr>
          <a:xfrm>
            <a:off x="1051560" y="4311396"/>
            <a:ext cx="9966960" cy="1668780"/>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Two classes with the same simple name can coexist as long as they live in different packages.</a:t>
            </a:r>
            <a:endParaRPr lang="en-US" sz="1250" dirty="0"/>
          </a:p>
        </p:txBody>
      </p:sp>
      <p:sp>
        <p:nvSpPr>
          <p:cNvPr id="12" name="Shape 10"/>
          <p:cNvSpPr/>
          <p:nvPr/>
        </p:nvSpPr>
        <p:spPr>
          <a:xfrm>
            <a:off x="0" y="0"/>
            <a:ext cx="12191695" cy="384048"/>
          </a:xfrm>
          <a:prstGeom prst="rect">
            <a:avLst/>
          </a:prstGeom>
          <a:solidFill>
            <a:srgbClr val="1B2A4A"/>
          </a:solidFill>
          <a:ln w="12700">
            <a:solidFill>
              <a:srgbClr val="1B2A4A"/>
            </a:solidFill>
            <a:prstDash val="solid"/>
          </a:ln>
        </p:spPr>
      </p:sp>
      <p:sp>
        <p:nvSpPr>
          <p:cNvPr id="13" name="Text 11"/>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4" name="Shape 12"/>
          <p:cNvSpPr/>
          <p:nvPr/>
        </p:nvSpPr>
        <p:spPr>
          <a:xfrm>
            <a:off x="219456" y="301752"/>
            <a:ext cx="960120" cy="0"/>
          </a:xfrm>
          <a:prstGeom prst="line">
            <a:avLst/>
          </a:prstGeom>
          <a:noFill/>
          <a:ln w="9525">
            <a:solidFill>
              <a:srgbClr val="4A5570"/>
            </a:solidFill>
            <a:prstDash val="solid"/>
          </a:ln>
        </p:spPr>
      </p:sp>
      <p:sp>
        <p:nvSpPr>
          <p:cNvPr id="15" name="Text 13"/>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16" name="Text 14"/>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17" name="Text 15"/>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18" name="Shape 16"/>
          <p:cNvSpPr/>
          <p:nvPr/>
        </p:nvSpPr>
        <p:spPr>
          <a:xfrm>
            <a:off x="0" y="6291072"/>
            <a:ext cx="12191695" cy="566928"/>
          </a:xfrm>
          <a:prstGeom prst="rect">
            <a:avLst/>
          </a:prstGeom>
          <a:solidFill>
            <a:srgbClr val="1B2A4A"/>
          </a:solidFill>
          <a:ln w="12700">
            <a:solidFill>
              <a:srgbClr val="1B2A4A"/>
            </a:solidFill>
            <a:prstDash val="solid"/>
          </a:ln>
        </p:spPr>
      </p:sp>
      <p:sp>
        <p:nvSpPr>
          <p:cNvPr id="19" name="Text 17"/>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0" name="Text 18"/>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DECLARING MEMBERSHIP</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Declaring a Package</a:t>
            </a:r>
            <a:endParaRPr lang="en-US" sz="2700" dirty="0"/>
          </a:p>
        </p:txBody>
      </p:sp>
      <p:sp>
        <p:nvSpPr>
          <p:cNvPr id="4" name="Shape 2"/>
          <p:cNvSpPr/>
          <p:nvPr/>
        </p:nvSpPr>
        <p:spPr>
          <a:xfrm>
            <a:off x="594360" y="1600200"/>
            <a:ext cx="10607040" cy="896112"/>
          </a:xfrm>
          <a:prstGeom prst="roundRect">
            <a:avLst>
              <a:gd name="adj" fmla="val 6122"/>
            </a:avLst>
          </a:prstGeom>
          <a:solidFill>
            <a:srgbClr val="F5F6FA"/>
          </a:solidFill>
          <a:ln w="9525">
            <a:solidFill>
              <a:srgbClr val="E4E7EE"/>
            </a:solidFill>
            <a:prstDash val="solid"/>
          </a:ln>
        </p:spPr>
      </p:sp>
      <p:sp>
        <p:nvSpPr>
          <p:cNvPr id="5" name="Shape 3"/>
          <p:cNvSpPr/>
          <p:nvPr/>
        </p:nvSpPr>
        <p:spPr>
          <a:xfrm>
            <a:off x="804672" y="1755648"/>
            <a:ext cx="100584" cy="100584"/>
          </a:xfrm>
          <a:prstGeom prst="ellipse">
            <a:avLst/>
          </a:prstGeom>
          <a:solidFill>
            <a:srgbClr val="E8590C"/>
          </a:solidFill>
          <a:ln w="12700">
            <a:solidFill>
              <a:srgbClr val="000000"/>
            </a:solidFill>
            <a:prstDash val="solid"/>
          </a:ln>
        </p:spPr>
      </p:sp>
      <p:sp>
        <p:nvSpPr>
          <p:cNvPr id="6" name="Text 4"/>
          <p:cNvSpPr/>
          <p:nvPr/>
        </p:nvSpPr>
        <p:spPr>
          <a:xfrm>
            <a:off x="1051560" y="1655064"/>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package must be the very first statement in a source file, before any import or class declaration.</a:t>
            </a:r>
            <a:endParaRPr lang="en-US" sz="1250" dirty="0"/>
          </a:p>
        </p:txBody>
      </p:sp>
      <p:sp>
        <p:nvSpPr>
          <p:cNvPr id="7" name="Shape 5"/>
          <p:cNvSpPr/>
          <p:nvPr/>
        </p:nvSpPr>
        <p:spPr>
          <a:xfrm>
            <a:off x="804672" y="2103120"/>
            <a:ext cx="100584" cy="100584"/>
          </a:xfrm>
          <a:prstGeom prst="ellipse">
            <a:avLst/>
          </a:prstGeom>
          <a:solidFill>
            <a:srgbClr val="E8590C"/>
          </a:solidFill>
          <a:ln w="12700">
            <a:solidFill>
              <a:srgbClr val="000000"/>
            </a:solidFill>
            <a:prstDash val="solid"/>
          </a:ln>
        </p:spPr>
      </p:sp>
      <p:sp>
        <p:nvSpPr>
          <p:cNvPr id="8" name="Text 6"/>
          <p:cNvSpPr/>
          <p:nvPr/>
        </p:nvSpPr>
        <p:spPr>
          <a:xfrm>
            <a:off x="1051560" y="2002536"/>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It places every class in that file into the named package.</a:t>
            </a:r>
            <a:endParaRPr lang="en-US" sz="1250" dirty="0"/>
          </a:p>
        </p:txBody>
      </p:sp>
      <p:sp>
        <p:nvSpPr>
          <p:cNvPr id="9" name="Shape 7"/>
          <p:cNvSpPr/>
          <p:nvPr/>
        </p:nvSpPr>
        <p:spPr>
          <a:xfrm>
            <a:off x="594360" y="2642616"/>
            <a:ext cx="10607040" cy="3392424"/>
          </a:xfrm>
          <a:prstGeom prst="roundRect">
            <a:avLst>
              <a:gd name="adj" fmla="val 2156"/>
            </a:avLst>
          </a:prstGeom>
          <a:solidFill>
            <a:srgbClr val="1E1E2E"/>
          </a:solidFill>
          <a:ln w="12700">
            <a:solidFill>
              <a:srgbClr val="000000"/>
            </a:solidFill>
            <a:prstDash val="solid"/>
          </a:ln>
        </p:spPr>
      </p:sp>
      <p:sp>
        <p:nvSpPr>
          <p:cNvPr id="10" name="Shape 8"/>
          <p:cNvSpPr/>
          <p:nvPr/>
        </p:nvSpPr>
        <p:spPr>
          <a:xfrm>
            <a:off x="594360" y="2642616"/>
            <a:ext cx="10607040" cy="274320"/>
          </a:xfrm>
          <a:prstGeom prst="roundRect">
            <a:avLst>
              <a:gd name="adj" fmla="val 26667"/>
            </a:avLst>
          </a:prstGeom>
          <a:solidFill>
            <a:srgbClr val="17172A"/>
          </a:solidFill>
          <a:ln w="12700">
            <a:solidFill>
              <a:srgbClr val="000000"/>
            </a:solidFill>
            <a:prstDash val="solid"/>
          </a:ln>
        </p:spPr>
      </p:sp>
      <p:sp>
        <p:nvSpPr>
          <p:cNvPr id="11" name="Shape 9"/>
          <p:cNvSpPr/>
          <p:nvPr/>
        </p:nvSpPr>
        <p:spPr>
          <a:xfrm>
            <a:off x="594360" y="2843784"/>
            <a:ext cx="10607040" cy="73152"/>
          </a:xfrm>
          <a:prstGeom prst="rect">
            <a:avLst/>
          </a:prstGeom>
          <a:solidFill>
            <a:srgbClr val="17172A"/>
          </a:solidFill>
          <a:ln w="12700">
            <a:solidFill>
              <a:srgbClr val="000000"/>
            </a:solidFill>
            <a:prstDash val="solid"/>
          </a:ln>
        </p:spPr>
      </p:sp>
      <p:sp>
        <p:nvSpPr>
          <p:cNvPr id="12" name="Shape 10"/>
          <p:cNvSpPr/>
          <p:nvPr/>
        </p:nvSpPr>
        <p:spPr>
          <a:xfrm>
            <a:off x="722376" y="2741371"/>
            <a:ext cx="76810" cy="76810"/>
          </a:xfrm>
          <a:prstGeom prst="ellipse">
            <a:avLst/>
          </a:prstGeom>
          <a:solidFill>
            <a:srgbClr val="FF5F56"/>
          </a:solidFill>
          <a:ln w="12700">
            <a:solidFill>
              <a:srgbClr val="000000"/>
            </a:solidFill>
            <a:prstDash val="solid"/>
          </a:ln>
        </p:spPr>
      </p:sp>
      <p:sp>
        <p:nvSpPr>
          <p:cNvPr id="13" name="Shape 11"/>
          <p:cNvSpPr/>
          <p:nvPr/>
        </p:nvSpPr>
        <p:spPr>
          <a:xfrm>
            <a:off x="886968" y="2741371"/>
            <a:ext cx="76810" cy="76810"/>
          </a:xfrm>
          <a:prstGeom prst="ellipse">
            <a:avLst/>
          </a:prstGeom>
          <a:solidFill>
            <a:srgbClr val="FFBD2E"/>
          </a:solidFill>
          <a:ln w="12700">
            <a:solidFill>
              <a:srgbClr val="000000"/>
            </a:solidFill>
            <a:prstDash val="solid"/>
          </a:ln>
        </p:spPr>
      </p:sp>
      <p:sp>
        <p:nvSpPr>
          <p:cNvPr id="14" name="Shape 12"/>
          <p:cNvSpPr/>
          <p:nvPr/>
        </p:nvSpPr>
        <p:spPr>
          <a:xfrm>
            <a:off x="1051560" y="2741371"/>
            <a:ext cx="76810" cy="76810"/>
          </a:xfrm>
          <a:prstGeom prst="ellipse">
            <a:avLst/>
          </a:prstGeom>
          <a:solidFill>
            <a:srgbClr val="27C93F"/>
          </a:solidFill>
          <a:ln w="12700">
            <a:solidFill>
              <a:srgbClr val="000000"/>
            </a:solidFill>
            <a:prstDash val="solid"/>
          </a:ln>
        </p:spPr>
      </p:sp>
      <p:sp>
        <p:nvSpPr>
          <p:cNvPr id="15" name="Text 13"/>
          <p:cNvSpPr/>
          <p:nvPr/>
        </p:nvSpPr>
        <p:spPr>
          <a:xfrm>
            <a:off x="1371600" y="2642616"/>
            <a:ext cx="9692640" cy="274320"/>
          </a:xfrm>
          <a:prstGeom prst="rect">
            <a:avLst/>
          </a:prstGeom>
          <a:noFill/>
          <a:ln/>
        </p:spPr>
        <p:txBody>
          <a:bodyPr wrap="square" lIns="0" tIns="0" rIns="0" bIns="0" rtlCol="0" anchor="ctr"/>
          <a:lstStyle/>
          <a:p>
            <a:pPr marL="0" indent="0" algn="l">
              <a:buNone/>
            </a:pPr>
            <a:r>
              <a:rPr lang="en-US" sz="1000" dirty="0">
                <a:solidFill>
                  <a:srgbClr val="8A8FA3"/>
                </a:solidFill>
                <a:latin typeface="Courier New" pitchFamily="34" charset="0"/>
                <a:ea typeface="Courier New" pitchFamily="34" charset="-122"/>
                <a:cs typeface="Courier New" pitchFamily="34" charset="-120"/>
              </a:rPr>
              <a:t>Main.java</a:t>
            </a:r>
            <a:endParaRPr lang="en-US" sz="1000" dirty="0"/>
          </a:p>
        </p:txBody>
      </p:sp>
      <p:sp>
        <p:nvSpPr>
          <p:cNvPr id="16" name="Text 14"/>
          <p:cNvSpPr/>
          <p:nvPr/>
        </p:nvSpPr>
        <p:spPr>
          <a:xfrm>
            <a:off x="777240" y="2990088"/>
            <a:ext cx="10241280" cy="2971800"/>
          </a:xfrm>
          <a:prstGeom prst="rect">
            <a:avLst/>
          </a:prstGeom>
          <a:noFill/>
          <a:ln/>
        </p:spPr>
        <p:txBody>
          <a:bodyPr wrap="square" lIns="0" tIns="0" rIns="0" bIns="0" rtlCol="0" anchor="t"/>
          <a:lstStyle/>
          <a:p>
            <a:pPr marL="0" indent="0" algn="l">
              <a:lnSpc>
                <a:spcPct val="118000"/>
              </a:lnSpc>
              <a:buNone/>
            </a:pPr>
            <a:r>
              <a:rPr lang="en-US" sz="1500" b="1" dirty="0">
                <a:solidFill>
                  <a:srgbClr val="569CD6"/>
                </a:solidFill>
                <a:latin typeface="Courier New" pitchFamily="34" charset="0"/>
                <a:ea typeface="Courier New" pitchFamily="34" charset="-122"/>
                <a:cs typeface="Courier New" pitchFamily="34" charset="-120"/>
              </a:rPr>
              <a:t>package</a:t>
            </a:r>
            <a:r>
              <a:rPr lang="en-US" sz="1500" dirty="0">
                <a:solidFill>
                  <a:srgbClr val="D4D4D4"/>
                </a:solidFill>
                <a:latin typeface="Courier New" pitchFamily="34" charset="0"/>
                <a:ea typeface="Courier New" pitchFamily="34" charset="-122"/>
                <a:cs typeface="Courier New" pitchFamily="34" charset="-120"/>
              </a:rPr>
              <a:t> com.edubridge.billing;</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b="1" dirty="0">
                <a:solidFill>
                  <a:srgbClr val="569CD6"/>
                </a:solidFill>
                <a:latin typeface="Courier New" pitchFamily="34" charset="0"/>
                <a:ea typeface="Courier New" pitchFamily="34" charset="-122"/>
                <a:cs typeface="Courier New" pitchFamily="34" charset="-120"/>
              </a:rPr>
              <a:t>public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class</a:t>
            </a:r>
            <a:r>
              <a:rPr lang="en-US" sz="1500" dirty="0">
                <a:solidFill>
                  <a:srgbClr val="D4D4D4"/>
                </a:solidFill>
                <a:latin typeface="Courier New" pitchFamily="34" charset="0"/>
                <a:ea typeface="Courier New" pitchFamily="34" charset="-122"/>
                <a:cs typeface="Courier New" pitchFamily="34" charset="-120"/>
              </a:rPr>
              <a:t> Invoice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double</a:t>
            </a:r>
            <a:r>
              <a:rPr lang="en-US" sz="1500" dirty="0">
                <a:solidFill>
                  <a:srgbClr val="D4D4D4"/>
                </a:solidFill>
                <a:latin typeface="Courier New" pitchFamily="34" charset="0"/>
                <a:ea typeface="Courier New" pitchFamily="34" charset="-122"/>
                <a:cs typeface="Courier New" pitchFamily="34" charset="-120"/>
              </a:rPr>
              <a:t> amount;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a:t>
            </a:r>
            <a:endParaRPr lang="en-US" sz="1500" dirty="0"/>
          </a:p>
        </p:txBody>
      </p:sp>
      <p:sp>
        <p:nvSpPr>
          <p:cNvPr id="17" name="Shape 15"/>
          <p:cNvSpPr/>
          <p:nvPr/>
        </p:nvSpPr>
        <p:spPr>
          <a:xfrm>
            <a:off x="0" y="0"/>
            <a:ext cx="12191695" cy="384048"/>
          </a:xfrm>
          <a:prstGeom prst="rect">
            <a:avLst/>
          </a:prstGeom>
          <a:solidFill>
            <a:srgbClr val="1B2A4A"/>
          </a:solidFill>
          <a:ln w="12700">
            <a:solidFill>
              <a:srgbClr val="1B2A4A"/>
            </a:solidFill>
            <a:prstDash val="solid"/>
          </a:ln>
        </p:spPr>
      </p:sp>
      <p:sp>
        <p:nvSpPr>
          <p:cNvPr id="18" name="Text 16"/>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9" name="Shape 17"/>
          <p:cNvSpPr/>
          <p:nvPr/>
        </p:nvSpPr>
        <p:spPr>
          <a:xfrm>
            <a:off x="219456" y="301752"/>
            <a:ext cx="960120" cy="0"/>
          </a:xfrm>
          <a:prstGeom prst="line">
            <a:avLst/>
          </a:prstGeom>
          <a:noFill/>
          <a:ln w="9525">
            <a:solidFill>
              <a:srgbClr val="4A5570"/>
            </a:solidFill>
            <a:prstDash val="solid"/>
          </a:ln>
        </p:spPr>
      </p:sp>
      <p:sp>
        <p:nvSpPr>
          <p:cNvPr id="20" name="Text 18"/>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1" name="Text 19"/>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2" name="Text 20"/>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3" name="Shape 21"/>
          <p:cNvSpPr/>
          <p:nvPr/>
        </p:nvSpPr>
        <p:spPr>
          <a:xfrm>
            <a:off x="0" y="6291072"/>
            <a:ext cx="12191695" cy="566928"/>
          </a:xfrm>
          <a:prstGeom prst="rect">
            <a:avLst/>
          </a:prstGeom>
          <a:solidFill>
            <a:srgbClr val="1B2A4A"/>
          </a:solidFill>
          <a:ln w="12700">
            <a:solidFill>
              <a:srgbClr val="1B2A4A"/>
            </a:solidFill>
            <a:prstDash val="solid"/>
          </a:ln>
        </p:spPr>
      </p:sp>
      <p:sp>
        <p:nvSpPr>
          <p:cNvPr id="24" name="Text 22"/>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5" name="Text 23"/>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USING OTHER PACKAGES</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Importing Classes</a:t>
            </a:r>
            <a:endParaRPr lang="en-US" sz="2700" dirty="0"/>
          </a:p>
        </p:txBody>
      </p:sp>
      <p:sp>
        <p:nvSpPr>
          <p:cNvPr id="4" name="Shape 2"/>
          <p:cNvSpPr/>
          <p:nvPr/>
        </p:nvSpPr>
        <p:spPr>
          <a:xfrm>
            <a:off x="594360" y="1600200"/>
            <a:ext cx="10607040" cy="896112"/>
          </a:xfrm>
          <a:prstGeom prst="roundRect">
            <a:avLst>
              <a:gd name="adj" fmla="val 6122"/>
            </a:avLst>
          </a:prstGeom>
          <a:solidFill>
            <a:srgbClr val="F5F6FA"/>
          </a:solidFill>
          <a:ln w="9525">
            <a:solidFill>
              <a:srgbClr val="E4E7EE"/>
            </a:solidFill>
            <a:prstDash val="solid"/>
          </a:ln>
        </p:spPr>
      </p:sp>
      <p:sp>
        <p:nvSpPr>
          <p:cNvPr id="5" name="Shape 3"/>
          <p:cNvSpPr/>
          <p:nvPr/>
        </p:nvSpPr>
        <p:spPr>
          <a:xfrm>
            <a:off x="804672" y="1755648"/>
            <a:ext cx="100584" cy="100584"/>
          </a:xfrm>
          <a:prstGeom prst="ellipse">
            <a:avLst/>
          </a:prstGeom>
          <a:solidFill>
            <a:srgbClr val="E8590C"/>
          </a:solidFill>
          <a:ln w="12700">
            <a:solidFill>
              <a:srgbClr val="000000"/>
            </a:solidFill>
            <a:prstDash val="solid"/>
          </a:ln>
        </p:spPr>
      </p:sp>
      <p:sp>
        <p:nvSpPr>
          <p:cNvPr id="6" name="Text 4"/>
          <p:cNvSpPr/>
          <p:nvPr/>
        </p:nvSpPr>
        <p:spPr>
          <a:xfrm>
            <a:off x="1051560" y="1655064"/>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import brings a class from another package into scope so it can be referred to by its simple name.</a:t>
            </a:r>
            <a:endParaRPr lang="en-US" sz="1250" dirty="0"/>
          </a:p>
        </p:txBody>
      </p:sp>
      <p:sp>
        <p:nvSpPr>
          <p:cNvPr id="7" name="Shape 5"/>
          <p:cNvSpPr/>
          <p:nvPr/>
        </p:nvSpPr>
        <p:spPr>
          <a:xfrm>
            <a:off x="804672" y="2103120"/>
            <a:ext cx="100584" cy="100584"/>
          </a:xfrm>
          <a:prstGeom prst="ellipse">
            <a:avLst/>
          </a:prstGeom>
          <a:solidFill>
            <a:srgbClr val="E8590C"/>
          </a:solidFill>
          <a:ln w="12700">
            <a:solidFill>
              <a:srgbClr val="000000"/>
            </a:solidFill>
            <a:prstDash val="solid"/>
          </a:ln>
        </p:spPr>
      </p:sp>
      <p:sp>
        <p:nvSpPr>
          <p:cNvPr id="8" name="Text 6"/>
          <p:cNvSpPr/>
          <p:nvPr/>
        </p:nvSpPr>
        <p:spPr>
          <a:xfrm>
            <a:off x="1051560" y="2002536"/>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Classes in the same package never need an import to see each other.</a:t>
            </a:r>
            <a:endParaRPr lang="en-US" sz="1250" dirty="0"/>
          </a:p>
        </p:txBody>
      </p:sp>
      <p:sp>
        <p:nvSpPr>
          <p:cNvPr id="9" name="Shape 7"/>
          <p:cNvSpPr/>
          <p:nvPr/>
        </p:nvSpPr>
        <p:spPr>
          <a:xfrm>
            <a:off x="594360" y="2642616"/>
            <a:ext cx="10607040" cy="3392424"/>
          </a:xfrm>
          <a:prstGeom prst="roundRect">
            <a:avLst>
              <a:gd name="adj" fmla="val 2156"/>
            </a:avLst>
          </a:prstGeom>
          <a:solidFill>
            <a:srgbClr val="1E1E2E"/>
          </a:solidFill>
          <a:ln w="12700">
            <a:solidFill>
              <a:srgbClr val="000000"/>
            </a:solidFill>
            <a:prstDash val="solid"/>
          </a:ln>
        </p:spPr>
      </p:sp>
      <p:sp>
        <p:nvSpPr>
          <p:cNvPr id="10" name="Shape 8"/>
          <p:cNvSpPr/>
          <p:nvPr/>
        </p:nvSpPr>
        <p:spPr>
          <a:xfrm>
            <a:off x="594360" y="2642616"/>
            <a:ext cx="10607040" cy="274320"/>
          </a:xfrm>
          <a:prstGeom prst="roundRect">
            <a:avLst>
              <a:gd name="adj" fmla="val 26667"/>
            </a:avLst>
          </a:prstGeom>
          <a:solidFill>
            <a:srgbClr val="17172A"/>
          </a:solidFill>
          <a:ln w="12700">
            <a:solidFill>
              <a:srgbClr val="000000"/>
            </a:solidFill>
            <a:prstDash val="solid"/>
          </a:ln>
        </p:spPr>
      </p:sp>
      <p:sp>
        <p:nvSpPr>
          <p:cNvPr id="11" name="Shape 9"/>
          <p:cNvSpPr/>
          <p:nvPr/>
        </p:nvSpPr>
        <p:spPr>
          <a:xfrm>
            <a:off x="594360" y="2843784"/>
            <a:ext cx="10607040" cy="73152"/>
          </a:xfrm>
          <a:prstGeom prst="rect">
            <a:avLst/>
          </a:prstGeom>
          <a:solidFill>
            <a:srgbClr val="17172A"/>
          </a:solidFill>
          <a:ln w="12700">
            <a:solidFill>
              <a:srgbClr val="000000"/>
            </a:solidFill>
            <a:prstDash val="solid"/>
          </a:ln>
        </p:spPr>
      </p:sp>
      <p:sp>
        <p:nvSpPr>
          <p:cNvPr id="12" name="Shape 10"/>
          <p:cNvSpPr/>
          <p:nvPr/>
        </p:nvSpPr>
        <p:spPr>
          <a:xfrm>
            <a:off x="722376" y="2741371"/>
            <a:ext cx="76810" cy="76810"/>
          </a:xfrm>
          <a:prstGeom prst="ellipse">
            <a:avLst/>
          </a:prstGeom>
          <a:solidFill>
            <a:srgbClr val="FF5F56"/>
          </a:solidFill>
          <a:ln w="12700">
            <a:solidFill>
              <a:srgbClr val="000000"/>
            </a:solidFill>
            <a:prstDash val="solid"/>
          </a:ln>
        </p:spPr>
      </p:sp>
      <p:sp>
        <p:nvSpPr>
          <p:cNvPr id="13" name="Shape 11"/>
          <p:cNvSpPr/>
          <p:nvPr/>
        </p:nvSpPr>
        <p:spPr>
          <a:xfrm>
            <a:off x="886968" y="2741371"/>
            <a:ext cx="76810" cy="76810"/>
          </a:xfrm>
          <a:prstGeom prst="ellipse">
            <a:avLst/>
          </a:prstGeom>
          <a:solidFill>
            <a:srgbClr val="FFBD2E"/>
          </a:solidFill>
          <a:ln w="12700">
            <a:solidFill>
              <a:srgbClr val="000000"/>
            </a:solidFill>
            <a:prstDash val="solid"/>
          </a:ln>
        </p:spPr>
      </p:sp>
      <p:sp>
        <p:nvSpPr>
          <p:cNvPr id="14" name="Shape 12"/>
          <p:cNvSpPr/>
          <p:nvPr/>
        </p:nvSpPr>
        <p:spPr>
          <a:xfrm>
            <a:off x="1051560" y="2741371"/>
            <a:ext cx="76810" cy="76810"/>
          </a:xfrm>
          <a:prstGeom prst="ellipse">
            <a:avLst/>
          </a:prstGeom>
          <a:solidFill>
            <a:srgbClr val="27C93F"/>
          </a:solidFill>
          <a:ln w="12700">
            <a:solidFill>
              <a:srgbClr val="000000"/>
            </a:solidFill>
            <a:prstDash val="solid"/>
          </a:ln>
        </p:spPr>
      </p:sp>
      <p:sp>
        <p:nvSpPr>
          <p:cNvPr id="15" name="Text 13"/>
          <p:cNvSpPr/>
          <p:nvPr/>
        </p:nvSpPr>
        <p:spPr>
          <a:xfrm>
            <a:off x="1371600" y="2642616"/>
            <a:ext cx="9692640" cy="274320"/>
          </a:xfrm>
          <a:prstGeom prst="rect">
            <a:avLst/>
          </a:prstGeom>
          <a:noFill/>
          <a:ln/>
        </p:spPr>
        <p:txBody>
          <a:bodyPr wrap="square" lIns="0" tIns="0" rIns="0" bIns="0" rtlCol="0" anchor="ctr"/>
          <a:lstStyle/>
          <a:p>
            <a:pPr marL="0" indent="0" algn="l">
              <a:buNone/>
            </a:pPr>
            <a:r>
              <a:rPr lang="en-US" sz="1000" dirty="0">
                <a:solidFill>
                  <a:srgbClr val="8A8FA3"/>
                </a:solidFill>
                <a:latin typeface="Courier New" pitchFamily="34" charset="0"/>
                <a:ea typeface="Courier New" pitchFamily="34" charset="-122"/>
                <a:cs typeface="Courier New" pitchFamily="34" charset="-120"/>
              </a:rPr>
              <a:t>Main.java</a:t>
            </a:r>
            <a:endParaRPr lang="en-US" sz="1000" dirty="0"/>
          </a:p>
        </p:txBody>
      </p:sp>
      <p:sp>
        <p:nvSpPr>
          <p:cNvPr id="16" name="Text 14"/>
          <p:cNvSpPr/>
          <p:nvPr/>
        </p:nvSpPr>
        <p:spPr>
          <a:xfrm>
            <a:off x="777240" y="2990088"/>
            <a:ext cx="10241280" cy="2971800"/>
          </a:xfrm>
          <a:prstGeom prst="rect">
            <a:avLst/>
          </a:prstGeom>
          <a:noFill/>
          <a:ln/>
        </p:spPr>
        <p:txBody>
          <a:bodyPr wrap="square" lIns="0" tIns="0" rIns="0" bIns="0" rtlCol="0" anchor="t"/>
          <a:lstStyle/>
          <a:p>
            <a:pPr marL="0" indent="0" algn="l">
              <a:lnSpc>
                <a:spcPct val="118000"/>
              </a:lnSpc>
              <a:buNone/>
            </a:pPr>
            <a:r>
              <a:rPr lang="en-US" sz="1500" b="1" dirty="0">
                <a:solidFill>
                  <a:srgbClr val="569CD6"/>
                </a:solidFill>
                <a:latin typeface="Courier New" pitchFamily="34" charset="0"/>
                <a:ea typeface="Courier New" pitchFamily="34" charset="-122"/>
                <a:cs typeface="Courier New" pitchFamily="34" charset="-120"/>
              </a:rPr>
              <a:t>package</a:t>
            </a:r>
            <a:r>
              <a:rPr lang="en-US" sz="1500" dirty="0">
                <a:solidFill>
                  <a:srgbClr val="D4D4D4"/>
                </a:solidFill>
                <a:latin typeface="Courier New" pitchFamily="34" charset="0"/>
                <a:ea typeface="Courier New" pitchFamily="34" charset="-122"/>
                <a:cs typeface="Courier New" pitchFamily="34" charset="-120"/>
              </a:rPr>
              <a:t> com.edubridge.app;</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b="1" dirty="0">
                <a:solidFill>
                  <a:srgbClr val="569CD6"/>
                </a:solidFill>
                <a:latin typeface="Courier New" pitchFamily="34" charset="0"/>
                <a:ea typeface="Courier New" pitchFamily="34" charset="-122"/>
                <a:cs typeface="Courier New" pitchFamily="34" charset="-120"/>
              </a:rPr>
              <a:t>import</a:t>
            </a:r>
            <a:r>
              <a:rPr lang="en-US" sz="1500" dirty="0">
                <a:solidFill>
                  <a:srgbClr val="D4D4D4"/>
                </a:solidFill>
                <a:latin typeface="Courier New" pitchFamily="34" charset="0"/>
                <a:ea typeface="Courier New" pitchFamily="34" charset="-122"/>
                <a:cs typeface="Courier New" pitchFamily="34" charset="-120"/>
              </a:rPr>
              <a:t> com.edubridge.billing.Invoice;</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b="1" dirty="0">
                <a:solidFill>
                  <a:srgbClr val="569CD6"/>
                </a:solidFill>
                <a:latin typeface="Courier New" pitchFamily="34" charset="0"/>
                <a:ea typeface="Courier New" pitchFamily="34" charset="-122"/>
                <a:cs typeface="Courier New" pitchFamily="34" charset="-120"/>
              </a:rPr>
              <a:t>public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class</a:t>
            </a:r>
            <a:r>
              <a:rPr lang="en-US" sz="1500" dirty="0">
                <a:solidFill>
                  <a:srgbClr val="D4D4D4"/>
                </a:solidFill>
                <a:latin typeface="Courier New" pitchFamily="34" charset="0"/>
                <a:ea typeface="Courier New" pitchFamily="34" charset="-122"/>
                <a:cs typeface="Courier New" pitchFamily="34" charset="-120"/>
              </a:rPr>
              <a:t> Main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public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static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void</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DCDCAA"/>
                </a:solidFill>
                <a:latin typeface="Courier New" pitchFamily="34" charset="0"/>
                <a:ea typeface="Courier New" pitchFamily="34" charset="-122"/>
                <a:cs typeface="Courier New" pitchFamily="34" charset="-120"/>
              </a:rPr>
              <a:t>main</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4EC9B0"/>
                </a:solidFill>
                <a:latin typeface="Courier New" pitchFamily="34" charset="0"/>
                <a:ea typeface="Courier New" pitchFamily="34" charset="-122"/>
                <a:cs typeface="Courier New" pitchFamily="34" charset="-120"/>
              </a:rPr>
              <a:t>String</a:t>
            </a:r>
            <a:r>
              <a:rPr lang="en-US" sz="1500" dirty="0">
                <a:solidFill>
                  <a:srgbClr val="D4D4D4"/>
                </a:solidFill>
                <a:latin typeface="Courier New" pitchFamily="34" charset="0"/>
                <a:ea typeface="Courier New" pitchFamily="34" charset="-122"/>
                <a:cs typeface="Courier New" pitchFamily="34" charset="-120"/>
              </a:rPr>
              <a:t>[] args)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Invoice inv = </a:t>
            </a:r>
            <a:r>
              <a:rPr lang="en-US" sz="1500" b="1" dirty="0">
                <a:solidFill>
                  <a:srgbClr val="569CD6"/>
                </a:solidFill>
                <a:latin typeface="Courier New" pitchFamily="34" charset="0"/>
                <a:ea typeface="Courier New" pitchFamily="34" charset="-122"/>
                <a:cs typeface="Courier New" pitchFamily="34" charset="-120"/>
              </a:rPr>
              <a:t>new</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DCDCAA"/>
                </a:solidFill>
                <a:latin typeface="Courier New" pitchFamily="34" charset="0"/>
                <a:ea typeface="Courier New" pitchFamily="34" charset="-122"/>
                <a:cs typeface="Courier New" pitchFamily="34" charset="-120"/>
              </a:rPr>
              <a:t>Invoice</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a:t>
            </a:r>
            <a:endParaRPr lang="en-US" sz="1500" dirty="0"/>
          </a:p>
        </p:txBody>
      </p:sp>
      <p:sp>
        <p:nvSpPr>
          <p:cNvPr id="17" name="Shape 15"/>
          <p:cNvSpPr/>
          <p:nvPr/>
        </p:nvSpPr>
        <p:spPr>
          <a:xfrm>
            <a:off x="0" y="0"/>
            <a:ext cx="12191695" cy="384048"/>
          </a:xfrm>
          <a:prstGeom prst="rect">
            <a:avLst/>
          </a:prstGeom>
          <a:solidFill>
            <a:srgbClr val="1B2A4A"/>
          </a:solidFill>
          <a:ln w="12700">
            <a:solidFill>
              <a:srgbClr val="1B2A4A"/>
            </a:solidFill>
            <a:prstDash val="solid"/>
          </a:ln>
        </p:spPr>
      </p:sp>
      <p:sp>
        <p:nvSpPr>
          <p:cNvPr id="18" name="Text 16"/>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9" name="Shape 17"/>
          <p:cNvSpPr/>
          <p:nvPr/>
        </p:nvSpPr>
        <p:spPr>
          <a:xfrm>
            <a:off x="219456" y="301752"/>
            <a:ext cx="960120" cy="0"/>
          </a:xfrm>
          <a:prstGeom prst="line">
            <a:avLst/>
          </a:prstGeom>
          <a:noFill/>
          <a:ln w="9525">
            <a:solidFill>
              <a:srgbClr val="4A5570"/>
            </a:solidFill>
            <a:prstDash val="solid"/>
          </a:ln>
        </p:spPr>
      </p:sp>
      <p:sp>
        <p:nvSpPr>
          <p:cNvPr id="20" name="Text 18"/>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1" name="Text 19"/>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2" name="Text 20"/>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3" name="Shape 21"/>
          <p:cNvSpPr/>
          <p:nvPr/>
        </p:nvSpPr>
        <p:spPr>
          <a:xfrm>
            <a:off x="0" y="6291072"/>
            <a:ext cx="12191695" cy="566928"/>
          </a:xfrm>
          <a:prstGeom prst="rect">
            <a:avLst/>
          </a:prstGeom>
          <a:solidFill>
            <a:srgbClr val="1B2A4A"/>
          </a:solidFill>
          <a:ln w="12700">
            <a:solidFill>
              <a:srgbClr val="1B2A4A"/>
            </a:solidFill>
            <a:prstDash val="solid"/>
          </a:ln>
        </p:spPr>
      </p:sp>
      <p:sp>
        <p:nvSpPr>
          <p:cNvPr id="24" name="Text 22"/>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5" name="Text 23"/>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REFERENCE</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Some Built-in Java Packages</a:t>
            </a:r>
            <a:endParaRPr lang="en-US" sz="2700" dirty="0"/>
          </a:p>
        </p:txBody>
      </p:sp>
      <p:graphicFrame>
        <p:nvGraphicFramePr>
          <p:cNvPr id="101" name="Table 0"/>
          <p:cNvGraphicFramePr>
            <a:graphicFrameLocks noGrp="1"/>
          </p:cNvGraphicFramePr>
          <p:nvPr>
            <p:extLst>
              <p:ext uri="{D42A27DB-BD31-4B8C-83A1-F6EECF244321}">
                <p14:modId xmlns:p14="http://schemas.microsoft.com/office/powerpoint/2010/main" val="1579011935"/>
              </p:ext>
            </p:extLst>
          </p:nvPr>
        </p:nvGraphicFramePr>
        <p:xfrm>
          <a:off x="594360" y="1691640"/>
          <a:ext cx="10607040" cy="4343400"/>
        </p:xfrm>
        <a:graphic>
          <a:graphicData uri="http://schemas.openxmlformats.org/drawingml/2006/table">
            <a:tbl>
              <a:tblPr/>
              <a:tblGrid>
                <a:gridCol w="5303520">
                  <a:extLst>
                    <a:ext uri="{9D8B030D-6E8A-4147-A177-3AD203B41FA5}">
                      <a16:colId xmlns:a16="http://schemas.microsoft.com/office/drawing/2014/main" val="20000"/>
                    </a:ext>
                  </a:extLst>
                </a:gridCol>
                <a:gridCol w="5303520">
                  <a:extLst>
                    <a:ext uri="{9D8B030D-6E8A-4147-A177-3AD203B41FA5}">
                      <a16:colId xmlns:a16="http://schemas.microsoft.com/office/drawing/2014/main" val="20001"/>
                    </a:ext>
                  </a:extLst>
                </a:gridCol>
              </a:tblGrid>
              <a:tr h="1085850">
                <a:tc>
                  <a:txBody>
                    <a:bodyPr/>
                    <a:lstStyle/>
                    <a:p>
                      <a:pPr marL="0" indent="0" algn="l">
                        <a:buNone/>
                      </a:pPr>
                      <a:r>
                        <a:rPr lang="en-US" sz="1300" b="1" dirty="0">
                          <a:solidFill>
                            <a:srgbClr val="FFFFFF"/>
                          </a:solidFill>
                          <a:latin typeface="Times New Roman" pitchFamily="34" charset="0"/>
                          <a:ea typeface="Times New Roman" pitchFamily="34" charset="-122"/>
                          <a:cs typeface="Times New Roman" pitchFamily="34" charset="-120"/>
                        </a:rPr>
                        <a:t>Package</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1B2A4A"/>
                    </a:solidFill>
                  </a:tcPr>
                </a:tc>
                <a:tc>
                  <a:txBody>
                    <a:bodyPr/>
                    <a:lstStyle/>
                    <a:p>
                      <a:pPr marL="0" indent="0" algn="l">
                        <a:buNone/>
                      </a:pPr>
                      <a:r>
                        <a:rPr lang="en-US" sz="1300" b="1" dirty="0">
                          <a:solidFill>
                            <a:srgbClr val="FFFFFF"/>
                          </a:solidFill>
                          <a:latin typeface="Times New Roman" pitchFamily="34" charset="0"/>
                          <a:ea typeface="Times New Roman" pitchFamily="34" charset="-122"/>
                          <a:cs typeface="Times New Roman" pitchFamily="34" charset="-120"/>
                        </a:rPr>
                        <a:t>Contains</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1085850">
                <a:tc>
                  <a:txBody>
                    <a:bodyPr/>
                    <a:lstStyle/>
                    <a:p>
                      <a:pPr marL="0" indent="0" algn="l">
                        <a:buNone/>
                      </a:pPr>
                      <a:r>
                        <a:rPr lang="en-US" sz="1300" b="1" dirty="0">
                          <a:solidFill>
                            <a:srgbClr val="1A202C"/>
                          </a:solidFill>
                          <a:latin typeface="Times New Roman" pitchFamily="34" charset="0"/>
                          <a:ea typeface="Times New Roman" pitchFamily="34" charset="-122"/>
                          <a:cs typeface="Times New Roman" pitchFamily="34" charset="-120"/>
                        </a:rPr>
                        <a:t>java.lang</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FFFFF"/>
                    </a:solidFill>
                  </a:tcPr>
                </a:tc>
                <a:tc>
                  <a:txBody>
                    <a:bodyPr/>
                    <a:lstStyle/>
                    <a:p>
                      <a:pPr marL="0" indent="0" algn="l">
                        <a:buNone/>
                      </a:pPr>
                      <a:r>
                        <a:rPr lang="en-US" sz="1300" dirty="0">
                          <a:solidFill>
                            <a:srgbClr val="3D4759"/>
                          </a:solidFill>
                          <a:latin typeface="Times New Roman" pitchFamily="34" charset="0"/>
                          <a:ea typeface="Times New Roman" pitchFamily="34" charset="-122"/>
                          <a:cs typeface="Times New Roman" pitchFamily="34" charset="-120"/>
                        </a:rPr>
                        <a:t>Core classes such as String, Math, and Object, imported automatically</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085850">
                <a:tc>
                  <a:txBody>
                    <a:bodyPr/>
                    <a:lstStyle/>
                    <a:p>
                      <a:pPr marL="0" indent="0" algn="l">
                        <a:buNone/>
                      </a:pPr>
                      <a:r>
                        <a:rPr lang="en-US" sz="1300" b="1" dirty="0">
                          <a:solidFill>
                            <a:srgbClr val="1A202C"/>
                          </a:solidFill>
                          <a:latin typeface="Times New Roman" pitchFamily="34" charset="0"/>
                          <a:ea typeface="Times New Roman" pitchFamily="34" charset="-122"/>
                          <a:cs typeface="Times New Roman" pitchFamily="34" charset="-120"/>
                        </a:rPr>
                        <a:t>java.util</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5F6FA"/>
                    </a:solidFill>
                  </a:tcPr>
                </a:tc>
                <a:tc>
                  <a:txBody>
                    <a:bodyPr/>
                    <a:lstStyle/>
                    <a:p>
                      <a:pPr marL="0" indent="0" algn="l">
                        <a:buNone/>
                      </a:pPr>
                      <a:r>
                        <a:rPr lang="en-US" sz="1300" dirty="0">
                          <a:solidFill>
                            <a:srgbClr val="3D4759"/>
                          </a:solidFill>
                          <a:latin typeface="Times New Roman" pitchFamily="34" charset="0"/>
                          <a:ea typeface="Times New Roman" pitchFamily="34" charset="-122"/>
                          <a:cs typeface="Times New Roman" pitchFamily="34" charset="-120"/>
                        </a:rPr>
                        <a:t>Collections, Scanner, and other general-purpose utilities</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5F6FA"/>
                    </a:solidFill>
                  </a:tcPr>
                </a:tc>
                <a:extLst>
                  <a:ext uri="{0D108BD9-81ED-4DB2-BD59-A6C34878D82A}">
                    <a16:rowId xmlns:a16="http://schemas.microsoft.com/office/drawing/2014/main" val="10002"/>
                  </a:ext>
                </a:extLst>
              </a:tr>
              <a:tr h="1085850">
                <a:tc>
                  <a:txBody>
                    <a:bodyPr/>
                    <a:lstStyle/>
                    <a:p>
                      <a:pPr marL="0" indent="0" algn="l">
                        <a:buNone/>
                      </a:pPr>
                      <a:r>
                        <a:rPr lang="en-US" sz="1300" b="1" dirty="0">
                          <a:solidFill>
                            <a:srgbClr val="1A202C"/>
                          </a:solidFill>
                          <a:latin typeface="Times New Roman" pitchFamily="34" charset="0"/>
                          <a:ea typeface="Times New Roman" pitchFamily="34" charset="-122"/>
                          <a:cs typeface="Times New Roman" pitchFamily="34" charset="-120"/>
                        </a:rPr>
                        <a:t>java.io</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FFFFF"/>
                    </a:solidFill>
                  </a:tcPr>
                </a:tc>
                <a:tc>
                  <a:txBody>
                    <a:bodyPr/>
                    <a:lstStyle/>
                    <a:p>
                      <a:pPr marL="0" indent="0" algn="l">
                        <a:buNone/>
                      </a:pPr>
                      <a:r>
                        <a:rPr lang="en-US" sz="1300" dirty="0">
                          <a:solidFill>
                            <a:srgbClr val="3D4759"/>
                          </a:solidFill>
                          <a:latin typeface="Times New Roman" pitchFamily="34" charset="0"/>
                          <a:ea typeface="Times New Roman" pitchFamily="34" charset="-122"/>
                          <a:cs typeface="Times New Roman" pitchFamily="34" charset="-120"/>
                        </a:rPr>
                        <a:t>Classes for reading and writing input and output</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5" name="Shape 2"/>
          <p:cNvSpPr/>
          <p:nvPr/>
        </p:nvSpPr>
        <p:spPr>
          <a:xfrm>
            <a:off x="0" y="0"/>
            <a:ext cx="12191695" cy="384048"/>
          </a:xfrm>
          <a:prstGeom prst="rect">
            <a:avLst/>
          </a:prstGeom>
          <a:solidFill>
            <a:srgbClr val="1B2A4A"/>
          </a:solidFill>
          <a:ln w="12700">
            <a:solidFill>
              <a:srgbClr val="1B2A4A"/>
            </a:solidFill>
            <a:prstDash val="solid"/>
          </a:ln>
        </p:spPr>
      </p:sp>
      <p:sp>
        <p:nvSpPr>
          <p:cNvPr id="6" name="Text 3"/>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7" name="Shape 4"/>
          <p:cNvSpPr/>
          <p:nvPr/>
        </p:nvSpPr>
        <p:spPr>
          <a:xfrm>
            <a:off x="219456" y="301752"/>
            <a:ext cx="960120" cy="0"/>
          </a:xfrm>
          <a:prstGeom prst="line">
            <a:avLst/>
          </a:prstGeom>
          <a:noFill/>
          <a:ln w="9525">
            <a:solidFill>
              <a:srgbClr val="4A5570"/>
            </a:solidFill>
            <a:prstDash val="solid"/>
          </a:ln>
        </p:spPr>
      </p:sp>
      <p:sp>
        <p:nvSpPr>
          <p:cNvPr id="8" name="Text 5"/>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9" name="Text 6"/>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10" name="Text 7"/>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11" name="Shape 8"/>
          <p:cNvSpPr/>
          <p:nvPr/>
        </p:nvSpPr>
        <p:spPr>
          <a:xfrm>
            <a:off x="0" y="6291072"/>
            <a:ext cx="12191695" cy="566928"/>
          </a:xfrm>
          <a:prstGeom prst="rect">
            <a:avLst/>
          </a:prstGeom>
          <a:solidFill>
            <a:srgbClr val="1B2A4A"/>
          </a:solidFill>
          <a:ln w="12700">
            <a:solidFill>
              <a:srgbClr val="1B2A4A"/>
            </a:solidFill>
            <a:prstDash val="solid"/>
          </a:ln>
        </p:spPr>
      </p:sp>
      <p:sp>
        <p:nvSpPr>
          <p:cNvPr id="12" name="Text 9"/>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13" name="Text 10"/>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STYLE</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Package Naming Conventions</a:t>
            </a:r>
            <a:endParaRPr lang="en-US" sz="2700" dirty="0"/>
          </a:p>
        </p:txBody>
      </p:sp>
      <p:sp>
        <p:nvSpPr>
          <p:cNvPr id="4" name="Shape 2"/>
          <p:cNvSpPr/>
          <p:nvPr/>
        </p:nvSpPr>
        <p:spPr>
          <a:xfrm>
            <a:off x="594360" y="1691640"/>
            <a:ext cx="10607040" cy="2089404"/>
          </a:xfrm>
          <a:prstGeom prst="roundRect">
            <a:avLst>
              <a:gd name="adj" fmla="val 2626"/>
            </a:avLst>
          </a:prstGeom>
          <a:solidFill>
            <a:srgbClr val="F5F6FA"/>
          </a:solidFill>
          <a:ln w="9525">
            <a:solidFill>
              <a:srgbClr val="E4E7EE"/>
            </a:solidFill>
            <a:prstDash val="solid"/>
          </a:ln>
        </p:spPr>
      </p:sp>
      <p:sp>
        <p:nvSpPr>
          <p:cNvPr id="5" name="Shape 3"/>
          <p:cNvSpPr/>
          <p:nvPr/>
        </p:nvSpPr>
        <p:spPr>
          <a:xfrm>
            <a:off x="777240" y="1874520"/>
            <a:ext cx="109728" cy="109728"/>
          </a:xfrm>
          <a:prstGeom prst="ellipse">
            <a:avLst/>
          </a:prstGeom>
          <a:solidFill>
            <a:srgbClr val="E8590C"/>
          </a:solidFill>
          <a:ln w="12700">
            <a:solidFill>
              <a:srgbClr val="000000"/>
            </a:solidFill>
            <a:prstDash val="solid"/>
          </a:ln>
        </p:spPr>
      </p:sp>
      <p:sp>
        <p:nvSpPr>
          <p:cNvPr id="6" name="Text 4"/>
          <p:cNvSpPr/>
          <p:nvPr/>
        </p:nvSpPr>
        <p:spPr>
          <a:xfrm>
            <a:off x="1051560" y="1764792"/>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All lowercase</a:t>
            </a:r>
            <a:endParaRPr lang="en-US" sz="1500" dirty="0"/>
          </a:p>
        </p:txBody>
      </p:sp>
      <p:sp>
        <p:nvSpPr>
          <p:cNvPr id="7" name="Text 5"/>
          <p:cNvSpPr/>
          <p:nvPr/>
        </p:nvSpPr>
        <p:spPr>
          <a:xfrm>
            <a:off x="1051560" y="2057400"/>
            <a:ext cx="9966960" cy="1668780"/>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Package names avoid uppercase letters entirely, unlike class names.</a:t>
            </a:r>
            <a:endParaRPr lang="en-US" sz="1250" dirty="0"/>
          </a:p>
        </p:txBody>
      </p:sp>
      <p:sp>
        <p:nvSpPr>
          <p:cNvPr id="8" name="Shape 6"/>
          <p:cNvSpPr/>
          <p:nvPr/>
        </p:nvSpPr>
        <p:spPr>
          <a:xfrm>
            <a:off x="594360" y="3945636"/>
            <a:ext cx="10607040" cy="2089404"/>
          </a:xfrm>
          <a:prstGeom prst="roundRect">
            <a:avLst>
              <a:gd name="adj" fmla="val 2626"/>
            </a:avLst>
          </a:prstGeom>
          <a:solidFill>
            <a:srgbClr val="F5F6FA"/>
          </a:solidFill>
          <a:ln w="9525">
            <a:solidFill>
              <a:srgbClr val="E4E7EE"/>
            </a:solidFill>
            <a:prstDash val="solid"/>
          </a:ln>
        </p:spPr>
      </p:sp>
      <p:sp>
        <p:nvSpPr>
          <p:cNvPr id="9" name="Shape 7"/>
          <p:cNvSpPr/>
          <p:nvPr/>
        </p:nvSpPr>
        <p:spPr>
          <a:xfrm>
            <a:off x="777240" y="4128516"/>
            <a:ext cx="109728" cy="109728"/>
          </a:xfrm>
          <a:prstGeom prst="ellipse">
            <a:avLst/>
          </a:prstGeom>
          <a:solidFill>
            <a:srgbClr val="E8590C"/>
          </a:solidFill>
          <a:ln w="12700">
            <a:solidFill>
              <a:srgbClr val="000000"/>
            </a:solidFill>
            <a:prstDash val="solid"/>
          </a:ln>
        </p:spPr>
      </p:sp>
      <p:sp>
        <p:nvSpPr>
          <p:cNvPr id="10" name="Text 8"/>
          <p:cNvSpPr/>
          <p:nvPr/>
        </p:nvSpPr>
        <p:spPr>
          <a:xfrm>
            <a:off x="1051560" y="4018788"/>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Reverse domain name style</a:t>
            </a:r>
            <a:endParaRPr lang="en-US" sz="1500" dirty="0"/>
          </a:p>
        </p:txBody>
      </p:sp>
      <p:sp>
        <p:nvSpPr>
          <p:cNvPr id="11" name="Text 9"/>
          <p:cNvSpPr/>
          <p:nvPr/>
        </p:nvSpPr>
        <p:spPr>
          <a:xfrm>
            <a:off x="1051560" y="4311396"/>
            <a:ext cx="9966960" cy="1668780"/>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A common convention is to start with a reversed company domain, such as com.edubridge.app.</a:t>
            </a:r>
            <a:endParaRPr lang="en-US" sz="1250" dirty="0"/>
          </a:p>
        </p:txBody>
      </p:sp>
      <p:sp>
        <p:nvSpPr>
          <p:cNvPr id="12" name="Shape 10"/>
          <p:cNvSpPr/>
          <p:nvPr/>
        </p:nvSpPr>
        <p:spPr>
          <a:xfrm>
            <a:off x="0" y="0"/>
            <a:ext cx="12191695" cy="384048"/>
          </a:xfrm>
          <a:prstGeom prst="rect">
            <a:avLst/>
          </a:prstGeom>
          <a:solidFill>
            <a:srgbClr val="1B2A4A"/>
          </a:solidFill>
          <a:ln w="12700">
            <a:solidFill>
              <a:srgbClr val="1B2A4A"/>
            </a:solidFill>
            <a:prstDash val="solid"/>
          </a:ln>
        </p:spPr>
      </p:sp>
      <p:sp>
        <p:nvSpPr>
          <p:cNvPr id="13" name="Text 11"/>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4" name="Shape 12"/>
          <p:cNvSpPr/>
          <p:nvPr/>
        </p:nvSpPr>
        <p:spPr>
          <a:xfrm>
            <a:off x="219456" y="301752"/>
            <a:ext cx="960120" cy="0"/>
          </a:xfrm>
          <a:prstGeom prst="line">
            <a:avLst/>
          </a:prstGeom>
          <a:noFill/>
          <a:ln w="9525">
            <a:solidFill>
              <a:srgbClr val="4A5570"/>
            </a:solidFill>
            <a:prstDash val="solid"/>
          </a:ln>
        </p:spPr>
      </p:sp>
      <p:sp>
        <p:nvSpPr>
          <p:cNvPr id="15" name="Text 13"/>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16" name="Text 14"/>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17" name="Text 15"/>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18" name="Shape 16"/>
          <p:cNvSpPr/>
          <p:nvPr/>
        </p:nvSpPr>
        <p:spPr>
          <a:xfrm>
            <a:off x="0" y="6291072"/>
            <a:ext cx="12191695" cy="566928"/>
          </a:xfrm>
          <a:prstGeom prst="rect">
            <a:avLst/>
          </a:prstGeom>
          <a:solidFill>
            <a:srgbClr val="1B2A4A"/>
          </a:solidFill>
          <a:ln w="12700">
            <a:solidFill>
              <a:srgbClr val="1B2A4A"/>
            </a:solidFill>
            <a:prstDash val="solid"/>
          </a:ln>
        </p:spPr>
      </p:sp>
      <p:sp>
        <p:nvSpPr>
          <p:cNvPr id="19" name="Text 17"/>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0" name="Text 18"/>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CONNECTION</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Packages and Access Modifiers</a:t>
            </a:r>
            <a:endParaRPr lang="en-US" sz="2700" dirty="0"/>
          </a:p>
        </p:txBody>
      </p:sp>
      <p:sp>
        <p:nvSpPr>
          <p:cNvPr id="4" name="Shape 2"/>
          <p:cNvSpPr/>
          <p:nvPr/>
        </p:nvSpPr>
        <p:spPr>
          <a:xfrm>
            <a:off x="594360" y="1691640"/>
            <a:ext cx="10607040" cy="2089404"/>
          </a:xfrm>
          <a:prstGeom prst="roundRect">
            <a:avLst>
              <a:gd name="adj" fmla="val 2626"/>
            </a:avLst>
          </a:prstGeom>
          <a:solidFill>
            <a:srgbClr val="F5F6FA"/>
          </a:solidFill>
          <a:ln w="9525">
            <a:solidFill>
              <a:srgbClr val="E4E7EE"/>
            </a:solidFill>
            <a:prstDash val="solid"/>
          </a:ln>
        </p:spPr>
      </p:sp>
      <p:sp>
        <p:nvSpPr>
          <p:cNvPr id="5" name="Shape 3"/>
          <p:cNvSpPr/>
          <p:nvPr/>
        </p:nvSpPr>
        <p:spPr>
          <a:xfrm>
            <a:off x="777240" y="1874520"/>
            <a:ext cx="109728" cy="109728"/>
          </a:xfrm>
          <a:prstGeom prst="ellipse">
            <a:avLst/>
          </a:prstGeom>
          <a:solidFill>
            <a:srgbClr val="E8590C"/>
          </a:solidFill>
          <a:ln w="12700">
            <a:solidFill>
              <a:srgbClr val="000000"/>
            </a:solidFill>
            <a:prstDash val="solid"/>
          </a:ln>
        </p:spPr>
      </p:sp>
      <p:sp>
        <p:nvSpPr>
          <p:cNvPr id="6" name="Text 4"/>
          <p:cNvSpPr/>
          <p:nvPr/>
        </p:nvSpPr>
        <p:spPr>
          <a:xfrm>
            <a:off x="1051560" y="1764792"/>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Default access is package-scoped</a:t>
            </a:r>
            <a:endParaRPr lang="en-US" sz="1500" dirty="0"/>
          </a:p>
        </p:txBody>
      </p:sp>
      <p:sp>
        <p:nvSpPr>
          <p:cNvPr id="7" name="Text 5"/>
          <p:cNvSpPr/>
          <p:nvPr/>
        </p:nvSpPr>
        <p:spPr>
          <a:xfrm>
            <a:off x="1051560" y="2057400"/>
            <a:ext cx="9966960" cy="1668780"/>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A class, field, or method with no access modifier is visible only to other code in the same package.</a:t>
            </a:r>
            <a:endParaRPr lang="en-US" sz="1250" dirty="0"/>
          </a:p>
        </p:txBody>
      </p:sp>
      <p:sp>
        <p:nvSpPr>
          <p:cNvPr id="8" name="Shape 6"/>
          <p:cNvSpPr/>
          <p:nvPr/>
        </p:nvSpPr>
        <p:spPr>
          <a:xfrm>
            <a:off x="594360" y="3945636"/>
            <a:ext cx="10607040" cy="2089404"/>
          </a:xfrm>
          <a:prstGeom prst="roundRect">
            <a:avLst>
              <a:gd name="adj" fmla="val 2626"/>
            </a:avLst>
          </a:prstGeom>
          <a:solidFill>
            <a:srgbClr val="F5F6FA"/>
          </a:solidFill>
          <a:ln w="9525">
            <a:solidFill>
              <a:srgbClr val="E4E7EE"/>
            </a:solidFill>
            <a:prstDash val="solid"/>
          </a:ln>
        </p:spPr>
      </p:sp>
      <p:sp>
        <p:nvSpPr>
          <p:cNvPr id="9" name="Shape 7"/>
          <p:cNvSpPr/>
          <p:nvPr/>
        </p:nvSpPr>
        <p:spPr>
          <a:xfrm>
            <a:off x="777240" y="4128516"/>
            <a:ext cx="109728" cy="109728"/>
          </a:xfrm>
          <a:prstGeom prst="ellipse">
            <a:avLst/>
          </a:prstGeom>
          <a:solidFill>
            <a:srgbClr val="E8590C"/>
          </a:solidFill>
          <a:ln w="12700">
            <a:solidFill>
              <a:srgbClr val="000000"/>
            </a:solidFill>
            <a:prstDash val="solid"/>
          </a:ln>
        </p:spPr>
      </p:sp>
      <p:sp>
        <p:nvSpPr>
          <p:cNvPr id="10" name="Text 8"/>
          <p:cNvSpPr/>
          <p:nvPr/>
        </p:nvSpPr>
        <p:spPr>
          <a:xfrm>
            <a:off x="1051560" y="4018788"/>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This directly connects to Section 5</a:t>
            </a:r>
            <a:endParaRPr lang="en-US" sz="1500" dirty="0"/>
          </a:p>
        </p:txBody>
      </p:sp>
      <p:sp>
        <p:nvSpPr>
          <p:cNvPr id="11" name="Text 9"/>
          <p:cNvSpPr/>
          <p:nvPr/>
        </p:nvSpPr>
        <p:spPr>
          <a:xfrm>
            <a:off x="1051560" y="4311396"/>
            <a:ext cx="9966960" cy="1668780"/>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How a program is divided into packages affects which access modifiers actually work as intended.</a:t>
            </a:r>
            <a:endParaRPr lang="en-US" sz="1250" dirty="0"/>
          </a:p>
        </p:txBody>
      </p:sp>
      <p:sp>
        <p:nvSpPr>
          <p:cNvPr id="12" name="Shape 10"/>
          <p:cNvSpPr/>
          <p:nvPr/>
        </p:nvSpPr>
        <p:spPr>
          <a:xfrm>
            <a:off x="0" y="0"/>
            <a:ext cx="12191695" cy="384048"/>
          </a:xfrm>
          <a:prstGeom prst="rect">
            <a:avLst/>
          </a:prstGeom>
          <a:solidFill>
            <a:srgbClr val="1B2A4A"/>
          </a:solidFill>
          <a:ln w="12700">
            <a:solidFill>
              <a:srgbClr val="1B2A4A"/>
            </a:solidFill>
            <a:prstDash val="solid"/>
          </a:ln>
        </p:spPr>
      </p:sp>
      <p:sp>
        <p:nvSpPr>
          <p:cNvPr id="13" name="Text 11"/>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4" name="Shape 12"/>
          <p:cNvSpPr/>
          <p:nvPr/>
        </p:nvSpPr>
        <p:spPr>
          <a:xfrm>
            <a:off x="219456" y="301752"/>
            <a:ext cx="960120" cy="0"/>
          </a:xfrm>
          <a:prstGeom prst="line">
            <a:avLst/>
          </a:prstGeom>
          <a:noFill/>
          <a:ln w="9525">
            <a:solidFill>
              <a:srgbClr val="4A5570"/>
            </a:solidFill>
            <a:prstDash val="solid"/>
          </a:ln>
        </p:spPr>
      </p:sp>
      <p:sp>
        <p:nvSpPr>
          <p:cNvPr id="15" name="Text 13"/>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16" name="Text 14"/>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17" name="Text 15"/>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18" name="Shape 16"/>
          <p:cNvSpPr/>
          <p:nvPr/>
        </p:nvSpPr>
        <p:spPr>
          <a:xfrm>
            <a:off x="0" y="6291072"/>
            <a:ext cx="12191695" cy="566928"/>
          </a:xfrm>
          <a:prstGeom prst="rect">
            <a:avLst/>
          </a:prstGeom>
          <a:solidFill>
            <a:srgbClr val="1B2A4A"/>
          </a:solidFill>
          <a:ln w="12700">
            <a:solidFill>
              <a:srgbClr val="1B2A4A"/>
            </a:solidFill>
            <a:prstDash val="solid"/>
          </a:ln>
        </p:spPr>
      </p:sp>
      <p:sp>
        <p:nvSpPr>
          <p:cNvPr id="19" name="Text 17"/>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0" name="Text 18"/>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COMMON MISTAKES</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Pitfalls with Packages</a:t>
            </a:r>
            <a:endParaRPr lang="en-US" sz="2700" dirty="0"/>
          </a:p>
        </p:txBody>
      </p:sp>
      <p:sp>
        <p:nvSpPr>
          <p:cNvPr id="4" name="Shape 2"/>
          <p:cNvSpPr/>
          <p:nvPr/>
        </p:nvSpPr>
        <p:spPr>
          <a:xfrm>
            <a:off x="594360" y="1691640"/>
            <a:ext cx="10607040" cy="2089404"/>
          </a:xfrm>
          <a:prstGeom prst="roundRect">
            <a:avLst>
              <a:gd name="adj" fmla="val 2626"/>
            </a:avLst>
          </a:prstGeom>
          <a:solidFill>
            <a:srgbClr val="F5F6FA"/>
          </a:solidFill>
          <a:ln w="9525">
            <a:solidFill>
              <a:srgbClr val="E4E7EE"/>
            </a:solidFill>
            <a:prstDash val="solid"/>
          </a:ln>
        </p:spPr>
      </p:sp>
      <p:sp>
        <p:nvSpPr>
          <p:cNvPr id="5" name="Shape 3"/>
          <p:cNvSpPr/>
          <p:nvPr/>
        </p:nvSpPr>
        <p:spPr>
          <a:xfrm>
            <a:off x="777240" y="1874520"/>
            <a:ext cx="109728" cy="109728"/>
          </a:xfrm>
          <a:prstGeom prst="ellipse">
            <a:avLst/>
          </a:prstGeom>
          <a:solidFill>
            <a:srgbClr val="E8590C"/>
          </a:solidFill>
          <a:ln w="12700">
            <a:solidFill>
              <a:srgbClr val="000000"/>
            </a:solidFill>
            <a:prstDash val="solid"/>
          </a:ln>
        </p:spPr>
      </p:sp>
      <p:sp>
        <p:nvSpPr>
          <p:cNvPr id="6" name="Text 4"/>
          <p:cNvSpPr/>
          <p:nvPr/>
        </p:nvSpPr>
        <p:spPr>
          <a:xfrm>
            <a:off x="1051560" y="1764792"/>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Forgetting the package statement must come first</a:t>
            </a:r>
            <a:endParaRPr lang="en-US" sz="1500" dirty="0"/>
          </a:p>
        </p:txBody>
      </p:sp>
      <p:sp>
        <p:nvSpPr>
          <p:cNvPr id="7" name="Text 5"/>
          <p:cNvSpPr/>
          <p:nvPr/>
        </p:nvSpPr>
        <p:spPr>
          <a:xfrm>
            <a:off x="1051560" y="2057400"/>
            <a:ext cx="9966960" cy="1668780"/>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Placing it after an import or class declaration is a compile-time error.</a:t>
            </a:r>
            <a:endParaRPr lang="en-US" sz="1250" dirty="0"/>
          </a:p>
        </p:txBody>
      </p:sp>
      <p:sp>
        <p:nvSpPr>
          <p:cNvPr id="8" name="Shape 6"/>
          <p:cNvSpPr/>
          <p:nvPr/>
        </p:nvSpPr>
        <p:spPr>
          <a:xfrm>
            <a:off x="594360" y="3945636"/>
            <a:ext cx="10607040" cy="2089404"/>
          </a:xfrm>
          <a:prstGeom prst="roundRect">
            <a:avLst>
              <a:gd name="adj" fmla="val 2626"/>
            </a:avLst>
          </a:prstGeom>
          <a:solidFill>
            <a:srgbClr val="F5F6FA"/>
          </a:solidFill>
          <a:ln w="9525">
            <a:solidFill>
              <a:srgbClr val="E4E7EE"/>
            </a:solidFill>
            <a:prstDash val="solid"/>
          </a:ln>
        </p:spPr>
      </p:sp>
      <p:sp>
        <p:nvSpPr>
          <p:cNvPr id="9" name="Shape 7"/>
          <p:cNvSpPr/>
          <p:nvPr/>
        </p:nvSpPr>
        <p:spPr>
          <a:xfrm>
            <a:off x="777240" y="4128516"/>
            <a:ext cx="109728" cy="109728"/>
          </a:xfrm>
          <a:prstGeom prst="ellipse">
            <a:avLst/>
          </a:prstGeom>
          <a:solidFill>
            <a:srgbClr val="E8590C"/>
          </a:solidFill>
          <a:ln w="12700">
            <a:solidFill>
              <a:srgbClr val="000000"/>
            </a:solidFill>
            <a:prstDash val="solid"/>
          </a:ln>
        </p:spPr>
      </p:sp>
      <p:sp>
        <p:nvSpPr>
          <p:cNvPr id="10" name="Text 8"/>
          <p:cNvSpPr/>
          <p:nvPr/>
        </p:nvSpPr>
        <p:spPr>
          <a:xfrm>
            <a:off x="1051560" y="4018788"/>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Mismatched folder and package structure</a:t>
            </a:r>
            <a:endParaRPr lang="en-US" sz="1500" dirty="0"/>
          </a:p>
        </p:txBody>
      </p:sp>
      <p:sp>
        <p:nvSpPr>
          <p:cNvPr id="11" name="Text 9"/>
          <p:cNvSpPr/>
          <p:nvPr/>
        </p:nvSpPr>
        <p:spPr>
          <a:xfrm>
            <a:off x="1051560" y="4311396"/>
            <a:ext cx="9966960" cy="1668780"/>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The directory layout on disk must mirror the package name exactly, or the class will not be found.</a:t>
            </a:r>
            <a:endParaRPr lang="en-US" sz="1250" dirty="0"/>
          </a:p>
        </p:txBody>
      </p:sp>
      <p:sp>
        <p:nvSpPr>
          <p:cNvPr id="12" name="Shape 10"/>
          <p:cNvSpPr/>
          <p:nvPr/>
        </p:nvSpPr>
        <p:spPr>
          <a:xfrm>
            <a:off x="0" y="0"/>
            <a:ext cx="12191695" cy="384048"/>
          </a:xfrm>
          <a:prstGeom prst="rect">
            <a:avLst/>
          </a:prstGeom>
          <a:solidFill>
            <a:srgbClr val="1B2A4A"/>
          </a:solidFill>
          <a:ln w="12700">
            <a:solidFill>
              <a:srgbClr val="1B2A4A"/>
            </a:solidFill>
            <a:prstDash val="solid"/>
          </a:ln>
        </p:spPr>
      </p:sp>
      <p:sp>
        <p:nvSpPr>
          <p:cNvPr id="13" name="Text 11"/>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4" name="Shape 12"/>
          <p:cNvSpPr/>
          <p:nvPr/>
        </p:nvSpPr>
        <p:spPr>
          <a:xfrm>
            <a:off x="219456" y="301752"/>
            <a:ext cx="960120" cy="0"/>
          </a:xfrm>
          <a:prstGeom prst="line">
            <a:avLst/>
          </a:prstGeom>
          <a:noFill/>
          <a:ln w="9525">
            <a:solidFill>
              <a:srgbClr val="4A5570"/>
            </a:solidFill>
            <a:prstDash val="solid"/>
          </a:ln>
        </p:spPr>
      </p:sp>
      <p:sp>
        <p:nvSpPr>
          <p:cNvPr id="15" name="Text 13"/>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16" name="Text 14"/>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17" name="Text 15"/>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18" name="Shape 16"/>
          <p:cNvSpPr/>
          <p:nvPr/>
        </p:nvSpPr>
        <p:spPr>
          <a:xfrm>
            <a:off x="0" y="6291072"/>
            <a:ext cx="12191695" cy="566928"/>
          </a:xfrm>
          <a:prstGeom prst="rect">
            <a:avLst/>
          </a:prstGeom>
          <a:solidFill>
            <a:srgbClr val="1B2A4A"/>
          </a:solidFill>
          <a:ln w="12700">
            <a:solidFill>
              <a:srgbClr val="1B2A4A"/>
            </a:solidFill>
            <a:prstDash val="solid"/>
          </a:ln>
        </p:spPr>
      </p:sp>
      <p:sp>
        <p:nvSpPr>
          <p:cNvPr id="19" name="Text 17"/>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0" name="Text 18"/>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PRACTICE</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Practice: A Multi-Package Program</a:t>
            </a:r>
            <a:endParaRPr lang="en-US" sz="2700" dirty="0"/>
          </a:p>
        </p:txBody>
      </p:sp>
      <p:sp>
        <p:nvSpPr>
          <p:cNvPr id="4" name="Text 2"/>
          <p:cNvSpPr/>
          <p:nvPr/>
        </p:nvSpPr>
        <p:spPr>
          <a:xfrm>
            <a:off x="594360" y="1600200"/>
            <a:ext cx="10607040" cy="365760"/>
          </a:xfrm>
          <a:prstGeom prst="rect">
            <a:avLst/>
          </a:prstGeom>
          <a:noFill/>
          <a:ln/>
        </p:spPr>
        <p:txBody>
          <a:bodyPr wrap="square" lIns="0" tIns="0" rIns="0" bIns="0" rtlCol="0" anchor="ctr"/>
          <a:lstStyle/>
          <a:p>
            <a:pPr marL="0" indent="0">
              <a:buNone/>
            </a:pPr>
            <a:r>
              <a:rPr lang="en-US" sz="1250" i="1" dirty="0">
                <a:solidFill>
                  <a:srgbClr val="5A6472"/>
                </a:solidFill>
                <a:latin typeface="Times New Roman" pitchFamily="34" charset="0"/>
                <a:ea typeface="Times New Roman" pitchFamily="34" charset="-122"/>
                <a:cs typeface="Times New Roman" pitchFamily="34" charset="-120"/>
              </a:rPr>
              <a:t>Two packages working together through an explicit import.</a:t>
            </a:r>
            <a:endParaRPr lang="en-US" sz="1250" dirty="0"/>
          </a:p>
        </p:txBody>
      </p:sp>
      <p:sp>
        <p:nvSpPr>
          <p:cNvPr id="5" name="Shape 3"/>
          <p:cNvSpPr/>
          <p:nvPr/>
        </p:nvSpPr>
        <p:spPr>
          <a:xfrm>
            <a:off x="594360" y="2002536"/>
            <a:ext cx="7040880" cy="4032504"/>
          </a:xfrm>
          <a:prstGeom prst="roundRect">
            <a:avLst>
              <a:gd name="adj" fmla="val 1814"/>
            </a:avLst>
          </a:prstGeom>
          <a:solidFill>
            <a:srgbClr val="1E1E2E"/>
          </a:solidFill>
          <a:ln w="12700">
            <a:solidFill>
              <a:srgbClr val="000000"/>
            </a:solidFill>
            <a:prstDash val="solid"/>
          </a:ln>
        </p:spPr>
      </p:sp>
      <p:sp>
        <p:nvSpPr>
          <p:cNvPr id="6" name="Shape 4"/>
          <p:cNvSpPr/>
          <p:nvPr/>
        </p:nvSpPr>
        <p:spPr>
          <a:xfrm>
            <a:off x="594360" y="2002536"/>
            <a:ext cx="7040880" cy="274320"/>
          </a:xfrm>
          <a:prstGeom prst="roundRect">
            <a:avLst>
              <a:gd name="adj" fmla="val 26667"/>
            </a:avLst>
          </a:prstGeom>
          <a:solidFill>
            <a:srgbClr val="17172A"/>
          </a:solidFill>
          <a:ln w="12700">
            <a:solidFill>
              <a:srgbClr val="000000"/>
            </a:solidFill>
            <a:prstDash val="solid"/>
          </a:ln>
        </p:spPr>
      </p:sp>
      <p:sp>
        <p:nvSpPr>
          <p:cNvPr id="7" name="Shape 5"/>
          <p:cNvSpPr/>
          <p:nvPr/>
        </p:nvSpPr>
        <p:spPr>
          <a:xfrm>
            <a:off x="594360" y="2203704"/>
            <a:ext cx="7040880" cy="73152"/>
          </a:xfrm>
          <a:prstGeom prst="rect">
            <a:avLst/>
          </a:prstGeom>
          <a:solidFill>
            <a:srgbClr val="17172A"/>
          </a:solidFill>
          <a:ln w="12700">
            <a:solidFill>
              <a:srgbClr val="000000"/>
            </a:solidFill>
            <a:prstDash val="solid"/>
          </a:ln>
        </p:spPr>
      </p:sp>
      <p:sp>
        <p:nvSpPr>
          <p:cNvPr id="8" name="Shape 6"/>
          <p:cNvSpPr/>
          <p:nvPr/>
        </p:nvSpPr>
        <p:spPr>
          <a:xfrm>
            <a:off x="722376" y="2101291"/>
            <a:ext cx="76810" cy="76810"/>
          </a:xfrm>
          <a:prstGeom prst="ellipse">
            <a:avLst/>
          </a:prstGeom>
          <a:solidFill>
            <a:srgbClr val="FF5F56"/>
          </a:solidFill>
          <a:ln w="12700">
            <a:solidFill>
              <a:srgbClr val="000000"/>
            </a:solidFill>
            <a:prstDash val="solid"/>
          </a:ln>
        </p:spPr>
      </p:sp>
      <p:sp>
        <p:nvSpPr>
          <p:cNvPr id="9" name="Shape 7"/>
          <p:cNvSpPr/>
          <p:nvPr/>
        </p:nvSpPr>
        <p:spPr>
          <a:xfrm>
            <a:off x="886968" y="2101291"/>
            <a:ext cx="76810" cy="76810"/>
          </a:xfrm>
          <a:prstGeom prst="ellipse">
            <a:avLst/>
          </a:prstGeom>
          <a:solidFill>
            <a:srgbClr val="FFBD2E"/>
          </a:solidFill>
          <a:ln w="12700">
            <a:solidFill>
              <a:srgbClr val="000000"/>
            </a:solidFill>
            <a:prstDash val="solid"/>
          </a:ln>
        </p:spPr>
      </p:sp>
      <p:sp>
        <p:nvSpPr>
          <p:cNvPr id="10" name="Shape 8"/>
          <p:cNvSpPr/>
          <p:nvPr/>
        </p:nvSpPr>
        <p:spPr>
          <a:xfrm>
            <a:off x="1051560" y="2101291"/>
            <a:ext cx="76810" cy="76810"/>
          </a:xfrm>
          <a:prstGeom prst="ellipse">
            <a:avLst/>
          </a:prstGeom>
          <a:solidFill>
            <a:srgbClr val="27C93F"/>
          </a:solidFill>
          <a:ln w="12700">
            <a:solidFill>
              <a:srgbClr val="000000"/>
            </a:solidFill>
            <a:prstDash val="solid"/>
          </a:ln>
        </p:spPr>
      </p:sp>
      <p:sp>
        <p:nvSpPr>
          <p:cNvPr id="11" name="Text 9"/>
          <p:cNvSpPr/>
          <p:nvPr/>
        </p:nvSpPr>
        <p:spPr>
          <a:xfrm>
            <a:off x="1371600" y="2002536"/>
            <a:ext cx="6126480" cy="274320"/>
          </a:xfrm>
          <a:prstGeom prst="rect">
            <a:avLst/>
          </a:prstGeom>
          <a:noFill/>
          <a:ln/>
        </p:spPr>
        <p:txBody>
          <a:bodyPr wrap="square" lIns="0" tIns="0" rIns="0" bIns="0" rtlCol="0" anchor="ctr"/>
          <a:lstStyle/>
          <a:p>
            <a:pPr marL="0" indent="0" algn="l">
              <a:buNone/>
            </a:pPr>
            <a:r>
              <a:rPr lang="en-US" sz="1000" dirty="0">
                <a:solidFill>
                  <a:srgbClr val="8A8FA3"/>
                </a:solidFill>
                <a:latin typeface="Courier New" pitchFamily="34" charset="0"/>
                <a:ea typeface="Courier New" pitchFamily="34" charset="-122"/>
                <a:cs typeface="Courier New" pitchFamily="34" charset="-120"/>
              </a:rPr>
              <a:t>Main.java</a:t>
            </a:r>
            <a:endParaRPr lang="en-US" sz="1000" dirty="0"/>
          </a:p>
        </p:txBody>
      </p:sp>
      <p:sp>
        <p:nvSpPr>
          <p:cNvPr id="12" name="Text 10"/>
          <p:cNvSpPr/>
          <p:nvPr/>
        </p:nvSpPr>
        <p:spPr>
          <a:xfrm>
            <a:off x="777240" y="2350008"/>
            <a:ext cx="6675120" cy="3611880"/>
          </a:xfrm>
          <a:prstGeom prst="rect">
            <a:avLst/>
          </a:prstGeom>
          <a:noFill/>
          <a:ln/>
        </p:spPr>
        <p:txBody>
          <a:bodyPr wrap="square" lIns="0" tIns="0" rIns="0" bIns="0" rtlCol="0" anchor="t"/>
          <a:lstStyle/>
          <a:p>
            <a:pPr marL="0" indent="0" algn="l">
              <a:lnSpc>
                <a:spcPct val="118000"/>
              </a:lnSpc>
              <a:buNone/>
            </a:pPr>
            <a:r>
              <a:rPr lang="en-US" sz="1200" i="1" dirty="0">
                <a:solidFill>
                  <a:srgbClr val="6A9955"/>
                </a:solidFill>
                <a:latin typeface="Courier New" pitchFamily="34" charset="0"/>
                <a:ea typeface="Courier New" pitchFamily="34" charset="-122"/>
                <a:cs typeface="Courier New" pitchFamily="34" charset="-120"/>
              </a:rPr>
              <a:t>// file: billing/Invoice.java</a:t>
            </a:r>
            <a:endParaRPr lang="en-US" sz="1200" dirty="0"/>
          </a:p>
          <a:p>
            <a:pPr marL="0" indent="0" algn="l">
              <a:lnSpc>
                <a:spcPct val="118000"/>
              </a:lnSpc>
              <a:buNone/>
            </a:pPr>
            <a:r>
              <a:rPr lang="en-US" sz="1200" b="1" dirty="0">
                <a:solidFill>
                  <a:srgbClr val="569CD6"/>
                </a:solidFill>
                <a:latin typeface="Courier New" pitchFamily="34" charset="0"/>
                <a:ea typeface="Courier New" pitchFamily="34" charset="-122"/>
                <a:cs typeface="Courier New" pitchFamily="34" charset="-120"/>
              </a:rPr>
              <a:t>package</a:t>
            </a:r>
            <a:r>
              <a:rPr lang="en-US" sz="1200" dirty="0">
                <a:solidFill>
                  <a:srgbClr val="D4D4D4"/>
                </a:solidFill>
                <a:latin typeface="Courier New" pitchFamily="34" charset="0"/>
                <a:ea typeface="Courier New" pitchFamily="34" charset="-122"/>
                <a:cs typeface="Courier New" pitchFamily="34" charset="-120"/>
              </a:rPr>
              <a:t> billing;</a:t>
            </a:r>
            <a:endParaRPr lang="en-US" sz="1200" dirty="0"/>
          </a:p>
          <a:p>
            <a:pPr marL="0" indent="0" algn="l">
              <a:lnSpc>
                <a:spcPct val="118000"/>
              </a:lnSpc>
              <a:buNone/>
            </a:pPr>
            <a:r>
              <a:rPr lang="en-US" sz="1200" b="1" dirty="0">
                <a:solidFill>
                  <a:srgbClr val="569CD6"/>
                </a:solidFill>
                <a:latin typeface="Courier New" pitchFamily="34" charset="0"/>
                <a:ea typeface="Courier New" pitchFamily="34" charset="-122"/>
                <a:cs typeface="Courier New" pitchFamily="34" charset="-120"/>
              </a:rPr>
              <a:t>public</a:t>
            </a:r>
            <a:r>
              <a:rPr lang="en-US" sz="1200" dirty="0">
                <a:solidFill>
                  <a:srgbClr val="D4D4D4"/>
                </a:solidFill>
                <a:latin typeface="Courier New" pitchFamily="34" charset="0"/>
                <a:ea typeface="Courier New" pitchFamily="34" charset="-122"/>
                <a:cs typeface="Courier New" pitchFamily="34" charset="-120"/>
              </a:rPr>
              <a:t> </a:t>
            </a:r>
            <a:r>
              <a:rPr lang="en-US" sz="1200" b="1" dirty="0">
                <a:solidFill>
                  <a:srgbClr val="569CD6"/>
                </a:solidFill>
                <a:latin typeface="Courier New" pitchFamily="34" charset="0"/>
                <a:ea typeface="Courier New" pitchFamily="34" charset="-122"/>
                <a:cs typeface="Courier New" pitchFamily="34" charset="-120"/>
              </a:rPr>
              <a:t>class</a:t>
            </a:r>
            <a:r>
              <a:rPr lang="en-US" sz="1200" dirty="0">
                <a:solidFill>
                  <a:srgbClr val="D4D4D4"/>
                </a:solidFill>
                <a:latin typeface="Courier New" pitchFamily="34" charset="0"/>
                <a:ea typeface="Courier New" pitchFamily="34" charset="-122"/>
                <a:cs typeface="Courier New" pitchFamily="34" charset="-120"/>
              </a:rPr>
              <a:t> Invoice {</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r>
              <a:rPr lang="en-US" sz="1200" b="1" dirty="0">
                <a:solidFill>
                  <a:srgbClr val="569CD6"/>
                </a:solidFill>
                <a:latin typeface="Courier New" pitchFamily="34" charset="0"/>
                <a:ea typeface="Courier New" pitchFamily="34" charset="-122"/>
                <a:cs typeface="Courier New" pitchFamily="34" charset="-120"/>
              </a:rPr>
              <a:t>public</a:t>
            </a:r>
            <a:r>
              <a:rPr lang="en-US" sz="1200" dirty="0">
                <a:solidFill>
                  <a:srgbClr val="D4D4D4"/>
                </a:solidFill>
                <a:latin typeface="Courier New" pitchFamily="34" charset="0"/>
                <a:ea typeface="Courier New" pitchFamily="34" charset="-122"/>
                <a:cs typeface="Courier New" pitchFamily="34" charset="-120"/>
              </a:rPr>
              <a:t> </a:t>
            </a:r>
            <a:r>
              <a:rPr lang="en-US" sz="1200" b="1" dirty="0">
                <a:solidFill>
                  <a:srgbClr val="569CD6"/>
                </a:solidFill>
                <a:latin typeface="Courier New" pitchFamily="34" charset="0"/>
                <a:ea typeface="Courier New" pitchFamily="34" charset="-122"/>
                <a:cs typeface="Courier New" pitchFamily="34" charset="-120"/>
              </a:rPr>
              <a:t>double</a:t>
            </a:r>
            <a:r>
              <a:rPr lang="en-US" sz="1200" dirty="0">
                <a:solidFill>
                  <a:srgbClr val="D4D4D4"/>
                </a:solidFill>
                <a:latin typeface="Courier New" pitchFamily="34" charset="0"/>
                <a:ea typeface="Courier New" pitchFamily="34" charset="-122"/>
                <a:cs typeface="Courier New" pitchFamily="34" charset="-120"/>
              </a:rPr>
              <a:t> amount = </a:t>
            </a:r>
            <a:r>
              <a:rPr lang="en-US" sz="1200" dirty="0">
                <a:solidFill>
                  <a:srgbClr val="B5CEA8"/>
                </a:solidFill>
                <a:latin typeface="Courier New" pitchFamily="34" charset="0"/>
                <a:ea typeface="Courier New" pitchFamily="34" charset="-122"/>
                <a:cs typeface="Courier New" pitchFamily="34" charset="-120"/>
              </a:rPr>
              <a:t>199.99</a:t>
            </a:r>
            <a:r>
              <a:rPr lang="en-US" sz="1200" dirty="0">
                <a:solidFill>
                  <a:srgbClr val="D4D4D4"/>
                </a:solidFill>
                <a:latin typeface="Courier New" pitchFamily="34" charset="0"/>
                <a:ea typeface="Courier New" pitchFamily="34" charset="-122"/>
                <a:cs typeface="Courier New" pitchFamily="34" charset="-120"/>
              </a:rPr>
              <a:t>;</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endParaRPr lang="en-US" sz="1200" dirty="0"/>
          </a:p>
          <a:p>
            <a:pPr marL="0" indent="0" algn="l">
              <a:lnSpc>
                <a:spcPct val="118000"/>
              </a:lnSpc>
              <a:buNone/>
            </a:pPr>
            <a:r>
              <a:rPr lang="en-US" sz="1200" i="1" dirty="0">
                <a:solidFill>
                  <a:srgbClr val="6A9955"/>
                </a:solidFill>
                <a:latin typeface="Courier New" pitchFamily="34" charset="0"/>
                <a:ea typeface="Courier New" pitchFamily="34" charset="-122"/>
                <a:cs typeface="Courier New" pitchFamily="34" charset="-120"/>
              </a:rPr>
              <a:t>// file: app/Main.java</a:t>
            </a:r>
            <a:endParaRPr lang="en-US" sz="1200" dirty="0"/>
          </a:p>
          <a:p>
            <a:pPr marL="0" indent="0" algn="l">
              <a:lnSpc>
                <a:spcPct val="118000"/>
              </a:lnSpc>
              <a:buNone/>
            </a:pPr>
            <a:r>
              <a:rPr lang="en-US" sz="1200" b="1" dirty="0">
                <a:solidFill>
                  <a:srgbClr val="569CD6"/>
                </a:solidFill>
                <a:latin typeface="Courier New" pitchFamily="34" charset="0"/>
                <a:ea typeface="Courier New" pitchFamily="34" charset="-122"/>
                <a:cs typeface="Courier New" pitchFamily="34" charset="-120"/>
              </a:rPr>
              <a:t>package</a:t>
            </a:r>
            <a:r>
              <a:rPr lang="en-US" sz="1200" dirty="0">
                <a:solidFill>
                  <a:srgbClr val="D4D4D4"/>
                </a:solidFill>
                <a:latin typeface="Courier New" pitchFamily="34" charset="0"/>
                <a:ea typeface="Courier New" pitchFamily="34" charset="-122"/>
                <a:cs typeface="Courier New" pitchFamily="34" charset="-120"/>
              </a:rPr>
              <a:t> app;</a:t>
            </a:r>
            <a:endParaRPr lang="en-US" sz="1200" dirty="0"/>
          </a:p>
          <a:p>
            <a:pPr marL="0" indent="0" algn="l">
              <a:lnSpc>
                <a:spcPct val="118000"/>
              </a:lnSpc>
              <a:buNone/>
            </a:pPr>
            <a:r>
              <a:rPr lang="en-US" sz="1200" b="1" dirty="0">
                <a:solidFill>
                  <a:srgbClr val="569CD6"/>
                </a:solidFill>
                <a:latin typeface="Courier New" pitchFamily="34" charset="0"/>
                <a:ea typeface="Courier New" pitchFamily="34" charset="-122"/>
                <a:cs typeface="Courier New" pitchFamily="34" charset="-120"/>
              </a:rPr>
              <a:t>import</a:t>
            </a:r>
            <a:r>
              <a:rPr lang="en-US" sz="1200" dirty="0">
                <a:solidFill>
                  <a:srgbClr val="D4D4D4"/>
                </a:solidFill>
                <a:latin typeface="Courier New" pitchFamily="34" charset="0"/>
                <a:ea typeface="Courier New" pitchFamily="34" charset="-122"/>
                <a:cs typeface="Courier New" pitchFamily="34" charset="-120"/>
              </a:rPr>
              <a:t> billing.Invoice;</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endParaRPr lang="en-US" sz="1200" dirty="0"/>
          </a:p>
          <a:p>
            <a:pPr marL="0" indent="0" algn="l">
              <a:lnSpc>
                <a:spcPct val="118000"/>
              </a:lnSpc>
              <a:buNone/>
            </a:pPr>
            <a:r>
              <a:rPr lang="en-US" sz="1200" b="1" dirty="0">
                <a:solidFill>
                  <a:srgbClr val="569CD6"/>
                </a:solidFill>
                <a:latin typeface="Courier New" pitchFamily="34" charset="0"/>
                <a:ea typeface="Courier New" pitchFamily="34" charset="-122"/>
                <a:cs typeface="Courier New" pitchFamily="34" charset="-120"/>
              </a:rPr>
              <a:t>public</a:t>
            </a:r>
            <a:r>
              <a:rPr lang="en-US" sz="1200" dirty="0">
                <a:solidFill>
                  <a:srgbClr val="D4D4D4"/>
                </a:solidFill>
                <a:latin typeface="Courier New" pitchFamily="34" charset="0"/>
                <a:ea typeface="Courier New" pitchFamily="34" charset="-122"/>
                <a:cs typeface="Courier New" pitchFamily="34" charset="-120"/>
              </a:rPr>
              <a:t> </a:t>
            </a:r>
            <a:r>
              <a:rPr lang="en-US" sz="1200" b="1" dirty="0">
                <a:solidFill>
                  <a:srgbClr val="569CD6"/>
                </a:solidFill>
                <a:latin typeface="Courier New" pitchFamily="34" charset="0"/>
                <a:ea typeface="Courier New" pitchFamily="34" charset="-122"/>
                <a:cs typeface="Courier New" pitchFamily="34" charset="-120"/>
              </a:rPr>
              <a:t>class</a:t>
            </a:r>
            <a:r>
              <a:rPr lang="en-US" sz="1200" dirty="0">
                <a:solidFill>
                  <a:srgbClr val="D4D4D4"/>
                </a:solidFill>
                <a:latin typeface="Courier New" pitchFamily="34" charset="0"/>
                <a:ea typeface="Courier New" pitchFamily="34" charset="-122"/>
                <a:cs typeface="Courier New" pitchFamily="34" charset="-120"/>
              </a:rPr>
              <a:t> Main {</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r>
              <a:rPr lang="en-US" sz="1200" b="1" dirty="0">
                <a:solidFill>
                  <a:srgbClr val="569CD6"/>
                </a:solidFill>
                <a:latin typeface="Courier New" pitchFamily="34" charset="0"/>
                <a:ea typeface="Courier New" pitchFamily="34" charset="-122"/>
                <a:cs typeface="Courier New" pitchFamily="34" charset="-120"/>
              </a:rPr>
              <a:t>public</a:t>
            </a:r>
            <a:r>
              <a:rPr lang="en-US" sz="1200" dirty="0">
                <a:solidFill>
                  <a:srgbClr val="D4D4D4"/>
                </a:solidFill>
                <a:latin typeface="Courier New" pitchFamily="34" charset="0"/>
                <a:ea typeface="Courier New" pitchFamily="34" charset="-122"/>
                <a:cs typeface="Courier New" pitchFamily="34" charset="-120"/>
              </a:rPr>
              <a:t> </a:t>
            </a:r>
            <a:r>
              <a:rPr lang="en-US" sz="1200" b="1" dirty="0">
                <a:solidFill>
                  <a:srgbClr val="569CD6"/>
                </a:solidFill>
                <a:latin typeface="Courier New" pitchFamily="34" charset="0"/>
                <a:ea typeface="Courier New" pitchFamily="34" charset="-122"/>
                <a:cs typeface="Courier New" pitchFamily="34" charset="-120"/>
              </a:rPr>
              <a:t>static</a:t>
            </a:r>
            <a:r>
              <a:rPr lang="en-US" sz="1200" dirty="0">
                <a:solidFill>
                  <a:srgbClr val="D4D4D4"/>
                </a:solidFill>
                <a:latin typeface="Courier New" pitchFamily="34" charset="0"/>
                <a:ea typeface="Courier New" pitchFamily="34" charset="-122"/>
                <a:cs typeface="Courier New" pitchFamily="34" charset="-120"/>
              </a:rPr>
              <a:t> </a:t>
            </a:r>
            <a:r>
              <a:rPr lang="en-US" sz="1200" b="1" dirty="0">
                <a:solidFill>
                  <a:srgbClr val="569CD6"/>
                </a:solidFill>
                <a:latin typeface="Courier New" pitchFamily="34" charset="0"/>
                <a:ea typeface="Courier New" pitchFamily="34" charset="-122"/>
                <a:cs typeface="Courier New" pitchFamily="34" charset="-120"/>
              </a:rPr>
              <a:t>void</a:t>
            </a:r>
            <a:r>
              <a:rPr lang="en-US" sz="1200" dirty="0">
                <a:solidFill>
                  <a:srgbClr val="D4D4D4"/>
                </a:solidFill>
                <a:latin typeface="Courier New" pitchFamily="34" charset="0"/>
                <a:ea typeface="Courier New" pitchFamily="34" charset="-122"/>
                <a:cs typeface="Courier New" pitchFamily="34" charset="-120"/>
              </a:rPr>
              <a:t> </a:t>
            </a:r>
            <a:r>
              <a:rPr lang="en-US" sz="1200" dirty="0">
                <a:solidFill>
                  <a:srgbClr val="DCDCAA"/>
                </a:solidFill>
                <a:latin typeface="Courier New" pitchFamily="34" charset="0"/>
                <a:ea typeface="Courier New" pitchFamily="34" charset="-122"/>
                <a:cs typeface="Courier New" pitchFamily="34" charset="-120"/>
              </a:rPr>
              <a:t>main</a:t>
            </a:r>
            <a:r>
              <a:rPr lang="en-US" sz="1200" dirty="0">
                <a:solidFill>
                  <a:srgbClr val="D4D4D4"/>
                </a:solidFill>
                <a:latin typeface="Courier New" pitchFamily="34" charset="0"/>
                <a:ea typeface="Courier New" pitchFamily="34" charset="-122"/>
                <a:cs typeface="Courier New" pitchFamily="34" charset="-120"/>
              </a:rPr>
              <a:t>(</a:t>
            </a:r>
            <a:r>
              <a:rPr lang="en-US" sz="1200" dirty="0">
                <a:solidFill>
                  <a:srgbClr val="4EC9B0"/>
                </a:solidFill>
                <a:latin typeface="Courier New" pitchFamily="34" charset="0"/>
                <a:ea typeface="Courier New" pitchFamily="34" charset="-122"/>
                <a:cs typeface="Courier New" pitchFamily="34" charset="-120"/>
              </a:rPr>
              <a:t>String</a:t>
            </a:r>
            <a:r>
              <a:rPr lang="en-US" sz="1200" dirty="0">
                <a:solidFill>
                  <a:srgbClr val="D4D4D4"/>
                </a:solidFill>
                <a:latin typeface="Courier New" pitchFamily="34" charset="0"/>
                <a:ea typeface="Courier New" pitchFamily="34" charset="-122"/>
                <a:cs typeface="Courier New" pitchFamily="34" charset="-120"/>
              </a:rPr>
              <a:t>[] args) {</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Invoice inv = </a:t>
            </a:r>
            <a:r>
              <a:rPr lang="en-US" sz="1200" b="1" dirty="0">
                <a:solidFill>
                  <a:srgbClr val="569CD6"/>
                </a:solidFill>
                <a:latin typeface="Courier New" pitchFamily="34" charset="0"/>
                <a:ea typeface="Courier New" pitchFamily="34" charset="-122"/>
                <a:cs typeface="Courier New" pitchFamily="34" charset="-120"/>
              </a:rPr>
              <a:t>new</a:t>
            </a:r>
            <a:r>
              <a:rPr lang="en-US" sz="1200" dirty="0">
                <a:solidFill>
                  <a:srgbClr val="D4D4D4"/>
                </a:solidFill>
                <a:latin typeface="Courier New" pitchFamily="34" charset="0"/>
                <a:ea typeface="Courier New" pitchFamily="34" charset="-122"/>
                <a:cs typeface="Courier New" pitchFamily="34" charset="-120"/>
              </a:rPr>
              <a:t> </a:t>
            </a:r>
            <a:r>
              <a:rPr lang="en-US" sz="1200" dirty="0">
                <a:solidFill>
                  <a:srgbClr val="DCDCAA"/>
                </a:solidFill>
                <a:latin typeface="Courier New" pitchFamily="34" charset="0"/>
                <a:ea typeface="Courier New" pitchFamily="34" charset="-122"/>
                <a:cs typeface="Courier New" pitchFamily="34" charset="-120"/>
              </a:rPr>
              <a:t>Invoice</a:t>
            </a:r>
            <a:r>
              <a:rPr lang="en-US" sz="1200" dirty="0">
                <a:solidFill>
                  <a:srgbClr val="D4D4D4"/>
                </a:solidFill>
                <a:latin typeface="Courier New" pitchFamily="34" charset="0"/>
                <a:ea typeface="Courier New" pitchFamily="34" charset="-122"/>
                <a:cs typeface="Courier New" pitchFamily="34" charset="-120"/>
              </a:rPr>
              <a:t>();</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r>
              <a:rPr lang="en-US" sz="1200" dirty="0">
                <a:solidFill>
                  <a:srgbClr val="4EC9B0"/>
                </a:solidFill>
                <a:latin typeface="Courier New" pitchFamily="34" charset="0"/>
                <a:ea typeface="Courier New" pitchFamily="34" charset="-122"/>
                <a:cs typeface="Courier New" pitchFamily="34" charset="-120"/>
              </a:rPr>
              <a:t>System</a:t>
            </a:r>
            <a:r>
              <a:rPr lang="en-US" sz="1200" dirty="0">
                <a:solidFill>
                  <a:srgbClr val="D4D4D4"/>
                </a:solidFill>
                <a:latin typeface="Courier New" pitchFamily="34" charset="0"/>
                <a:ea typeface="Courier New" pitchFamily="34" charset="-122"/>
                <a:cs typeface="Courier New" pitchFamily="34" charset="-120"/>
              </a:rPr>
              <a:t>.out.</a:t>
            </a:r>
            <a:r>
              <a:rPr lang="en-US" sz="1200" dirty="0">
                <a:solidFill>
                  <a:srgbClr val="DCDCAA"/>
                </a:solidFill>
                <a:latin typeface="Courier New" pitchFamily="34" charset="0"/>
                <a:ea typeface="Courier New" pitchFamily="34" charset="-122"/>
                <a:cs typeface="Courier New" pitchFamily="34" charset="-120"/>
              </a:rPr>
              <a:t>println</a:t>
            </a:r>
            <a:r>
              <a:rPr lang="en-US" sz="1200" dirty="0">
                <a:solidFill>
                  <a:srgbClr val="D4D4D4"/>
                </a:solidFill>
                <a:latin typeface="Courier New" pitchFamily="34" charset="0"/>
                <a:ea typeface="Courier New" pitchFamily="34" charset="-122"/>
                <a:cs typeface="Courier New" pitchFamily="34" charset="-120"/>
              </a:rPr>
              <a:t>(inv.amount);</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a:t>
            </a:r>
            <a:endParaRPr lang="en-US" sz="1200" dirty="0"/>
          </a:p>
        </p:txBody>
      </p:sp>
      <p:sp>
        <p:nvSpPr>
          <p:cNvPr id="13" name="Shape 11"/>
          <p:cNvSpPr/>
          <p:nvPr/>
        </p:nvSpPr>
        <p:spPr>
          <a:xfrm>
            <a:off x="7909560" y="2002536"/>
            <a:ext cx="3886200" cy="4032504"/>
          </a:xfrm>
          <a:prstGeom prst="roundRect">
            <a:avLst>
              <a:gd name="adj" fmla="val 1882"/>
            </a:avLst>
          </a:prstGeom>
          <a:solidFill>
            <a:srgbClr val="181C24"/>
          </a:solidFill>
          <a:ln w="12700">
            <a:solidFill>
              <a:srgbClr val="000000"/>
            </a:solidFill>
            <a:prstDash val="solid"/>
          </a:ln>
        </p:spPr>
      </p:sp>
      <p:sp>
        <p:nvSpPr>
          <p:cNvPr id="14" name="Text 12"/>
          <p:cNvSpPr/>
          <p:nvPr/>
        </p:nvSpPr>
        <p:spPr>
          <a:xfrm>
            <a:off x="8074152" y="2130552"/>
            <a:ext cx="3557016" cy="274320"/>
          </a:xfrm>
          <a:prstGeom prst="rect">
            <a:avLst/>
          </a:prstGeom>
          <a:noFill/>
          <a:ln/>
        </p:spPr>
        <p:txBody>
          <a:bodyPr wrap="square" lIns="0" tIns="0" rIns="0" bIns="0" rtlCol="0" anchor="ctr"/>
          <a:lstStyle/>
          <a:p>
            <a:pPr marL="0" indent="0">
              <a:buNone/>
            </a:pPr>
            <a:r>
              <a:rPr lang="en-US" sz="1000" b="1" kern="0" spc="100" dirty="0">
                <a:solidFill>
                  <a:srgbClr val="E8590C"/>
                </a:solidFill>
                <a:latin typeface="Times New Roman" pitchFamily="34" charset="0"/>
                <a:ea typeface="Times New Roman" pitchFamily="34" charset="-122"/>
                <a:cs typeface="Times New Roman" pitchFamily="34" charset="-120"/>
              </a:rPr>
              <a:t>CONSOLE OUTPUT</a:t>
            </a:r>
            <a:endParaRPr lang="en-US" sz="1000" dirty="0"/>
          </a:p>
        </p:txBody>
      </p:sp>
      <p:sp>
        <p:nvSpPr>
          <p:cNvPr id="15" name="Text 13"/>
          <p:cNvSpPr/>
          <p:nvPr/>
        </p:nvSpPr>
        <p:spPr>
          <a:xfrm>
            <a:off x="8074152" y="2459736"/>
            <a:ext cx="3557016" cy="3429000"/>
          </a:xfrm>
          <a:prstGeom prst="rect">
            <a:avLst/>
          </a:prstGeom>
          <a:noFill/>
          <a:ln/>
        </p:spPr>
        <p:txBody>
          <a:bodyPr wrap="square" lIns="0" tIns="0" rIns="0" bIns="0" rtlCol="0" anchor="t"/>
          <a:lstStyle/>
          <a:p>
            <a:pPr marL="0" indent="0">
              <a:lnSpc>
                <a:spcPct val="130000"/>
              </a:lnSpc>
              <a:buNone/>
            </a:pPr>
            <a:r>
              <a:rPr lang="en-US" sz="1300" dirty="0">
                <a:solidFill>
                  <a:srgbClr val="D8E6D0"/>
                </a:solidFill>
                <a:latin typeface="Courier New" pitchFamily="34" charset="0"/>
                <a:ea typeface="Courier New" pitchFamily="34" charset="-122"/>
                <a:cs typeface="Courier New" pitchFamily="34" charset="-120"/>
              </a:rPr>
              <a:t>199.99</a:t>
            </a:r>
            <a:endParaRPr lang="en-US" sz="1300" dirty="0"/>
          </a:p>
        </p:txBody>
      </p:sp>
      <p:sp>
        <p:nvSpPr>
          <p:cNvPr id="16" name="Shape 14"/>
          <p:cNvSpPr/>
          <p:nvPr/>
        </p:nvSpPr>
        <p:spPr>
          <a:xfrm>
            <a:off x="0" y="0"/>
            <a:ext cx="12191695" cy="384048"/>
          </a:xfrm>
          <a:prstGeom prst="rect">
            <a:avLst/>
          </a:prstGeom>
          <a:solidFill>
            <a:srgbClr val="1B2A4A"/>
          </a:solidFill>
          <a:ln w="12700">
            <a:solidFill>
              <a:srgbClr val="1B2A4A"/>
            </a:solidFill>
            <a:prstDash val="solid"/>
          </a:ln>
        </p:spPr>
      </p:sp>
      <p:sp>
        <p:nvSpPr>
          <p:cNvPr id="17" name="Text 15"/>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8" name="Shape 16"/>
          <p:cNvSpPr/>
          <p:nvPr/>
        </p:nvSpPr>
        <p:spPr>
          <a:xfrm>
            <a:off x="219456" y="301752"/>
            <a:ext cx="960120" cy="0"/>
          </a:xfrm>
          <a:prstGeom prst="line">
            <a:avLst/>
          </a:prstGeom>
          <a:noFill/>
          <a:ln w="9525">
            <a:solidFill>
              <a:srgbClr val="4A5570"/>
            </a:solidFill>
            <a:prstDash val="solid"/>
          </a:ln>
        </p:spPr>
      </p:sp>
      <p:sp>
        <p:nvSpPr>
          <p:cNvPr id="19" name="Text 17"/>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0" name="Text 18"/>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1" name="Text 19"/>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2" name="Shape 20"/>
          <p:cNvSpPr/>
          <p:nvPr/>
        </p:nvSpPr>
        <p:spPr>
          <a:xfrm>
            <a:off x="0" y="6291072"/>
            <a:ext cx="12191695" cy="566928"/>
          </a:xfrm>
          <a:prstGeom prst="rect">
            <a:avLst/>
          </a:prstGeom>
          <a:solidFill>
            <a:srgbClr val="1B2A4A"/>
          </a:solidFill>
          <a:ln w="12700">
            <a:solidFill>
              <a:srgbClr val="1B2A4A"/>
            </a:solidFill>
            <a:prstDash val="solid"/>
          </a:ln>
        </p:spPr>
      </p:sp>
      <p:sp>
        <p:nvSpPr>
          <p:cNvPr id="23" name="Text 21"/>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4" name="Text 22"/>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bg>
      <p:bgPr>
        <a:solidFill>
          <a:srgbClr val="181C24"/>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81C24"/>
          </a:solidFill>
          <a:ln w="12700">
            <a:solidFill>
              <a:srgbClr val="181C24"/>
            </a:solidFill>
            <a:prstDash val="solid"/>
          </a:ln>
        </p:spPr>
      </p:sp>
      <p:sp>
        <p:nvSpPr>
          <p:cNvPr id="3" name="Shape 1"/>
          <p:cNvSpPr/>
          <p:nvPr/>
        </p:nvSpPr>
        <p:spPr>
          <a:xfrm>
            <a:off x="0" y="3246120"/>
            <a:ext cx="12191695" cy="18288"/>
          </a:xfrm>
          <a:prstGeom prst="rect">
            <a:avLst/>
          </a:prstGeom>
          <a:solidFill>
            <a:srgbClr val="2A2F3B"/>
          </a:solidFill>
          <a:ln w="12700">
            <a:solidFill>
              <a:srgbClr val="000000"/>
            </a:solidFill>
            <a:prstDash val="solid"/>
          </a:ln>
        </p:spPr>
      </p:sp>
      <p:sp>
        <p:nvSpPr>
          <p:cNvPr id="4" name="Text 2"/>
          <p:cNvSpPr/>
          <p:nvPr/>
        </p:nvSpPr>
        <p:spPr>
          <a:xfrm>
            <a:off x="640080" y="2651760"/>
            <a:ext cx="5486400" cy="365760"/>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SECTION 10 / 10</a:t>
            </a:r>
            <a:endParaRPr lang="en-US" sz="1300" dirty="0"/>
          </a:p>
        </p:txBody>
      </p:sp>
      <p:sp>
        <p:nvSpPr>
          <p:cNvPr id="5" name="Text 3"/>
          <p:cNvSpPr/>
          <p:nvPr/>
        </p:nvSpPr>
        <p:spPr>
          <a:xfrm>
            <a:off x="594360" y="2971800"/>
            <a:ext cx="10515600" cy="1005840"/>
          </a:xfrm>
          <a:prstGeom prst="rect">
            <a:avLst/>
          </a:prstGeom>
          <a:noFill/>
          <a:ln/>
        </p:spPr>
        <p:txBody>
          <a:bodyPr wrap="square" lIns="0" tIns="0" rIns="0" bIns="0" rtlCol="0" anchor="ctr"/>
          <a:lstStyle/>
          <a:p>
            <a:pPr marL="0" indent="0">
              <a:buNone/>
            </a:pPr>
            <a:r>
              <a:rPr lang="en-US" sz="3400" b="1" dirty="0">
                <a:solidFill>
                  <a:srgbClr val="FFFFFF"/>
                </a:solidFill>
                <a:latin typeface="Times New Roman" pitchFamily="34" charset="0"/>
                <a:ea typeface="Times New Roman" pitchFamily="34" charset="-122"/>
                <a:cs typeface="Times New Roman" pitchFamily="34" charset="-120"/>
              </a:rPr>
              <a:t>Exception Handling and Custom Exceptions</a:t>
            </a:r>
            <a:endParaRPr lang="en-US" sz="3400" dirty="0"/>
          </a:p>
        </p:txBody>
      </p:sp>
      <p:sp>
        <p:nvSpPr>
          <p:cNvPr id="6" name="Text 4"/>
          <p:cNvSpPr/>
          <p:nvPr/>
        </p:nvSpPr>
        <p:spPr>
          <a:xfrm>
            <a:off x="640080" y="3977640"/>
            <a:ext cx="9144000" cy="548640"/>
          </a:xfrm>
          <a:prstGeom prst="rect">
            <a:avLst/>
          </a:prstGeom>
          <a:noFill/>
          <a:ln/>
        </p:spPr>
        <p:txBody>
          <a:bodyPr wrap="square" lIns="0" tIns="0" rIns="0" bIns="0" rtlCol="0" anchor="t"/>
          <a:lstStyle/>
          <a:p>
            <a:pPr marL="0" indent="0">
              <a:buNone/>
            </a:pPr>
            <a:r>
              <a:rPr lang="en-US" sz="1500" dirty="0">
                <a:solidFill>
                  <a:srgbClr val="8C93A0"/>
                </a:solidFill>
                <a:latin typeface="Times New Roman" pitchFamily="34" charset="0"/>
                <a:ea typeface="Times New Roman" pitchFamily="34" charset="-122"/>
                <a:cs typeface="Times New Roman" pitchFamily="34" charset="-120"/>
              </a:rPr>
              <a:t>Responding to errors without letting a program crash</a:t>
            </a:r>
            <a:endParaRPr lang="en-US" sz="1500" dirty="0"/>
          </a:p>
        </p:txBody>
      </p:sp>
      <p:sp>
        <p:nvSpPr>
          <p:cNvPr id="7" name="Shape 5"/>
          <p:cNvSpPr/>
          <p:nvPr/>
        </p:nvSpPr>
        <p:spPr>
          <a:xfrm>
            <a:off x="0" y="0"/>
            <a:ext cx="12191695" cy="384048"/>
          </a:xfrm>
          <a:prstGeom prst="rect">
            <a:avLst/>
          </a:prstGeom>
          <a:solidFill>
            <a:srgbClr val="1B2A4A"/>
          </a:solidFill>
          <a:ln w="12700">
            <a:solidFill>
              <a:srgbClr val="1B2A4A"/>
            </a:solidFill>
            <a:prstDash val="solid"/>
          </a:ln>
        </p:spPr>
      </p:sp>
      <p:sp>
        <p:nvSpPr>
          <p:cNvPr id="8" name="Text 6"/>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9" name="Shape 7"/>
          <p:cNvSpPr/>
          <p:nvPr/>
        </p:nvSpPr>
        <p:spPr>
          <a:xfrm>
            <a:off x="219456" y="301752"/>
            <a:ext cx="960120" cy="0"/>
          </a:xfrm>
          <a:prstGeom prst="line">
            <a:avLst/>
          </a:prstGeom>
          <a:noFill/>
          <a:ln w="9525">
            <a:solidFill>
              <a:srgbClr val="4A5570"/>
            </a:solidFill>
            <a:prstDash val="solid"/>
          </a:ln>
        </p:spPr>
      </p:sp>
      <p:sp>
        <p:nvSpPr>
          <p:cNvPr id="10" name="Text 8"/>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11" name="Text 9"/>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12" name="Text 10"/>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13" name="Shape 11"/>
          <p:cNvSpPr/>
          <p:nvPr/>
        </p:nvSpPr>
        <p:spPr>
          <a:xfrm>
            <a:off x="0" y="6291072"/>
            <a:ext cx="12191695" cy="566928"/>
          </a:xfrm>
          <a:prstGeom prst="rect">
            <a:avLst/>
          </a:prstGeom>
          <a:solidFill>
            <a:srgbClr val="1B2A4A"/>
          </a:solidFill>
          <a:ln w="12700">
            <a:solidFill>
              <a:srgbClr val="1B2A4A"/>
            </a:solidFill>
            <a:prstDash val="solid"/>
          </a:ln>
        </p:spPr>
      </p:sp>
      <p:sp>
        <p:nvSpPr>
          <p:cNvPr id="14" name="Text 12"/>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15" name="Text 13"/>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CONCEPT</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What Is an Exception?</a:t>
            </a:r>
            <a:endParaRPr lang="en-US" sz="2700" dirty="0"/>
          </a:p>
        </p:txBody>
      </p:sp>
      <p:sp>
        <p:nvSpPr>
          <p:cNvPr id="4" name="Shape 2"/>
          <p:cNvSpPr/>
          <p:nvPr/>
        </p:nvSpPr>
        <p:spPr>
          <a:xfrm>
            <a:off x="594360" y="1691640"/>
            <a:ext cx="10607040" cy="2089404"/>
          </a:xfrm>
          <a:prstGeom prst="roundRect">
            <a:avLst>
              <a:gd name="adj" fmla="val 2626"/>
            </a:avLst>
          </a:prstGeom>
          <a:solidFill>
            <a:srgbClr val="F5F6FA"/>
          </a:solidFill>
          <a:ln w="9525">
            <a:solidFill>
              <a:srgbClr val="E4E7EE"/>
            </a:solidFill>
            <a:prstDash val="solid"/>
          </a:ln>
        </p:spPr>
      </p:sp>
      <p:sp>
        <p:nvSpPr>
          <p:cNvPr id="5" name="Shape 3"/>
          <p:cNvSpPr/>
          <p:nvPr/>
        </p:nvSpPr>
        <p:spPr>
          <a:xfrm>
            <a:off x="777240" y="1874520"/>
            <a:ext cx="109728" cy="109728"/>
          </a:xfrm>
          <a:prstGeom prst="ellipse">
            <a:avLst/>
          </a:prstGeom>
          <a:solidFill>
            <a:srgbClr val="E8590C"/>
          </a:solidFill>
          <a:ln w="12700">
            <a:solidFill>
              <a:srgbClr val="000000"/>
            </a:solidFill>
            <a:prstDash val="solid"/>
          </a:ln>
        </p:spPr>
      </p:sp>
      <p:sp>
        <p:nvSpPr>
          <p:cNvPr id="6" name="Text 4"/>
          <p:cNvSpPr/>
          <p:nvPr/>
        </p:nvSpPr>
        <p:spPr>
          <a:xfrm>
            <a:off x="1051560" y="1764792"/>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An event that disrupts normal program flow</a:t>
            </a:r>
            <a:endParaRPr lang="en-US" sz="1500" dirty="0"/>
          </a:p>
        </p:txBody>
      </p:sp>
      <p:sp>
        <p:nvSpPr>
          <p:cNvPr id="7" name="Text 5"/>
          <p:cNvSpPr/>
          <p:nvPr/>
        </p:nvSpPr>
        <p:spPr>
          <a:xfrm>
            <a:off x="1051560" y="2057400"/>
            <a:ext cx="9966960" cy="1668780"/>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An exception represents a problem, such as invalid input, that occurs while a program runs.</a:t>
            </a:r>
            <a:endParaRPr lang="en-US" sz="1250" dirty="0"/>
          </a:p>
        </p:txBody>
      </p:sp>
      <p:sp>
        <p:nvSpPr>
          <p:cNvPr id="8" name="Shape 6"/>
          <p:cNvSpPr/>
          <p:nvPr/>
        </p:nvSpPr>
        <p:spPr>
          <a:xfrm>
            <a:off x="594360" y="3945636"/>
            <a:ext cx="10607040" cy="2089404"/>
          </a:xfrm>
          <a:prstGeom prst="roundRect">
            <a:avLst>
              <a:gd name="adj" fmla="val 2626"/>
            </a:avLst>
          </a:prstGeom>
          <a:solidFill>
            <a:srgbClr val="F5F6FA"/>
          </a:solidFill>
          <a:ln w="9525">
            <a:solidFill>
              <a:srgbClr val="E4E7EE"/>
            </a:solidFill>
            <a:prstDash val="solid"/>
          </a:ln>
        </p:spPr>
      </p:sp>
      <p:sp>
        <p:nvSpPr>
          <p:cNvPr id="9" name="Shape 7"/>
          <p:cNvSpPr/>
          <p:nvPr/>
        </p:nvSpPr>
        <p:spPr>
          <a:xfrm>
            <a:off x="777240" y="4128516"/>
            <a:ext cx="109728" cy="109728"/>
          </a:xfrm>
          <a:prstGeom prst="ellipse">
            <a:avLst/>
          </a:prstGeom>
          <a:solidFill>
            <a:srgbClr val="E8590C"/>
          </a:solidFill>
          <a:ln w="12700">
            <a:solidFill>
              <a:srgbClr val="000000"/>
            </a:solidFill>
            <a:prstDash val="solid"/>
          </a:ln>
        </p:spPr>
      </p:sp>
      <p:sp>
        <p:nvSpPr>
          <p:cNvPr id="10" name="Text 8"/>
          <p:cNvSpPr/>
          <p:nvPr/>
        </p:nvSpPr>
        <p:spPr>
          <a:xfrm>
            <a:off x="1051560" y="4018788"/>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Can be caught and handled</a:t>
            </a:r>
            <a:endParaRPr lang="en-US" sz="1500" dirty="0"/>
          </a:p>
        </p:txBody>
      </p:sp>
      <p:sp>
        <p:nvSpPr>
          <p:cNvPr id="11" name="Text 9"/>
          <p:cNvSpPr/>
          <p:nvPr/>
        </p:nvSpPr>
        <p:spPr>
          <a:xfrm>
            <a:off x="1051560" y="4311396"/>
            <a:ext cx="9966960" cy="1668780"/>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Instead of crashing, code can detect an exception and respond to it in a controlled way.</a:t>
            </a:r>
            <a:endParaRPr lang="en-US" sz="1250" dirty="0"/>
          </a:p>
        </p:txBody>
      </p:sp>
      <p:sp>
        <p:nvSpPr>
          <p:cNvPr id="12" name="Shape 10"/>
          <p:cNvSpPr/>
          <p:nvPr/>
        </p:nvSpPr>
        <p:spPr>
          <a:xfrm>
            <a:off x="0" y="0"/>
            <a:ext cx="12191695" cy="384048"/>
          </a:xfrm>
          <a:prstGeom prst="rect">
            <a:avLst/>
          </a:prstGeom>
          <a:solidFill>
            <a:srgbClr val="1B2A4A"/>
          </a:solidFill>
          <a:ln w="12700">
            <a:solidFill>
              <a:srgbClr val="1B2A4A"/>
            </a:solidFill>
            <a:prstDash val="solid"/>
          </a:ln>
        </p:spPr>
      </p:sp>
      <p:sp>
        <p:nvSpPr>
          <p:cNvPr id="13" name="Text 11"/>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4" name="Shape 12"/>
          <p:cNvSpPr/>
          <p:nvPr/>
        </p:nvSpPr>
        <p:spPr>
          <a:xfrm>
            <a:off x="219456" y="301752"/>
            <a:ext cx="960120" cy="0"/>
          </a:xfrm>
          <a:prstGeom prst="line">
            <a:avLst/>
          </a:prstGeom>
          <a:noFill/>
          <a:ln w="9525">
            <a:solidFill>
              <a:srgbClr val="4A5570"/>
            </a:solidFill>
            <a:prstDash val="solid"/>
          </a:ln>
        </p:spPr>
      </p:sp>
      <p:sp>
        <p:nvSpPr>
          <p:cNvPr id="15" name="Text 13"/>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16" name="Text 14"/>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17" name="Text 15"/>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18" name="Shape 16"/>
          <p:cNvSpPr/>
          <p:nvPr/>
        </p:nvSpPr>
        <p:spPr>
          <a:xfrm>
            <a:off x="0" y="6291072"/>
            <a:ext cx="12191695" cy="566928"/>
          </a:xfrm>
          <a:prstGeom prst="rect">
            <a:avLst/>
          </a:prstGeom>
          <a:solidFill>
            <a:srgbClr val="1B2A4A"/>
          </a:solidFill>
          <a:ln w="12700">
            <a:solidFill>
              <a:srgbClr val="1B2A4A"/>
            </a:solidFill>
            <a:prstDash val="solid"/>
          </a:ln>
        </p:spPr>
      </p:sp>
      <p:sp>
        <p:nvSpPr>
          <p:cNvPr id="19" name="Text 17"/>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0" name="Text 18"/>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BASICS</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try and catch</a:t>
            </a:r>
            <a:endParaRPr lang="en-US" sz="2700" dirty="0"/>
          </a:p>
        </p:txBody>
      </p:sp>
      <p:sp>
        <p:nvSpPr>
          <p:cNvPr id="4" name="Shape 2"/>
          <p:cNvSpPr/>
          <p:nvPr/>
        </p:nvSpPr>
        <p:spPr>
          <a:xfrm>
            <a:off x="594360" y="1600200"/>
            <a:ext cx="10607040" cy="896112"/>
          </a:xfrm>
          <a:prstGeom prst="roundRect">
            <a:avLst>
              <a:gd name="adj" fmla="val 6122"/>
            </a:avLst>
          </a:prstGeom>
          <a:solidFill>
            <a:srgbClr val="F5F6FA"/>
          </a:solidFill>
          <a:ln w="9525">
            <a:solidFill>
              <a:srgbClr val="E4E7EE"/>
            </a:solidFill>
            <a:prstDash val="solid"/>
          </a:ln>
        </p:spPr>
      </p:sp>
      <p:sp>
        <p:nvSpPr>
          <p:cNvPr id="5" name="Shape 3"/>
          <p:cNvSpPr/>
          <p:nvPr/>
        </p:nvSpPr>
        <p:spPr>
          <a:xfrm>
            <a:off x="804672" y="1755648"/>
            <a:ext cx="100584" cy="100584"/>
          </a:xfrm>
          <a:prstGeom prst="ellipse">
            <a:avLst/>
          </a:prstGeom>
          <a:solidFill>
            <a:srgbClr val="E8590C"/>
          </a:solidFill>
          <a:ln w="12700">
            <a:solidFill>
              <a:srgbClr val="000000"/>
            </a:solidFill>
            <a:prstDash val="solid"/>
          </a:ln>
        </p:spPr>
      </p:sp>
      <p:sp>
        <p:nvSpPr>
          <p:cNvPr id="6" name="Text 4"/>
          <p:cNvSpPr/>
          <p:nvPr/>
        </p:nvSpPr>
        <p:spPr>
          <a:xfrm>
            <a:off x="1051560" y="1655064"/>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Code that might fail is placed inside a try block.</a:t>
            </a:r>
            <a:endParaRPr lang="en-US" sz="1250" dirty="0"/>
          </a:p>
        </p:txBody>
      </p:sp>
      <p:sp>
        <p:nvSpPr>
          <p:cNvPr id="7" name="Shape 5"/>
          <p:cNvSpPr/>
          <p:nvPr/>
        </p:nvSpPr>
        <p:spPr>
          <a:xfrm>
            <a:off x="804672" y="2103120"/>
            <a:ext cx="100584" cy="100584"/>
          </a:xfrm>
          <a:prstGeom prst="ellipse">
            <a:avLst/>
          </a:prstGeom>
          <a:solidFill>
            <a:srgbClr val="E8590C"/>
          </a:solidFill>
          <a:ln w="12700">
            <a:solidFill>
              <a:srgbClr val="000000"/>
            </a:solidFill>
            <a:prstDash val="solid"/>
          </a:ln>
        </p:spPr>
      </p:sp>
      <p:sp>
        <p:nvSpPr>
          <p:cNvPr id="8" name="Text 6"/>
          <p:cNvSpPr/>
          <p:nvPr/>
        </p:nvSpPr>
        <p:spPr>
          <a:xfrm>
            <a:off x="1051560" y="2002536"/>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If an exception occurs, control jumps to a matching catch block instead of crashing the program.</a:t>
            </a:r>
            <a:endParaRPr lang="en-US" sz="1250" dirty="0"/>
          </a:p>
        </p:txBody>
      </p:sp>
      <p:sp>
        <p:nvSpPr>
          <p:cNvPr id="9" name="Shape 7"/>
          <p:cNvSpPr/>
          <p:nvPr/>
        </p:nvSpPr>
        <p:spPr>
          <a:xfrm>
            <a:off x="594360" y="2642616"/>
            <a:ext cx="10607040" cy="3392424"/>
          </a:xfrm>
          <a:prstGeom prst="roundRect">
            <a:avLst>
              <a:gd name="adj" fmla="val 2156"/>
            </a:avLst>
          </a:prstGeom>
          <a:solidFill>
            <a:srgbClr val="1E1E2E"/>
          </a:solidFill>
          <a:ln w="12700">
            <a:solidFill>
              <a:srgbClr val="000000"/>
            </a:solidFill>
            <a:prstDash val="solid"/>
          </a:ln>
        </p:spPr>
      </p:sp>
      <p:sp>
        <p:nvSpPr>
          <p:cNvPr id="10" name="Shape 8"/>
          <p:cNvSpPr/>
          <p:nvPr/>
        </p:nvSpPr>
        <p:spPr>
          <a:xfrm>
            <a:off x="594360" y="2642616"/>
            <a:ext cx="10607040" cy="274320"/>
          </a:xfrm>
          <a:prstGeom prst="roundRect">
            <a:avLst>
              <a:gd name="adj" fmla="val 26667"/>
            </a:avLst>
          </a:prstGeom>
          <a:solidFill>
            <a:srgbClr val="17172A"/>
          </a:solidFill>
          <a:ln w="12700">
            <a:solidFill>
              <a:srgbClr val="000000"/>
            </a:solidFill>
            <a:prstDash val="solid"/>
          </a:ln>
        </p:spPr>
      </p:sp>
      <p:sp>
        <p:nvSpPr>
          <p:cNvPr id="11" name="Shape 9"/>
          <p:cNvSpPr/>
          <p:nvPr/>
        </p:nvSpPr>
        <p:spPr>
          <a:xfrm>
            <a:off x="594360" y="2843784"/>
            <a:ext cx="10607040" cy="73152"/>
          </a:xfrm>
          <a:prstGeom prst="rect">
            <a:avLst/>
          </a:prstGeom>
          <a:solidFill>
            <a:srgbClr val="17172A"/>
          </a:solidFill>
          <a:ln w="12700">
            <a:solidFill>
              <a:srgbClr val="000000"/>
            </a:solidFill>
            <a:prstDash val="solid"/>
          </a:ln>
        </p:spPr>
      </p:sp>
      <p:sp>
        <p:nvSpPr>
          <p:cNvPr id="12" name="Shape 10"/>
          <p:cNvSpPr/>
          <p:nvPr/>
        </p:nvSpPr>
        <p:spPr>
          <a:xfrm>
            <a:off x="722376" y="2741371"/>
            <a:ext cx="76810" cy="76810"/>
          </a:xfrm>
          <a:prstGeom prst="ellipse">
            <a:avLst/>
          </a:prstGeom>
          <a:solidFill>
            <a:srgbClr val="FF5F56"/>
          </a:solidFill>
          <a:ln w="12700">
            <a:solidFill>
              <a:srgbClr val="000000"/>
            </a:solidFill>
            <a:prstDash val="solid"/>
          </a:ln>
        </p:spPr>
      </p:sp>
      <p:sp>
        <p:nvSpPr>
          <p:cNvPr id="13" name="Shape 11"/>
          <p:cNvSpPr/>
          <p:nvPr/>
        </p:nvSpPr>
        <p:spPr>
          <a:xfrm>
            <a:off x="886968" y="2741371"/>
            <a:ext cx="76810" cy="76810"/>
          </a:xfrm>
          <a:prstGeom prst="ellipse">
            <a:avLst/>
          </a:prstGeom>
          <a:solidFill>
            <a:srgbClr val="FFBD2E"/>
          </a:solidFill>
          <a:ln w="12700">
            <a:solidFill>
              <a:srgbClr val="000000"/>
            </a:solidFill>
            <a:prstDash val="solid"/>
          </a:ln>
        </p:spPr>
      </p:sp>
      <p:sp>
        <p:nvSpPr>
          <p:cNvPr id="14" name="Shape 12"/>
          <p:cNvSpPr/>
          <p:nvPr/>
        </p:nvSpPr>
        <p:spPr>
          <a:xfrm>
            <a:off x="1051560" y="2741371"/>
            <a:ext cx="76810" cy="76810"/>
          </a:xfrm>
          <a:prstGeom prst="ellipse">
            <a:avLst/>
          </a:prstGeom>
          <a:solidFill>
            <a:srgbClr val="27C93F"/>
          </a:solidFill>
          <a:ln w="12700">
            <a:solidFill>
              <a:srgbClr val="000000"/>
            </a:solidFill>
            <a:prstDash val="solid"/>
          </a:ln>
        </p:spPr>
      </p:sp>
      <p:sp>
        <p:nvSpPr>
          <p:cNvPr id="15" name="Text 13"/>
          <p:cNvSpPr/>
          <p:nvPr/>
        </p:nvSpPr>
        <p:spPr>
          <a:xfrm>
            <a:off x="1371600" y="2642616"/>
            <a:ext cx="9692640" cy="274320"/>
          </a:xfrm>
          <a:prstGeom prst="rect">
            <a:avLst/>
          </a:prstGeom>
          <a:noFill/>
          <a:ln/>
        </p:spPr>
        <p:txBody>
          <a:bodyPr wrap="square" lIns="0" tIns="0" rIns="0" bIns="0" rtlCol="0" anchor="ctr"/>
          <a:lstStyle/>
          <a:p>
            <a:pPr marL="0" indent="0" algn="l">
              <a:buNone/>
            </a:pPr>
            <a:r>
              <a:rPr lang="en-US" sz="1000" dirty="0">
                <a:solidFill>
                  <a:srgbClr val="8A8FA3"/>
                </a:solidFill>
                <a:latin typeface="Courier New" pitchFamily="34" charset="0"/>
                <a:ea typeface="Courier New" pitchFamily="34" charset="-122"/>
                <a:cs typeface="Courier New" pitchFamily="34" charset="-120"/>
              </a:rPr>
              <a:t>Main.java</a:t>
            </a:r>
            <a:endParaRPr lang="en-US" sz="1000" dirty="0"/>
          </a:p>
        </p:txBody>
      </p:sp>
      <p:sp>
        <p:nvSpPr>
          <p:cNvPr id="16" name="Text 14"/>
          <p:cNvSpPr/>
          <p:nvPr/>
        </p:nvSpPr>
        <p:spPr>
          <a:xfrm>
            <a:off x="777240" y="2990088"/>
            <a:ext cx="10241280" cy="2971800"/>
          </a:xfrm>
          <a:prstGeom prst="rect">
            <a:avLst/>
          </a:prstGeom>
          <a:noFill/>
          <a:ln/>
        </p:spPr>
        <p:txBody>
          <a:bodyPr wrap="square" lIns="0" tIns="0" rIns="0" bIns="0" rtlCol="0" anchor="t"/>
          <a:lstStyle/>
          <a:p>
            <a:pPr marL="0" indent="0" algn="l">
              <a:lnSpc>
                <a:spcPct val="118000"/>
              </a:lnSpc>
              <a:buNone/>
            </a:pPr>
            <a:r>
              <a:rPr lang="en-US" sz="1500" b="1" dirty="0">
                <a:solidFill>
                  <a:srgbClr val="569CD6"/>
                </a:solidFill>
                <a:latin typeface="Courier New" pitchFamily="34" charset="0"/>
                <a:ea typeface="Courier New" pitchFamily="34" charset="-122"/>
                <a:cs typeface="Courier New" pitchFamily="34" charset="-120"/>
              </a:rPr>
              <a:t>public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class</a:t>
            </a:r>
            <a:r>
              <a:rPr lang="en-US" sz="1500" dirty="0">
                <a:solidFill>
                  <a:srgbClr val="D4D4D4"/>
                </a:solidFill>
                <a:latin typeface="Courier New" pitchFamily="34" charset="0"/>
                <a:ea typeface="Courier New" pitchFamily="34" charset="-122"/>
                <a:cs typeface="Courier New" pitchFamily="34" charset="-120"/>
              </a:rPr>
              <a:t> TryCatchDemo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public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static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void</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DCDCAA"/>
                </a:solidFill>
                <a:latin typeface="Courier New" pitchFamily="34" charset="0"/>
                <a:ea typeface="Courier New" pitchFamily="34" charset="-122"/>
                <a:cs typeface="Courier New" pitchFamily="34" charset="-120"/>
              </a:rPr>
              <a:t>main</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4EC9B0"/>
                </a:solidFill>
                <a:latin typeface="Courier New" pitchFamily="34" charset="0"/>
                <a:ea typeface="Courier New" pitchFamily="34" charset="-122"/>
                <a:cs typeface="Courier New" pitchFamily="34" charset="-120"/>
              </a:rPr>
              <a:t>String</a:t>
            </a:r>
            <a:r>
              <a:rPr lang="en-US" sz="1500" dirty="0">
                <a:solidFill>
                  <a:srgbClr val="D4D4D4"/>
                </a:solidFill>
                <a:latin typeface="Courier New" pitchFamily="34" charset="0"/>
                <a:ea typeface="Courier New" pitchFamily="34" charset="-122"/>
                <a:cs typeface="Courier New" pitchFamily="34" charset="-120"/>
              </a:rPr>
              <a:t>[] args)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try</a:t>
            </a: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int</a:t>
            </a:r>
            <a:r>
              <a:rPr lang="en-US" sz="1500" dirty="0">
                <a:solidFill>
                  <a:srgbClr val="D4D4D4"/>
                </a:solidFill>
                <a:latin typeface="Courier New" pitchFamily="34" charset="0"/>
                <a:ea typeface="Courier New" pitchFamily="34" charset="-122"/>
                <a:cs typeface="Courier New" pitchFamily="34" charset="-120"/>
              </a:rPr>
              <a:t> result = </a:t>
            </a:r>
            <a:r>
              <a:rPr lang="en-US" sz="1500" dirty="0">
                <a:solidFill>
                  <a:srgbClr val="B5CEA8"/>
                </a:solidFill>
                <a:latin typeface="Courier New" pitchFamily="34" charset="0"/>
                <a:ea typeface="Courier New" pitchFamily="34" charset="-122"/>
                <a:cs typeface="Courier New" pitchFamily="34" charset="-120"/>
              </a:rPr>
              <a:t>10</a:t>
            </a:r>
            <a:r>
              <a:rPr lang="en-US" sz="1500" dirty="0">
                <a:solidFill>
                  <a:srgbClr val="D4D4D4"/>
                </a:solidFill>
                <a:latin typeface="Courier New" pitchFamily="34" charset="0"/>
                <a:ea typeface="Courier New" pitchFamily="34" charset="-122"/>
                <a:cs typeface="Courier New" pitchFamily="34" charset="-120"/>
              </a:rPr>
              <a:t> / </a:t>
            </a:r>
            <a:r>
              <a:rPr lang="en-US" sz="1500" dirty="0">
                <a:solidFill>
                  <a:srgbClr val="B5CEA8"/>
                </a:solidFill>
                <a:latin typeface="Courier New" pitchFamily="34" charset="0"/>
                <a:ea typeface="Courier New" pitchFamily="34" charset="-122"/>
                <a:cs typeface="Courier New" pitchFamily="34" charset="-120"/>
              </a:rPr>
              <a:t>0</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 </a:t>
            </a:r>
            <a:r>
              <a:rPr lang="en-US" sz="1500" b="1" dirty="0">
                <a:solidFill>
                  <a:srgbClr val="569CD6"/>
                </a:solidFill>
                <a:latin typeface="Courier New" pitchFamily="34" charset="0"/>
                <a:ea typeface="Courier New" pitchFamily="34" charset="-122"/>
                <a:cs typeface="Courier New" pitchFamily="34" charset="-120"/>
              </a:rPr>
              <a:t>catch</a:t>
            </a:r>
            <a:r>
              <a:rPr lang="en-US" sz="1500" dirty="0">
                <a:solidFill>
                  <a:srgbClr val="D4D4D4"/>
                </a:solidFill>
                <a:latin typeface="Courier New" pitchFamily="34" charset="0"/>
                <a:ea typeface="Courier New" pitchFamily="34" charset="-122"/>
                <a:cs typeface="Courier New" pitchFamily="34" charset="-120"/>
              </a:rPr>
              <a:t> (ArithmeticException e)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4EC9B0"/>
                </a:solidFill>
                <a:latin typeface="Courier New" pitchFamily="34" charset="0"/>
                <a:ea typeface="Courier New" pitchFamily="34" charset="-122"/>
                <a:cs typeface="Courier New" pitchFamily="34" charset="-120"/>
              </a:rPr>
              <a:t>System</a:t>
            </a:r>
            <a:r>
              <a:rPr lang="en-US" sz="1500" dirty="0">
                <a:solidFill>
                  <a:srgbClr val="D4D4D4"/>
                </a:solidFill>
                <a:latin typeface="Courier New" pitchFamily="34" charset="0"/>
                <a:ea typeface="Courier New" pitchFamily="34" charset="-122"/>
                <a:cs typeface="Courier New" pitchFamily="34" charset="-120"/>
              </a:rPr>
              <a:t>.out.</a:t>
            </a:r>
            <a:r>
              <a:rPr lang="en-US" sz="1500" dirty="0">
                <a:solidFill>
                  <a:srgbClr val="DCDCAA"/>
                </a:solidFill>
                <a:latin typeface="Courier New" pitchFamily="34" charset="0"/>
                <a:ea typeface="Courier New" pitchFamily="34" charset="-122"/>
                <a:cs typeface="Courier New" pitchFamily="34" charset="-120"/>
              </a:rPr>
              <a:t>println</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CE9178"/>
                </a:solidFill>
                <a:latin typeface="Courier New" pitchFamily="34" charset="0"/>
                <a:ea typeface="Courier New" pitchFamily="34" charset="-122"/>
                <a:cs typeface="Courier New" pitchFamily="34" charset="-120"/>
              </a:rPr>
              <a:t>"Cannot divide by zero."</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4EC9B0"/>
                </a:solidFill>
                <a:latin typeface="Courier New" pitchFamily="34" charset="0"/>
                <a:ea typeface="Courier New" pitchFamily="34" charset="-122"/>
                <a:cs typeface="Courier New" pitchFamily="34" charset="-120"/>
              </a:rPr>
              <a:t>System</a:t>
            </a:r>
            <a:r>
              <a:rPr lang="en-US" sz="1500" dirty="0">
                <a:solidFill>
                  <a:srgbClr val="D4D4D4"/>
                </a:solidFill>
                <a:latin typeface="Courier New" pitchFamily="34" charset="0"/>
                <a:ea typeface="Courier New" pitchFamily="34" charset="-122"/>
                <a:cs typeface="Courier New" pitchFamily="34" charset="-120"/>
              </a:rPr>
              <a:t>.out.</a:t>
            </a:r>
            <a:r>
              <a:rPr lang="en-US" sz="1500" dirty="0">
                <a:solidFill>
                  <a:srgbClr val="DCDCAA"/>
                </a:solidFill>
                <a:latin typeface="Courier New" pitchFamily="34" charset="0"/>
                <a:ea typeface="Courier New" pitchFamily="34" charset="-122"/>
                <a:cs typeface="Courier New" pitchFamily="34" charset="-120"/>
              </a:rPr>
              <a:t>println</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CE9178"/>
                </a:solidFill>
                <a:latin typeface="Courier New" pitchFamily="34" charset="0"/>
                <a:ea typeface="Courier New" pitchFamily="34" charset="-122"/>
                <a:cs typeface="Courier New" pitchFamily="34" charset="-120"/>
              </a:rPr>
              <a:t>"Program continues."</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a:t>
            </a:r>
            <a:endParaRPr lang="en-US" sz="1500" dirty="0"/>
          </a:p>
        </p:txBody>
      </p:sp>
      <p:sp>
        <p:nvSpPr>
          <p:cNvPr id="17" name="Shape 15"/>
          <p:cNvSpPr/>
          <p:nvPr/>
        </p:nvSpPr>
        <p:spPr>
          <a:xfrm>
            <a:off x="0" y="0"/>
            <a:ext cx="12191695" cy="384048"/>
          </a:xfrm>
          <a:prstGeom prst="rect">
            <a:avLst/>
          </a:prstGeom>
          <a:solidFill>
            <a:srgbClr val="1B2A4A"/>
          </a:solidFill>
          <a:ln w="12700">
            <a:solidFill>
              <a:srgbClr val="1B2A4A"/>
            </a:solidFill>
            <a:prstDash val="solid"/>
          </a:ln>
        </p:spPr>
      </p:sp>
      <p:sp>
        <p:nvSpPr>
          <p:cNvPr id="18" name="Text 16"/>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9" name="Shape 17"/>
          <p:cNvSpPr/>
          <p:nvPr/>
        </p:nvSpPr>
        <p:spPr>
          <a:xfrm>
            <a:off x="219456" y="301752"/>
            <a:ext cx="960120" cy="0"/>
          </a:xfrm>
          <a:prstGeom prst="line">
            <a:avLst/>
          </a:prstGeom>
          <a:noFill/>
          <a:ln w="9525">
            <a:solidFill>
              <a:srgbClr val="4A5570"/>
            </a:solidFill>
            <a:prstDash val="solid"/>
          </a:ln>
        </p:spPr>
      </p:sp>
      <p:sp>
        <p:nvSpPr>
          <p:cNvPr id="20" name="Text 18"/>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1" name="Text 19"/>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2" name="Text 20"/>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3" name="Shape 21"/>
          <p:cNvSpPr/>
          <p:nvPr/>
        </p:nvSpPr>
        <p:spPr>
          <a:xfrm>
            <a:off x="0" y="6291072"/>
            <a:ext cx="12191695" cy="566928"/>
          </a:xfrm>
          <a:prstGeom prst="rect">
            <a:avLst/>
          </a:prstGeom>
          <a:solidFill>
            <a:srgbClr val="1B2A4A"/>
          </a:solidFill>
          <a:ln w="12700">
            <a:solidFill>
              <a:srgbClr val="1B2A4A"/>
            </a:solidFill>
            <a:prstDash val="solid"/>
          </a:ln>
        </p:spPr>
      </p:sp>
      <p:sp>
        <p:nvSpPr>
          <p:cNvPr id="24" name="Text 22"/>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5" name="Text 23"/>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ALWAYS RUNS</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The finally Block</a:t>
            </a:r>
            <a:endParaRPr lang="en-US" sz="2700" dirty="0"/>
          </a:p>
        </p:txBody>
      </p:sp>
      <p:sp>
        <p:nvSpPr>
          <p:cNvPr id="4" name="Shape 2"/>
          <p:cNvSpPr/>
          <p:nvPr/>
        </p:nvSpPr>
        <p:spPr>
          <a:xfrm>
            <a:off x="594360" y="1600200"/>
            <a:ext cx="10607040" cy="896112"/>
          </a:xfrm>
          <a:prstGeom prst="roundRect">
            <a:avLst>
              <a:gd name="adj" fmla="val 6122"/>
            </a:avLst>
          </a:prstGeom>
          <a:solidFill>
            <a:srgbClr val="F5F6FA"/>
          </a:solidFill>
          <a:ln w="9525">
            <a:solidFill>
              <a:srgbClr val="E4E7EE"/>
            </a:solidFill>
            <a:prstDash val="solid"/>
          </a:ln>
        </p:spPr>
      </p:sp>
      <p:sp>
        <p:nvSpPr>
          <p:cNvPr id="5" name="Shape 3"/>
          <p:cNvSpPr/>
          <p:nvPr/>
        </p:nvSpPr>
        <p:spPr>
          <a:xfrm>
            <a:off x="804672" y="1755648"/>
            <a:ext cx="100584" cy="100584"/>
          </a:xfrm>
          <a:prstGeom prst="ellipse">
            <a:avLst/>
          </a:prstGeom>
          <a:solidFill>
            <a:srgbClr val="E8590C"/>
          </a:solidFill>
          <a:ln w="12700">
            <a:solidFill>
              <a:srgbClr val="000000"/>
            </a:solidFill>
            <a:prstDash val="solid"/>
          </a:ln>
        </p:spPr>
      </p:sp>
      <p:sp>
        <p:nvSpPr>
          <p:cNvPr id="6" name="Text 4"/>
          <p:cNvSpPr/>
          <p:nvPr/>
        </p:nvSpPr>
        <p:spPr>
          <a:xfrm>
            <a:off x="1051560" y="1655064"/>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Code inside finally runs whether or not an exception occurred, and even after a return statement.</a:t>
            </a:r>
            <a:endParaRPr lang="en-US" sz="1250" dirty="0"/>
          </a:p>
        </p:txBody>
      </p:sp>
      <p:sp>
        <p:nvSpPr>
          <p:cNvPr id="7" name="Shape 5"/>
          <p:cNvSpPr/>
          <p:nvPr/>
        </p:nvSpPr>
        <p:spPr>
          <a:xfrm>
            <a:off x="804672" y="2103120"/>
            <a:ext cx="100584" cy="100584"/>
          </a:xfrm>
          <a:prstGeom prst="ellipse">
            <a:avLst/>
          </a:prstGeom>
          <a:solidFill>
            <a:srgbClr val="E8590C"/>
          </a:solidFill>
          <a:ln w="12700">
            <a:solidFill>
              <a:srgbClr val="000000"/>
            </a:solidFill>
            <a:prstDash val="solid"/>
          </a:ln>
        </p:spPr>
      </p:sp>
      <p:sp>
        <p:nvSpPr>
          <p:cNvPr id="8" name="Text 6"/>
          <p:cNvSpPr/>
          <p:nvPr/>
        </p:nvSpPr>
        <p:spPr>
          <a:xfrm>
            <a:off x="1051560" y="2002536"/>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It is commonly used to release resources such as files or network connections.</a:t>
            </a:r>
            <a:endParaRPr lang="en-US" sz="1250" dirty="0"/>
          </a:p>
        </p:txBody>
      </p:sp>
      <p:sp>
        <p:nvSpPr>
          <p:cNvPr id="9" name="Shape 7"/>
          <p:cNvSpPr/>
          <p:nvPr/>
        </p:nvSpPr>
        <p:spPr>
          <a:xfrm>
            <a:off x="594360" y="2642616"/>
            <a:ext cx="10607040" cy="3392424"/>
          </a:xfrm>
          <a:prstGeom prst="roundRect">
            <a:avLst>
              <a:gd name="adj" fmla="val 2156"/>
            </a:avLst>
          </a:prstGeom>
          <a:solidFill>
            <a:srgbClr val="1E1E2E"/>
          </a:solidFill>
          <a:ln w="12700">
            <a:solidFill>
              <a:srgbClr val="000000"/>
            </a:solidFill>
            <a:prstDash val="solid"/>
          </a:ln>
        </p:spPr>
      </p:sp>
      <p:sp>
        <p:nvSpPr>
          <p:cNvPr id="10" name="Shape 8"/>
          <p:cNvSpPr/>
          <p:nvPr/>
        </p:nvSpPr>
        <p:spPr>
          <a:xfrm>
            <a:off x="594360" y="2642616"/>
            <a:ext cx="10607040" cy="274320"/>
          </a:xfrm>
          <a:prstGeom prst="roundRect">
            <a:avLst>
              <a:gd name="adj" fmla="val 26667"/>
            </a:avLst>
          </a:prstGeom>
          <a:solidFill>
            <a:srgbClr val="17172A"/>
          </a:solidFill>
          <a:ln w="12700">
            <a:solidFill>
              <a:srgbClr val="000000"/>
            </a:solidFill>
            <a:prstDash val="solid"/>
          </a:ln>
        </p:spPr>
      </p:sp>
      <p:sp>
        <p:nvSpPr>
          <p:cNvPr id="11" name="Shape 9"/>
          <p:cNvSpPr/>
          <p:nvPr/>
        </p:nvSpPr>
        <p:spPr>
          <a:xfrm>
            <a:off x="594360" y="2843784"/>
            <a:ext cx="10607040" cy="73152"/>
          </a:xfrm>
          <a:prstGeom prst="rect">
            <a:avLst/>
          </a:prstGeom>
          <a:solidFill>
            <a:srgbClr val="17172A"/>
          </a:solidFill>
          <a:ln w="12700">
            <a:solidFill>
              <a:srgbClr val="000000"/>
            </a:solidFill>
            <a:prstDash val="solid"/>
          </a:ln>
        </p:spPr>
      </p:sp>
      <p:sp>
        <p:nvSpPr>
          <p:cNvPr id="12" name="Shape 10"/>
          <p:cNvSpPr/>
          <p:nvPr/>
        </p:nvSpPr>
        <p:spPr>
          <a:xfrm>
            <a:off x="722376" y="2741371"/>
            <a:ext cx="76810" cy="76810"/>
          </a:xfrm>
          <a:prstGeom prst="ellipse">
            <a:avLst/>
          </a:prstGeom>
          <a:solidFill>
            <a:srgbClr val="FF5F56"/>
          </a:solidFill>
          <a:ln w="12700">
            <a:solidFill>
              <a:srgbClr val="000000"/>
            </a:solidFill>
            <a:prstDash val="solid"/>
          </a:ln>
        </p:spPr>
      </p:sp>
      <p:sp>
        <p:nvSpPr>
          <p:cNvPr id="13" name="Shape 11"/>
          <p:cNvSpPr/>
          <p:nvPr/>
        </p:nvSpPr>
        <p:spPr>
          <a:xfrm>
            <a:off x="886968" y="2741371"/>
            <a:ext cx="76810" cy="76810"/>
          </a:xfrm>
          <a:prstGeom prst="ellipse">
            <a:avLst/>
          </a:prstGeom>
          <a:solidFill>
            <a:srgbClr val="FFBD2E"/>
          </a:solidFill>
          <a:ln w="12700">
            <a:solidFill>
              <a:srgbClr val="000000"/>
            </a:solidFill>
            <a:prstDash val="solid"/>
          </a:ln>
        </p:spPr>
      </p:sp>
      <p:sp>
        <p:nvSpPr>
          <p:cNvPr id="14" name="Shape 12"/>
          <p:cNvSpPr/>
          <p:nvPr/>
        </p:nvSpPr>
        <p:spPr>
          <a:xfrm>
            <a:off x="1051560" y="2741371"/>
            <a:ext cx="76810" cy="76810"/>
          </a:xfrm>
          <a:prstGeom prst="ellipse">
            <a:avLst/>
          </a:prstGeom>
          <a:solidFill>
            <a:srgbClr val="27C93F"/>
          </a:solidFill>
          <a:ln w="12700">
            <a:solidFill>
              <a:srgbClr val="000000"/>
            </a:solidFill>
            <a:prstDash val="solid"/>
          </a:ln>
        </p:spPr>
      </p:sp>
      <p:sp>
        <p:nvSpPr>
          <p:cNvPr id="15" name="Text 13"/>
          <p:cNvSpPr/>
          <p:nvPr/>
        </p:nvSpPr>
        <p:spPr>
          <a:xfrm>
            <a:off x="1371600" y="2642616"/>
            <a:ext cx="9692640" cy="274320"/>
          </a:xfrm>
          <a:prstGeom prst="rect">
            <a:avLst/>
          </a:prstGeom>
          <a:noFill/>
          <a:ln/>
        </p:spPr>
        <p:txBody>
          <a:bodyPr wrap="square" lIns="0" tIns="0" rIns="0" bIns="0" rtlCol="0" anchor="ctr"/>
          <a:lstStyle/>
          <a:p>
            <a:pPr marL="0" indent="0" algn="l">
              <a:buNone/>
            </a:pPr>
            <a:r>
              <a:rPr lang="en-US" sz="1000" dirty="0">
                <a:solidFill>
                  <a:srgbClr val="8A8FA3"/>
                </a:solidFill>
                <a:latin typeface="Courier New" pitchFamily="34" charset="0"/>
                <a:ea typeface="Courier New" pitchFamily="34" charset="-122"/>
                <a:cs typeface="Courier New" pitchFamily="34" charset="-120"/>
              </a:rPr>
              <a:t>Main.java</a:t>
            </a:r>
            <a:endParaRPr lang="en-US" sz="1000" dirty="0"/>
          </a:p>
        </p:txBody>
      </p:sp>
      <p:sp>
        <p:nvSpPr>
          <p:cNvPr id="16" name="Text 14"/>
          <p:cNvSpPr/>
          <p:nvPr/>
        </p:nvSpPr>
        <p:spPr>
          <a:xfrm>
            <a:off x="777240" y="2990088"/>
            <a:ext cx="10241280" cy="2971800"/>
          </a:xfrm>
          <a:prstGeom prst="rect">
            <a:avLst/>
          </a:prstGeom>
          <a:noFill/>
          <a:ln/>
        </p:spPr>
        <p:txBody>
          <a:bodyPr wrap="square" lIns="0" tIns="0" rIns="0" bIns="0" rtlCol="0" anchor="t"/>
          <a:lstStyle/>
          <a:p>
            <a:pPr marL="0" indent="0" algn="l">
              <a:lnSpc>
                <a:spcPct val="118000"/>
              </a:lnSpc>
              <a:buNone/>
            </a:pPr>
            <a:r>
              <a:rPr lang="en-US" sz="1500" b="1" dirty="0">
                <a:solidFill>
                  <a:srgbClr val="569CD6"/>
                </a:solidFill>
                <a:latin typeface="Courier New" pitchFamily="34" charset="0"/>
                <a:ea typeface="Courier New" pitchFamily="34" charset="-122"/>
                <a:cs typeface="Courier New" pitchFamily="34" charset="-120"/>
              </a:rPr>
              <a:t>public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class</a:t>
            </a:r>
            <a:r>
              <a:rPr lang="en-US" sz="1500" dirty="0">
                <a:solidFill>
                  <a:srgbClr val="D4D4D4"/>
                </a:solidFill>
                <a:latin typeface="Courier New" pitchFamily="34" charset="0"/>
                <a:ea typeface="Courier New" pitchFamily="34" charset="-122"/>
                <a:cs typeface="Courier New" pitchFamily="34" charset="-120"/>
              </a:rPr>
              <a:t> FinallyDemo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public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static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void</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DCDCAA"/>
                </a:solidFill>
                <a:latin typeface="Courier New" pitchFamily="34" charset="0"/>
                <a:ea typeface="Courier New" pitchFamily="34" charset="-122"/>
                <a:cs typeface="Courier New" pitchFamily="34" charset="-120"/>
              </a:rPr>
              <a:t>main</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4EC9B0"/>
                </a:solidFill>
                <a:latin typeface="Courier New" pitchFamily="34" charset="0"/>
                <a:ea typeface="Courier New" pitchFamily="34" charset="-122"/>
                <a:cs typeface="Courier New" pitchFamily="34" charset="-120"/>
              </a:rPr>
              <a:t>String</a:t>
            </a:r>
            <a:r>
              <a:rPr lang="en-US" sz="1500" dirty="0">
                <a:solidFill>
                  <a:srgbClr val="D4D4D4"/>
                </a:solidFill>
                <a:latin typeface="Courier New" pitchFamily="34" charset="0"/>
                <a:ea typeface="Courier New" pitchFamily="34" charset="-122"/>
                <a:cs typeface="Courier New" pitchFamily="34" charset="-120"/>
              </a:rPr>
              <a:t>[] args)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try</a:t>
            </a: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int</a:t>
            </a:r>
            <a:r>
              <a:rPr lang="en-US" sz="1500" dirty="0">
                <a:solidFill>
                  <a:srgbClr val="D4D4D4"/>
                </a:solidFill>
                <a:latin typeface="Courier New" pitchFamily="34" charset="0"/>
                <a:ea typeface="Courier New" pitchFamily="34" charset="-122"/>
                <a:cs typeface="Courier New" pitchFamily="34" charset="-120"/>
              </a:rPr>
              <a:t> result = </a:t>
            </a:r>
            <a:r>
              <a:rPr lang="en-US" sz="1500" dirty="0">
                <a:solidFill>
                  <a:srgbClr val="B5CEA8"/>
                </a:solidFill>
                <a:latin typeface="Courier New" pitchFamily="34" charset="0"/>
                <a:ea typeface="Courier New" pitchFamily="34" charset="-122"/>
                <a:cs typeface="Courier New" pitchFamily="34" charset="-120"/>
              </a:rPr>
              <a:t>10</a:t>
            </a:r>
            <a:r>
              <a:rPr lang="en-US" sz="1500" dirty="0">
                <a:solidFill>
                  <a:srgbClr val="D4D4D4"/>
                </a:solidFill>
                <a:latin typeface="Courier New" pitchFamily="34" charset="0"/>
                <a:ea typeface="Courier New" pitchFamily="34" charset="-122"/>
                <a:cs typeface="Courier New" pitchFamily="34" charset="-120"/>
              </a:rPr>
              <a:t> / </a:t>
            </a:r>
            <a:r>
              <a:rPr lang="en-US" sz="1500" dirty="0">
                <a:solidFill>
                  <a:srgbClr val="B5CEA8"/>
                </a:solidFill>
                <a:latin typeface="Courier New" pitchFamily="34" charset="0"/>
                <a:ea typeface="Courier New" pitchFamily="34" charset="-122"/>
                <a:cs typeface="Courier New" pitchFamily="34" charset="-120"/>
              </a:rPr>
              <a:t>0</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 </a:t>
            </a:r>
            <a:r>
              <a:rPr lang="en-US" sz="1500" b="1" dirty="0">
                <a:solidFill>
                  <a:srgbClr val="569CD6"/>
                </a:solidFill>
                <a:latin typeface="Courier New" pitchFamily="34" charset="0"/>
                <a:ea typeface="Courier New" pitchFamily="34" charset="-122"/>
                <a:cs typeface="Courier New" pitchFamily="34" charset="-120"/>
              </a:rPr>
              <a:t>catch</a:t>
            </a:r>
            <a:r>
              <a:rPr lang="en-US" sz="1500" dirty="0">
                <a:solidFill>
                  <a:srgbClr val="D4D4D4"/>
                </a:solidFill>
                <a:latin typeface="Courier New" pitchFamily="34" charset="0"/>
                <a:ea typeface="Courier New" pitchFamily="34" charset="-122"/>
                <a:cs typeface="Courier New" pitchFamily="34" charset="-120"/>
              </a:rPr>
              <a:t> (ArithmeticException e)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4EC9B0"/>
                </a:solidFill>
                <a:latin typeface="Courier New" pitchFamily="34" charset="0"/>
                <a:ea typeface="Courier New" pitchFamily="34" charset="-122"/>
                <a:cs typeface="Courier New" pitchFamily="34" charset="-120"/>
              </a:rPr>
              <a:t>System</a:t>
            </a:r>
            <a:r>
              <a:rPr lang="en-US" sz="1500" dirty="0">
                <a:solidFill>
                  <a:srgbClr val="D4D4D4"/>
                </a:solidFill>
                <a:latin typeface="Courier New" pitchFamily="34" charset="0"/>
                <a:ea typeface="Courier New" pitchFamily="34" charset="-122"/>
                <a:cs typeface="Courier New" pitchFamily="34" charset="-120"/>
              </a:rPr>
              <a:t>.out.</a:t>
            </a:r>
            <a:r>
              <a:rPr lang="en-US" sz="1500" dirty="0">
                <a:solidFill>
                  <a:srgbClr val="DCDCAA"/>
                </a:solidFill>
                <a:latin typeface="Courier New" pitchFamily="34" charset="0"/>
                <a:ea typeface="Courier New" pitchFamily="34" charset="-122"/>
                <a:cs typeface="Courier New" pitchFamily="34" charset="-120"/>
              </a:rPr>
              <a:t>println</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CE9178"/>
                </a:solidFill>
                <a:latin typeface="Courier New" pitchFamily="34" charset="0"/>
                <a:ea typeface="Courier New" pitchFamily="34" charset="-122"/>
                <a:cs typeface="Courier New" pitchFamily="34" charset="-120"/>
              </a:rPr>
              <a:t>"Caught an error."</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 </a:t>
            </a:r>
            <a:r>
              <a:rPr lang="en-US" sz="1500" b="1" dirty="0">
                <a:solidFill>
                  <a:srgbClr val="569CD6"/>
                </a:solidFill>
                <a:latin typeface="Courier New" pitchFamily="34" charset="0"/>
                <a:ea typeface="Courier New" pitchFamily="34" charset="-122"/>
                <a:cs typeface="Courier New" pitchFamily="34" charset="-120"/>
              </a:rPr>
              <a:t>finally</a:t>
            </a: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4EC9B0"/>
                </a:solidFill>
                <a:latin typeface="Courier New" pitchFamily="34" charset="0"/>
                <a:ea typeface="Courier New" pitchFamily="34" charset="-122"/>
                <a:cs typeface="Courier New" pitchFamily="34" charset="-120"/>
              </a:rPr>
              <a:t>System</a:t>
            </a:r>
            <a:r>
              <a:rPr lang="en-US" sz="1500" dirty="0">
                <a:solidFill>
                  <a:srgbClr val="D4D4D4"/>
                </a:solidFill>
                <a:latin typeface="Courier New" pitchFamily="34" charset="0"/>
                <a:ea typeface="Courier New" pitchFamily="34" charset="-122"/>
                <a:cs typeface="Courier New" pitchFamily="34" charset="-120"/>
              </a:rPr>
              <a:t>.out.</a:t>
            </a:r>
            <a:r>
              <a:rPr lang="en-US" sz="1500" dirty="0">
                <a:solidFill>
                  <a:srgbClr val="DCDCAA"/>
                </a:solidFill>
                <a:latin typeface="Courier New" pitchFamily="34" charset="0"/>
                <a:ea typeface="Courier New" pitchFamily="34" charset="-122"/>
                <a:cs typeface="Courier New" pitchFamily="34" charset="-120"/>
              </a:rPr>
              <a:t>println</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CE9178"/>
                </a:solidFill>
                <a:latin typeface="Courier New" pitchFamily="34" charset="0"/>
                <a:ea typeface="Courier New" pitchFamily="34" charset="-122"/>
                <a:cs typeface="Courier New" pitchFamily="34" charset="-120"/>
              </a:rPr>
              <a:t>"This always runs."</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a:t>
            </a:r>
            <a:endParaRPr lang="en-US" sz="1500" dirty="0"/>
          </a:p>
        </p:txBody>
      </p:sp>
      <p:sp>
        <p:nvSpPr>
          <p:cNvPr id="17" name="Shape 15"/>
          <p:cNvSpPr/>
          <p:nvPr/>
        </p:nvSpPr>
        <p:spPr>
          <a:xfrm>
            <a:off x="0" y="0"/>
            <a:ext cx="12191695" cy="384048"/>
          </a:xfrm>
          <a:prstGeom prst="rect">
            <a:avLst/>
          </a:prstGeom>
          <a:solidFill>
            <a:srgbClr val="1B2A4A"/>
          </a:solidFill>
          <a:ln w="12700">
            <a:solidFill>
              <a:srgbClr val="1B2A4A"/>
            </a:solidFill>
            <a:prstDash val="solid"/>
          </a:ln>
        </p:spPr>
      </p:sp>
      <p:sp>
        <p:nvSpPr>
          <p:cNvPr id="18" name="Text 16"/>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9" name="Shape 17"/>
          <p:cNvSpPr/>
          <p:nvPr/>
        </p:nvSpPr>
        <p:spPr>
          <a:xfrm>
            <a:off x="219456" y="301752"/>
            <a:ext cx="960120" cy="0"/>
          </a:xfrm>
          <a:prstGeom prst="line">
            <a:avLst/>
          </a:prstGeom>
          <a:noFill/>
          <a:ln w="9525">
            <a:solidFill>
              <a:srgbClr val="4A5570"/>
            </a:solidFill>
            <a:prstDash val="solid"/>
          </a:ln>
        </p:spPr>
      </p:sp>
      <p:sp>
        <p:nvSpPr>
          <p:cNvPr id="20" name="Text 18"/>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1" name="Text 19"/>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2" name="Text 20"/>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3" name="Shape 21"/>
          <p:cNvSpPr/>
          <p:nvPr/>
        </p:nvSpPr>
        <p:spPr>
          <a:xfrm>
            <a:off x="0" y="6291072"/>
            <a:ext cx="12191695" cy="566928"/>
          </a:xfrm>
          <a:prstGeom prst="rect">
            <a:avLst/>
          </a:prstGeom>
          <a:solidFill>
            <a:srgbClr val="1B2A4A"/>
          </a:solidFill>
          <a:ln w="12700">
            <a:solidFill>
              <a:srgbClr val="1B2A4A"/>
            </a:solidFill>
            <a:prstDash val="solid"/>
          </a:ln>
        </p:spPr>
      </p:sp>
      <p:sp>
        <p:nvSpPr>
          <p:cNvPr id="24" name="Text 22"/>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5" name="Text 23"/>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TWO CATEGORIES</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Checked vs. Unchecked Exceptions</a:t>
            </a:r>
            <a:endParaRPr lang="en-US" sz="2700" dirty="0"/>
          </a:p>
        </p:txBody>
      </p:sp>
      <p:graphicFrame>
        <p:nvGraphicFramePr>
          <p:cNvPr id="110" name="Table 0"/>
          <p:cNvGraphicFramePr>
            <a:graphicFrameLocks noGrp="1"/>
          </p:cNvGraphicFramePr>
          <p:nvPr>
            <p:extLst>
              <p:ext uri="{D42A27DB-BD31-4B8C-83A1-F6EECF244321}">
                <p14:modId xmlns:p14="http://schemas.microsoft.com/office/powerpoint/2010/main" val="1579011935"/>
              </p:ext>
            </p:extLst>
          </p:nvPr>
        </p:nvGraphicFramePr>
        <p:xfrm>
          <a:off x="594360" y="1691640"/>
          <a:ext cx="10607040" cy="4343400"/>
        </p:xfrm>
        <a:graphic>
          <a:graphicData uri="http://schemas.openxmlformats.org/drawingml/2006/table">
            <a:tbl>
              <a:tblPr/>
              <a:tblGrid>
                <a:gridCol w="3535680">
                  <a:extLst>
                    <a:ext uri="{9D8B030D-6E8A-4147-A177-3AD203B41FA5}">
                      <a16:colId xmlns:a16="http://schemas.microsoft.com/office/drawing/2014/main" val="20000"/>
                    </a:ext>
                  </a:extLst>
                </a:gridCol>
                <a:gridCol w="3535680">
                  <a:extLst>
                    <a:ext uri="{9D8B030D-6E8A-4147-A177-3AD203B41FA5}">
                      <a16:colId xmlns:a16="http://schemas.microsoft.com/office/drawing/2014/main" val="20001"/>
                    </a:ext>
                  </a:extLst>
                </a:gridCol>
                <a:gridCol w="3535680">
                  <a:extLst>
                    <a:ext uri="{9D8B030D-6E8A-4147-A177-3AD203B41FA5}">
                      <a16:colId xmlns:a16="http://schemas.microsoft.com/office/drawing/2014/main" val="20002"/>
                    </a:ext>
                  </a:extLst>
                </a:gridCol>
              </a:tblGrid>
              <a:tr h="1085850">
                <a:tc>
                  <a:txBody>
                    <a:bodyPr/>
                    <a:lstStyle/>
                    <a:p>
                      <a:pPr marL="0" indent="0" algn="l">
                        <a:buNone/>
                      </a:pPr>
                      <a:r>
                        <a:rPr lang="en-US" sz="1300" b="1" dirty="0">
                          <a:solidFill>
                            <a:srgbClr val="FFFFFF"/>
                          </a:solidFill>
                          <a:latin typeface="Times New Roman" pitchFamily="34" charset="0"/>
                          <a:ea typeface="Times New Roman" pitchFamily="34" charset="-122"/>
                          <a:cs typeface="Times New Roman" pitchFamily="34" charset="-120"/>
                        </a:rPr>
                        <a:t>Aspect</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1B2A4A"/>
                    </a:solidFill>
                  </a:tcPr>
                </a:tc>
                <a:tc>
                  <a:txBody>
                    <a:bodyPr/>
                    <a:lstStyle/>
                    <a:p>
                      <a:pPr marL="0" indent="0" algn="l">
                        <a:buNone/>
                      </a:pPr>
                      <a:r>
                        <a:rPr lang="en-US" sz="1300" b="1" dirty="0">
                          <a:solidFill>
                            <a:srgbClr val="FFFFFF"/>
                          </a:solidFill>
                          <a:latin typeface="Times New Roman" pitchFamily="34" charset="0"/>
                          <a:ea typeface="Times New Roman" pitchFamily="34" charset="-122"/>
                          <a:cs typeface="Times New Roman" pitchFamily="34" charset="-120"/>
                        </a:rPr>
                        <a:t>Checked</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1B2A4A"/>
                    </a:solidFill>
                  </a:tcPr>
                </a:tc>
                <a:tc>
                  <a:txBody>
                    <a:bodyPr/>
                    <a:lstStyle/>
                    <a:p>
                      <a:pPr marL="0" indent="0" algn="l">
                        <a:buNone/>
                      </a:pPr>
                      <a:r>
                        <a:rPr lang="en-US" sz="1300" b="1" dirty="0">
                          <a:solidFill>
                            <a:srgbClr val="FFFFFF"/>
                          </a:solidFill>
                          <a:latin typeface="Times New Roman" pitchFamily="34" charset="0"/>
                          <a:ea typeface="Times New Roman" pitchFamily="34" charset="-122"/>
                          <a:cs typeface="Times New Roman" pitchFamily="34" charset="-120"/>
                        </a:rPr>
                        <a:t>Unchecked</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1085850">
                <a:tc>
                  <a:txBody>
                    <a:bodyPr/>
                    <a:lstStyle/>
                    <a:p>
                      <a:pPr marL="0" indent="0" algn="l">
                        <a:buNone/>
                      </a:pPr>
                      <a:r>
                        <a:rPr lang="en-US" sz="1300" b="1" dirty="0">
                          <a:solidFill>
                            <a:srgbClr val="1A202C"/>
                          </a:solidFill>
                          <a:latin typeface="Times New Roman" pitchFamily="34" charset="0"/>
                          <a:ea typeface="Times New Roman" pitchFamily="34" charset="-122"/>
                          <a:cs typeface="Times New Roman" pitchFamily="34" charset="-120"/>
                        </a:rPr>
                        <a:t>Checked at</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FFFFF"/>
                    </a:solidFill>
                  </a:tcPr>
                </a:tc>
                <a:tc>
                  <a:txBody>
                    <a:bodyPr/>
                    <a:lstStyle/>
                    <a:p>
                      <a:pPr marL="0" indent="0" algn="l">
                        <a:buNone/>
                      </a:pPr>
                      <a:r>
                        <a:rPr lang="en-US" sz="1300" dirty="0">
                          <a:solidFill>
                            <a:srgbClr val="3D4759"/>
                          </a:solidFill>
                          <a:latin typeface="Times New Roman" pitchFamily="34" charset="0"/>
                          <a:ea typeface="Times New Roman" pitchFamily="34" charset="-122"/>
                          <a:cs typeface="Times New Roman" pitchFamily="34" charset="-120"/>
                        </a:rPr>
                        <a:t>Compile time</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FFFFF"/>
                    </a:solidFill>
                  </a:tcPr>
                </a:tc>
                <a:tc>
                  <a:txBody>
                    <a:bodyPr/>
                    <a:lstStyle/>
                    <a:p>
                      <a:pPr marL="0" indent="0" algn="l">
                        <a:buNone/>
                      </a:pPr>
                      <a:r>
                        <a:rPr lang="en-US" sz="1300" dirty="0">
                          <a:solidFill>
                            <a:srgbClr val="3D4759"/>
                          </a:solidFill>
                          <a:latin typeface="Times New Roman" pitchFamily="34" charset="0"/>
                          <a:ea typeface="Times New Roman" pitchFamily="34" charset="-122"/>
                          <a:cs typeface="Times New Roman" pitchFamily="34" charset="-120"/>
                        </a:rPr>
                        <a:t>Run time only</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085850">
                <a:tc>
                  <a:txBody>
                    <a:bodyPr/>
                    <a:lstStyle/>
                    <a:p>
                      <a:pPr marL="0" indent="0" algn="l">
                        <a:buNone/>
                      </a:pPr>
                      <a:r>
                        <a:rPr lang="en-US" sz="1300" b="1" dirty="0">
                          <a:solidFill>
                            <a:srgbClr val="1A202C"/>
                          </a:solidFill>
                          <a:latin typeface="Times New Roman" pitchFamily="34" charset="0"/>
                          <a:ea typeface="Times New Roman" pitchFamily="34" charset="-122"/>
                          <a:cs typeface="Times New Roman" pitchFamily="34" charset="-120"/>
                        </a:rPr>
                        <a:t>Must be declared or caught</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5F6FA"/>
                    </a:solidFill>
                  </a:tcPr>
                </a:tc>
                <a:tc>
                  <a:txBody>
                    <a:bodyPr/>
                    <a:lstStyle/>
                    <a:p>
                      <a:pPr marL="0" indent="0" algn="l">
                        <a:buNone/>
                      </a:pPr>
                      <a:r>
                        <a:rPr lang="en-US" sz="1300" dirty="0">
                          <a:solidFill>
                            <a:srgbClr val="3D4759"/>
                          </a:solidFill>
                          <a:latin typeface="Times New Roman" pitchFamily="34" charset="0"/>
                          <a:ea typeface="Times New Roman" pitchFamily="34" charset="-122"/>
                          <a:cs typeface="Times New Roman" pitchFamily="34" charset="-120"/>
                        </a:rPr>
                        <a:t>Yes</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5F6FA"/>
                    </a:solidFill>
                  </a:tcPr>
                </a:tc>
                <a:tc>
                  <a:txBody>
                    <a:bodyPr/>
                    <a:lstStyle/>
                    <a:p>
                      <a:pPr marL="0" indent="0" algn="l">
                        <a:buNone/>
                      </a:pPr>
                      <a:r>
                        <a:rPr lang="en-US" sz="1300" dirty="0">
                          <a:solidFill>
                            <a:srgbClr val="3D4759"/>
                          </a:solidFill>
                          <a:latin typeface="Times New Roman" pitchFamily="34" charset="0"/>
                          <a:ea typeface="Times New Roman" pitchFamily="34" charset="-122"/>
                          <a:cs typeface="Times New Roman" pitchFamily="34" charset="-120"/>
                        </a:rPr>
                        <a:t>No</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5F6FA"/>
                    </a:solidFill>
                  </a:tcPr>
                </a:tc>
                <a:extLst>
                  <a:ext uri="{0D108BD9-81ED-4DB2-BD59-A6C34878D82A}">
                    <a16:rowId xmlns:a16="http://schemas.microsoft.com/office/drawing/2014/main" val="10002"/>
                  </a:ext>
                </a:extLst>
              </a:tr>
              <a:tr h="1085850">
                <a:tc>
                  <a:txBody>
                    <a:bodyPr/>
                    <a:lstStyle/>
                    <a:p>
                      <a:pPr marL="0" indent="0" algn="l">
                        <a:buNone/>
                      </a:pPr>
                      <a:r>
                        <a:rPr lang="en-US" sz="1300" b="1" dirty="0">
                          <a:solidFill>
                            <a:srgbClr val="1A202C"/>
                          </a:solidFill>
                          <a:latin typeface="Times New Roman" pitchFamily="34" charset="0"/>
                          <a:ea typeface="Times New Roman" pitchFamily="34" charset="-122"/>
                          <a:cs typeface="Times New Roman" pitchFamily="34" charset="-120"/>
                        </a:rPr>
                        <a:t>Example</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FFFFF"/>
                    </a:solidFill>
                  </a:tcPr>
                </a:tc>
                <a:tc>
                  <a:txBody>
                    <a:bodyPr/>
                    <a:lstStyle/>
                    <a:p>
                      <a:pPr marL="0" indent="0" algn="l">
                        <a:buNone/>
                      </a:pPr>
                      <a:r>
                        <a:rPr lang="en-US" sz="1300" dirty="0">
                          <a:solidFill>
                            <a:srgbClr val="3D4759"/>
                          </a:solidFill>
                          <a:latin typeface="Times New Roman" pitchFamily="34" charset="0"/>
                          <a:ea typeface="Times New Roman" pitchFamily="34" charset="-122"/>
                          <a:cs typeface="Times New Roman" pitchFamily="34" charset="-120"/>
                        </a:rPr>
                        <a:t>IOException</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FFFFF"/>
                    </a:solidFill>
                  </a:tcPr>
                </a:tc>
                <a:tc>
                  <a:txBody>
                    <a:bodyPr/>
                    <a:lstStyle/>
                    <a:p>
                      <a:pPr marL="0" indent="0" algn="l">
                        <a:buNone/>
                      </a:pPr>
                      <a:r>
                        <a:rPr lang="en-US" sz="1300" dirty="0">
                          <a:solidFill>
                            <a:srgbClr val="3D4759"/>
                          </a:solidFill>
                          <a:latin typeface="Times New Roman" pitchFamily="34" charset="0"/>
                          <a:ea typeface="Times New Roman" pitchFamily="34" charset="-122"/>
                          <a:cs typeface="Times New Roman" pitchFamily="34" charset="-120"/>
                        </a:rPr>
                        <a:t>NullPointerException</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5" name="Shape 2"/>
          <p:cNvSpPr/>
          <p:nvPr/>
        </p:nvSpPr>
        <p:spPr>
          <a:xfrm>
            <a:off x="0" y="0"/>
            <a:ext cx="12191695" cy="384048"/>
          </a:xfrm>
          <a:prstGeom prst="rect">
            <a:avLst/>
          </a:prstGeom>
          <a:solidFill>
            <a:srgbClr val="1B2A4A"/>
          </a:solidFill>
          <a:ln w="12700">
            <a:solidFill>
              <a:srgbClr val="1B2A4A"/>
            </a:solidFill>
            <a:prstDash val="solid"/>
          </a:ln>
        </p:spPr>
      </p:sp>
      <p:sp>
        <p:nvSpPr>
          <p:cNvPr id="6" name="Text 3"/>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7" name="Shape 4"/>
          <p:cNvSpPr/>
          <p:nvPr/>
        </p:nvSpPr>
        <p:spPr>
          <a:xfrm>
            <a:off x="219456" y="301752"/>
            <a:ext cx="960120" cy="0"/>
          </a:xfrm>
          <a:prstGeom prst="line">
            <a:avLst/>
          </a:prstGeom>
          <a:noFill/>
          <a:ln w="9525">
            <a:solidFill>
              <a:srgbClr val="4A5570"/>
            </a:solidFill>
            <a:prstDash val="solid"/>
          </a:ln>
        </p:spPr>
      </p:sp>
      <p:sp>
        <p:nvSpPr>
          <p:cNvPr id="8" name="Text 5"/>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9" name="Text 6"/>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10" name="Text 7"/>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11" name="Shape 8"/>
          <p:cNvSpPr/>
          <p:nvPr/>
        </p:nvSpPr>
        <p:spPr>
          <a:xfrm>
            <a:off x="0" y="6291072"/>
            <a:ext cx="12191695" cy="566928"/>
          </a:xfrm>
          <a:prstGeom prst="rect">
            <a:avLst/>
          </a:prstGeom>
          <a:solidFill>
            <a:srgbClr val="1B2A4A"/>
          </a:solidFill>
          <a:ln w="12700">
            <a:solidFill>
              <a:srgbClr val="1B2A4A"/>
            </a:solidFill>
            <a:prstDash val="solid"/>
          </a:ln>
        </p:spPr>
      </p:sp>
      <p:sp>
        <p:nvSpPr>
          <p:cNvPr id="12" name="Text 9"/>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13" name="Text 10"/>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RAISING ERRORS</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throw and throws</a:t>
            </a:r>
            <a:endParaRPr lang="en-US" sz="2700" dirty="0"/>
          </a:p>
        </p:txBody>
      </p:sp>
      <p:sp>
        <p:nvSpPr>
          <p:cNvPr id="4" name="Shape 2"/>
          <p:cNvSpPr/>
          <p:nvPr/>
        </p:nvSpPr>
        <p:spPr>
          <a:xfrm>
            <a:off x="594360" y="1600200"/>
            <a:ext cx="10607040" cy="896112"/>
          </a:xfrm>
          <a:prstGeom prst="roundRect">
            <a:avLst>
              <a:gd name="adj" fmla="val 6122"/>
            </a:avLst>
          </a:prstGeom>
          <a:solidFill>
            <a:srgbClr val="F5F6FA"/>
          </a:solidFill>
          <a:ln w="9525">
            <a:solidFill>
              <a:srgbClr val="E4E7EE"/>
            </a:solidFill>
            <a:prstDash val="solid"/>
          </a:ln>
        </p:spPr>
      </p:sp>
      <p:sp>
        <p:nvSpPr>
          <p:cNvPr id="5" name="Shape 3"/>
          <p:cNvSpPr/>
          <p:nvPr/>
        </p:nvSpPr>
        <p:spPr>
          <a:xfrm>
            <a:off x="804672" y="1755648"/>
            <a:ext cx="100584" cy="100584"/>
          </a:xfrm>
          <a:prstGeom prst="ellipse">
            <a:avLst/>
          </a:prstGeom>
          <a:solidFill>
            <a:srgbClr val="E8590C"/>
          </a:solidFill>
          <a:ln w="12700">
            <a:solidFill>
              <a:srgbClr val="000000"/>
            </a:solidFill>
            <a:prstDash val="solid"/>
          </a:ln>
        </p:spPr>
      </p:sp>
      <p:sp>
        <p:nvSpPr>
          <p:cNvPr id="6" name="Text 4"/>
          <p:cNvSpPr/>
          <p:nvPr/>
        </p:nvSpPr>
        <p:spPr>
          <a:xfrm>
            <a:off x="1051560" y="1655064"/>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throw creates and signals an exception object at the exact point something is wrong.</a:t>
            </a:r>
            <a:endParaRPr lang="en-US" sz="1250" dirty="0"/>
          </a:p>
        </p:txBody>
      </p:sp>
      <p:sp>
        <p:nvSpPr>
          <p:cNvPr id="7" name="Shape 5"/>
          <p:cNvSpPr/>
          <p:nvPr/>
        </p:nvSpPr>
        <p:spPr>
          <a:xfrm>
            <a:off x="804672" y="2103120"/>
            <a:ext cx="100584" cy="100584"/>
          </a:xfrm>
          <a:prstGeom prst="ellipse">
            <a:avLst/>
          </a:prstGeom>
          <a:solidFill>
            <a:srgbClr val="E8590C"/>
          </a:solidFill>
          <a:ln w="12700">
            <a:solidFill>
              <a:srgbClr val="000000"/>
            </a:solidFill>
            <a:prstDash val="solid"/>
          </a:ln>
        </p:spPr>
      </p:sp>
      <p:sp>
        <p:nvSpPr>
          <p:cNvPr id="8" name="Text 6"/>
          <p:cNvSpPr/>
          <p:nvPr/>
        </p:nvSpPr>
        <p:spPr>
          <a:xfrm>
            <a:off x="1051560" y="2002536"/>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throws in a method signature warns callers that a checked exception might occur.</a:t>
            </a:r>
            <a:endParaRPr lang="en-US" sz="1250" dirty="0"/>
          </a:p>
        </p:txBody>
      </p:sp>
      <p:sp>
        <p:nvSpPr>
          <p:cNvPr id="9" name="Shape 7"/>
          <p:cNvSpPr/>
          <p:nvPr/>
        </p:nvSpPr>
        <p:spPr>
          <a:xfrm>
            <a:off x="594360" y="2642616"/>
            <a:ext cx="10607040" cy="3392424"/>
          </a:xfrm>
          <a:prstGeom prst="roundRect">
            <a:avLst>
              <a:gd name="adj" fmla="val 2156"/>
            </a:avLst>
          </a:prstGeom>
          <a:solidFill>
            <a:srgbClr val="1E1E2E"/>
          </a:solidFill>
          <a:ln w="12700">
            <a:solidFill>
              <a:srgbClr val="000000"/>
            </a:solidFill>
            <a:prstDash val="solid"/>
          </a:ln>
        </p:spPr>
      </p:sp>
      <p:sp>
        <p:nvSpPr>
          <p:cNvPr id="10" name="Shape 8"/>
          <p:cNvSpPr/>
          <p:nvPr/>
        </p:nvSpPr>
        <p:spPr>
          <a:xfrm>
            <a:off x="594360" y="2642616"/>
            <a:ext cx="10607040" cy="274320"/>
          </a:xfrm>
          <a:prstGeom prst="roundRect">
            <a:avLst>
              <a:gd name="adj" fmla="val 26667"/>
            </a:avLst>
          </a:prstGeom>
          <a:solidFill>
            <a:srgbClr val="17172A"/>
          </a:solidFill>
          <a:ln w="12700">
            <a:solidFill>
              <a:srgbClr val="000000"/>
            </a:solidFill>
            <a:prstDash val="solid"/>
          </a:ln>
        </p:spPr>
      </p:sp>
      <p:sp>
        <p:nvSpPr>
          <p:cNvPr id="11" name="Shape 9"/>
          <p:cNvSpPr/>
          <p:nvPr/>
        </p:nvSpPr>
        <p:spPr>
          <a:xfrm>
            <a:off x="594360" y="2843784"/>
            <a:ext cx="10607040" cy="73152"/>
          </a:xfrm>
          <a:prstGeom prst="rect">
            <a:avLst/>
          </a:prstGeom>
          <a:solidFill>
            <a:srgbClr val="17172A"/>
          </a:solidFill>
          <a:ln w="12700">
            <a:solidFill>
              <a:srgbClr val="000000"/>
            </a:solidFill>
            <a:prstDash val="solid"/>
          </a:ln>
        </p:spPr>
      </p:sp>
      <p:sp>
        <p:nvSpPr>
          <p:cNvPr id="12" name="Shape 10"/>
          <p:cNvSpPr/>
          <p:nvPr/>
        </p:nvSpPr>
        <p:spPr>
          <a:xfrm>
            <a:off x="722376" y="2741371"/>
            <a:ext cx="76810" cy="76810"/>
          </a:xfrm>
          <a:prstGeom prst="ellipse">
            <a:avLst/>
          </a:prstGeom>
          <a:solidFill>
            <a:srgbClr val="FF5F56"/>
          </a:solidFill>
          <a:ln w="12700">
            <a:solidFill>
              <a:srgbClr val="000000"/>
            </a:solidFill>
            <a:prstDash val="solid"/>
          </a:ln>
        </p:spPr>
      </p:sp>
      <p:sp>
        <p:nvSpPr>
          <p:cNvPr id="13" name="Shape 11"/>
          <p:cNvSpPr/>
          <p:nvPr/>
        </p:nvSpPr>
        <p:spPr>
          <a:xfrm>
            <a:off x="886968" y="2741371"/>
            <a:ext cx="76810" cy="76810"/>
          </a:xfrm>
          <a:prstGeom prst="ellipse">
            <a:avLst/>
          </a:prstGeom>
          <a:solidFill>
            <a:srgbClr val="FFBD2E"/>
          </a:solidFill>
          <a:ln w="12700">
            <a:solidFill>
              <a:srgbClr val="000000"/>
            </a:solidFill>
            <a:prstDash val="solid"/>
          </a:ln>
        </p:spPr>
      </p:sp>
      <p:sp>
        <p:nvSpPr>
          <p:cNvPr id="14" name="Shape 12"/>
          <p:cNvSpPr/>
          <p:nvPr/>
        </p:nvSpPr>
        <p:spPr>
          <a:xfrm>
            <a:off x="1051560" y="2741371"/>
            <a:ext cx="76810" cy="76810"/>
          </a:xfrm>
          <a:prstGeom prst="ellipse">
            <a:avLst/>
          </a:prstGeom>
          <a:solidFill>
            <a:srgbClr val="27C93F"/>
          </a:solidFill>
          <a:ln w="12700">
            <a:solidFill>
              <a:srgbClr val="000000"/>
            </a:solidFill>
            <a:prstDash val="solid"/>
          </a:ln>
        </p:spPr>
      </p:sp>
      <p:sp>
        <p:nvSpPr>
          <p:cNvPr id="15" name="Text 13"/>
          <p:cNvSpPr/>
          <p:nvPr/>
        </p:nvSpPr>
        <p:spPr>
          <a:xfrm>
            <a:off x="1371600" y="2642616"/>
            <a:ext cx="9692640" cy="274320"/>
          </a:xfrm>
          <a:prstGeom prst="rect">
            <a:avLst/>
          </a:prstGeom>
          <a:noFill/>
          <a:ln/>
        </p:spPr>
        <p:txBody>
          <a:bodyPr wrap="square" lIns="0" tIns="0" rIns="0" bIns="0" rtlCol="0" anchor="ctr"/>
          <a:lstStyle/>
          <a:p>
            <a:pPr marL="0" indent="0" algn="l">
              <a:buNone/>
            </a:pPr>
            <a:r>
              <a:rPr lang="en-US" sz="1000" dirty="0">
                <a:solidFill>
                  <a:srgbClr val="8A8FA3"/>
                </a:solidFill>
                <a:latin typeface="Courier New" pitchFamily="34" charset="0"/>
                <a:ea typeface="Courier New" pitchFamily="34" charset="-122"/>
                <a:cs typeface="Courier New" pitchFamily="34" charset="-120"/>
              </a:rPr>
              <a:t>Main.java</a:t>
            </a:r>
            <a:endParaRPr lang="en-US" sz="1000" dirty="0"/>
          </a:p>
        </p:txBody>
      </p:sp>
      <p:sp>
        <p:nvSpPr>
          <p:cNvPr id="16" name="Text 14"/>
          <p:cNvSpPr/>
          <p:nvPr/>
        </p:nvSpPr>
        <p:spPr>
          <a:xfrm>
            <a:off x="777240" y="2990088"/>
            <a:ext cx="10241280" cy="2971800"/>
          </a:xfrm>
          <a:prstGeom prst="rect">
            <a:avLst/>
          </a:prstGeom>
          <a:noFill/>
          <a:ln/>
        </p:spPr>
        <p:txBody>
          <a:bodyPr wrap="square" lIns="0" tIns="0" rIns="0" bIns="0" rtlCol="0" anchor="t"/>
          <a:lstStyle/>
          <a:p>
            <a:pPr marL="0" indent="0" algn="l">
              <a:lnSpc>
                <a:spcPct val="118000"/>
              </a:lnSpc>
              <a:buNone/>
            </a:pPr>
            <a:r>
              <a:rPr lang="en-US" sz="1500" b="1" dirty="0">
                <a:solidFill>
                  <a:srgbClr val="569CD6"/>
                </a:solidFill>
                <a:latin typeface="Courier New" pitchFamily="34" charset="0"/>
                <a:ea typeface="Courier New" pitchFamily="34" charset="-122"/>
                <a:cs typeface="Courier New" pitchFamily="34" charset="-120"/>
              </a:rPr>
              <a:t>public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class</a:t>
            </a:r>
            <a:r>
              <a:rPr lang="en-US" sz="1500" dirty="0">
                <a:solidFill>
                  <a:srgbClr val="D4D4D4"/>
                </a:solidFill>
                <a:latin typeface="Courier New" pitchFamily="34" charset="0"/>
                <a:ea typeface="Courier New" pitchFamily="34" charset="-122"/>
                <a:cs typeface="Courier New" pitchFamily="34" charset="-120"/>
              </a:rPr>
              <a:t> ThrowDemo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static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void</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DCDCAA"/>
                </a:solidFill>
                <a:latin typeface="Courier New" pitchFamily="34" charset="0"/>
                <a:ea typeface="Courier New" pitchFamily="34" charset="-122"/>
                <a:cs typeface="Courier New" pitchFamily="34" charset="-120"/>
              </a:rPr>
              <a:t>checkAge</a:t>
            </a:r>
            <a:r>
              <a:rPr lang="en-US" sz="1500" dirty="0">
                <a:solidFill>
                  <a:srgbClr val="D4D4D4"/>
                </a:solidFill>
                <a:latin typeface="Courier New" pitchFamily="34" charset="0"/>
                <a:ea typeface="Courier New" pitchFamily="34" charset="-122"/>
                <a:cs typeface="Courier New" pitchFamily="34" charset="-120"/>
              </a:rPr>
              <a:t>(</a:t>
            </a:r>
            <a:r>
              <a:rPr lang="en-US" sz="1500" b="1" dirty="0">
                <a:solidFill>
                  <a:srgbClr val="569CD6"/>
                </a:solidFill>
                <a:latin typeface="Courier New" pitchFamily="34" charset="0"/>
                <a:ea typeface="Courier New" pitchFamily="34" charset="-122"/>
                <a:cs typeface="Courier New" pitchFamily="34" charset="-120"/>
              </a:rPr>
              <a:t>int</a:t>
            </a:r>
            <a:r>
              <a:rPr lang="en-US" sz="1500" dirty="0">
                <a:solidFill>
                  <a:srgbClr val="D4D4D4"/>
                </a:solidFill>
                <a:latin typeface="Courier New" pitchFamily="34" charset="0"/>
                <a:ea typeface="Courier New" pitchFamily="34" charset="-122"/>
                <a:cs typeface="Courier New" pitchFamily="34" charset="-120"/>
              </a:rPr>
              <a:t> age)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if</a:t>
            </a:r>
            <a:r>
              <a:rPr lang="en-US" sz="1500" dirty="0">
                <a:solidFill>
                  <a:srgbClr val="D4D4D4"/>
                </a:solidFill>
                <a:latin typeface="Courier New" pitchFamily="34" charset="0"/>
                <a:ea typeface="Courier New" pitchFamily="34" charset="-122"/>
                <a:cs typeface="Courier New" pitchFamily="34" charset="-120"/>
              </a:rPr>
              <a:t> (age &lt; </a:t>
            </a:r>
            <a:r>
              <a:rPr lang="en-US" sz="1500" dirty="0">
                <a:solidFill>
                  <a:srgbClr val="B5CEA8"/>
                </a:solidFill>
                <a:latin typeface="Courier New" pitchFamily="34" charset="0"/>
                <a:ea typeface="Courier New" pitchFamily="34" charset="-122"/>
                <a:cs typeface="Courier New" pitchFamily="34" charset="-120"/>
              </a:rPr>
              <a:t>18</a:t>
            </a: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throw</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new</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DCDCAA"/>
                </a:solidFill>
                <a:latin typeface="Courier New" pitchFamily="34" charset="0"/>
                <a:ea typeface="Courier New" pitchFamily="34" charset="-122"/>
                <a:cs typeface="Courier New" pitchFamily="34" charset="-120"/>
              </a:rPr>
              <a:t>IllegalArgumentException</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CE9178"/>
                </a:solidFill>
                <a:latin typeface="Courier New" pitchFamily="34" charset="0"/>
                <a:ea typeface="Courier New" pitchFamily="34" charset="-122"/>
                <a:cs typeface="Courier New" pitchFamily="34" charset="-120"/>
              </a:rPr>
              <a:t>"Age must be at least 18."</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public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static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void</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DCDCAA"/>
                </a:solidFill>
                <a:latin typeface="Courier New" pitchFamily="34" charset="0"/>
                <a:ea typeface="Courier New" pitchFamily="34" charset="-122"/>
                <a:cs typeface="Courier New" pitchFamily="34" charset="-120"/>
              </a:rPr>
              <a:t>main</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4EC9B0"/>
                </a:solidFill>
                <a:latin typeface="Courier New" pitchFamily="34" charset="0"/>
                <a:ea typeface="Courier New" pitchFamily="34" charset="-122"/>
                <a:cs typeface="Courier New" pitchFamily="34" charset="-120"/>
              </a:rPr>
              <a:t>String</a:t>
            </a:r>
            <a:r>
              <a:rPr lang="en-US" sz="1500" dirty="0">
                <a:solidFill>
                  <a:srgbClr val="D4D4D4"/>
                </a:solidFill>
                <a:latin typeface="Courier New" pitchFamily="34" charset="0"/>
                <a:ea typeface="Courier New" pitchFamily="34" charset="-122"/>
                <a:cs typeface="Courier New" pitchFamily="34" charset="-120"/>
              </a:rPr>
              <a:t>[] args)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DCDCAA"/>
                </a:solidFill>
                <a:latin typeface="Courier New" pitchFamily="34" charset="0"/>
                <a:ea typeface="Courier New" pitchFamily="34" charset="-122"/>
                <a:cs typeface="Courier New" pitchFamily="34" charset="-120"/>
              </a:rPr>
              <a:t>checkAge</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B5CEA8"/>
                </a:solidFill>
                <a:latin typeface="Courier New" pitchFamily="34" charset="0"/>
                <a:ea typeface="Courier New" pitchFamily="34" charset="-122"/>
                <a:cs typeface="Courier New" pitchFamily="34" charset="-120"/>
              </a:rPr>
              <a:t>20</a:t>
            </a:r>
            <a:r>
              <a:rPr lang="en-US" sz="1500" dirty="0">
                <a:solidFill>
                  <a:srgbClr val="D4D4D4"/>
                </a:solidFill>
                <a:latin typeface="Courier New" pitchFamily="34" charset="0"/>
                <a:ea typeface="Courier New" pitchFamily="34" charset="-122"/>
                <a:cs typeface="Courier New" pitchFamily="34" charset="-120"/>
              </a:rPr>
              <a:t>);</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a:t>
            </a:r>
            <a:endParaRPr lang="en-US" sz="1500" dirty="0"/>
          </a:p>
        </p:txBody>
      </p:sp>
      <p:sp>
        <p:nvSpPr>
          <p:cNvPr id="17" name="Shape 15"/>
          <p:cNvSpPr/>
          <p:nvPr/>
        </p:nvSpPr>
        <p:spPr>
          <a:xfrm>
            <a:off x="0" y="0"/>
            <a:ext cx="12191695" cy="384048"/>
          </a:xfrm>
          <a:prstGeom prst="rect">
            <a:avLst/>
          </a:prstGeom>
          <a:solidFill>
            <a:srgbClr val="1B2A4A"/>
          </a:solidFill>
          <a:ln w="12700">
            <a:solidFill>
              <a:srgbClr val="1B2A4A"/>
            </a:solidFill>
            <a:prstDash val="solid"/>
          </a:ln>
        </p:spPr>
      </p:sp>
      <p:sp>
        <p:nvSpPr>
          <p:cNvPr id="18" name="Text 16"/>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9" name="Shape 17"/>
          <p:cNvSpPr/>
          <p:nvPr/>
        </p:nvSpPr>
        <p:spPr>
          <a:xfrm>
            <a:off x="219456" y="301752"/>
            <a:ext cx="960120" cy="0"/>
          </a:xfrm>
          <a:prstGeom prst="line">
            <a:avLst/>
          </a:prstGeom>
          <a:noFill/>
          <a:ln w="9525">
            <a:solidFill>
              <a:srgbClr val="4A5570"/>
            </a:solidFill>
            <a:prstDash val="solid"/>
          </a:ln>
        </p:spPr>
      </p:sp>
      <p:sp>
        <p:nvSpPr>
          <p:cNvPr id="20" name="Text 18"/>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1" name="Text 19"/>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2" name="Text 20"/>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3" name="Shape 21"/>
          <p:cNvSpPr/>
          <p:nvPr/>
        </p:nvSpPr>
        <p:spPr>
          <a:xfrm>
            <a:off x="0" y="6291072"/>
            <a:ext cx="12191695" cy="566928"/>
          </a:xfrm>
          <a:prstGeom prst="rect">
            <a:avLst/>
          </a:prstGeom>
          <a:solidFill>
            <a:srgbClr val="1B2A4A"/>
          </a:solidFill>
          <a:ln w="12700">
            <a:solidFill>
              <a:srgbClr val="1B2A4A"/>
            </a:solidFill>
            <a:prstDash val="solid"/>
          </a:ln>
        </p:spPr>
      </p:sp>
      <p:sp>
        <p:nvSpPr>
          <p:cNvPr id="24" name="Text 22"/>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5" name="Text 23"/>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REFERENCE</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Common Built-in Exceptions</a:t>
            </a:r>
            <a:endParaRPr lang="en-US" sz="2700" dirty="0"/>
          </a:p>
        </p:txBody>
      </p:sp>
      <p:graphicFrame>
        <p:nvGraphicFramePr>
          <p:cNvPr id="112" name="Table 0"/>
          <p:cNvGraphicFramePr>
            <a:graphicFrameLocks noGrp="1"/>
          </p:cNvGraphicFramePr>
          <p:nvPr>
            <p:extLst>
              <p:ext uri="{D42A27DB-BD31-4B8C-83A1-F6EECF244321}">
                <p14:modId xmlns:p14="http://schemas.microsoft.com/office/powerpoint/2010/main" val="1579011935"/>
              </p:ext>
            </p:extLst>
          </p:nvPr>
        </p:nvGraphicFramePr>
        <p:xfrm>
          <a:off x="594360" y="1691640"/>
          <a:ext cx="10607040" cy="4343400"/>
        </p:xfrm>
        <a:graphic>
          <a:graphicData uri="http://schemas.openxmlformats.org/drawingml/2006/table">
            <a:tbl>
              <a:tblPr/>
              <a:tblGrid>
                <a:gridCol w="5303520">
                  <a:extLst>
                    <a:ext uri="{9D8B030D-6E8A-4147-A177-3AD203B41FA5}">
                      <a16:colId xmlns:a16="http://schemas.microsoft.com/office/drawing/2014/main" val="20000"/>
                    </a:ext>
                  </a:extLst>
                </a:gridCol>
                <a:gridCol w="5303520">
                  <a:extLst>
                    <a:ext uri="{9D8B030D-6E8A-4147-A177-3AD203B41FA5}">
                      <a16:colId xmlns:a16="http://schemas.microsoft.com/office/drawing/2014/main" val="20001"/>
                    </a:ext>
                  </a:extLst>
                </a:gridCol>
              </a:tblGrid>
              <a:tr h="1085850">
                <a:tc>
                  <a:txBody>
                    <a:bodyPr/>
                    <a:lstStyle/>
                    <a:p>
                      <a:pPr marL="0" indent="0" algn="l">
                        <a:buNone/>
                      </a:pPr>
                      <a:r>
                        <a:rPr lang="en-US" sz="1300" b="1" dirty="0">
                          <a:solidFill>
                            <a:srgbClr val="FFFFFF"/>
                          </a:solidFill>
                          <a:latin typeface="Times New Roman" pitchFamily="34" charset="0"/>
                          <a:ea typeface="Times New Roman" pitchFamily="34" charset="-122"/>
                          <a:cs typeface="Times New Roman" pitchFamily="34" charset="-120"/>
                        </a:rPr>
                        <a:t>Exception</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1B2A4A"/>
                    </a:solidFill>
                  </a:tcPr>
                </a:tc>
                <a:tc>
                  <a:txBody>
                    <a:bodyPr/>
                    <a:lstStyle/>
                    <a:p>
                      <a:pPr marL="0" indent="0" algn="l">
                        <a:buNone/>
                      </a:pPr>
                      <a:r>
                        <a:rPr lang="en-US" sz="1300" b="1" dirty="0">
                          <a:solidFill>
                            <a:srgbClr val="FFFFFF"/>
                          </a:solidFill>
                          <a:latin typeface="Times New Roman" pitchFamily="34" charset="0"/>
                          <a:ea typeface="Times New Roman" pitchFamily="34" charset="-122"/>
                          <a:cs typeface="Times New Roman" pitchFamily="34" charset="-120"/>
                        </a:rPr>
                        <a:t>Typical Cause</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1085850">
                <a:tc>
                  <a:txBody>
                    <a:bodyPr/>
                    <a:lstStyle/>
                    <a:p>
                      <a:pPr marL="0" indent="0" algn="l">
                        <a:buNone/>
                      </a:pPr>
                      <a:r>
                        <a:rPr lang="en-US" sz="1300" b="1" dirty="0">
                          <a:solidFill>
                            <a:srgbClr val="1A202C"/>
                          </a:solidFill>
                          <a:latin typeface="Times New Roman" pitchFamily="34" charset="0"/>
                          <a:ea typeface="Times New Roman" pitchFamily="34" charset="-122"/>
                          <a:cs typeface="Times New Roman" pitchFamily="34" charset="-120"/>
                        </a:rPr>
                        <a:t>NullPointerException</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FFFFF"/>
                    </a:solidFill>
                  </a:tcPr>
                </a:tc>
                <a:tc>
                  <a:txBody>
                    <a:bodyPr/>
                    <a:lstStyle/>
                    <a:p>
                      <a:pPr marL="0" indent="0" algn="l">
                        <a:buNone/>
                      </a:pPr>
                      <a:r>
                        <a:rPr lang="en-US" sz="1300" dirty="0">
                          <a:solidFill>
                            <a:srgbClr val="3D4759"/>
                          </a:solidFill>
                          <a:latin typeface="Times New Roman" pitchFamily="34" charset="0"/>
                          <a:ea typeface="Times New Roman" pitchFamily="34" charset="-122"/>
                          <a:cs typeface="Times New Roman" pitchFamily="34" charset="-120"/>
                        </a:rPr>
                        <a:t>Calling a method or field on a null reference</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085850">
                <a:tc>
                  <a:txBody>
                    <a:bodyPr/>
                    <a:lstStyle/>
                    <a:p>
                      <a:pPr marL="0" indent="0" algn="l">
                        <a:buNone/>
                      </a:pPr>
                      <a:r>
                        <a:rPr lang="en-US" sz="1300" b="1" dirty="0">
                          <a:solidFill>
                            <a:srgbClr val="1A202C"/>
                          </a:solidFill>
                          <a:latin typeface="Times New Roman" pitchFamily="34" charset="0"/>
                          <a:ea typeface="Times New Roman" pitchFamily="34" charset="-122"/>
                          <a:cs typeface="Times New Roman" pitchFamily="34" charset="-120"/>
                        </a:rPr>
                        <a:t>ArrayIndexOutOfBoundsException</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5F6FA"/>
                    </a:solidFill>
                  </a:tcPr>
                </a:tc>
                <a:tc>
                  <a:txBody>
                    <a:bodyPr/>
                    <a:lstStyle/>
                    <a:p>
                      <a:pPr marL="0" indent="0" algn="l">
                        <a:buNone/>
                      </a:pPr>
                      <a:r>
                        <a:rPr lang="en-US" sz="1300" dirty="0">
                          <a:solidFill>
                            <a:srgbClr val="3D4759"/>
                          </a:solidFill>
                          <a:latin typeface="Times New Roman" pitchFamily="34" charset="0"/>
                          <a:ea typeface="Times New Roman" pitchFamily="34" charset="-122"/>
                          <a:cs typeface="Times New Roman" pitchFamily="34" charset="-120"/>
                        </a:rPr>
                        <a:t>Using an array index outside its valid range</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5F6FA"/>
                    </a:solidFill>
                  </a:tcPr>
                </a:tc>
                <a:extLst>
                  <a:ext uri="{0D108BD9-81ED-4DB2-BD59-A6C34878D82A}">
                    <a16:rowId xmlns:a16="http://schemas.microsoft.com/office/drawing/2014/main" val="10002"/>
                  </a:ext>
                </a:extLst>
              </a:tr>
              <a:tr h="1085850">
                <a:tc>
                  <a:txBody>
                    <a:bodyPr/>
                    <a:lstStyle/>
                    <a:p>
                      <a:pPr marL="0" indent="0" algn="l">
                        <a:buNone/>
                      </a:pPr>
                      <a:r>
                        <a:rPr lang="en-US" sz="1300" b="1" dirty="0">
                          <a:solidFill>
                            <a:srgbClr val="1A202C"/>
                          </a:solidFill>
                          <a:latin typeface="Times New Roman" pitchFamily="34" charset="0"/>
                          <a:ea typeface="Times New Roman" pitchFamily="34" charset="-122"/>
                          <a:cs typeface="Times New Roman" pitchFamily="34" charset="-120"/>
                        </a:rPr>
                        <a:t>ArithmeticException</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FFFFF"/>
                    </a:solidFill>
                  </a:tcPr>
                </a:tc>
                <a:tc>
                  <a:txBody>
                    <a:bodyPr/>
                    <a:lstStyle/>
                    <a:p>
                      <a:pPr marL="0" indent="0" algn="l">
                        <a:buNone/>
                      </a:pPr>
                      <a:r>
                        <a:rPr lang="en-US" sz="1300" dirty="0">
                          <a:solidFill>
                            <a:srgbClr val="3D4759"/>
                          </a:solidFill>
                          <a:latin typeface="Times New Roman" pitchFamily="34" charset="0"/>
                          <a:ea typeface="Times New Roman" pitchFamily="34" charset="-122"/>
                          <a:cs typeface="Times New Roman" pitchFamily="34" charset="-120"/>
                        </a:rPr>
                        <a:t>Dividing an integer by zero</a:t>
                      </a:r>
                      <a:endParaRPr lang="en-US" sz="1300" dirty="0">
                        <a:latin typeface="Times New Roman" charset="0"/>
                        <a:ea typeface="Times New Roman" charset="0"/>
                        <a:cs typeface="Times New Roman" charset="0"/>
                      </a:endParaRPr>
                    </a:p>
                  </a:txBody>
                  <a:tcPr marT="54864" marB="54864" anchor="ctr">
                    <a:lnL w="9525" cap="flat" cmpd="sng" algn="ctr">
                      <a:solidFill>
                        <a:srgbClr val="E4E7EE"/>
                      </a:solidFill>
                      <a:prstDash val="solid"/>
                      <a:round/>
                      <a:headEnd type="none" w="med" len="med"/>
                      <a:tailEnd type="none" w="med" len="med"/>
                    </a:lnL>
                    <a:lnR w="9525" cap="flat" cmpd="sng" algn="ctr">
                      <a:solidFill>
                        <a:srgbClr val="E4E7EE"/>
                      </a:solidFill>
                      <a:prstDash val="solid"/>
                      <a:round/>
                      <a:headEnd type="none" w="med" len="med"/>
                      <a:tailEnd type="none" w="med" len="med"/>
                    </a:lnR>
                    <a:lnT w="9525" cap="flat" cmpd="sng" algn="ctr">
                      <a:solidFill>
                        <a:srgbClr val="E4E7EE"/>
                      </a:solidFill>
                      <a:prstDash val="solid"/>
                      <a:round/>
                      <a:headEnd type="none" w="med" len="med"/>
                      <a:tailEnd type="none" w="med" len="med"/>
                    </a:lnT>
                    <a:lnB w="9525" cap="flat" cmpd="sng" algn="ctr">
                      <a:solidFill>
                        <a:srgbClr val="E4E7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5" name="Shape 2"/>
          <p:cNvSpPr/>
          <p:nvPr/>
        </p:nvSpPr>
        <p:spPr>
          <a:xfrm>
            <a:off x="0" y="0"/>
            <a:ext cx="12191695" cy="384048"/>
          </a:xfrm>
          <a:prstGeom prst="rect">
            <a:avLst/>
          </a:prstGeom>
          <a:solidFill>
            <a:srgbClr val="1B2A4A"/>
          </a:solidFill>
          <a:ln w="12700">
            <a:solidFill>
              <a:srgbClr val="1B2A4A"/>
            </a:solidFill>
            <a:prstDash val="solid"/>
          </a:ln>
        </p:spPr>
      </p:sp>
      <p:sp>
        <p:nvSpPr>
          <p:cNvPr id="6" name="Text 3"/>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7" name="Shape 4"/>
          <p:cNvSpPr/>
          <p:nvPr/>
        </p:nvSpPr>
        <p:spPr>
          <a:xfrm>
            <a:off x="219456" y="301752"/>
            <a:ext cx="960120" cy="0"/>
          </a:xfrm>
          <a:prstGeom prst="line">
            <a:avLst/>
          </a:prstGeom>
          <a:noFill/>
          <a:ln w="9525">
            <a:solidFill>
              <a:srgbClr val="4A5570"/>
            </a:solidFill>
            <a:prstDash val="solid"/>
          </a:ln>
        </p:spPr>
      </p:sp>
      <p:sp>
        <p:nvSpPr>
          <p:cNvPr id="8" name="Text 5"/>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9" name="Text 6"/>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10" name="Text 7"/>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11" name="Shape 8"/>
          <p:cNvSpPr/>
          <p:nvPr/>
        </p:nvSpPr>
        <p:spPr>
          <a:xfrm>
            <a:off x="0" y="6291072"/>
            <a:ext cx="12191695" cy="566928"/>
          </a:xfrm>
          <a:prstGeom prst="rect">
            <a:avLst/>
          </a:prstGeom>
          <a:solidFill>
            <a:srgbClr val="1B2A4A"/>
          </a:solidFill>
          <a:ln w="12700">
            <a:solidFill>
              <a:srgbClr val="1B2A4A"/>
            </a:solidFill>
            <a:prstDash val="solid"/>
          </a:ln>
        </p:spPr>
      </p:sp>
      <p:sp>
        <p:nvSpPr>
          <p:cNvPr id="12" name="Text 9"/>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13" name="Text 10"/>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MOTIVATION</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Why Create a Custom Exception?</a:t>
            </a:r>
            <a:endParaRPr lang="en-US" sz="2700" dirty="0"/>
          </a:p>
        </p:txBody>
      </p:sp>
      <p:sp>
        <p:nvSpPr>
          <p:cNvPr id="4" name="Shape 2"/>
          <p:cNvSpPr/>
          <p:nvPr/>
        </p:nvSpPr>
        <p:spPr>
          <a:xfrm>
            <a:off x="594360" y="1691640"/>
            <a:ext cx="10607040" cy="2089404"/>
          </a:xfrm>
          <a:prstGeom prst="roundRect">
            <a:avLst>
              <a:gd name="adj" fmla="val 2626"/>
            </a:avLst>
          </a:prstGeom>
          <a:solidFill>
            <a:srgbClr val="F5F6FA"/>
          </a:solidFill>
          <a:ln w="9525">
            <a:solidFill>
              <a:srgbClr val="E4E7EE"/>
            </a:solidFill>
            <a:prstDash val="solid"/>
          </a:ln>
        </p:spPr>
      </p:sp>
      <p:sp>
        <p:nvSpPr>
          <p:cNvPr id="5" name="Shape 3"/>
          <p:cNvSpPr/>
          <p:nvPr/>
        </p:nvSpPr>
        <p:spPr>
          <a:xfrm>
            <a:off x="777240" y="1874520"/>
            <a:ext cx="109728" cy="109728"/>
          </a:xfrm>
          <a:prstGeom prst="ellipse">
            <a:avLst/>
          </a:prstGeom>
          <a:solidFill>
            <a:srgbClr val="E8590C"/>
          </a:solidFill>
          <a:ln w="12700">
            <a:solidFill>
              <a:srgbClr val="000000"/>
            </a:solidFill>
            <a:prstDash val="solid"/>
          </a:ln>
        </p:spPr>
      </p:sp>
      <p:sp>
        <p:nvSpPr>
          <p:cNvPr id="6" name="Text 4"/>
          <p:cNvSpPr/>
          <p:nvPr/>
        </p:nvSpPr>
        <p:spPr>
          <a:xfrm>
            <a:off x="1051560" y="1764792"/>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Built-in exceptions do not always fit</a:t>
            </a:r>
            <a:endParaRPr lang="en-US" sz="1500" dirty="0"/>
          </a:p>
        </p:txBody>
      </p:sp>
      <p:sp>
        <p:nvSpPr>
          <p:cNvPr id="7" name="Text 5"/>
          <p:cNvSpPr/>
          <p:nvPr/>
        </p:nvSpPr>
        <p:spPr>
          <a:xfrm>
            <a:off x="1051560" y="2057400"/>
            <a:ext cx="9966960" cy="1668780"/>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A situation like InsufficientBalance has no matching exception in the standard library.</a:t>
            </a:r>
            <a:endParaRPr lang="en-US" sz="1250" dirty="0"/>
          </a:p>
        </p:txBody>
      </p:sp>
      <p:sp>
        <p:nvSpPr>
          <p:cNvPr id="8" name="Shape 6"/>
          <p:cNvSpPr/>
          <p:nvPr/>
        </p:nvSpPr>
        <p:spPr>
          <a:xfrm>
            <a:off x="594360" y="3945636"/>
            <a:ext cx="10607040" cy="2089404"/>
          </a:xfrm>
          <a:prstGeom prst="roundRect">
            <a:avLst>
              <a:gd name="adj" fmla="val 2626"/>
            </a:avLst>
          </a:prstGeom>
          <a:solidFill>
            <a:srgbClr val="F5F6FA"/>
          </a:solidFill>
          <a:ln w="9525">
            <a:solidFill>
              <a:srgbClr val="E4E7EE"/>
            </a:solidFill>
            <a:prstDash val="solid"/>
          </a:ln>
        </p:spPr>
      </p:sp>
      <p:sp>
        <p:nvSpPr>
          <p:cNvPr id="9" name="Shape 7"/>
          <p:cNvSpPr/>
          <p:nvPr/>
        </p:nvSpPr>
        <p:spPr>
          <a:xfrm>
            <a:off x="777240" y="4128516"/>
            <a:ext cx="109728" cy="109728"/>
          </a:xfrm>
          <a:prstGeom prst="ellipse">
            <a:avLst/>
          </a:prstGeom>
          <a:solidFill>
            <a:srgbClr val="E8590C"/>
          </a:solidFill>
          <a:ln w="12700">
            <a:solidFill>
              <a:srgbClr val="000000"/>
            </a:solidFill>
            <a:prstDash val="solid"/>
          </a:ln>
        </p:spPr>
      </p:sp>
      <p:sp>
        <p:nvSpPr>
          <p:cNvPr id="10" name="Text 8"/>
          <p:cNvSpPr/>
          <p:nvPr/>
        </p:nvSpPr>
        <p:spPr>
          <a:xfrm>
            <a:off x="1051560" y="4018788"/>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Gives errors a meaningful name</a:t>
            </a:r>
            <a:endParaRPr lang="en-US" sz="1500" dirty="0"/>
          </a:p>
        </p:txBody>
      </p:sp>
      <p:sp>
        <p:nvSpPr>
          <p:cNvPr id="11" name="Text 9"/>
          <p:cNvSpPr/>
          <p:nvPr/>
        </p:nvSpPr>
        <p:spPr>
          <a:xfrm>
            <a:off x="1051560" y="4311396"/>
            <a:ext cx="9966960" cy="1668780"/>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Catching an InsufficientBalanceException is far clearer than catching a generic RuntimeException.</a:t>
            </a:r>
            <a:endParaRPr lang="en-US" sz="1250" dirty="0"/>
          </a:p>
        </p:txBody>
      </p:sp>
      <p:sp>
        <p:nvSpPr>
          <p:cNvPr id="12" name="Shape 10"/>
          <p:cNvSpPr/>
          <p:nvPr/>
        </p:nvSpPr>
        <p:spPr>
          <a:xfrm>
            <a:off x="0" y="0"/>
            <a:ext cx="12191695" cy="384048"/>
          </a:xfrm>
          <a:prstGeom prst="rect">
            <a:avLst/>
          </a:prstGeom>
          <a:solidFill>
            <a:srgbClr val="1B2A4A"/>
          </a:solidFill>
          <a:ln w="12700">
            <a:solidFill>
              <a:srgbClr val="1B2A4A"/>
            </a:solidFill>
            <a:prstDash val="solid"/>
          </a:ln>
        </p:spPr>
      </p:sp>
      <p:sp>
        <p:nvSpPr>
          <p:cNvPr id="13" name="Text 11"/>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4" name="Shape 12"/>
          <p:cNvSpPr/>
          <p:nvPr/>
        </p:nvSpPr>
        <p:spPr>
          <a:xfrm>
            <a:off x="219456" y="301752"/>
            <a:ext cx="960120" cy="0"/>
          </a:xfrm>
          <a:prstGeom prst="line">
            <a:avLst/>
          </a:prstGeom>
          <a:noFill/>
          <a:ln w="9525">
            <a:solidFill>
              <a:srgbClr val="4A5570"/>
            </a:solidFill>
            <a:prstDash val="solid"/>
          </a:ln>
        </p:spPr>
      </p:sp>
      <p:sp>
        <p:nvSpPr>
          <p:cNvPr id="15" name="Text 13"/>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16" name="Text 14"/>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17" name="Text 15"/>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18" name="Shape 16"/>
          <p:cNvSpPr/>
          <p:nvPr/>
        </p:nvSpPr>
        <p:spPr>
          <a:xfrm>
            <a:off x="0" y="6291072"/>
            <a:ext cx="12191695" cy="566928"/>
          </a:xfrm>
          <a:prstGeom prst="rect">
            <a:avLst/>
          </a:prstGeom>
          <a:solidFill>
            <a:srgbClr val="1B2A4A"/>
          </a:solidFill>
          <a:ln w="12700">
            <a:solidFill>
              <a:srgbClr val="1B2A4A"/>
            </a:solidFill>
            <a:prstDash val="solid"/>
          </a:ln>
        </p:spPr>
      </p:sp>
      <p:sp>
        <p:nvSpPr>
          <p:cNvPr id="19" name="Text 17"/>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0" name="Text 18"/>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1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TWO STYLES</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Extending Exception or RuntimeException</a:t>
            </a:r>
            <a:endParaRPr lang="en-US" sz="2700" dirty="0"/>
          </a:p>
        </p:txBody>
      </p:sp>
      <p:sp>
        <p:nvSpPr>
          <p:cNvPr id="4" name="Shape 2"/>
          <p:cNvSpPr/>
          <p:nvPr/>
        </p:nvSpPr>
        <p:spPr>
          <a:xfrm>
            <a:off x="594360" y="1600200"/>
            <a:ext cx="10607040" cy="896112"/>
          </a:xfrm>
          <a:prstGeom prst="roundRect">
            <a:avLst>
              <a:gd name="adj" fmla="val 6122"/>
            </a:avLst>
          </a:prstGeom>
          <a:solidFill>
            <a:srgbClr val="F5F6FA"/>
          </a:solidFill>
          <a:ln w="9525">
            <a:solidFill>
              <a:srgbClr val="E4E7EE"/>
            </a:solidFill>
            <a:prstDash val="solid"/>
          </a:ln>
        </p:spPr>
      </p:sp>
      <p:sp>
        <p:nvSpPr>
          <p:cNvPr id="5" name="Shape 3"/>
          <p:cNvSpPr/>
          <p:nvPr/>
        </p:nvSpPr>
        <p:spPr>
          <a:xfrm>
            <a:off x="804672" y="1755648"/>
            <a:ext cx="100584" cy="100584"/>
          </a:xfrm>
          <a:prstGeom prst="ellipse">
            <a:avLst/>
          </a:prstGeom>
          <a:solidFill>
            <a:srgbClr val="E8590C"/>
          </a:solidFill>
          <a:ln w="12700">
            <a:solidFill>
              <a:srgbClr val="000000"/>
            </a:solidFill>
            <a:prstDash val="solid"/>
          </a:ln>
        </p:spPr>
      </p:sp>
      <p:sp>
        <p:nvSpPr>
          <p:cNvPr id="6" name="Text 4"/>
          <p:cNvSpPr/>
          <p:nvPr/>
        </p:nvSpPr>
        <p:spPr>
          <a:xfrm>
            <a:off x="1051560" y="1655064"/>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Extending Exception creates a checked exception, which callers must catch or declare.</a:t>
            </a:r>
            <a:endParaRPr lang="en-US" sz="1250" dirty="0"/>
          </a:p>
        </p:txBody>
      </p:sp>
      <p:sp>
        <p:nvSpPr>
          <p:cNvPr id="7" name="Shape 5"/>
          <p:cNvSpPr/>
          <p:nvPr/>
        </p:nvSpPr>
        <p:spPr>
          <a:xfrm>
            <a:off x="804672" y="2103120"/>
            <a:ext cx="100584" cy="100584"/>
          </a:xfrm>
          <a:prstGeom prst="ellipse">
            <a:avLst/>
          </a:prstGeom>
          <a:solidFill>
            <a:srgbClr val="E8590C"/>
          </a:solidFill>
          <a:ln w="12700">
            <a:solidFill>
              <a:srgbClr val="000000"/>
            </a:solidFill>
            <a:prstDash val="solid"/>
          </a:ln>
        </p:spPr>
      </p:sp>
      <p:sp>
        <p:nvSpPr>
          <p:cNvPr id="8" name="Text 6"/>
          <p:cNvSpPr/>
          <p:nvPr/>
        </p:nvSpPr>
        <p:spPr>
          <a:xfrm>
            <a:off x="1051560" y="2002536"/>
            <a:ext cx="10058400" cy="310896"/>
          </a:xfrm>
          <a:prstGeom prst="rect">
            <a:avLst/>
          </a:prstGeom>
          <a:noFill/>
          <a:ln/>
        </p:spPr>
        <p:txBody>
          <a:bodyPr wrap="square" lIns="0" tIns="0" rIns="0" bIns="0" rtlCol="0" anchor="ctr"/>
          <a:lstStyle/>
          <a:p>
            <a:pPr marL="0" indent="0">
              <a:buNone/>
            </a:pPr>
            <a:r>
              <a:rPr lang="en-US" sz="1250" dirty="0">
                <a:solidFill>
                  <a:srgbClr val="1A202C"/>
                </a:solidFill>
                <a:latin typeface="Times New Roman" pitchFamily="34" charset="0"/>
                <a:ea typeface="Times New Roman" pitchFamily="34" charset="-122"/>
                <a:cs typeface="Times New Roman" pitchFamily="34" charset="-120"/>
              </a:rPr>
              <a:t>Extending RuntimeException creates an unchecked exception, which does not have to be declared or caught.</a:t>
            </a:r>
            <a:endParaRPr lang="en-US" sz="1250" dirty="0"/>
          </a:p>
        </p:txBody>
      </p:sp>
      <p:sp>
        <p:nvSpPr>
          <p:cNvPr id="9" name="Shape 7"/>
          <p:cNvSpPr/>
          <p:nvPr/>
        </p:nvSpPr>
        <p:spPr>
          <a:xfrm>
            <a:off x="594360" y="2642616"/>
            <a:ext cx="10607040" cy="3392424"/>
          </a:xfrm>
          <a:prstGeom prst="roundRect">
            <a:avLst>
              <a:gd name="adj" fmla="val 2156"/>
            </a:avLst>
          </a:prstGeom>
          <a:solidFill>
            <a:srgbClr val="1E1E2E"/>
          </a:solidFill>
          <a:ln w="12700">
            <a:solidFill>
              <a:srgbClr val="000000"/>
            </a:solidFill>
            <a:prstDash val="solid"/>
          </a:ln>
        </p:spPr>
      </p:sp>
      <p:sp>
        <p:nvSpPr>
          <p:cNvPr id="10" name="Shape 8"/>
          <p:cNvSpPr/>
          <p:nvPr/>
        </p:nvSpPr>
        <p:spPr>
          <a:xfrm>
            <a:off x="594360" y="2642616"/>
            <a:ext cx="10607040" cy="274320"/>
          </a:xfrm>
          <a:prstGeom prst="roundRect">
            <a:avLst>
              <a:gd name="adj" fmla="val 26667"/>
            </a:avLst>
          </a:prstGeom>
          <a:solidFill>
            <a:srgbClr val="17172A"/>
          </a:solidFill>
          <a:ln w="12700">
            <a:solidFill>
              <a:srgbClr val="000000"/>
            </a:solidFill>
            <a:prstDash val="solid"/>
          </a:ln>
        </p:spPr>
      </p:sp>
      <p:sp>
        <p:nvSpPr>
          <p:cNvPr id="11" name="Shape 9"/>
          <p:cNvSpPr/>
          <p:nvPr/>
        </p:nvSpPr>
        <p:spPr>
          <a:xfrm>
            <a:off x="594360" y="2843784"/>
            <a:ext cx="10607040" cy="73152"/>
          </a:xfrm>
          <a:prstGeom prst="rect">
            <a:avLst/>
          </a:prstGeom>
          <a:solidFill>
            <a:srgbClr val="17172A"/>
          </a:solidFill>
          <a:ln w="12700">
            <a:solidFill>
              <a:srgbClr val="000000"/>
            </a:solidFill>
            <a:prstDash val="solid"/>
          </a:ln>
        </p:spPr>
      </p:sp>
      <p:sp>
        <p:nvSpPr>
          <p:cNvPr id="12" name="Shape 10"/>
          <p:cNvSpPr/>
          <p:nvPr/>
        </p:nvSpPr>
        <p:spPr>
          <a:xfrm>
            <a:off x="722376" y="2741371"/>
            <a:ext cx="76810" cy="76810"/>
          </a:xfrm>
          <a:prstGeom prst="ellipse">
            <a:avLst/>
          </a:prstGeom>
          <a:solidFill>
            <a:srgbClr val="FF5F56"/>
          </a:solidFill>
          <a:ln w="12700">
            <a:solidFill>
              <a:srgbClr val="000000"/>
            </a:solidFill>
            <a:prstDash val="solid"/>
          </a:ln>
        </p:spPr>
      </p:sp>
      <p:sp>
        <p:nvSpPr>
          <p:cNvPr id="13" name="Shape 11"/>
          <p:cNvSpPr/>
          <p:nvPr/>
        </p:nvSpPr>
        <p:spPr>
          <a:xfrm>
            <a:off x="886968" y="2741371"/>
            <a:ext cx="76810" cy="76810"/>
          </a:xfrm>
          <a:prstGeom prst="ellipse">
            <a:avLst/>
          </a:prstGeom>
          <a:solidFill>
            <a:srgbClr val="FFBD2E"/>
          </a:solidFill>
          <a:ln w="12700">
            <a:solidFill>
              <a:srgbClr val="000000"/>
            </a:solidFill>
            <a:prstDash val="solid"/>
          </a:ln>
        </p:spPr>
      </p:sp>
      <p:sp>
        <p:nvSpPr>
          <p:cNvPr id="14" name="Shape 12"/>
          <p:cNvSpPr/>
          <p:nvPr/>
        </p:nvSpPr>
        <p:spPr>
          <a:xfrm>
            <a:off x="1051560" y="2741371"/>
            <a:ext cx="76810" cy="76810"/>
          </a:xfrm>
          <a:prstGeom prst="ellipse">
            <a:avLst/>
          </a:prstGeom>
          <a:solidFill>
            <a:srgbClr val="27C93F"/>
          </a:solidFill>
          <a:ln w="12700">
            <a:solidFill>
              <a:srgbClr val="000000"/>
            </a:solidFill>
            <a:prstDash val="solid"/>
          </a:ln>
        </p:spPr>
      </p:sp>
      <p:sp>
        <p:nvSpPr>
          <p:cNvPr id="15" name="Text 13"/>
          <p:cNvSpPr/>
          <p:nvPr/>
        </p:nvSpPr>
        <p:spPr>
          <a:xfrm>
            <a:off x="1371600" y="2642616"/>
            <a:ext cx="9692640" cy="274320"/>
          </a:xfrm>
          <a:prstGeom prst="rect">
            <a:avLst/>
          </a:prstGeom>
          <a:noFill/>
          <a:ln/>
        </p:spPr>
        <p:txBody>
          <a:bodyPr wrap="square" lIns="0" tIns="0" rIns="0" bIns="0" rtlCol="0" anchor="ctr"/>
          <a:lstStyle/>
          <a:p>
            <a:pPr marL="0" indent="0" algn="l">
              <a:buNone/>
            </a:pPr>
            <a:r>
              <a:rPr lang="en-US" sz="1000" dirty="0">
                <a:solidFill>
                  <a:srgbClr val="8A8FA3"/>
                </a:solidFill>
                <a:latin typeface="Courier New" pitchFamily="34" charset="0"/>
                <a:ea typeface="Courier New" pitchFamily="34" charset="-122"/>
                <a:cs typeface="Courier New" pitchFamily="34" charset="-120"/>
              </a:rPr>
              <a:t>Main.java</a:t>
            </a:r>
            <a:endParaRPr lang="en-US" sz="1000" dirty="0"/>
          </a:p>
        </p:txBody>
      </p:sp>
      <p:sp>
        <p:nvSpPr>
          <p:cNvPr id="16" name="Text 14"/>
          <p:cNvSpPr/>
          <p:nvPr/>
        </p:nvSpPr>
        <p:spPr>
          <a:xfrm>
            <a:off x="777240" y="2990088"/>
            <a:ext cx="10241280" cy="2971800"/>
          </a:xfrm>
          <a:prstGeom prst="rect">
            <a:avLst/>
          </a:prstGeom>
          <a:noFill/>
          <a:ln/>
        </p:spPr>
        <p:txBody>
          <a:bodyPr wrap="square" lIns="0" tIns="0" rIns="0" bIns="0" rtlCol="0" anchor="t"/>
          <a:lstStyle/>
          <a:p>
            <a:pPr marL="0" indent="0" algn="l">
              <a:lnSpc>
                <a:spcPct val="118000"/>
              </a:lnSpc>
              <a:buNone/>
            </a:pPr>
            <a:r>
              <a:rPr lang="en-US" sz="1500" b="1" dirty="0">
                <a:solidFill>
                  <a:srgbClr val="569CD6"/>
                </a:solidFill>
                <a:latin typeface="Courier New" pitchFamily="34" charset="0"/>
                <a:ea typeface="Courier New" pitchFamily="34" charset="-122"/>
                <a:cs typeface="Courier New" pitchFamily="34" charset="-120"/>
              </a:rPr>
              <a:t>public</a:t>
            </a: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class</a:t>
            </a:r>
            <a:r>
              <a:rPr lang="en-US" sz="1500" dirty="0">
                <a:solidFill>
                  <a:srgbClr val="D4D4D4"/>
                </a:solidFill>
                <a:latin typeface="Courier New" pitchFamily="34" charset="0"/>
                <a:ea typeface="Courier New" pitchFamily="34" charset="-122"/>
                <a:cs typeface="Courier New" pitchFamily="34" charset="-120"/>
              </a:rPr>
              <a:t> InsufficientBalanceException </a:t>
            </a:r>
            <a:r>
              <a:rPr lang="en-US" sz="1500" b="1" dirty="0">
                <a:solidFill>
                  <a:srgbClr val="569CD6"/>
                </a:solidFill>
                <a:latin typeface="Courier New" pitchFamily="34" charset="0"/>
                <a:ea typeface="Courier New" pitchFamily="34" charset="-122"/>
                <a:cs typeface="Courier New" pitchFamily="34" charset="-120"/>
              </a:rPr>
              <a:t>extends</a:t>
            </a:r>
            <a:r>
              <a:rPr lang="en-US" sz="1500" dirty="0">
                <a:solidFill>
                  <a:srgbClr val="D4D4D4"/>
                </a:solidFill>
                <a:latin typeface="Courier New" pitchFamily="34" charset="0"/>
                <a:ea typeface="Courier New" pitchFamily="34" charset="-122"/>
                <a:cs typeface="Courier New" pitchFamily="34" charset="-120"/>
              </a:rPr>
              <a:t> RuntimeException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public</a:t>
            </a:r>
            <a:r>
              <a:rPr lang="en-US" sz="1500" dirty="0">
                <a:solidFill>
                  <a:srgbClr val="D4D4D4"/>
                </a:solidFill>
                <a:latin typeface="Courier New" pitchFamily="34" charset="0"/>
                <a:ea typeface="Courier New" pitchFamily="34" charset="-122"/>
                <a:cs typeface="Courier New" pitchFamily="34" charset="-120"/>
              </a:rPr>
              <a:t> </a:t>
            </a:r>
            <a:r>
              <a:rPr lang="en-US" sz="1500" dirty="0">
                <a:solidFill>
                  <a:srgbClr val="DCDCAA"/>
                </a:solidFill>
                <a:latin typeface="Courier New" pitchFamily="34" charset="0"/>
                <a:ea typeface="Courier New" pitchFamily="34" charset="-122"/>
                <a:cs typeface="Courier New" pitchFamily="34" charset="-120"/>
              </a:rPr>
              <a:t>InsufficientBalanceException</a:t>
            </a:r>
            <a:r>
              <a:rPr lang="en-US" sz="1500" dirty="0">
                <a:solidFill>
                  <a:srgbClr val="D4D4D4"/>
                </a:solidFill>
                <a:latin typeface="Courier New" pitchFamily="34" charset="0"/>
                <a:ea typeface="Courier New" pitchFamily="34" charset="-122"/>
                <a:cs typeface="Courier New" pitchFamily="34" charset="-120"/>
              </a:rPr>
              <a:t>(</a:t>
            </a:r>
            <a:r>
              <a:rPr lang="en-US" sz="1500" dirty="0">
                <a:solidFill>
                  <a:srgbClr val="4EC9B0"/>
                </a:solidFill>
                <a:latin typeface="Courier New" pitchFamily="34" charset="0"/>
                <a:ea typeface="Courier New" pitchFamily="34" charset="-122"/>
                <a:cs typeface="Courier New" pitchFamily="34" charset="-120"/>
              </a:rPr>
              <a:t>String</a:t>
            </a:r>
            <a:r>
              <a:rPr lang="en-US" sz="1500" dirty="0">
                <a:solidFill>
                  <a:srgbClr val="D4D4D4"/>
                </a:solidFill>
                <a:latin typeface="Courier New" pitchFamily="34" charset="0"/>
                <a:ea typeface="Courier New" pitchFamily="34" charset="-122"/>
                <a:cs typeface="Courier New" pitchFamily="34" charset="-120"/>
              </a:rPr>
              <a:t> message)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r>
              <a:rPr lang="en-US" sz="1500" b="1" dirty="0">
                <a:solidFill>
                  <a:srgbClr val="569CD6"/>
                </a:solidFill>
                <a:latin typeface="Courier New" pitchFamily="34" charset="0"/>
                <a:ea typeface="Courier New" pitchFamily="34" charset="-122"/>
                <a:cs typeface="Courier New" pitchFamily="34" charset="-120"/>
              </a:rPr>
              <a:t>super</a:t>
            </a:r>
            <a:r>
              <a:rPr lang="en-US" sz="1500" dirty="0">
                <a:solidFill>
                  <a:srgbClr val="D4D4D4"/>
                </a:solidFill>
                <a:latin typeface="Courier New" pitchFamily="34" charset="0"/>
                <a:ea typeface="Courier New" pitchFamily="34" charset="-122"/>
                <a:cs typeface="Courier New" pitchFamily="34" charset="-120"/>
              </a:rPr>
              <a:t>(message);</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    }</a:t>
            </a:r>
            <a:endParaRPr lang="en-US" sz="1500" dirty="0"/>
          </a:p>
          <a:p>
            <a:pPr marL="0" indent="0" algn="l">
              <a:lnSpc>
                <a:spcPct val="118000"/>
              </a:lnSpc>
              <a:buNone/>
            </a:pPr>
            <a:r>
              <a:rPr lang="en-US" sz="1500" dirty="0">
                <a:solidFill>
                  <a:srgbClr val="D4D4D4"/>
                </a:solidFill>
                <a:latin typeface="Courier New" pitchFamily="34" charset="0"/>
                <a:ea typeface="Courier New" pitchFamily="34" charset="-122"/>
                <a:cs typeface="Courier New" pitchFamily="34" charset="-120"/>
              </a:rPr>
              <a:t>}</a:t>
            </a:r>
            <a:endParaRPr lang="en-US" sz="1500" dirty="0"/>
          </a:p>
        </p:txBody>
      </p:sp>
      <p:sp>
        <p:nvSpPr>
          <p:cNvPr id="17" name="Shape 15"/>
          <p:cNvSpPr/>
          <p:nvPr/>
        </p:nvSpPr>
        <p:spPr>
          <a:xfrm>
            <a:off x="0" y="0"/>
            <a:ext cx="12191695" cy="384048"/>
          </a:xfrm>
          <a:prstGeom prst="rect">
            <a:avLst/>
          </a:prstGeom>
          <a:solidFill>
            <a:srgbClr val="1B2A4A"/>
          </a:solidFill>
          <a:ln w="12700">
            <a:solidFill>
              <a:srgbClr val="1B2A4A"/>
            </a:solidFill>
            <a:prstDash val="solid"/>
          </a:ln>
        </p:spPr>
      </p:sp>
      <p:sp>
        <p:nvSpPr>
          <p:cNvPr id="18" name="Text 16"/>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9" name="Shape 17"/>
          <p:cNvSpPr/>
          <p:nvPr/>
        </p:nvSpPr>
        <p:spPr>
          <a:xfrm>
            <a:off x="219456" y="301752"/>
            <a:ext cx="960120" cy="0"/>
          </a:xfrm>
          <a:prstGeom prst="line">
            <a:avLst/>
          </a:prstGeom>
          <a:noFill/>
          <a:ln w="9525">
            <a:solidFill>
              <a:srgbClr val="4A5570"/>
            </a:solidFill>
            <a:prstDash val="solid"/>
          </a:ln>
        </p:spPr>
      </p:sp>
      <p:sp>
        <p:nvSpPr>
          <p:cNvPr id="20" name="Text 18"/>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1" name="Text 19"/>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2" name="Text 20"/>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3" name="Shape 21"/>
          <p:cNvSpPr/>
          <p:nvPr/>
        </p:nvSpPr>
        <p:spPr>
          <a:xfrm>
            <a:off x="0" y="6291072"/>
            <a:ext cx="12191695" cy="566928"/>
          </a:xfrm>
          <a:prstGeom prst="rect">
            <a:avLst/>
          </a:prstGeom>
          <a:solidFill>
            <a:srgbClr val="1B2A4A"/>
          </a:solidFill>
          <a:ln w="12700">
            <a:solidFill>
              <a:srgbClr val="1B2A4A"/>
            </a:solidFill>
            <a:prstDash val="solid"/>
          </a:ln>
        </p:spPr>
      </p:sp>
      <p:sp>
        <p:nvSpPr>
          <p:cNvPr id="24" name="Text 22"/>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5" name="Text 23"/>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1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IN PRACTICE</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Throwing and Catching a Custom Exception</a:t>
            </a:r>
            <a:endParaRPr lang="en-US" sz="2700" dirty="0"/>
          </a:p>
        </p:txBody>
      </p:sp>
      <p:sp>
        <p:nvSpPr>
          <p:cNvPr id="4" name="Text 2"/>
          <p:cNvSpPr/>
          <p:nvPr/>
        </p:nvSpPr>
        <p:spPr>
          <a:xfrm>
            <a:off x="594360" y="1600200"/>
            <a:ext cx="10607040" cy="365760"/>
          </a:xfrm>
          <a:prstGeom prst="rect">
            <a:avLst/>
          </a:prstGeom>
          <a:noFill/>
          <a:ln/>
        </p:spPr>
        <p:txBody>
          <a:bodyPr wrap="square" lIns="0" tIns="0" rIns="0" bIns="0" rtlCol="0" anchor="ctr"/>
          <a:lstStyle/>
          <a:p>
            <a:pPr marL="0" indent="0">
              <a:buNone/>
            </a:pPr>
            <a:r>
              <a:rPr lang="en-US" sz="1250" i="1" dirty="0">
                <a:solidFill>
                  <a:srgbClr val="5A6472"/>
                </a:solidFill>
                <a:latin typeface="Times New Roman" pitchFamily="34" charset="0"/>
                <a:ea typeface="Times New Roman" pitchFamily="34" charset="-122"/>
                <a:cs typeface="Times New Roman" pitchFamily="34" charset="-120"/>
              </a:rPr>
              <a:t>The custom exception is thrown and caught exactly like a built-in one.</a:t>
            </a:r>
            <a:endParaRPr lang="en-US" sz="1250" dirty="0"/>
          </a:p>
        </p:txBody>
      </p:sp>
      <p:sp>
        <p:nvSpPr>
          <p:cNvPr id="5" name="Shape 3"/>
          <p:cNvSpPr/>
          <p:nvPr/>
        </p:nvSpPr>
        <p:spPr>
          <a:xfrm>
            <a:off x="594360" y="2002536"/>
            <a:ext cx="7040880" cy="4032504"/>
          </a:xfrm>
          <a:prstGeom prst="roundRect">
            <a:avLst>
              <a:gd name="adj" fmla="val 1814"/>
            </a:avLst>
          </a:prstGeom>
          <a:solidFill>
            <a:srgbClr val="1E1E2E"/>
          </a:solidFill>
          <a:ln w="12700">
            <a:solidFill>
              <a:srgbClr val="000000"/>
            </a:solidFill>
            <a:prstDash val="solid"/>
          </a:ln>
        </p:spPr>
      </p:sp>
      <p:sp>
        <p:nvSpPr>
          <p:cNvPr id="6" name="Shape 4"/>
          <p:cNvSpPr/>
          <p:nvPr/>
        </p:nvSpPr>
        <p:spPr>
          <a:xfrm>
            <a:off x="594360" y="2002536"/>
            <a:ext cx="7040880" cy="274320"/>
          </a:xfrm>
          <a:prstGeom prst="roundRect">
            <a:avLst>
              <a:gd name="adj" fmla="val 26667"/>
            </a:avLst>
          </a:prstGeom>
          <a:solidFill>
            <a:srgbClr val="17172A"/>
          </a:solidFill>
          <a:ln w="12700">
            <a:solidFill>
              <a:srgbClr val="000000"/>
            </a:solidFill>
            <a:prstDash val="solid"/>
          </a:ln>
        </p:spPr>
      </p:sp>
      <p:sp>
        <p:nvSpPr>
          <p:cNvPr id="7" name="Shape 5"/>
          <p:cNvSpPr/>
          <p:nvPr/>
        </p:nvSpPr>
        <p:spPr>
          <a:xfrm>
            <a:off x="594360" y="2203704"/>
            <a:ext cx="7040880" cy="73152"/>
          </a:xfrm>
          <a:prstGeom prst="rect">
            <a:avLst/>
          </a:prstGeom>
          <a:solidFill>
            <a:srgbClr val="17172A"/>
          </a:solidFill>
          <a:ln w="12700">
            <a:solidFill>
              <a:srgbClr val="000000"/>
            </a:solidFill>
            <a:prstDash val="solid"/>
          </a:ln>
        </p:spPr>
      </p:sp>
      <p:sp>
        <p:nvSpPr>
          <p:cNvPr id="8" name="Shape 6"/>
          <p:cNvSpPr/>
          <p:nvPr/>
        </p:nvSpPr>
        <p:spPr>
          <a:xfrm>
            <a:off x="722376" y="2101291"/>
            <a:ext cx="76810" cy="76810"/>
          </a:xfrm>
          <a:prstGeom prst="ellipse">
            <a:avLst/>
          </a:prstGeom>
          <a:solidFill>
            <a:srgbClr val="FF5F56"/>
          </a:solidFill>
          <a:ln w="12700">
            <a:solidFill>
              <a:srgbClr val="000000"/>
            </a:solidFill>
            <a:prstDash val="solid"/>
          </a:ln>
        </p:spPr>
      </p:sp>
      <p:sp>
        <p:nvSpPr>
          <p:cNvPr id="9" name="Shape 7"/>
          <p:cNvSpPr/>
          <p:nvPr/>
        </p:nvSpPr>
        <p:spPr>
          <a:xfrm>
            <a:off x="886968" y="2101291"/>
            <a:ext cx="76810" cy="76810"/>
          </a:xfrm>
          <a:prstGeom prst="ellipse">
            <a:avLst/>
          </a:prstGeom>
          <a:solidFill>
            <a:srgbClr val="FFBD2E"/>
          </a:solidFill>
          <a:ln w="12700">
            <a:solidFill>
              <a:srgbClr val="000000"/>
            </a:solidFill>
            <a:prstDash val="solid"/>
          </a:ln>
        </p:spPr>
      </p:sp>
      <p:sp>
        <p:nvSpPr>
          <p:cNvPr id="10" name="Shape 8"/>
          <p:cNvSpPr/>
          <p:nvPr/>
        </p:nvSpPr>
        <p:spPr>
          <a:xfrm>
            <a:off x="1051560" y="2101291"/>
            <a:ext cx="76810" cy="76810"/>
          </a:xfrm>
          <a:prstGeom prst="ellipse">
            <a:avLst/>
          </a:prstGeom>
          <a:solidFill>
            <a:srgbClr val="27C93F"/>
          </a:solidFill>
          <a:ln w="12700">
            <a:solidFill>
              <a:srgbClr val="000000"/>
            </a:solidFill>
            <a:prstDash val="solid"/>
          </a:ln>
        </p:spPr>
      </p:sp>
      <p:sp>
        <p:nvSpPr>
          <p:cNvPr id="11" name="Text 9"/>
          <p:cNvSpPr/>
          <p:nvPr/>
        </p:nvSpPr>
        <p:spPr>
          <a:xfrm>
            <a:off x="1371600" y="2002536"/>
            <a:ext cx="6126480" cy="274320"/>
          </a:xfrm>
          <a:prstGeom prst="rect">
            <a:avLst/>
          </a:prstGeom>
          <a:noFill/>
          <a:ln/>
        </p:spPr>
        <p:txBody>
          <a:bodyPr wrap="square" lIns="0" tIns="0" rIns="0" bIns="0" rtlCol="0" anchor="ctr"/>
          <a:lstStyle/>
          <a:p>
            <a:pPr marL="0" indent="0" algn="l">
              <a:buNone/>
            </a:pPr>
            <a:r>
              <a:rPr lang="en-US" sz="1000" dirty="0">
                <a:solidFill>
                  <a:srgbClr val="8A8FA3"/>
                </a:solidFill>
                <a:latin typeface="Courier New" pitchFamily="34" charset="0"/>
                <a:ea typeface="Courier New" pitchFamily="34" charset="-122"/>
                <a:cs typeface="Courier New" pitchFamily="34" charset="-120"/>
              </a:rPr>
              <a:t>Main.java</a:t>
            </a:r>
            <a:endParaRPr lang="en-US" sz="1000" dirty="0"/>
          </a:p>
        </p:txBody>
      </p:sp>
      <p:sp>
        <p:nvSpPr>
          <p:cNvPr id="12" name="Text 10"/>
          <p:cNvSpPr/>
          <p:nvPr/>
        </p:nvSpPr>
        <p:spPr>
          <a:xfrm>
            <a:off x="777240" y="2350008"/>
            <a:ext cx="6675120" cy="3611880"/>
          </a:xfrm>
          <a:prstGeom prst="rect">
            <a:avLst/>
          </a:prstGeom>
          <a:noFill/>
          <a:ln/>
        </p:spPr>
        <p:txBody>
          <a:bodyPr wrap="square" lIns="0" tIns="0" rIns="0" bIns="0" rtlCol="0" anchor="t"/>
          <a:lstStyle/>
          <a:p>
            <a:pPr marL="0" indent="0" algn="l">
              <a:lnSpc>
                <a:spcPct val="118000"/>
              </a:lnSpc>
              <a:buNone/>
            </a:pPr>
            <a:r>
              <a:rPr lang="en-US" sz="1200" b="1" dirty="0">
                <a:solidFill>
                  <a:srgbClr val="569CD6"/>
                </a:solidFill>
                <a:latin typeface="Courier New" pitchFamily="34" charset="0"/>
                <a:ea typeface="Courier New" pitchFamily="34" charset="-122"/>
                <a:cs typeface="Courier New" pitchFamily="34" charset="-120"/>
              </a:rPr>
              <a:t>public</a:t>
            </a:r>
            <a:r>
              <a:rPr lang="en-US" sz="1200" dirty="0">
                <a:solidFill>
                  <a:srgbClr val="D4D4D4"/>
                </a:solidFill>
                <a:latin typeface="Courier New" pitchFamily="34" charset="0"/>
                <a:ea typeface="Courier New" pitchFamily="34" charset="-122"/>
                <a:cs typeface="Courier New" pitchFamily="34" charset="-120"/>
              </a:rPr>
              <a:t> </a:t>
            </a:r>
            <a:r>
              <a:rPr lang="en-US" sz="1200" b="1" dirty="0">
                <a:solidFill>
                  <a:srgbClr val="569CD6"/>
                </a:solidFill>
                <a:latin typeface="Courier New" pitchFamily="34" charset="0"/>
                <a:ea typeface="Courier New" pitchFamily="34" charset="-122"/>
                <a:cs typeface="Courier New" pitchFamily="34" charset="-120"/>
              </a:rPr>
              <a:t>class</a:t>
            </a:r>
            <a:r>
              <a:rPr lang="en-US" sz="1200" dirty="0">
                <a:solidFill>
                  <a:srgbClr val="D4D4D4"/>
                </a:solidFill>
                <a:latin typeface="Courier New" pitchFamily="34" charset="0"/>
                <a:ea typeface="Courier New" pitchFamily="34" charset="-122"/>
                <a:cs typeface="Courier New" pitchFamily="34" charset="-120"/>
              </a:rPr>
              <a:t> CustomExceptionDemo {</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r>
              <a:rPr lang="en-US" sz="1200" b="1" dirty="0">
                <a:solidFill>
                  <a:srgbClr val="569CD6"/>
                </a:solidFill>
                <a:latin typeface="Courier New" pitchFamily="34" charset="0"/>
                <a:ea typeface="Courier New" pitchFamily="34" charset="-122"/>
                <a:cs typeface="Courier New" pitchFamily="34" charset="-120"/>
              </a:rPr>
              <a:t>static</a:t>
            </a:r>
            <a:r>
              <a:rPr lang="en-US" sz="1200" dirty="0">
                <a:solidFill>
                  <a:srgbClr val="D4D4D4"/>
                </a:solidFill>
                <a:latin typeface="Courier New" pitchFamily="34" charset="0"/>
                <a:ea typeface="Courier New" pitchFamily="34" charset="-122"/>
                <a:cs typeface="Courier New" pitchFamily="34" charset="-120"/>
              </a:rPr>
              <a:t> </a:t>
            </a:r>
            <a:r>
              <a:rPr lang="en-US" sz="1200" b="1" dirty="0">
                <a:solidFill>
                  <a:srgbClr val="569CD6"/>
                </a:solidFill>
                <a:latin typeface="Courier New" pitchFamily="34" charset="0"/>
                <a:ea typeface="Courier New" pitchFamily="34" charset="-122"/>
                <a:cs typeface="Courier New" pitchFamily="34" charset="-120"/>
              </a:rPr>
              <a:t>void</a:t>
            </a:r>
            <a:r>
              <a:rPr lang="en-US" sz="1200" dirty="0">
                <a:solidFill>
                  <a:srgbClr val="D4D4D4"/>
                </a:solidFill>
                <a:latin typeface="Courier New" pitchFamily="34" charset="0"/>
                <a:ea typeface="Courier New" pitchFamily="34" charset="-122"/>
                <a:cs typeface="Courier New" pitchFamily="34" charset="-120"/>
              </a:rPr>
              <a:t> </a:t>
            </a:r>
            <a:r>
              <a:rPr lang="en-US" sz="1200" dirty="0">
                <a:solidFill>
                  <a:srgbClr val="DCDCAA"/>
                </a:solidFill>
                <a:latin typeface="Courier New" pitchFamily="34" charset="0"/>
                <a:ea typeface="Courier New" pitchFamily="34" charset="-122"/>
                <a:cs typeface="Courier New" pitchFamily="34" charset="-120"/>
              </a:rPr>
              <a:t>withdraw</a:t>
            </a:r>
            <a:r>
              <a:rPr lang="en-US" sz="1200" dirty="0">
                <a:solidFill>
                  <a:srgbClr val="D4D4D4"/>
                </a:solidFill>
                <a:latin typeface="Courier New" pitchFamily="34" charset="0"/>
                <a:ea typeface="Courier New" pitchFamily="34" charset="-122"/>
                <a:cs typeface="Courier New" pitchFamily="34" charset="-120"/>
              </a:rPr>
              <a:t>(</a:t>
            </a:r>
            <a:r>
              <a:rPr lang="en-US" sz="1200" b="1" dirty="0">
                <a:solidFill>
                  <a:srgbClr val="569CD6"/>
                </a:solidFill>
                <a:latin typeface="Courier New" pitchFamily="34" charset="0"/>
                <a:ea typeface="Courier New" pitchFamily="34" charset="-122"/>
                <a:cs typeface="Courier New" pitchFamily="34" charset="-120"/>
              </a:rPr>
              <a:t>double</a:t>
            </a:r>
            <a:r>
              <a:rPr lang="en-US" sz="1200" dirty="0">
                <a:solidFill>
                  <a:srgbClr val="D4D4D4"/>
                </a:solidFill>
                <a:latin typeface="Courier New" pitchFamily="34" charset="0"/>
                <a:ea typeface="Courier New" pitchFamily="34" charset="-122"/>
                <a:cs typeface="Courier New" pitchFamily="34" charset="-120"/>
              </a:rPr>
              <a:t> balance, </a:t>
            </a:r>
            <a:r>
              <a:rPr lang="en-US" sz="1200" b="1" dirty="0">
                <a:solidFill>
                  <a:srgbClr val="569CD6"/>
                </a:solidFill>
                <a:latin typeface="Courier New" pitchFamily="34" charset="0"/>
                <a:ea typeface="Courier New" pitchFamily="34" charset="-122"/>
                <a:cs typeface="Courier New" pitchFamily="34" charset="-120"/>
              </a:rPr>
              <a:t>double</a:t>
            </a:r>
            <a:r>
              <a:rPr lang="en-US" sz="1200" dirty="0">
                <a:solidFill>
                  <a:srgbClr val="D4D4D4"/>
                </a:solidFill>
                <a:latin typeface="Courier New" pitchFamily="34" charset="0"/>
                <a:ea typeface="Courier New" pitchFamily="34" charset="-122"/>
                <a:cs typeface="Courier New" pitchFamily="34" charset="-120"/>
              </a:rPr>
              <a:t> amount) {</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r>
              <a:rPr lang="en-US" sz="1200" b="1" dirty="0">
                <a:solidFill>
                  <a:srgbClr val="569CD6"/>
                </a:solidFill>
                <a:latin typeface="Courier New" pitchFamily="34" charset="0"/>
                <a:ea typeface="Courier New" pitchFamily="34" charset="-122"/>
                <a:cs typeface="Courier New" pitchFamily="34" charset="-120"/>
              </a:rPr>
              <a:t>if</a:t>
            </a:r>
            <a:r>
              <a:rPr lang="en-US" sz="1200" dirty="0">
                <a:solidFill>
                  <a:srgbClr val="D4D4D4"/>
                </a:solidFill>
                <a:latin typeface="Courier New" pitchFamily="34" charset="0"/>
                <a:ea typeface="Courier New" pitchFamily="34" charset="-122"/>
                <a:cs typeface="Courier New" pitchFamily="34" charset="-120"/>
              </a:rPr>
              <a:t> (amount &gt; balance) {</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r>
              <a:rPr lang="en-US" sz="1200" b="1" dirty="0">
                <a:solidFill>
                  <a:srgbClr val="569CD6"/>
                </a:solidFill>
                <a:latin typeface="Courier New" pitchFamily="34" charset="0"/>
                <a:ea typeface="Courier New" pitchFamily="34" charset="-122"/>
                <a:cs typeface="Courier New" pitchFamily="34" charset="-120"/>
              </a:rPr>
              <a:t>throw</a:t>
            </a:r>
            <a:r>
              <a:rPr lang="en-US" sz="1200" dirty="0">
                <a:solidFill>
                  <a:srgbClr val="D4D4D4"/>
                </a:solidFill>
                <a:latin typeface="Courier New" pitchFamily="34" charset="0"/>
                <a:ea typeface="Courier New" pitchFamily="34" charset="-122"/>
                <a:cs typeface="Courier New" pitchFamily="34" charset="-120"/>
              </a:rPr>
              <a:t> </a:t>
            </a:r>
            <a:r>
              <a:rPr lang="en-US" sz="1200" b="1" dirty="0">
                <a:solidFill>
                  <a:srgbClr val="569CD6"/>
                </a:solidFill>
                <a:latin typeface="Courier New" pitchFamily="34" charset="0"/>
                <a:ea typeface="Courier New" pitchFamily="34" charset="-122"/>
                <a:cs typeface="Courier New" pitchFamily="34" charset="-120"/>
              </a:rPr>
              <a:t>new</a:t>
            </a:r>
            <a:r>
              <a:rPr lang="en-US" sz="1200" dirty="0">
                <a:solidFill>
                  <a:srgbClr val="D4D4D4"/>
                </a:solidFill>
                <a:latin typeface="Courier New" pitchFamily="34" charset="0"/>
                <a:ea typeface="Courier New" pitchFamily="34" charset="-122"/>
                <a:cs typeface="Courier New" pitchFamily="34" charset="-120"/>
              </a:rPr>
              <a:t> </a:t>
            </a:r>
            <a:r>
              <a:rPr lang="en-US" sz="1200" dirty="0">
                <a:solidFill>
                  <a:srgbClr val="DCDCAA"/>
                </a:solidFill>
                <a:latin typeface="Courier New" pitchFamily="34" charset="0"/>
                <a:ea typeface="Courier New" pitchFamily="34" charset="-122"/>
                <a:cs typeface="Courier New" pitchFamily="34" charset="-120"/>
              </a:rPr>
              <a:t>InsufficientBalanceException</a:t>
            </a:r>
            <a:r>
              <a:rPr lang="en-US" sz="1200" dirty="0">
                <a:solidFill>
                  <a:srgbClr val="D4D4D4"/>
                </a:solidFill>
                <a:latin typeface="Courier New" pitchFamily="34" charset="0"/>
                <a:ea typeface="Courier New" pitchFamily="34" charset="-122"/>
                <a:cs typeface="Courier New" pitchFamily="34" charset="-120"/>
              </a:rPr>
              <a:t>(</a:t>
            </a:r>
            <a:r>
              <a:rPr lang="en-US" sz="1200" dirty="0">
                <a:solidFill>
                  <a:srgbClr val="CE9178"/>
                </a:solidFill>
                <a:latin typeface="Courier New" pitchFamily="34" charset="0"/>
                <a:ea typeface="Courier New" pitchFamily="34" charset="-122"/>
                <a:cs typeface="Courier New" pitchFamily="34" charset="-120"/>
              </a:rPr>
              <a:t>"Insufficient balance"</a:t>
            </a:r>
            <a:r>
              <a:rPr lang="en-US" sz="1200" dirty="0">
                <a:solidFill>
                  <a:srgbClr val="D4D4D4"/>
                </a:solidFill>
                <a:latin typeface="Courier New" pitchFamily="34" charset="0"/>
                <a:ea typeface="Courier New" pitchFamily="34" charset="-122"/>
                <a:cs typeface="Courier New" pitchFamily="34" charset="-120"/>
              </a:rPr>
              <a:t>);</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r>
              <a:rPr lang="en-US" sz="1200" dirty="0">
                <a:solidFill>
                  <a:srgbClr val="4EC9B0"/>
                </a:solidFill>
                <a:latin typeface="Courier New" pitchFamily="34" charset="0"/>
                <a:ea typeface="Courier New" pitchFamily="34" charset="-122"/>
                <a:cs typeface="Courier New" pitchFamily="34" charset="-120"/>
              </a:rPr>
              <a:t>System</a:t>
            </a:r>
            <a:r>
              <a:rPr lang="en-US" sz="1200" dirty="0">
                <a:solidFill>
                  <a:srgbClr val="D4D4D4"/>
                </a:solidFill>
                <a:latin typeface="Courier New" pitchFamily="34" charset="0"/>
                <a:ea typeface="Courier New" pitchFamily="34" charset="-122"/>
                <a:cs typeface="Courier New" pitchFamily="34" charset="-120"/>
              </a:rPr>
              <a:t>.out.</a:t>
            </a:r>
            <a:r>
              <a:rPr lang="en-US" sz="1200" dirty="0">
                <a:solidFill>
                  <a:srgbClr val="DCDCAA"/>
                </a:solidFill>
                <a:latin typeface="Courier New" pitchFamily="34" charset="0"/>
                <a:ea typeface="Courier New" pitchFamily="34" charset="-122"/>
                <a:cs typeface="Courier New" pitchFamily="34" charset="-120"/>
              </a:rPr>
              <a:t>println</a:t>
            </a:r>
            <a:r>
              <a:rPr lang="en-US" sz="1200" dirty="0">
                <a:solidFill>
                  <a:srgbClr val="D4D4D4"/>
                </a:solidFill>
                <a:latin typeface="Courier New" pitchFamily="34" charset="0"/>
                <a:ea typeface="Courier New" pitchFamily="34" charset="-122"/>
                <a:cs typeface="Courier New" pitchFamily="34" charset="-120"/>
              </a:rPr>
              <a:t>(</a:t>
            </a:r>
            <a:r>
              <a:rPr lang="en-US" sz="1200" dirty="0">
                <a:solidFill>
                  <a:srgbClr val="CE9178"/>
                </a:solidFill>
                <a:latin typeface="Courier New" pitchFamily="34" charset="0"/>
                <a:ea typeface="Courier New" pitchFamily="34" charset="-122"/>
                <a:cs typeface="Courier New" pitchFamily="34" charset="-120"/>
              </a:rPr>
              <a:t>"Withdrawal successful"</a:t>
            </a:r>
            <a:r>
              <a:rPr lang="en-US" sz="1200" dirty="0">
                <a:solidFill>
                  <a:srgbClr val="D4D4D4"/>
                </a:solidFill>
                <a:latin typeface="Courier New" pitchFamily="34" charset="0"/>
                <a:ea typeface="Courier New" pitchFamily="34" charset="-122"/>
                <a:cs typeface="Courier New" pitchFamily="34" charset="-120"/>
              </a:rPr>
              <a:t>);</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r>
              <a:rPr lang="en-US" sz="1200" b="1" dirty="0">
                <a:solidFill>
                  <a:srgbClr val="569CD6"/>
                </a:solidFill>
                <a:latin typeface="Courier New" pitchFamily="34" charset="0"/>
                <a:ea typeface="Courier New" pitchFamily="34" charset="-122"/>
                <a:cs typeface="Courier New" pitchFamily="34" charset="-120"/>
              </a:rPr>
              <a:t>public</a:t>
            </a:r>
            <a:r>
              <a:rPr lang="en-US" sz="1200" dirty="0">
                <a:solidFill>
                  <a:srgbClr val="D4D4D4"/>
                </a:solidFill>
                <a:latin typeface="Courier New" pitchFamily="34" charset="0"/>
                <a:ea typeface="Courier New" pitchFamily="34" charset="-122"/>
                <a:cs typeface="Courier New" pitchFamily="34" charset="-120"/>
              </a:rPr>
              <a:t> </a:t>
            </a:r>
            <a:r>
              <a:rPr lang="en-US" sz="1200" b="1" dirty="0">
                <a:solidFill>
                  <a:srgbClr val="569CD6"/>
                </a:solidFill>
                <a:latin typeface="Courier New" pitchFamily="34" charset="0"/>
                <a:ea typeface="Courier New" pitchFamily="34" charset="-122"/>
                <a:cs typeface="Courier New" pitchFamily="34" charset="-120"/>
              </a:rPr>
              <a:t>static</a:t>
            </a:r>
            <a:r>
              <a:rPr lang="en-US" sz="1200" dirty="0">
                <a:solidFill>
                  <a:srgbClr val="D4D4D4"/>
                </a:solidFill>
                <a:latin typeface="Courier New" pitchFamily="34" charset="0"/>
                <a:ea typeface="Courier New" pitchFamily="34" charset="-122"/>
                <a:cs typeface="Courier New" pitchFamily="34" charset="-120"/>
              </a:rPr>
              <a:t> </a:t>
            </a:r>
            <a:r>
              <a:rPr lang="en-US" sz="1200" b="1" dirty="0">
                <a:solidFill>
                  <a:srgbClr val="569CD6"/>
                </a:solidFill>
                <a:latin typeface="Courier New" pitchFamily="34" charset="0"/>
                <a:ea typeface="Courier New" pitchFamily="34" charset="-122"/>
                <a:cs typeface="Courier New" pitchFamily="34" charset="-120"/>
              </a:rPr>
              <a:t>void</a:t>
            </a:r>
            <a:r>
              <a:rPr lang="en-US" sz="1200" dirty="0">
                <a:solidFill>
                  <a:srgbClr val="D4D4D4"/>
                </a:solidFill>
                <a:latin typeface="Courier New" pitchFamily="34" charset="0"/>
                <a:ea typeface="Courier New" pitchFamily="34" charset="-122"/>
                <a:cs typeface="Courier New" pitchFamily="34" charset="-120"/>
              </a:rPr>
              <a:t> </a:t>
            </a:r>
            <a:r>
              <a:rPr lang="en-US" sz="1200" dirty="0">
                <a:solidFill>
                  <a:srgbClr val="DCDCAA"/>
                </a:solidFill>
                <a:latin typeface="Courier New" pitchFamily="34" charset="0"/>
                <a:ea typeface="Courier New" pitchFamily="34" charset="-122"/>
                <a:cs typeface="Courier New" pitchFamily="34" charset="-120"/>
              </a:rPr>
              <a:t>main</a:t>
            </a:r>
            <a:r>
              <a:rPr lang="en-US" sz="1200" dirty="0">
                <a:solidFill>
                  <a:srgbClr val="D4D4D4"/>
                </a:solidFill>
                <a:latin typeface="Courier New" pitchFamily="34" charset="0"/>
                <a:ea typeface="Courier New" pitchFamily="34" charset="-122"/>
                <a:cs typeface="Courier New" pitchFamily="34" charset="-120"/>
              </a:rPr>
              <a:t>(</a:t>
            </a:r>
            <a:r>
              <a:rPr lang="en-US" sz="1200" dirty="0">
                <a:solidFill>
                  <a:srgbClr val="4EC9B0"/>
                </a:solidFill>
                <a:latin typeface="Courier New" pitchFamily="34" charset="0"/>
                <a:ea typeface="Courier New" pitchFamily="34" charset="-122"/>
                <a:cs typeface="Courier New" pitchFamily="34" charset="-120"/>
              </a:rPr>
              <a:t>String</a:t>
            </a:r>
            <a:r>
              <a:rPr lang="en-US" sz="1200" dirty="0">
                <a:solidFill>
                  <a:srgbClr val="D4D4D4"/>
                </a:solidFill>
                <a:latin typeface="Courier New" pitchFamily="34" charset="0"/>
                <a:ea typeface="Courier New" pitchFamily="34" charset="-122"/>
                <a:cs typeface="Courier New" pitchFamily="34" charset="-120"/>
              </a:rPr>
              <a:t>[] args) {</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r>
              <a:rPr lang="en-US" sz="1200" b="1" dirty="0">
                <a:solidFill>
                  <a:srgbClr val="569CD6"/>
                </a:solidFill>
                <a:latin typeface="Courier New" pitchFamily="34" charset="0"/>
                <a:ea typeface="Courier New" pitchFamily="34" charset="-122"/>
                <a:cs typeface="Courier New" pitchFamily="34" charset="-120"/>
              </a:rPr>
              <a:t>try</a:t>
            </a:r>
            <a:r>
              <a:rPr lang="en-US" sz="1200" dirty="0">
                <a:solidFill>
                  <a:srgbClr val="D4D4D4"/>
                </a:solidFill>
                <a:latin typeface="Courier New" pitchFamily="34" charset="0"/>
                <a:ea typeface="Courier New" pitchFamily="34" charset="-122"/>
                <a:cs typeface="Courier New" pitchFamily="34" charset="-120"/>
              </a:rPr>
              <a:t> {</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r>
              <a:rPr lang="en-US" sz="1200" dirty="0">
                <a:solidFill>
                  <a:srgbClr val="DCDCAA"/>
                </a:solidFill>
                <a:latin typeface="Courier New" pitchFamily="34" charset="0"/>
                <a:ea typeface="Courier New" pitchFamily="34" charset="-122"/>
                <a:cs typeface="Courier New" pitchFamily="34" charset="-120"/>
              </a:rPr>
              <a:t>withdraw</a:t>
            </a:r>
            <a:r>
              <a:rPr lang="en-US" sz="1200" dirty="0">
                <a:solidFill>
                  <a:srgbClr val="D4D4D4"/>
                </a:solidFill>
                <a:latin typeface="Courier New" pitchFamily="34" charset="0"/>
                <a:ea typeface="Courier New" pitchFamily="34" charset="-122"/>
                <a:cs typeface="Courier New" pitchFamily="34" charset="-120"/>
              </a:rPr>
              <a:t>(</a:t>
            </a:r>
            <a:r>
              <a:rPr lang="en-US" sz="1200" dirty="0">
                <a:solidFill>
                  <a:srgbClr val="B5CEA8"/>
                </a:solidFill>
                <a:latin typeface="Courier New" pitchFamily="34" charset="0"/>
                <a:ea typeface="Courier New" pitchFamily="34" charset="-122"/>
                <a:cs typeface="Courier New" pitchFamily="34" charset="-120"/>
              </a:rPr>
              <a:t>100</a:t>
            </a:r>
            <a:r>
              <a:rPr lang="en-US" sz="1200" dirty="0">
                <a:solidFill>
                  <a:srgbClr val="D4D4D4"/>
                </a:solidFill>
                <a:latin typeface="Courier New" pitchFamily="34" charset="0"/>
                <a:ea typeface="Courier New" pitchFamily="34" charset="-122"/>
                <a:cs typeface="Courier New" pitchFamily="34" charset="-120"/>
              </a:rPr>
              <a:t>, </a:t>
            </a:r>
            <a:r>
              <a:rPr lang="en-US" sz="1200" dirty="0">
                <a:solidFill>
                  <a:srgbClr val="B5CEA8"/>
                </a:solidFill>
                <a:latin typeface="Courier New" pitchFamily="34" charset="0"/>
                <a:ea typeface="Courier New" pitchFamily="34" charset="-122"/>
                <a:cs typeface="Courier New" pitchFamily="34" charset="-120"/>
              </a:rPr>
              <a:t>500</a:t>
            </a:r>
            <a:r>
              <a:rPr lang="en-US" sz="1200" dirty="0">
                <a:solidFill>
                  <a:srgbClr val="D4D4D4"/>
                </a:solidFill>
                <a:latin typeface="Courier New" pitchFamily="34" charset="0"/>
                <a:ea typeface="Courier New" pitchFamily="34" charset="-122"/>
                <a:cs typeface="Courier New" pitchFamily="34" charset="-120"/>
              </a:rPr>
              <a:t>);</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 </a:t>
            </a:r>
            <a:r>
              <a:rPr lang="en-US" sz="1200" b="1" dirty="0">
                <a:solidFill>
                  <a:srgbClr val="569CD6"/>
                </a:solidFill>
                <a:latin typeface="Courier New" pitchFamily="34" charset="0"/>
                <a:ea typeface="Courier New" pitchFamily="34" charset="-122"/>
                <a:cs typeface="Courier New" pitchFamily="34" charset="-120"/>
              </a:rPr>
              <a:t>catch</a:t>
            </a:r>
            <a:r>
              <a:rPr lang="en-US" sz="1200" dirty="0">
                <a:solidFill>
                  <a:srgbClr val="D4D4D4"/>
                </a:solidFill>
                <a:latin typeface="Courier New" pitchFamily="34" charset="0"/>
                <a:ea typeface="Courier New" pitchFamily="34" charset="-122"/>
                <a:cs typeface="Courier New" pitchFamily="34" charset="-120"/>
              </a:rPr>
              <a:t> (InsufficientBalanceException e) {</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r>
              <a:rPr lang="en-US" sz="1200" dirty="0">
                <a:solidFill>
                  <a:srgbClr val="4EC9B0"/>
                </a:solidFill>
                <a:latin typeface="Courier New" pitchFamily="34" charset="0"/>
                <a:ea typeface="Courier New" pitchFamily="34" charset="-122"/>
                <a:cs typeface="Courier New" pitchFamily="34" charset="-120"/>
              </a:rPr>
              <a:t>System</a:t>
            </a:r>
            <a:r>
              <a:rPr lang="en-US" sz="1200" dirty="0">
                <a:solidFill>
                  <a:srgbClr val="D4D4D4"/>
                </a:solidFill>
                <a:latin typeface="Courier New" pitchFamily="34" charset="0"/>
                <a:ea typeface="Courier New" pitchFamily="34" charset="-122"/>
                <a:cs typeface="Courier New" pitchFamily="34" charset="-120"/>
              </a:rPr>
              <a:t>.out.</a:t>
            </a:r>
            <a:r>
              <a:rPr lang="en-US" sz="1200" dirty="0">
                <a:solidFill>
                  <a:srgbClr val="DCDCAA"/>
                </a:solidFill>
                <a:latin typeface="Courier New" pitchFamily="34" charset="0"/>
                <a:ea typeface="Courier New" pitchFamily="34" charset="-122"/>
                <a:cs typeface="Courier New" pitchFamily="34" charset="-120"/>
              </a:rPr>
              <a:t>println</a:t>
            </a:r>
            <a:r>
              <a:rPr lang="en-US" sz="1200" dirty="0">
                <a:solidFill>
                  <a:srgbClr val="D4D4D4"/>
                </a:solidFill>
                <a:latin typeface="Courier New" pitchFamily="34" charset="0"/>
                <a:ea typeface="Courier New" pitchFamily="34" charset="-122"/>
                <a:cs typeface="Courier New" pitchFamily="34" charset="-120"/>
              </a:rPr>
              <a:t>(e.</a:t>
            </a:r>
            <a:r>
              <a:rPr lang="en-US" sz="1200" dirty="0">
                <a:solidFill>
                  <a:srgbClr val="DCDCAA"/>
                </a:solidFill>
                <a:latin typeface="Courier New" pitchFamily="34" charset="0"/>
                <a:ea typeface="Courier New" pitchFamily="34" charset="-122"/>
                <a:cs typeface="Courier New" pitchFamily="34" charset="-120"/>
              </a:rPr>
              <a:t>getMessage</a:t>
            </a:r>
            <a:r>
              <a:rPr lang="en-US" sz="1200" dirty="0">
                <a:solidFill>
                  <a:srgbClr val="D4D4D4"/>
                </a:solidFill>
                <a:latin typeface="Courier New" pitchFamily="34" charset="0"/>
                <a:ea typeface="Courier New" pitchFamily="34" charset="-122"/>
                <a:cs typeface="Courier New" pitchFamily="34" charset="-120"/>
              </a:rPr>
              <a:t>());</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a:t>
            </a:r>
            <a:endParaRPr lang="en-US" sz="1200" dirty="0"/>
          </a:p>
        </p:txBody>
      </p:sp>
      <p:sp>
        <p:nvSpPr>
          <p:cNvPr id="13" name="Shape 11"/>
          <p:cNvSpPr/>
          <p:nvPr/>
        </p:nvSpPr>
        <p:spPr>
          <a:xfrm>
            <a:off x="7909560" y="2002536"/>
            <a:ext cx="3886200" cy="4032504"/>
          </a:xfrm>
          <a:prstGeom prst="roundRect">
            <a:avLst>
              <a:gd name="adj" fmla="val 1882"/>
            </a:avLst>
          </a:prstGeom>
          <a:solidFill>
            <a:srgbClr val="181C24"/>
          </a:solidFill>
          <a:ln w="12700">
            <a:solidFill>
              <a:srgbClr val="000000"/>
            </a:solidFill>
            <a:prstDash val="solid"/>
          </a:ln>
        </p:spPr>
      </p:sp>
      <p:sp>
        <p:nvSpPr>
          <p:cNvPr id="14" name="Text 12"/>
          <p:cNvSpPr/>
          <p:nvPr/>
        </p:nvSpPr>
        <p:spPr>
          <a:xfrm>
            <a:off x="8074152" y="2130552"/>
            <a:ext cx="3557016" cy="274320"/>
          </a:xfrm>
          <a:prstGeom prst="rect">
            <a:avLst/>
          </a:prstGeom>
          <a:noFill/>
          <a:ln/>
        </p:spPr>
        <p:txBody>
          <a:bodyPr wrap="square" lIns="0" tIns="0" rIns="0" bIns="0" rtlCol="0" anchor="ctr"/>
          <a:lstStyle/>
          <a:p>
            <a:pPr marL="0" indent="0">
              <a:buNone/>
            </a:pPr>
            <a:r>
              <a:rPr lang="en-US" sz="1000" b="1" kern="0" spc="100" dirty="0">
                <a:solidFill>
                  <a:srgbClr val="E8590C"/>
                </a:solidFill>
                <a:latin typeface="Times New Roman" pitchFamily="34" charset="0"/>
                <a:ea typeface="Times New Roman" pitchFamily="34" charset="-122"/>
                <a:cs typeface="Times New Roman" pitchFamily="34" charset="-120"/>
              </a:rPr>
              <a:t>CONSOLE OUTPUT</a:t>
            </a:r>
            <a:endParaRPr lang="en-US" sz="1000" dirty="0"/>
          </a:p>
        </p:txBody>
      </p:sp>
      <p:sp>
        <p:nvSpPr>
          <p:cNvPr id="15" name="Text 13"/>
          <p:cNvSpPr/>
          <p:nvPr/>
        </p:nvSpPr>
        <p:spPr>
          <a:xfrm>
            <a:off x="8074152" y="2459736"/>
            <a:ext cx="3557016" cy="3429000"/>
          </a:xfrm>
          <a:prstGeom prst="rect">
            <a:avLst/>
          </a:prstGeom>
          <a:noFill/>
          <a:ln/>
        </p:spPr>
        <p:txBody>
          <a:bodyPr wrap="square" lIns="0" tIns="0" rIns="0" bIns="0" rtlCol="0" anchor="t"/>
          <a:lstStyle/>
          <a:p>
            <a:pPr marL="0" indent="0">
              <a:lnSpc>
                <a:spcPct val="130000"/>
              </a:lnSpc>
              <a:buNone/>
            </a:pPr>
            <a:r>
              <a:rPr lang="en-US" sz="1300" dirty="0">
                <a:solidFill>
                  <a:srgbClr val="D8E6D0"/>
                </a:solidFill>
                <a:latin typeface="Courier New" pitchFamily="34" charset="0"/>
                <a:ea typeface="Courier New" pitchFamily="34" charset="-122"/>
                <a:cs typeface="Courier New" pitchFamily="34" charset="-120"/>
              </a:rPr>
              <a:t>Insufficient balance</a:t>
            </a:r>
            <a:endParaRPr lang="en-US" sz="1300" dirty="0"/>
          </a:p>
        </p:txBody>
      </p:sp>
      <p:sp>
        <p:nvSpPr>
          <p:cNvPr id="16" name="Shape 14"/>
          <p:cNvSpPr/>
          <p:nvPr/>
        </p:nvSpPr>
        <p:spPr>
          <a:xfrm>
            <a:off x="0" y="0"/>
            <a:ext cx="12191695" cy="384048"/>
          </a:xfrm>
          <a:prstGeom prst="rect">
            <a:avLst/>
          </a:prstGeom>
          <a:solidFill>
            <a:srgbClr val="1B2A4A"/>
          </a:solidFill>
          <a:ln w="12700">
            <a:solidFill>
              <a:srgbClr val="1B2A4A"/>
            </a:solidFill>
            <a:prstDash val="solid"/>
          </a:ln>
        </p:spPr>
      </p:sp>
      <p:sp>
        <p:nvSpPr>
          <p:cNvPr id="17" name="Text 15"/>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8" name="Shape 16"/>
          <p:cNvSpPr/>
          <p:nvPr/>
        </p:nvSpPr>
        <p:spPr>
          <a:xfrm>
            <a:off x="219456" y="301752"/>
            <a:ext cx="960120" cy="0"/>
          </a:xfrm>
          <a:prstGeom prst="line">
            <a:avLst/>
          </a:prstGeom>
          <a:noFill/>
          <a:ln w="9525">
            <a:solidFill>
              <a:srgbClr val="4A5570"/>
            </a:solidFill>
            <a:prstDash val="solid"/>
          </a:ln>
        </p:spPr>
      </p:sp>
      <p:sp>
        <p:nvSpPr>
          <p:cNvPr id="19" name="Text 17"/>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0" name="Text 18"/>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1" name="Text 19"/>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2" name="Shape 20"/>
          <p:cNvSpPr/>
          <p:nvPr/>
        </p:nvSpPr>
        <p:spPr>
          <a:xfrm>
            <a:off x="0" y="6291072"/>
            <a:ext cx="12191695" cy="566928"/>
          </a:xfrm>
          <a:prstGeom prst="rect">
            <a:avLst/>
          </a:prstGeom>
          <a:solidFill>
            <a:srgbClr val="1B2A4A"/>
          </a:solidFill>
          <a:ln w="12700">
            <a:solidFill>
              <a:srgbClr val="1B2A4A"/>
            </a:solidFill>
            <a:prstDash val="solid"/>
          </a:ln>
        </p:spPr>
      </p:sp>
      <p:sp>
        <p:nvSpPr>
          <p:cNvPr id="23" name="Text 21"/>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4" name="Text 22"/>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1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COMMON MISTAKES</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Pitfalls with Exceptions</a:t>
            </a:r>
            <a:endParaRPr lang="en-US" sz="2700" dirty="0"/>
          </a:p>
        </p:txBody>
      </p:sp>
      <p:sp>
        <p:nvSpPr>
          <p:cNvPr id="4" name="Shape 2"/>
          <p:cNvSpPr/>
          <p:nvPr/>
        </p:nvSpPr>
        <p:spPr>
          <a:xfrm>
            <a:off x="594360" y="1691640"/>
            <a:ext cx="10607040" cy="2089404"/>
          </a:xfrm>
          <a:prstGeom prst="roundRect">
            <a:avLst>
              <a:gd name="adj" fmla="val 2626"/>
            </a:avLst>
          </a:prstGeom>
          <a:solidFill>
            <a:srgbClr val="F5F6FA"/>
          </a:solidFill>
          <a:ln w="9525">
            <a:solidFill>
              <a:srgbClr val="E4E7EE"/>
            </a:solidFill>
            <a:prstDash val="solid"/>
          </a:ln>
        </p:spPr>
      </p:sp>
      <p:sp>
        <p:nvSpPr>
          <p:cNvPr id="5" name="Shape 3"/>
          <p:cNvSpPr/>
          <p:nvPr/>
        </p:nvSpPr>
        <p:spPr>
          <a:xfrm>
            <a:off x="777240" y="1874520"/>
            <a:ext cx="109728" cy="109728"/>
          </a:xfrm>
          <a:prstGeom prst="ellipse">
            <a:avLst/>
          </a:prstGeom>
          <a:solidFill>
            <a:srgbClr val="E8590C"/>
          </a:solidFill>
          <a:ln w="12700">
            <a:solidFill>
              <a:srgbClr val="000000"/>
            </a:solidFill>
            <a:prstDash val="solid"/>
          </a:ln>
        </p:spPr>
      </p:sp>
      <p:sp>
        <p:nvSpPr>
          <p:cNvPr id="6" name="Text 4"/>
          <p:cNvSpPr/>
          <p:nvPr/>
        </p:nvSpPr>
        <p:spPr>
          <a:xfrm>
            <a:off x="1051560" y="1764792"/>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Catching an exception and doing nothing with it</a:t>
            </a:r>
            <a:endParaRPr lang="en-US" sz="1500" dirty="0"/>
          </a:p>
        </p:txBody>
      </p:sp>
      <p:sp>
        <p:nvSpPr>
          <p:cNvPr id="7" name="Text 5"/>
          <p:cNvSpPr/>
          <p:nvPr/>
        </p:nvSpPr>
        <p:spPr>
          <a:xfrm>
            <a:off x="1051560" y="2057400"/>
            <a:ext cx="9966960" cy="1668780"/>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Silently swallowing an exception makes bugs far harder to diagnose later.</a:t>
            </a:r>
            <a:endParaRPr lang="en-US" sz="1250" dirty="0"/>
          </a:p>
        </p:txBody>
      </p:sp>
      <p:sp>
        <p:nvSpPr>
          <p:cNvPr id="8" name="Shape 6"/>
          <p:cNvSpPr/>
          <p:nvPr/>
        </p:nvSpPr>
        <p:spPr>
          <a:xfrm>
            <a:off x="594360" y="3945636"/>
            <a:ext cx="10607040" cy="2089404"/>
          </a:xfrm>
          <a:prstGeom prst="roundRect">
            <a:avLst>
              <a:gd name="adj" fmla="val 2626"/>
            </a:avLst>
          </a:prstGeom>
          <a:solidFill>
            <a:srgbClr val="F5F6FA"/>
          </a:solidFill>
          <a:ln w="9525">
            <a:solidFill>
              <a:srgbClr val="E4E7EE"/>
            </a:solidFill>
            <a:prstDash val="solid"/>
          </a:ln>
        </p:spPr>
      </p:sp>
      <p:sp>
        <p:nvSpPr>
          <p:cNvPr id="9" name="Shape 7"/>
          <p:cNvSpPr/>
          <p:nvPr/>
        </p:nvSpPr>
        <p:spPr>
          <a:xfrm>
            <a:off x="777240" y="4128516"/>
            <a:ext cx="109728" cy="109728"/>
          </a:xfrm>
          <a:prstGeom prst="ellipse">
            <a:avLst/>
          </a:prstGeom>
          <a:solidFill>
            <a:srgbClr val="E8590C"/>
          </a:solidFill>
          <a:ln w="12700">
            <a:solidFill>
              <a:srgbClr val="000000"/>
            </a:solidFill>
            <a:prstDash val="solid"/>
          </a:ln>
        </p:spPr>
      </p:sp>
      <p:sp>
        <p:nvSpPr>
          <p:cNvPr id="10" name="Text 8"/>
          <p:cNvSpPr/>
          <p:nvPr/>
        </p:nvSpPr>
        <p:spPr>
          <a:xfrm>
            <a:off x="1051560" y="4018788"/>
            <a:ext cx="9966960" cy="310896"/>
          </a:xfrm>
          <a:prstGeom prst="rect">
            <a:avLst/>
          </a:prstGeom>
          <a:noFill/>
          <a:ln/>
        </p:spPr>
        <p:txBody>
          <a:bodyPr wrap="square" lIns="0" tIns="0" rIns="0" bIns="0" rtlCol="0" anchor="t"/>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Catching Exception too broadly</a:t>
            </a:r>
            <a:endParaRPr lang="en-US" sz="1500" dirty="0"/>
          </a:p>
        </p:txBody>
      </p:sp>
      <p:sp>
        <p:nvSpPr>
          <p:cNvPr id="11" name="Text 9"/>
          <p:cNvSpPr/>
          <p:nvPr/>
        </p:nvSpPr>
        <p:spPr>
          <a:xfrm>
            <a:off x="1051560" y="4311396"/>
            <a:ext cx="9966960" cy="1668780"/>
          </a:xfrm>
          <a:prstGeom prst="rect">
            <a:avLst/>
          </a:prstGeom>
          <a:noFill/>
          <a:ln/>
        </p:spPr>
        <p:txBody>
          <a:bodyPr wrap="square" lIns="0" tIns="0" rIns="0" bIns="0" rtlCol="0" anchor="t"/>
          <a:lstStyle/>
          <a:p>
            <a:pPr marL="0" indent="0">
              <a:buNone/>
            </a:pPr>
            <a:r>
              <a:rPr lang="en-US" sz="1250" dirty="0">
                <a:solidFill>
                  <a:srgbClr val="5A6472"/>
                </a:solidFill>
                <a:latin typeface="Times New Roman" pitchFamily="34" charset="0"/>
                <a:ea typeface="Times New Roman" pitchFamily="34" charset="-122"/>
                <a:cs typeface="Times New Roman" pitchFamily="34" charset="-120"/>
              </a:rPr>
              <a:t>Catching the general Exception type can hide specific, unexpected errors that deserve their own handling.</a:t>
            </a:r>
            <a:endParaRPr lang="en-US" sz="1250" dirty="0"/>
          </a:p>
        </p:txBody>
      </p:sp>
      <p:sp>
        <p:nvSpPr>
          <p:cNvPr id="12" name="Shape 10"/>
          <p:cNvSpPr/>
          <p:nvPr/>
        </p:nvSpPr>
        <p:spPr>
          <a:xfrm>
            <a:off x="0" y="0"/>
            <a:ext cx="12191695" cy="384048"/>
          </a:xfrm>
          <a:prstGeom prst="rect">
            <a:avLst/>
          </a:prstGeom>
          <a:solidFill>
            <a:srgbClr val="1B2A4A"/>
          </a:solidFill>
          <a:ln w="12700">
            <a:solidFill>
              <a:srgbClr val="1B2A4A"/>
            </a:solidFill>
            <a:prstDash val="solid"/>
          </a:ln>
        </p:spPr>
      </p:sp>
      <p:sp>
        <p:nvSpPr>
          <p:cNvPr id="13" name="Text 11"/>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4" name="Shape 12"/>
          <p:cNvSpPr/>
          <p:nvPr/>
        </p:nvSpPr>
        <p:spPr>
          <a:xfrm>
            <a:off x="219456" y="301752"/>
            <a:ext cx="960120" cy="0"/>
          </a:xfrm>
          <a:prstGeom prst="line">
            <a:avLst/>
          </a:prstGeom>
          <a:noFill/>
          <a:ln w="9525">
            <a:solidFill>
              <a:srgbClr val="4A5570"/>
            </a:solidFill>
            <a:prstDash val="solid"/>
          </a:ln>
        </p:spPr>
      </p:sp>
      <p:sp>
        <p:nvSpPr>
          <p:cNvPr id="15" name="Text 13"/>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16" name="Text 14"/>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17" name="Text 15"/>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18" name="Shape 16"/>
          <p:cNvSpPr/>
          <p:nvPr/>
        </p:nvSpPr>
        <p:spPr>
          <a:xfrm>
            <a:off x="0" y="6291072"/>
            <a:ext cx="12191695" cy="566928"/>
          </a:xfrm>
          <a:prstGeom prst="rect">
            <a:avLst/>
          </a:prstGeom>
          <a:solidFill>
            <a:srgbClr val="1B2A4A"/>
          </a:solidFill>
          <a:ln w="12700">
            <a:solidFill>
              <a:srgbClr val="1B2A4A"/>
            </a:solidFill>
            <a:prstDash val="solid"/>
          </a:ln>
        </p:spPr>
      </p:sp>
      <p:sp>
        <p:nvSpPr>
          <p:cNvPr id="19" name="Text 17"/>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0" name="Text 18"/>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lide 1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PRACTICE</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Practice: An InsufficientBalanceException</a:t>
            </a:r>
            <a:endParaRPr lang="en-US" sz="2700" dirty="0"/>
          </a:p>
        </p:txBody>
      </p:sp>
      <p:sp>
        <p:nvSpPr>
          <p:cNvPr id="4" name="Text 2"/>
          <p:cNvSpPr/>
          <p:nvPr/>
        </p:nvSpPr>
        <p:spPr>
          <a:xfrm>
            <a:off x="594360" y="1600200"/>
            <a:ext cx="10607040" cy="365760"/>
          </a:xfrm>
          <a:prstGeom prst="rect">
            <a:avLst/>
          </a:prstGeom>
          <a:noFill/>
          <a:ln/>
        </p:spPr>
        <p:txBody>
          <a:bodyPr wrap="square" lIns="0" tIns="0" rIns="0" bIns="0" rtlCol="0" anchor="ctr"/>
          <a:lstStyle/>
          <a:p>
            <a:pPr marL="0" indent="0">
              <a:buNone/>
            </a:pPr>
            <a:r>
              <a:rPr lang="en-US" sz="1250" i="1" dirty="0">
                <a:solidFill>
                  <a:srgbClr val="5A6472"/>
                </a:solidFill>
                <a:latin typeface="Times New Roman" pitchFamily="34" charset="0"/>
                <a:ea typeface="Times New Roman" pitchFamily="34" charset="-122"/>
                <a:cs typeface="Times New Roman" pitchFamily="34" charset="-120"/>
              </a:rPr>
              <a:t>A small banking example using a custom exception end to end.</a:t>
            </a:r>
            <a:endParaRPr lang="en-US" sz="1250" dirty="0"/>
          </a:p>
        </p:txBody>
      </p:sp>
      <p:sp>
        <p:nvSpPr>
          <p:cNvPr id="5" name="Shape 3"/>
          <p:cNvSpPr/>
          <p:nvPr/>
        </p:nvSpPr>
        <p:spPr>
          <a:xfrm>
            <a:off x="594360" y="2002536"/>
            <a:ext cx="7040880" cy="4032504"/>
          </a:xfrm>
          <a:prstGeom prst="roundRect">
            <a:avLst>
              <a:gd name="adj" fmla="val 1814"/>
            </a:avLst>
          </a:prstGeom>
          <a:solidFill>
            <a:srgbClr val="1E1E2E"/>
          </a:solidFill>
          <a:ln w="12700">
            <a:solidFill>
              <a:srgbClr val="000000"/>
            </a:solidFill>
            <a:prstDash val="solid"/>
          </a:ln>
        </p:spPr>
      </p:sp>
      <p:sp>
        <p:nvSpPr>
          <p:cNvPr id="6" name="Shape 4"/>
          <p:cNvSpPr/>
          <p:nvPr/>
        </p:nvSpPr>
        <p:spPr>
          <a:xfrm>
            <a:off x="594360" y="2002536"/>
            <a:ext cx="7040880" cy="274320"/>
          </a:xfrm>
          <a:prstGeom prst="roundRect">
            <a:avLst>
              <a:gd name="adj" fmla="val 26667"/>
            </a:avLst>
          </a:prstGeom>
          <a:solidFill>
            <a:srgbClr val="17172A"/>
          </a:solidFill>
          <a:ln w="12700">
            <a:solidFill>
              <a:srgbClr val="000000"/>
            </a:solidFill>
            <a:prstDash val="solid"/>
          </a:ln>
        </p:spPr>
      </p:sp>
      <p:sp>
        <p:nvSpPr>
          <p:cNvPr id="7" name="Shape 5"/>
          <p:cNvSpPr/>
          <p:nvPr/>
        </p:nvSpPr>
        <p:spPr>
          <a:xfrm>
            <a:off x="594360" y="2203704"/>
            <a:ext cx="7040880" cy="73152"/>
          </a:xfrm>
          <a:prstGeom prst="rect">
            <a:avLst/>
          </a:prstGeom>
          <a:solidFill>
            <a:srgbClr val="17172A"/>
          </a:solidFill>
          <a:ln w="12700">
            <a:solidFill>
              <a:srgbClr val="000000"/>
            </a:solidFill>
            <a:prstDash val="solid"/>
          </a:ln>
        </p:spPr>
      </p:sp>
      <p:sp>
        <p:nvSpPr>
          <p:cNvPr id="8" name="Shape 6"/>
          <p:cNvSpPr/>
          <p:nvPr/>
        </p:nvSpPr>
        <p:spPr>
          <a:xfrm>
            <a:off x="722376" y="2101291"/>
            <a:ext cx="76810" cy="76810"/>
          </a:xfrm>
          <a:prstGeom prst="ellipse">
            <a:avLst/>
          </a:prstGeom>
          <a:solidFill>
            <a:srgbClr val="FF5F56"/>
          </a:solidFill>
          <a:ln w="12700">
            <a:solidFill>
              <a:srgbClr val="000000"/>
            </a:solidFill>
            <a:prstDash val="solid"/>
          </a:ln>
        </p:spPr>
      </p:sp>
      <p:sp>
        <p:nvSpPr>
          <p:cNvPr id="9" name="Shape 7"/>
          <p:cNvSpPr/>
          <p:nvPr/>
        </p:nvSpPr>
        <p:spPr>
          <a:xfrm>
            <a:off x="886968" y="2101291"/>
            <a:ext cx="76810" cy="76810"/>
          </a:xfrm>
          <a:prstGeom prst="ellipse">
            <a:avLst/>
          </a:prstGeom>
          <a:solidFill>
            <a:srgbClr val="FFBD2E"/>
          </a:solidFill>
          <a:ln w="12700">
            <a:solidFill>
              <a:srgbClr val="000000"/>
            </a:solidFill>
            <a:prstDash val="solid"/>
          </a:ln>
        </p:spPr>
      </p:sp>
      <p:sp>
        <p:nvSpPr>
          <p:cNvPr id="10" name="Shape 8"/>
          <p:cNvSpPr/>
          <p:nvPr/>
        </p:nvSpPr>
        <p:spPr>
          <a:xfrm>
            <a:off x="1051560" y="2101291"/>
            <a:ext cx="76810" cy="76810"/>
          </a:xfrm>
          <a:prstGeom prst="ellipse">
            <a:avLst/>
          </a:prstGeom>
          <a:solidFill>
            <a:srgbClr val="27C93F"/>
          </a:solidFill>
          <a:ln w="12700">
            <a:solidFill>
              <a:srgbClr val="000000"/>
            </a:solidFill>
            <a:prstDash val="solid"/>
          </a:ln>
        </p:spPr>
      </p:sp>
      <p:sp>
        <p:nvSpPr>
          <p:cNvPr id="11" name="Text 9"/>
          <p:cNvSpPr/>
          <p:nvPr/>
        </p:nvSpPr>
        <p:spPr>
          <a:xfrm>
            <a:off x="1371600" y="2002536"/>
            <a:ext cx="6126480" cy="274320"/>
          </a:xfrm>
          <a:prstGeom prst="rect">
            <a:avLst/>
          </a:prstGeom>
          <a:noFill/>
          <a:ln/>
        </p:spPr>
        <p:txBody>
          <a:bodyPr wrap="square" lIns="0" tIns="0" rIns="0" bIns="0" rtlCol="0" anchor="ctr"/>
          <a:lstStyle/>
          <a:p>
            <a:pPr marL="0" indent="0" algn="l">
              <a:buNone/>
            </a:pPr>
            <a:r>
              <a:rPr lang="en-US" sz="1000" dirty="0">
                <a:solidFill>
                  <a:srgbClr val="8A8FA3"/>
                </a:solidFill>
                <a:latin typeface="Courier New" pitchFamily="34" charset="0"/>
                <a:ea typeface="Courier New" pitchFamily="34" charset="-122"/>
                <a:cs typeface="Courier New" pitchFamily="34" charset="-120"/>
              </a:rPr>
              <a:t>Main.java</a:t>
            </a:r>
            <a:endParaRPr lang="en-US" sz="1000" dirty="0"/>
          </a:p>
        </p:txBody>
      </p:sp>
      <p:sp>
        <p:nvSpPr>
          <p:cNvPr id="12" name="Text 10"/>
          <p:cNvSpPr/>
          <p:nvPr/>
        </p:nvSpPr>
        <p:spPr>
          <a:xfrm>
            <a:off x="777240" y="2350008"/>
            <a:ext cx="6675120" cy="3611880"/>
          </a:xfrm>
          <a:prstGeom prst="rect">
            <a:avLst/>
          </a:prstGeom>
          <a:noFill/>
          <a:ln/>
        </p:spPr>
        <p:txBody>
          <a:bodyPr wrap="square" lIns="0" tIns="0" rIns="0" bIns="0" rtlCol="0" anchor="t"/>
          <a:lstStyle/>
          <a:p>
            <a:pPr marL="0" indent="0" algn="l">
              <a:lnSpc>
                <a:spcPct val="118000"/>
              </a:lnSpc>
              <a:buNone/>
            </a:pPr>
            <a:r>
              <a:rPr lang="en-US" sz="1200" b="1" dirty="0">
                <a:solidFill>
                  <a:srgbClr val="569CD6"/>
                </a:solidFill>
                <a:latin typeface="Courier New" pitchFamily="34" charset="0"/>
                <a:ea typeface="Courier New" pitchFamily="34" charset="-122"/>
                <a:cs typeface="Courier New" pitchFamily="34" charset="-120"/>
              </a:rPr>
              <a:t>public</a:t>
            </a:r>
            <a:r>
              <a:rPr lang="en-US" sz="1200" dirty="0">
                <a:solidFill>
                  <a:srgbClr val="D4D4D4"/>
                </a:solidFill>
                <a:latin typeface="Courier New" pitchFamily="34" charset="0"/>
                <a:ea typeface="Courier New" pitchFamily="34" charset="-122"/>
                <a:cs typeface="Courier New" pitchFamily="34" charset="-120"/>
              </a:rPr>
              <a:t> </a:t>
            </a:r>
            <a:r>
              <a:rPr lang="en-US" sz="1200" b="1" dirty="0">
                <a:solidFill>
                  <a:srgbClr val="569CD6"/>
                </a:solidFill>
                <a:latin typeface="Courier New" pitchFamily="34" charset="0"/>
                <a:ea typeface="Courier New" pitchFamily="34" charset="-122"/>
                <a:cs typeface="Courier New" pitchFamily="34" charset="-120"/>
              </a:rPr>
              <a:t>class</a:t>
            </a:r>
            <a:r>
              <a:rPr lang="en-US" sz="1200" dirty="0">
                <a:solidFill>
                  <a:srgbClr val="D4D4D4"/>
                </a:solidFill>
                <a:latin typeface="Courier New" pitchFamily="34" charset="0"/>
                <a:ea typeface="Courier New" pitchFamily="34" charset="-122"/>
                <a:cs typeface="Courier New" pitchFamily="34" charset="-120"/>
              </a:rPr>
              <a:t> Practice {</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r>
              <a:rPr lang="en-US" sz="1200" b="1" dirty="0">
                <a:solidFill>
                  <a:srgbClr val="569CD6"/>
                </a:solidFill>
                <a:latin typeface="Courier New" pitchFamily="34" charset="0"/>
                <a:ea typeface="Courier New" pitchFamily="34" charset="-122"/>
                <a:cs typeface="Courier New" pitchFamily="34" charset="-120"/>
              </a:rPr>
              <a:t>static</a:t>
            </a:r>
            <a:r>
              <a:rPr lang="en-US" sz="1200" dirty="0">
                <a:solidFill>
                  <a:srgbClr val="D4D4D4"/>
                </a:solidFill>
                <a:latin typeface="Courier New" pitchFamily="34" charset="0"/>
                <a:ea typeface="Courier New" pitchFamily="34" charset="-122"/>
                <a:cs typeface="Courier New" pitchFamily="34" charset="-120"/>
              </a:rPr>
              <a:t> </a:t>
            </a:r>
            <a:r>
              <a:rPr lang="en-US" sz="1200" b="1" dirty="0">
                <a:solidFill>
                  <a:srgbClr val="569CD6"/>
                </a:solidFill>
                <a:latin typeface="Courier New" pitchFamily="34" charset="0"/>
                <a:ea typeface="Courier New" pitchFamily="34" charset="-122"/>
                <a:cs typeface="Courier New" pitchFamily="34" charset="-120"/>
              </a:rPr>
              <a:t>void</a:t>
            </a:r>
            <a:r>
              <a:rPr lang="en-US" sz="1200" dirty="0">
                <a:solidFill>
                  <a:srgbClr val="D4D4D4"/>
                </a:solidFill>
                <a:latin typeface="Courier New" pitchFamily="34" charset="0"/>
                <a:ea typeface="Courier New" pitchFamily="34" charset="-122"/>
                <a:cs typeface="Courier New" pitchFamily="34" charset="-120"/>
              </a:rPr>
              <a:t> </a:t>
            </a:r>
            <a:r>
              <a:rPr lang="en-US" sz="1200" dirty="0">
                <a:solidFill>
                  <a:srgbClr val="DCDCAA"/>
                </a:solidFill>
                <a:latin typeface="Courier New" pitchFamily="34" charset="0"/>
                <a:ea typeface="Courier New" pitchFamily="34" charset="-122"/>
                <a:cs typeface="Courier New" pitchFamily="34" charset="-120"/>
              </a:rPr>
              <a:t>withdraw</a:t>
            </a:r>
            <a:r>
              <a:rPr lang="en-US" sz="1200" dirty="0">
                <a:solidFill>
                  <a:srgbClr val="D4D4D4"/>
                </a:solidFill>
                <a:latin typeface="Courier New" pitchFamily="34" charset="0"/>
                <a:ea typeface="Courier New" pitchFamily="34" charset="-122"/>
                <a:cs typeface="Courier New" pitchFamily="34" charset="-120"/>
              </a:rPr>
              <a:t>(</a:t>
            </a:r>
            <a:r>
              <a:rPr lang="en-US" sz="1200" b="1" dirty="0">
                <a:solidFill>
                  <a:srgbClr val="569CD6"/>
                </a:solidFill>
                <a:latin typeface="Courier New" pitchFamily="34" charset="0"/>
                <a:ea typeface="Courier New" pitchFamily="34" charset="-122"/>
                <a:cs typeface="Courier New" pitchFamily="34" charset="-120"/>
              </a:rPr>
              <a:t>double</a:t>
            </a:r>
            <a:r>
              <a:rPr lang="en-US" sz="1200" dirty="0">
                <a:solidFill>
                  <a:srgbClr val="D4D4D4"/>
                </a:solidFill>
                <a:latin typeface="Courier New" pitchFamily="34" charset="0"/>
                <a:ea typeface="Courier New" pitchFamily="34" charset="-122"/>
                <a:cs typeface="Courier New" pitchFamily="34" charset="-120"/>
              </a:rPr>
              <a:t> balance, </a:t>
            </a:r>
            <a:r>
              <a:rPr lang="en-US" sz="1200" b="1" dirty="0">
                <a:solidFill>
                  <a:srgbClr val="569CD6"/>
                </a:solidFill>
                <a:latin typeface="Courier New" pitchFamily="34" charset="0"/>
                <a:ea typeface="Courier New" pitchFamily="34" charset="-122"/>
                <a:cs typeface="Courier New" pitchFamily="34" charset="-120"/>
              </a:rPr>
              <a:t>double</a:t>
            </a:r>
            <a:r>
              <a:rPr lang="en-US" sz="1200" dirty="0">
                <a:solidFill>
                  <a:srgbClr val="D4D4D4"/>
                </a:solidFill>
                <a:latin typeface="Courier New" pitchFamily="34" charset="0"/>
                <a:ea typeface="Courier New" pitchFamily="34" charset="-122"/>
                <a:cs typeface="Courier New" pitchFamily="34" charset="-120"/>
              </a:rPr>
              <a:t> amount) {</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r>
              <a:rPr lang="en-US" sz="1200" b="1" dirty="0">
                <a:solidFill>
                  <a:srgbClr val="569CD6"/>
                </a:solidFill>
                <a:latin typeface="Courier New" pitchFamily="34" charset="0"/>
                <a:ea typeface="Courier New" pitchFamily="34" charset="-122"/>
                <a:cs typeface="Courier New" pitchFamily="34" charset="-120"/>
              </a:rPr>
              <a:t>if</a:t>
            </a:r>
            <a:r>
              <a:rPr lang="en-US" sz="1200" dirty="0">
                <a:solidFill>
                  <a:srgbClr val="D4D4D4"/>
                </a:solidFill>
                <a:latin typeface="Courier New" pitchFamily="34" charset="0"/>
                <a:ea typeface="Courier New" pitchFamily="34" charset="-122"/>
                <a:cs typeface="Courier New" pitchFamily="34" charset="-120"/>
              </a:rPr>
              <a:t> (amount &gt; balance) {</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r>
              <a:rPr lang="en-US" sz="1200" b="1" dirty="0">
                <a:solidFill>
                  <a:srgbClr val="569CD6"/>
                </a:solidFill>
                <a:latin typeface="Courier New" pitchFamily="34" charset="0"/>
                <a:ea typeface="Courier New" pitchFamily="34" charset="-122"/>
                <a:cs typeface="Courier New" pitchFamily="34" charset="-120"/>
              </a:rPr>
              <a:t>throw</a:t>
            </a:r>
            <a:r>
              <a:rPr lang="en-US" sz="1200" dirty="0">
                <a:solidFill>
                  <a:srgbClr val="D4D4D4"/>
                </a:solidFill>
                <a:latin typeface="Courier New" pitchFamily="34" charset="0"/>
                <a:ea typeface="Courier New" pitchFamily="34" charset="-122"/>
                <a:cs typeface="Courier New" pitchFamily="34" charset="-120"/>
              </a:rPr>
              <a:t> </a:t>
            </a:r>
            <a:r>
              <a:rPr lang="en-US" sz="1200" b="1" dirty="0">
                <a:solidFill>
                  <a:srgbClr val="569CD6"/>
                </a:solidFill>
                <a:latin typeface="Courier New" pitchFamily="34" charset="0"/>
                <a:ea typeface="Courier New" pitchFamily="34" charset="-122"/>
                <a:cs typeface="Courier New" pitchFamily="34" charset="-120"/>
              </a:rPr>
              <a:t>new</a:t>
            </a:r>
            <a:r>
              <a:rPr lang="en-US" sz="1200" dirty="0">
                <a:solidFill>
                  <a:srgbClr val="D4D4D4"/>
                </a:solidFill>
                <a:latin typeface="Courier New" pitchFamily="34" charset="0"/>
                <a:ea typeface="Courier New" pitchFamily="34" charset="-122"/>
                <a:cs typeface="Courier New" pitchFamily="34" charset="-120"/>
              </a:rPr>
              <a:t> </a:t>
            </a:r>
            <a:r>
              <a:rPr lang="en-US" sz="1200" dirty="0">
                <a:solidFill>
                  <a:srgbClr val="DCDCAA"/>
                </a:solidFill>
                <a:latin typeface="Courier New" pitchFamily="34" charset="0"/>
                <a:ea typeface="Courier New" pitchFamily="34" charset="-122"/>
                <a:cs typeface="Courier New" pitchFamily="34" charset="-120"/>
              </a:rPr>
              <a:t>InsufficientBalanceException</a:t>
            </a:r>
            <a:r>
              <a:rPr lang="en-US" sz="1200" dirty="0">
                <a:solidFill>
                  <a:srgbClr val="D4D4D4"/>
                </a:solidFill>
                <a:latin typeface="Courier New" pitchFamily="34" charset="0"/>
                <a:ea typeface="Courier New" pitchFamily="34" charset="-122"/>
                <a:cs typeface="Courier New" pitchFamily="34" charset="-120"/>
              </a:rPr>
              <a:t>(</a:t>
            </a:r>
            <a:r>
              <a:rPr lang="en-US" sz="1200" dirty="0">
                <a:solidFill>
                  <a:srgbClr val="CE9178"/>
                </a:solidFill>
                <a:latin typeface="Courier New" pitchFamily="34" charset="0"/>
                <a:ea typeface="Courier New" pitchFamily="34" charset="-122"/>
                <a:cs typeface="Courier New" pitchFamily="34" charset="-120"/>
              </a:rPr>
              <a:t>"Not enough funds"</a:t>
            </a:r>
            <a:r>
              <a:rPr lang="en-US" sz="1200" dirty="0">
                <a:solidFill>
                  <a:srgbClr val="D4D4D4"/>
                </a:solidFill>
                <a:latin typeface="Courier New" pitchFamily="34" charset="0"/>
                <a:ea typeface="Courier New" pitchFamily="34" charset="-122"/>
                <a:cs typeface="Courier New" pitchFamily="34" charset="-120"/>
              </a:rPr>
              <a:t>);</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r>
              <a:rPr lang="en-US" sz="1200" dirty="0">
                <a:solidFill>
                  <a:srgbClr val="4EC9B0"/>
                </a:solidFill>
                <a:latin typeface="Courier New" pitchFamily="34" charset="0"/>
                <a:ea typeface="Courier New" pitchFamily="34" charset="-122"/>
                <a:cs typeface="Courier New" pitchFamily="34" charset="-120"/>
              </a:rPr>
              <a:t>System</a:t>
            </a:r>
            <a:r>
              <a:rPr lang="en-US" sz="1200" dirty="0">
                <a:solidFill>
                  <a:srgbClr val="D4D4D4"/>
                </a:solidFill>
                <a:latin typeface="Courier New" pitchFamily="34" charset="0"/>
                <a:ea typeface="Courier New" pitchFamily="34" charset="-122"/>
                <a:cs typeface="Courier New" pitchFamily="34" charset="-120"/>
              </a:rPr>
              <a:t>.out.</a:t>
            </a:r>
            <a:r>
              <a:rPr lang="en-US" sz="1200" dirty="0">
                <a:solidFill>
                  <a:srgbClr val="DCDCAA"/>
                </a:solidFill>
                <a:latin typeface="Courier New" pitchFamily="34" charset="0"/>
                <a:ea typeface="Courier New" pitchFamily="34" charset="-122"/>
                <a:cs typeface="Courier New" pitchFamily="34" charset="-120"/>
              </a:rPr>
              <a:t>println</a:t>
            </a:r>
            <a:r>
              <a:rPr lang="en-US" sz="1200" dirty="0">
                <a:solidFill>
                  <a:srgbClr val="D4D4D4"/>
                </a:solidFill>
                <a:latin typeface="Courier New" pitchFamily="34" charset="0"/>
                <a:ea typeface="Courier New" pitchFamily="34" charset="-122"/>
                <a:cs typeface="Courier New" pitchFamily="34" charset="-120"/>
              </a:rPr>
              <a:t>(</a:t>
            </a:r>
            <a:r>
              <a:rPr lang="en-US" sz="1200" dirty="0">
                <a:solidFill>
                  <a:srgbClr val="CE9178"/>
                </a:solidFill>
                <a:latin typeface="Courier New" pitchFamily="34" charset="0"/>
                <a:ea typeface="Courier New" pitchFamily="34" charset="-122"/>
                <a:cs typeface="Courier New" pitchFamily="34" charset="-120"/>
              </a:rPr>
              <a:t>"Success"</a:t>
            </a:r>
            <a:r>
              <a:rPr lang="en-US" sz="1200" dirty="0">
                <a:solidFill>
                  <a:srgbClr val="D4D4D4"/>
                </a:solidFill>
                <a:latin typeface="Courier New" pitchFamily="34" charset="0"/>
                <a:ea typeface="Courier New" pitchFamily="34" charset="-122"/>
                <a:cs typeface="Courier New" pitchFamily="34" charset="-120"/>
              </a:rPr>
              <a:t>);</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r>
              <a:rPr lang="en-US" sz="1200" b="1" dirty="0">
                <a:solidFill>
                  <a:srgbClr val="569CD6"/>
                </a:solidFill>
                <a:latin typeface="Courier New" pitchFamily="34" charset="0"/>
                <a:ea typeface="Courier New" pitchFamily="34" charset="-122"/>
                <a:cs typeface="Courier New" pitchFamily="34" charset="-120"/>
              </a:rPr>
              <a:t>public</a:t>
            </a:r>
            <a:r>
              <a:rPr lang="en-US" sz="1200" dirty="0">
                <a:solidFill>
                  <a:srgbClr val="D4D4D4"/>
                </a:solidFill>
                <a:latin typeface="Courier New" pitchFamily="34" charset="0"/>
                <a:ea typeface="Courier New" pitchFamily="34" charset="-122"/>
                <a:cs typeface="Courier New" pitchFamily="34" charset="-120"/>
              </a:rPr>
              <a:t> </a:t>
            </a:r>
            <a:r>
              <a:rPr lang="en-US" sz="1200" b="1" dirty="0">
                <a:solidFill>
                  <a:srgbClr val="569CD6"/>
                </a:solidFill>
                <a:latin typeface="Courier New" pitchFamily="34" charset="0"/>
                <a:ea typeface="Courier New" pitchFamily="34" charset="-122"/>
                <a:cs typeface="Courier New" pitchFamily="34" charset="-120"/>
              </a:rPr>
              <a:t>static</a:t>
            </a:r>
            <a:r>
              <a:rPr lang="en-US" sz="1200" dirty="0">
                <a:solidFill>
                  <a:srgbClr val="D4D4D4"/>
                </a:solidFill>
                <a:latin typeface="Courier New" pitchFamily="34" charset="0"/>
                <a:ea typeface="Courier New" pitchFamily="34" charset="-122"/>
                <a:cs typeface="Courier New" pitchFamily="34" charset="-120"/>
              </a:rPr>
              <a:t> </a:t>
            </a:r>
            <a:r>
              <a:rPr lang="en-US" sz="1200" b="1" dirty="0">
                <a:solidFill>
                  <a:srgbClr val="569CD6"/>
                </a:solidFill>
                <a:latin typeface="Courier New" pitchFamily="34" charset="0"/>
                <a:ea typeface="Courier New" pitchFamily="34" charset="-122"/>
                <a:cs typeface="Courier New" pitchFamily="34" charset="-120"/>
              </a:rPr>
              <a:t>void</a:t>
            </a:r>
            <a:r>
              <a:rPr lang="en-US" sz="1200" dirty="0">
                <a:solidFill>
                  <a:srgbClr val="D4D4D4"/>
                </a:solidFill>
                <a:latin typeface="Courier New" pitchFamily="34" charset="0"/>
                <a:ea typeface="Courier New" pitchFamily="34" charset="-122"/>
                <a:cs typeface="Courier New" pitchFamily="34" charset="-120"/>
              </a:rPr>
              <a:t> </a:t>
            </a:r>
            <a:r>
              <a:rPr lang="en-US" sz="1200" dirty="0">
                <a:solidFill>
                  <a:srgbClr val="DCDCAA"/>
                </a:solidFill>
                <a:latin typeface="Courier New" pitchFamily="34" charset="0"/>
                <a:ea typeface="Courier New" pitchFamily="34" charset="-122"/>
                <a:cs typeface="Courier New" pitchFamily="34" charset="-120"/>
              </a:rPr>
              <a:t>main</a:t>
            </a:r>
            <a:r>
              <a:rPr lang="en-US" sz="1200" dirty="0">
                <a:solidFill>
                  <a:srgbClr val="D4D4D4"/>
                </a:solidFill>
                <a:latin typeface="Courier New" pitchFamily="34" charset="0"/>
                <a:ea typeface="Courier New" pitchFamily="34" charset="-122"/>
                <a:cs typeface="Courier New" pitchFamily="34" charset="-120"/>
              </a:rPr>
              <a:t>(</a:t>
            </a:r>
            <a:r>
              <a:rPr lang="en-US" sz="1200" dirty="0">
                <a:solidFill>
                  <a:srgbClr val="4EC9B0"/>
                </a:solidFill>
                <a:latin typeface="Courier New" pitchFamily="34" charset="0"/>
                <a:ea typeface="Courier New" pitchFamily="34" charset="-122"/>
                <a:cs typeface="Courier New" pitchFamily="34" charset="-120"/>
              </a:rPr>
              <a:t>String</a:t>
            </a:r>
            <a:r>
              <a:rPr lang="en-US" sz="1200" dirty="0">
                <a:solidFill>
                  <a:srgbClr val="D4D4D4"/>
                </a:solidFill>
                <a:latin typeface="Courier New" pitchFamily="34" charset="0"/>
                <a:ea typeface="Courier New" pitchFamily="34" charset="-122"/>
                <a:cs typeface="Courier New" pitchFamily="34" charset="-120"/>
              </a:rPr>
              <a:t>[] args) {</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r>
              <a:rPr lang="en-US" sz="1200" b="1" dirty="0">
                <a:solidFill>
                  <a:srgbClr val="569CD6"/>
                </a:solidFill>
                <a:latin typeface="Courier New" pitchFamily="34" charset="0"/>
                <a:ea typeface="Courier New" pitchFamily="34" charset="-122"/>
                <a:cs typeface="Courier New" pitchFamily="34" charset="-120"/>
              </a:rPr>
              <a:t>try</a:t>
            </a:r>
            <a:r>
              <a:rPr lang="en-US" sz="1200" dirty="0">
                <a:solidFill>
                  <a:srgbClr val="D4D4D4"/>
                </a:solidFill>
                <a:latin typeface="Courier New" pitchFamily="34" charset="0"/>
                <a:ea typeface="Courier New" pitchFamily="34" charset="-122"/>
                <a:cs typeface="Courier New" pitchFamily="34" charset="-120"/>
              </a:rPr>
              <a:t> {</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r>
              <a:rPr lang="en-US" sz="1200" dirty="0">
                <a:solidFill>
                  <a:srgbClr val="DCDCAA"/>
                </a:solidFill>
                <a:latin typeface="Courier New" pitchFamily="34" charset="0"/>
                <a:ea typeface="Courier New" pitchFamily="34" charset="-122"/>
                <a:cs typeface="Courier New" pitchFamily="34" charset="-120"/>
              </a:rPr>
              <a:t>withdraw</a:t>
            </a:r>
            <a:r>
              <a:rPr lang="en-US" sz="1200" dirty="0">
                <a:solidFill>
                  <a:srgbClr val="D4D4D4"/>
                </a:solidFill>
                <a:latin typeface="Courier New" pitchFamily="34" charset="0"/>
                <a:ea typeface="Courier New" pitchFamily="34" charset="-122"/>
                <a:cs typeface="Courier New" pitchFamily="34" charset="-120"/>
              </a:rPr>
              <a:t>(</a:t>
            </a:r>
            <a:r>
              <a:rPr lang="en-US" sz="1200" dirty="0">
                <a:solidFill>
                  <a:srgbClr val="B5CEA8"/>
                </a:solidFill>
                <a:latin typeface="Courier New" pitchFamily="34" charset="0"/>
                <a:ea typeface="Courier New" pitchFamily="34" charset="-122"/>
                <a:cs typeface="Courier New" pitchFamily="34" charset="-120"/>
              </a:rPr>
              <a:t>50</a:t>
            </a:r>
            <a:r>
              <a:rPr lang="en-US" sz="1200" dirty="0">
                <a:solidFill>
                  <a:srgbClr val="D4D4D4"/>
                </a:solidFill>
                <a:latin typeface="Courier New" pitchFamily="34" charset="0"/>
                <a:ea typeface="Courier New" pitchFamily="34" charset="-122"/>
                <a:cs typeface="Courier New" pitchFamily="34" charset="-120"/>
              </a:rPr>
              <a:t>, </a:t>
            </a:r>
            <a:r>
              <a:rPr lang="en-US" sz="1200" dirty="0">
                <a:solidFill>
                  <a:srgbClr val="B5CEA8"/>
                </a:solidFill>
                <a:latin typeface="Courier New" pitchFamily="34" charset="0"/>
                <a:ea typeface="Courier New" pitchFamily="34" charset="-122"/>
                <a:cs typeface="Courier New" pitchFamily="34" charset="-120"/>
              </a:rPr>
              <a:t>200</a:t>
            </a:r>
            <a:r>
              <a:rPr lang="en-US" sz="1200" dirty="0">
                <a:solidFill>
                  <a:srgbClr val="D4D4D4"/>
                </a:solidFill>
                <a:latin typeface="Courier New" pitchFamily="34" charset="0"/>
                <a:ea typeface="Courier New" pitchFamily="34" charset="-122"/>
                <a:cs typeface="Courier New" pitchFamily="34" charset="-120"/>
              </a:rPr>
              <a:t>);</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 </a:t>
            </a:r>
            <a:r>
              <a:rPr lang="en-US" sz="1200" b="1" dirty="0">
                <a:solidFill>
                  <a:srgbClr val="569CD6"/>
                </a:solidFill>
                <a:latin typeface="Courier New" pitchFamily="34" charset="0"/>
                <a:ea typeface="Courier New" pitchFamily="34" charset="-122"/>
                <a:cs typeface="Courier New" pitchFamily="34" charset="-120"/>
              </a:rPr>
              <a:t>catch</a:t>
            </a:r>
            <a:r>
              <a:rPr lang="en-US" sz="1200" dirty="0">
                <a:solidFill>
                  <a:srgbClr val="D4D4D4"/>
                </a:solidFill>
                <a:latin typeface="Courier New" pitchFamily="34" charset="0"/>
                <a:ea typeface="Courier New" pitchFamily="34" charset="-122"/>
                <a:cs typeface="Courier New" pitchFamily="34" charset="-120"/>
              </a:rPr>
              <a:t> (InsufficientBalanceException e) {</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r>
              <a:rPr lang="en-US" sz="1200" dirty="0">
                <a:solidFill>
                  <a:srgbClr val="4EC9B0"/>
                </a:solidFill>
                <a:latin typeface="Courier New" pitchFamily="34" charset="0"/>
                <a:ea typeface="Courier New" pitchFamily="34" charset="-122"/>
                <a:cs typeface="Courier New" pitchFamily="34" charset="-120"/>
              </a:rPr>
              <a:t>System</a:t>
            </a:r>
            <a:r>
              <a:rPr lang="en-US" sz="1200" dirty="0">
                <a:solidFill>
                  <a:srgbClr val="D4D4D4"/>
                </a:solidFill>
                <a:latin typeface="Courier New" pitchFamily="34" charset="0"/>
                <a:ea typeface="Courier New" pitchFamily="34" charset="-122"/>
                <a:cs typeface="Courier New" pitchFamily="34" charset="-120"/>
              </a:rPr>
              <a:t>.out.</a:t>
            </a:r>
            <a:r>
              <a:rPr lang="en-US" sz="1200" dirty="0">
                <a:solidFill>
                  <a:srgbClr val="DCDCAA"/>
                </a:solidFill>
                <a:latin typeface="Courier New" pitchFamily="34" charset="0"/>
                <a:ea typeface="Courier New" pitchFamily="34" charset="-122"/>
                <a:cs typeface="Courier New" pitchFamily="34" charset="-120"/>
              </a:rPr>
              <a:t>println</a:t>
            </a:r>
            <a:r>
              <a:rPr lang="en-US" sz="1200" dirty="0">
                <a:solidFill>
                  <a:srgbClr val="D4D4D4"/>
                </a:solidFill>
                <a:latin typeface="Courier New" pitchFamily="34" charset="0"/>
                <a:ea typeface="Courier New" pitchFamily="34" charset="-122"/>
                <a:cs typeface="Courier New" pitchFamily="34" charset="-120"/>
              </a:rPr>
              <a:t>(e.</a:t>
            </a:r>
            <a:r>
              <a:rPr lang="en-US" sz="1200" dirty="0">
                <a:solidFill>
                  <a:srgbClr val="DCDCAA"/>
                </a:solidFill>
                <a:latin typeface="Courier New" pitchFamily="34" charset="0"/>
                <a:ea typeface="Courier New" pitchFamily="34" charset="-122"/>
                <a:cs typeface="Courier New" pitchFamily="34" charset="-120"/>
              </a:rPr>
              <a:t>getMessage</a:t>
            </a:r>
            <a:r>
              <a:rPr lang="en-US" sz="1200" dirty="0">
                <a:solidFill>
                  <a:srgbClr val="D4D4D4"/>
                </a:solidFill>
                <a:latin typeface="Courier New" pitchFamily="34" charset="0"/>
                <a:ea typeface="Courier New" pitchFamily="34" charset="-122"/>
                <a:cs typeface="Courier New" pitchFamily="34" charset="-120"/>
              </a:rPr>
              <a:t>());</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    }</a:t>
            </a:r>
            <a:endParaRPr lang="en-US" sz="1200" dirty="0"/>
          </a:p>
          <a:p>
            <a:pPr marL="0" indent="0" algn="l">
              <a:lnSpc>
                <a:spcPct val="118000"/>
              </a:lnSpc>
              <a:buNone/>
            </a:pPr>
            <a:r>
              <a:rPr lang="en-US" sz="1200" dirty="0">
                <a:solidFill>
                  <a:srgbClr val="D4D4D4"/>
                </a:solidFill>
                <a:latin typeface="Courier New" pitchFamily="34" charset="0"/>
                <a:ea typeface="Courier New" pitchFamily="34" charset="-122"/>
                <a:cs typeface="Courier New" pitchFamily="34" charset="-120"/>
              </a:rPr>
              <a:t>}</a:t>
            </a:r>
            <a:endParaRPr lang="en-US" sz="1200" dirty="0"/>
          </a:p>
        </p:txBody>
      </p:sp>
      <p:sp>
        <p:nvSpPr>
          <p:cNvPr id="13" name="Shape 11"/>
          <p:cNvSpPr/>
          <p:nvPr/>
        </p:nvSpPr>
        <p:spPr>
          <a:xfrm>
            <a:off x="7909560" y="2002536"/>
            <a:ext cx="3886200" cy="4032504"/>
          </a:xfrm>
          <a:prstGeom prst="roundRect">
            <a:avLst>
              <a:gd name="adj" fmla="val 1882"/>
            </a:avLst>
          </a:prstGeom>
          <a:solidFill>
            <a:srgbClr val="181C24"/>
          </a:solidFill>
          <a:ln w="12700">
            <a:solidFill>
              <a:srgbClr val="000000"/>
            </a:solidFill>
            <a:prstDash val="solid"/>
          </a:ln>
        </p:spPr>
      </p:sp>
      <p:sp>
        <p:nvSpPr>
          <p:cNvPr id="14" name="Text 12"/>
          <p:cNvSpPr/>
          <p:nvPr/>
        </p:nvSpPr>
        <p:spPr>
          <a:xfrm>
            <a:off x="8074152" y="2130552"/>
            <a:ext cx="3557016" cy="274320"/>
          </a:xfrm>
          <a:prstGeom prst="rect">
            <a:avLst/>
          </a:prstGeom>
          <a:noFill/>
          <a:ln/>
        </p:spPr>
        <p:txBody>
          <a:bodyPr wrap="square" lIns="0" tIns="0" rIns="0" bIns="0" rtlCol="0" anchor="ctr"/>
          <a:lstStyle/>
          <a:p>
            <a:pPr marL="0" indent="0">
              <a:buNone/>
            </a:pPr>
            <a:r>
              <a:rPr lang="en-US" sz="1000" b="1" kern="0" spc="100" dirty="0">
                <a:solidFill>
                  <a:srgbClr val="E8590C"/>
                </a:solidFill>
                <a:latin typeface="Times New Roman" pitchFamily="34" charset="0"/>
                <a:ea typeface="Times New Roman" pitchFamily="34" charset="-122"/>
                <a:cs typeface="Times New Roman" pitchFamily="34" charset="-120"/>
              </a:rPr>
              <a:t>CONSOLE OUTPUT</a:t>
            </a:r>
            <a:endParaRPr lang="en-US" sz="1000" dirty="0"/>
          </a:p>
        </p:txBody>
      </p:sp>
      <p:sp>
        <p:nvSpPr>
          <p:cNvPr id="15" name="Text 13"/>
          <p:cNvSpPr/>
          <p:nvPr/>
        </p:nvSpPr>
        <p:spPr>
          <a:xfrm>
            <a:off x="8074152" y="2459736"/>
            <a:ext cx="3557016" cy="3429000"/>
          </a:xfrm>
          <a:prstGeom prst="rect">
            <a:avLst/>
          </a:prstGeom>
          <a:noFill/>
          <a:ln/>
        </p:spPr>
        <p:txBody>
          <a:bodyPr wrap="square" lIns="0" tIns="0" rIns="0" bIns="0" rtlCol="0" anchor="t"/>
          <a:lstStyle/>
          <a:p>
            <a:pPr marL="0" indent="0">
              <a:lnSpc>
                <a:spcPct val="130000"/>
              </a:lnSpc>
              <a:buNone/>
            </a:pPr>
            <a:r>
              <a:rPr lang="en-US" sz="1300" dirty="0">
                <a:solidFill>
                  <a:srgbClr val="D8E6D0"/>
                </a:solidFill>
                <a:latin typeface="Courier New" pitchFamily="34" charset="0"/>
                <a:ea typeface="Courier New" pitchFamily="34" charset="-122"/>
                <a:cs typeface="Courier New" pitchFamily="34" charset="-120"/>
              </a:rPr>
              <a:t>Not enough funds</a:t>
            </a:r>
            <a:endParaRPr lang="en-US" sz="1300" dirty="0"/>
          </a:p>
        </p:txBody>
      </p:sp>
      <p:sp>
        <p:nvSpPr>
          <p:cNvPr id="16" name="Shape 14"/>
          <p:cNvSpPr/>
          <p:nvPr/>
        </p:nvSpPr>
        <p:spPr>
          <a:xfrm>
            <a:off x="0" y="0"/>
            <a:ext cx="12191695" cy="384048"/>
          </a:xfrm>
          <a:prstGeom prst="rect">
            <a:avLst/>
          </a:prstGeom>
          <a:solidFill>
            <a:srgbClr val="1B2A4A"/>
          </a:solidFill>
          <a:ln w="12700">
            <a:solidFill>
              <a:srgbClr val="1B2A4A"/>
            </a:solidFill>
            <a:prstDash val="solid"/>
          </a:ln>
        </p:spPr>
      </p:sp>
      <p:sp>
        <p:nvSpPr>
          <p:cNvPr id="17" name="Text 15"/>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18" name="Shape 16"/>
          <p:cNvSpPr/>
          <p:nvPr/>
        </p:nvSpPr>
        <p:spPr>
          <a:xfrm>
            <a:off x="219456" y="301752"/>
            <a:ext cx="960120" cy="0"/>
          </a:xfrm>
          <a:prstGeom prst="line">
            <a:avLst/>
          </a:prstGeom>
          <a:noFill/>
          <a:ln w="9525">
            <a:solidFill>
              <a:srgbClr val="4A5570"/>
            </a:solidFill>
            <a:prstDash val="solid"/>
          </a:ln>
        </p:spPr>
      </p:sp>
      <p:sp>
        <p:nvSpPr>
          <p:cNvPr id="19" name="Text 17"/>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0" name="Text 18"/>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1" name="Text 19"/>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2" name="Shape 20"/>
          <p:cNvSpPr/>
          <p:nvPr/>
        </p:nvSpPr>
        <p:spPr>
          <a:xfrm>
            <a:off x="0" y="6291072"/>
            <a:ext cx="12191695" cy="566928"/>
          </a:xfrm>
          <a:prstGeom prst="rect">
            <a:avLst/>
          </a:prstGeom>
          <a:solidFill>
            <a:srgbClr val="1B2A4A"/>
          </a:solidFill>
          <a:ln w="12700">
            <a:solidFill>
              <a:srgbClr val="1B2A4A"/>
            </a:solidFill>
            <a:prstDash val="solid"/>
          </a:ln>
        </p:spPr>
      </p:sp>
      <p:sp>
        <p:nvSpPr>
          <p:cNvPr id="23" name="Text 21"/>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24" name="Text 22"/>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name="Slide 1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MODULE OUTCOME</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What You Will Be Able To Do</a:t>
            </a:r>
            <a:endParaRPr lang="en-US" sz="2700" dirty="0"/>
          </a:p>
        </p:txBody>
      </p:sp>
      <p:sp>
        <p:nvSpPr>
          <p:cNvPr id="4" name="Shape 2"/>
          <p:cNvSpPr/>
          <p:nvPr/>
        </p:nvSpPr>
        <p:spPr>
          <a:xfrm>
            <a:off x="594360" y="1554480"/>
            <a:ext cx="10607040" cy="448056"/>
          </a:xfrm>
          <a:prstGeom prst="roundRect">
            <a:avLst>
              <a:gd name="adj" fmla="val 12245"/>
            </a:avLst>
          </a:prstGeom>
          <a:solidFill>
            <a:srgbClr val="F5F6FA"/>
          </a:solidFill>
          <a:ln w="9525">
            <a:solidFill>
              <a:srgbClr val="E4E7EE"/>
            </a:solidFill>
            <a:prstDash val="solid"/>
          </a:ln>
        </p:spPr>
      </p:sp>
      <p:sp>
        <p:nvSpPr>
          <p:cNvPr id="5" name="Text 3"/>
          <p:cNvSpPr/>
          <p:nvPr/>
        </p:nvSpPr>
        <p:spPr>
          <a:xfrm>
            <a:off x="777240" y="1554480"/>
            <a:ext cx="457200" cy="448056"/>
          </a:xfrm>
          <a:prstGeom prst="rect">
            <a:avLst/>
          </a:prstGeom>
          <a:noFill/>
          <a:ln/>
        </p:spPr>
        <p:txBody>
          <a:bodyPr wrap="square" lIns="0" tIns="0" rIns="0" bIns="0" rtlCol="0" anchor="ctr"/>
          <a:lstStyle/>
          <a:p>
            <a:pPr marL="0" indent="0">
              <a:buNone/>
            </a:pPr>
            <a:r>
              <a:rPr lang="en-US" sz="1500" b="1" dirty="0">
                <a:solidFill>
                  <a:srgbClr val="E8590C"/>
                </a:solidFill>
                <a:latin typeface="Times New Roman" pitchFamily="34" charset="0"/>
                <a:ea typeface="Times New Roman" pitchFamily="34" charset="-122"/>
                <a:cs typeface="Times New Roman" pitchFamily="34" charset="-120"/>
              </a:rPr>
              <a:t>1.</a:t>
            </a:r>
            <a:endParaRPr lang="en-US" sz="1500" dirty="0"/>
          </a:p>
        </p:txBody>
      </p:sp>
      <p:sp>
        <p:nvSpPr>
          <p:cNvPr id="6" name="Text 4"/>
          <p:cNvSpPr/>
          <p:nvPr/>
        </p:nvSpPr>
        <p:spPr>
          <a:xfrm>
            <a:off x="1234440" y="1554480"/>
            <a:ext cx="9784080" cy="448056"/>
          </a:xfrm>
          <a:prstGeom prst="rect">
            <a:avLst/>
          </a:prstGeom>
          <a:noFill/>
          <a:ln/>
        </p:spPr>
        <p:txBody>
          <a:bodyPr wrap="square" lIns="0" tIns="0" rIns="0" bIns="0" rtlCol="0" anchor="ctr"/>
          <a:lstStyle/>
          <a:p>
            <a:pPr marL="0" indent="0">
              <a:buNone/>
            </a:pPr>
            <a:r>
              <a:rPr lang="en-US" sz="1400" dirty="0">
                <a:solidFill>
                  <a:srgbClr val="1A202C"/>
                </a:solidFill>
                <a:latin typeface="Times New Roman" pitchFamily="34" charset="0"/>
                <a:ea typeface="Times New Roman" pitchFamily="34" charset="-122"/>
                <a:cs typeface="Times New Roman" pitchFamily="34" charset="-120"/>
              </a:rPr>
              <a:t>Designed classes with fields, methods, and constructors following encapsulation principles</a:t>
            </a:r>
            <a:endParaRPr lang="en-US" sz="1400" dirty="0"/>
          </a:p>
        </p:txBody>
      </p:sp>
      <p:sp>
        <p:nvSpPr>
          <p:cNvPr id="7" name="Shape 5"/>
          <p:cNvSpPr/>
          <p:nvPr/>
        </p:nvSpPr>
        <p:spPr>
          <a:xfrm>
            <a:off x="594360" y="2130552"/>
            <a:ext cx="10607040" cy="448056"/>
          </a:xfrm>
          <a:prstGeom prst="roundRect">
            <a:avLst>
              <a:gd name="adj" fmla="val 12245"/>
            </a:avLst>
          </a:prstGeom>
          <a:solidFill>
            <a:srgbClr val="F5F6FA"/>
          </a:solidFill>
          <a:ln w="9525">
            <a:solidFill>
              <a:srgbClr val="E4E7EE"/>
            </a:solidFill>
            <a:prstDash val="solid"/>
          </a:ln>
        </p:spPr>
      </p:sp>
      <p:sp>
        <p:nvSpPr>
          <p:cNvPr id="8" name="Text 6"/>
          <p:cNvSpPr/>
          <p:nvPr/>
        </p:nvSpPr>
        <p:spPr>
          <a:xfrm>
            <a:off x="777240" y="2130552"/>
            <a:ext cx="457200" cy="448056"/>
          </a:xfrm>
          <a:prstGeom prst="rect">
            <a:avLst/>
          </a:prstGeom>
          <a:noFill/>
          <a:ln/>
        </p:spPr>
        <p:txBody>
          <a:bodyPr wrap="square" lIns="0" tIns="0" rIns="0" bIns="0" rtlCol="0" anchor="ctr"/>
          <a:lstStyle/>
          <a:p>
            <a:pPr marL="0" indent="0">
              <a:buNone/>
            </a:pPr>
            <a:r>
              <a:rPr lang="en-US" sz="1500" b="1" dirty="0">
                <a:solidFill>
                  <a:srgbClr val="E8590C"/>
                </a:solidFill>
                <a:latin typeface="Times New Roman" pitchFamily="34" charset="0"/>
                <a:ea typeface="Times New Roman" pitchFamily="34" charset="-122"/>
                <a:cs typeface="Times New Roman" pitchFamily="34" charset="-120"/>
              </a:rPr>
              <a:t>2.</a:t>
            </a:r>
            <a:endParaRPr lang="en-US" sz="1500" dirty="0"/>
          </a:p>
        </p:txBody>
      </p:sp>
      <p:sp>
        <p:nvSpPr>
          <p:cNvPr id="9" name="Text 7"/>
          <p:cNvSpPr/>
          <p:nvPr/>
        </p:nvSpPr>
        <p:spPr>
          <a:xfrm>
            <a:off x="1234440" y="2130552"/>
            <a:ext cx="9784080" cy="448056"/>
          </a:xfrm>
          <a:prstGeom prst="rect">
            <a:avLst/>
          </a:prstGeom>
          <a:noFill/>
          <a:ln/>
        </p:spPr>
        <p:txBody>
          <a:bodyPr wrap="square" lIns="0" tIns="0" rIns="0" bIns="0" rtlCol="0" anchor="ctr"/>
          <a:lstStyle/>
          <a:p>
            <a:pPr marL="0" indent="0">
              <a:buNone/>
            </a:pPr>
            <a:r>
              <a:rPr lang="en-US" sz="1400" dirty="0">
                <a:solidFill>
                  <a:srgbClr val="1A202C"/>
                </a:solidFill>
                <a:latin typeface="Times New Roman" pitchFamily="34" charset="0"/>
                <a:ea typeface="Times New Roman" pitchFamily="34" charset="-122"/>
                <a:cs typeface="Times New Roman" pitchFamily="34" charset="-120"/>
              </a:rPr>
              <a:t>Used the this and static keywords correctly within a class</a:t>
            </a:r>
            <a:endParaRPr lang="en-US" sz="1400" dirty="0"/>
          </a:p>
        </p:txBody>
      </p:sp>
      <p:sp>
        <p:nvSpPr>
          <p:cNvPr id="10" name="Shape 8"/>
          <p:cNvSpPr/>
          <p:nvPr/>
        </p:nvSpPr>
        <p:spPr>
          <a:xfrm>
            <a:off x="594360" y="2706624"/>
            <a:ext cx="10607040" cy="448056"/>
          </a:xfrm>
          <a:prstGeom prst="roundRect">
            <a:avLst>
              <a:gd name="adj" fmla="val 12245"/>
            </a:avLst>
          </a:prstGeom>
          <a:solidFill>
            <a:srgbClr val="F5F6FA"/>
          </a:solidFill>
          <a:ln w="9525">
            <a:solidFill>
              <a:srgbClr val="E4E7EE"/>
            </a:solidFill>
            <a:prstDash val="solid"/>
          </a:ln>
        </p:spPr>
      </p:sp>
      <p:sp>
        <p:nvSpPr>
          <p:cNvPr id="11" name="Text 9"/>
          <p:cNvSpPr/>
          <p:nvPr/>
        </p:nvSpPr>
        <p:spPr>
          <a:xfrm>
            <a:off x="777240" y="2706624"/>
            <a:ext cx="457200" cy="448056"/>
          </a:xfrm>
          <a:prstGeom prst="rect">
            <a:avLst/>
          </a:prstGeom>
          <a:noFill/>
          <a:ln/>
        </p:spPr>
        <p:txBody>
          <a:bodyPr wrap="square" lIns="0" tIns="0" rIns="0" bIns="0" rtlCol="0" anchor="ctr"/>
          <a:lstStyle/>
          <a:p>
            <a:pPr marL="0" indent="0">
              <a:buNone/>
            </a:pPr>
            <a:r>
              <a:rPr lang="en-US" sz="1500" b="1" dirty="0">
                <a:solidFill>
                  <a:srgbClr val="E8590C"/>
                </a:solidFill>
                <a:latin typeface="Times New Roman" pitchFamily="34" charset="0"/>
                <a:ea typeface="Times New Roman" pitchFamily="34" charset="-122"/>
                <a:cs typeface="Times New Roman" pitchFamily="34" charset="-120"/>
              </a:rPr>
              <a:t>3.</a:t>
            </a:r>
            <a:endParaRPr lang="en-US" sz="1500" dirty="0"/>
          </a:p>
        </p:txBody>
      </p:sp>
      <p:sp>
        <p:nvSpPr>
          <p:cNvPr id="12" name="Text 10"/>
          <p:cNvSpPr/>
          <p:nvPr/>
        </p:nvSpPr>
        <p:spPr>
          <a:xfrm>
            <a:off x="1234440" y="2706624"/>
            <a:ext cx="9784080" cy="448056"/>
          </a:xfrm>
          <a:prstGeom prst="rect">
            <a:avLst/>
          </a:prstGeom>
          <a:noFill/>
          <a:ln/>
        </p:spPr>
        <p:txBody>
          <a:bodyPr wrap="square" lIns="0" tIns="0" rIns="0" bIns="0" rtlCol="0" anchor="ctr"/>
          <a:lstStyle/>
          <a:p>
            <a:pPr marL="0" indent="0">
              <a:buNone/>
            </a:pPr>
            <a:r>
              <a:rPr lang="en-US" sz="1400" dirty="0">
                <a:solidFill>
                  <a:srgbClr val="1A202C"/>
                </a:solidFill>
                <a:latin typeface="Times New Roman" pitchFamily="34" charset="0"/>
                <a:ea typeface="Times New Roman" pitchFamily="34" charset="-122"/>
                <a:cs typeface="Times New Roman" pitchFamily="34" charset="-120"/>
              </a:rPr>
              <a:t>Applied access modifiers to control the visibility of class members</a:t>
            </a:r>
            <a:endParaRPr lang="en-US" sz="1400" dirty="0"/>
          </a:p>
        </p:txBody>
      </p:sp>
      <p:sp>
        <p:nvSpPr>
          <p:cNvPr id="13" name="Shape 11"/>
          <p:cNvSpPr/>
          <p:nvPr/>
        </p:nvSpPr>
        <p:spPr>
          <a:xfrm>
            <a:off x="594360" y="3282696"/>
            <a:ext cx="10607040" cy="448056"/>
          </a:xfrm>
          <a:prstGeom prst="roundRect">
            <a:avLst>
              <a:gd name="adj" fmla="val 12245"/>
            </a:avLst>
          </a:prstGeom>
          <a:solidFill>
            <a:srgbClr val="F5F6FA"/>
          </a:solidFill>
          <a:ln w="9525">
            <a:solidFill>
              <a:srgbClr val="E4E7EE"/>
            </a:solidFill>
            <a:prstDash val="solid"/>
          </a:ln>
        </p:spPr>
      </p:sp>
      <p:sp>
        <p:nvSpPr>
          <p:cNvPr id="14" name="Text 12"/>
          <p:cNvSpPr/>
          <p:nvPr/>
        </p:nvSpPr>
        <p:spPr>
          <a:xfrm>
            <a:off x="777240" y="3282696"/>
            <a:ext cx="457200" cy="448056"/>
          </a:xfrm>
          <a:prstGeom prst="rect">
            <a:avLst/>
          </a:prstGeom>
          <a:noFill/>
          <a:ln/>
        </p:spPr>
        <p:txBody>
          <a:bodyPr wrap="square" lIns="0" tIns="0" rIns="0" bIns="0" rtlCol="0" anchor="ctr"/>
          <a:lstStyle/>
          <a:p>
            <a:pPr marL="0" indent="0">
              <a:buNone/>
            </a:pPr>
            <a:r>
              <a:rPr lang="en-US" sz="1500" b="1" dirty="0">
                <a:solidFill>
                  <a:srgbClr val="E8590C"/>
                </a:solidFill>
                <a:latin typeface="Times New Roman" pitchFamily="34" charset="0"/>
                <a:ea typeface="Times New Roman" pitchFamily="34" charset="-122"/>
                <a:cs typeface="Times New Roman" pitchFamily="34" charset="-120"/>
              </a:rPr>
              <a:t>4.</a:t>
            </a:r>
            <a:endParaRPr lang="en-US" sz="1500" dirty="0"/>
          </a:p>
        </p:txBody>
      </p:sp>
      <p:sp>
        <p:nvSpPr>
          <p:cNvPr id="15" name="Text 13"/>
          <p:cNvSpPr/>
          <p:nvPr/>
        </p:nvSpPr>
        <p:spPr>
          <a:xfrm>
            <a:off x="1234440" y="3282696"/>
            <a:ext cx="9784080" cy="448056"/>
          </a:xfrm>
          <a:prstGeom prst="rect">
            <a:avLst/>
          </a:prstGeom>
          <a:noFill/>
          <a:ln/>
        </p:spPr>
        <p:txBody>
          <a:bodyPr wrap="square" lIns="0" tIns="0" rIns="0" bIns="0" rtlCol="0" anchor="ctr"/>
          <a:lstStyle/>
          <a:p>
            <a:pPr marL="0" indent="0">
              <a:buNone/>
            </a:pPr>
            <a:r>
              <a:rPr lang="en-US" sz="1400" dirty="0">
                <a:solidFill>
                  <a:srgbClr val="1A202C"/>
                </a:solidFill>
                <a:latin typeface="Times New Roman" pitchFamily="34" charset="0"/>
                <a:ea typeface="Times New Roman" pitchFamily="34" charset="-122"/>
                <a:cs typeface="Times New Roman" pitchFamily="34" charset="-120"/>
              </a:rPr>
              <a:t>Built class hierarchies using inheritance and method overriding</a:t>
            </a:r>
            <a:endParaRPr lang="en-US" sz="1400" dirty="0"/>
          </a:p>
        </p:txBody>
      </p:sp>
      <p:sp>
        <p:nvSpPr>
          <p:cNvPr id="16" name="Shape 14"/>
          <p:cNvSpPr/>
          <p:nvPr/>
        </p:nvSpPr>
        <p:spPr>
          <a:xfrm>
            <a:off x="594360" y="3858768"/>
            <a:ext cx="10607040" cy="448056"/>
          </a:xfrm>
          <a:prstGeom prst="roundRect">
            <a:avLst>
              <a:gd name="adj" fmla="val 12245"/>
            </a:avLst>
          </a:prstGeom>
          <a:solidFill>
            <a:srgbClr val="F5F6FA"/>
          </a:solidFill>
          <a:ln w="9525">
            <a:solidFill>
              <a:srgbClr val="E4E7EE"/>
            </a:solidFill>
            <a:prstDash val="solid"/>
          </a:ln>
        </p:spPr>
      </p:sp>
      <p:sp>
        <p:nvSpPr>
          <p:cNvPr id="17" name="Text 15"/>
          <p:cNvSpPr/>
          <p:nvPr/>
        </p:nvSpPr>
        <p:spPr>
          <a:xfrm>
            <a:off x="777240" y="3858768"/>
            <a:ext cx="457200" cy="448056"/>
          </a:xfrm>
          <a:prstGeom prst="rect">
            <a:avLst/>
          </a:prstGeom>
          <a:noFill/>
          <a:ln/>
        </p:spPr>
        <p:txBody>
          <a:bodyPr wrap="square" lIns="0" tIns="0" rIns="0" bIns="0" rtlCol="0" anchor="ctr"/>
          <a:lstStyle/>
          <a:p>
            <a:pPr marL="0" indent="0">
              <a:buNone/>
            </a:pPr>
            <a:r>
              <a:rPr lang="en-US" sz="1500" b="1" dirty="0">
                <a:solidFill>
                  <a:srgbClr val="E8590C"/>
                </a:solidFill>
                <a:latin typeface="Times New Roman" pitchFamily="34" charset="0"/>
                <a:ea typeface="Times New Roman" pitchFamily="34" charset="-122"/>
                <a:cs typeface="Times New Roman" pitchFamily="34" charset="-120"/>
              </a:rPr>
              <a:t>5.</a:t>
            </a:r>
            <a:endParaRPr lang="en-US" sz="1500" dirty="0"/>
          </a:p>
        </p:txBody>
      </p:sp>
      <p:sp>
        <p:nvSpPr>
          <p:cNvPr id="18" name="Text 16"/>
          <p:cNvSpPr/>
          <p:nvPr/>
        </p:nvSpPr>
        <p:spPr>
          <a:xfrm>
            <a:off x="1234440" y="3858768"/>
            <a:ext cx="9784080" cy="448056"/>
          </a:xfrm>
          <a:prstGeom prst="rect">
            <a:avLst/>
          </a:prstGeom>
          <a:noFill/>
          <a:ln/>
        </p:spPr>
        <p:txBody>
          <a:bodyPr wrap="square" lIns="0" tIns="0" rIns="0" bIns="0" rtlCol="0" anchor="ctr"/>
          <a:lstStyle/>
          <a:p>
            <a:pPr marL="0" indent="0">
              <a:buNone/>
            </a:pPr>
            <a:r>
              <a:rPr lang="en-US" sz="1400" dirty="0">
                <a:solidFill>
                  <a:srgbClr val="1A202C"/>
                </a:solidFill>
                <a:latin typeface="Times New Roman" pitchFamily="34" charset="0"/>
                <a:ea typeface="Times New Roman" pitchFamily="34" charset="-122"/>
                <a:cs typeface="Times New Roman" pitchFamily="34" charset="-120"/>
              </a:rPr>
              <a:t>Applied polymorphism through upcasting, downcasting, and dynamic method dispatch</a:t>
            </a:r>
            <a:endParaRPr lang="en-US" sz="1400" dirty="0"/>
          </a:p>
        </p:txBody>
      </p:sp>
      <p:sp>
        <p:nvSpPr>
          <p:cNvPr id="19" name="Shape 17"/>
          <p:cNvSpPr/>
          <p:nvPr/>
        </p:nvSpPr>
        <p:spPr>
          <a:xfrm>
            <a:off x="594360" y="4434840"/>
            <a:ext cx="10607040" cy="448056"/>
          </a:xfrm>
          <a:prstGeom prst="roundRect">
            <a:avLst>
              <a:gd name="adj" fmla="val 12245"/>
            </a:avLst>
          </a:prstGeom>
          <a:solidFill>
            <a:srgbClr val="F5F6FA"/>
          </a:solidFill>
          <a:ln w="9525">
            <a:solidFill>
              <a:srgbClr val="E4E7EE"/>
            </a:solidFill>
            <a:prstDash val="solid"/>
          </a:ln>
        </p:spPr>
      </p:sp>
      <p:sp>
        <p:nvSpPr>
          <p:cNvPr id="20" name="Text 18"/>
          <p:cNvSpPr/>
          <p:nvPr/>
        </p:nvSpPr>
        <p:spPr>
          <a:xfrm>
            <a:off x="777240" y="4434840"/>
            <a:ext cx="457200" cy="448056"/>
          </a:xfrm>
          <a:prstGeom prst="rect">
            <a:avLst/>
          </a:prstGeom>
          <a:noFill/>
          <a:ln/>
        </p:spPr>
        <p:txBody>
          <a:bodyPr wrap="square" lIns="0" tIns="0" rIns="0" bIns="0" rtlCol="0" anchor="ctr"/>
          <a:lstStyle/>
          <a:p>
            <a:pPr marL="0" indent="0">
              <a:buNone/>
            </a:pPr>
            <a:r>
              <a:rPr lang="en-US" sz="1500" b="1" dirty="0">
                <a:solidFill>
                  <a:srgbClr val="E8590C"/>
                </a:solidFill>
                <a:latin typeface="Times New Roman" pitchFamily="34" charset="0"/>
                <a:ea typeface="Times New Roman" pitchFamily="34" charset="-122"/>
                <a:cs typeface="Times New Roman" pitchFamily="34" charset="-120"/>
              </a:rPr>
              <a:t>6.</a:t>
            </a:r>
            <a:endParaRPr lang="en-US" sz="1500" dirty="0"/>
          </a:p>
        </p:txBody>
      </p:sp>
      <p:sp>
        <p:nvSpPr>
          <p:cNvPr id="21" name="Text 19"/>
          <p:cNvSpPr/>
          <p:nvPr/>
        </p:nvSpPr>
        <p:spPr>
          <a:xfrm>
            <a:off x="1234440" y="4434840"/>
            <a:ext cx="9784080" cy="448056"/>
          </a:xfrm>
          <a:prstGeom prst="rect">
            <a:avLst/>
          </a:prstGeom>
          <a:noFill/>
          <a:ln/>
        </p:spPr>
        <p:txBody>
          <a:bodyPr wrap="square" lIns="0" tIns="0" rIns="0" bIns="0" rtlCol="0" anchor="ctr"/>
          <a:lstStyle/>
          <a:p>
            <a:pPr marL="0" indent="0">
              <a:buNone/>
            </a:pPr>
            <a:r>
              <a:rPr lang="en-US" sz="1400" dirty="0">
                <a:solidFill>
                  <a:srgbClr val="1A202C"/>
                </a:solidFill>
                <a:latin typeface="Times New Roman" pitchFamily="34" charset="0"/>
                <a:ea typeface="Times New Roman" pitchFamily="34" charset="-122"/>
                <a:cs typeface="Times New Roman" pitchFamily="34" charset="-120"/>
              </a:rPr>
              <a:t>Designed abstract classes and interfaces to define shared contracts</a:t>
            </a:r>
            <a:endParaRPr lang="en-US" sz="1400" dirty="0"/>
          </a:p>
        </p:txBody>
      </p:sp>
      <p:sp>
        <p:nvSpPr>
          <p:cNvPr id="22" name="Shape 20"/>
          <p:cNvSpPr/>
          <p:nvPr/>
        </p:nvSpPr>
        <p:spPr>
          <a:xfrm>
            <a:off x="594360" y="5010912"/>
            <a:ext cx="10607040" cy="448056"/>
          </a:xfrm>
          <a:prstGeom prst="roundRect">
            <a:avLst>
              <a:gd name="adj" fmla="val 12245"/>
            </a:avLst>
          </a:prstGeom>
          <a:solidFill>
            <a:srgbClr val="F5F6FA"/>
          </a:solidFill>
          <a:ln w="9525">
            <a:solidFill>
              <a:srgbClr val="E4E7EE"/>
            </a:solidFill>
            <a:prstDash val="solid"/>
          </a:ln>
        </p:spPr>
      </p:sp>
      <p:sp>
        <p:nvSpPr>
          <p:cNvPr id="23" name="Text 21"/>
          <p:cNvSpPr/>
          <p:nvPr/>
        </p:nvSpPr>
        <p:spPr>
          <a:xfrm>
            <a:off x="777240" y="5010912"/>
            <a:ext cx="457200" cy="448056"/>
          </a:xfrm>
          <a:prstGeom prst="rect">
            <a:avLst/>
          </a:prstGeom>
          <a:noFill/>
          <a:ln/>
        </p:spPr>
        <p:txBody>
          <a:bodyPr wrap="square" lIns="0" tIns="0" rIns="0" bIns="0" rtlCol="0" anchor="ctr"/>
          <a:lstStyle/>
          <a:p>
            <a:pPr marL="0" indent="0">
              <a:buNone/>
            </a:pPr>
            <a:r>
              <a:rPr lang="en-US" sz="1500" b="1" dirty="0">
                <a:solidFill>
                  <a:srgbClr val="E8590C"/>
                </a:solidFill>
                <a:latin typeface="Times New Roman" pitchFamily="34" charset="0"/>
                <a:ea typeface="Times New Roman" pitchFamily="34" charset="-122"/>
                <a:cs typeface="Times New Roman" pitchFamily="34" charset="-120"/>
              </a:rPr>
              <a:t>7.</a:t>
            </a:r>
            <a:endParaRPr lang="en-US" sz="1500" dirty="0"/>
          </a:p>
        </p:txBody>
      </p:sp>
      <p:sp>
        <p:nvSpPr>
          <p:cNvPr id="24" name="Text 22"/>
          <p:cNvSpPr/>
          <p:nvPr/>
        </p:nvSpPr>
        <p:spPr>
          <a:xfrm>
            <a:off x="1234440" y="5010912"/>
            <a:ext cx="9784080" cy="448056"/>
          </a:xfrm>
          <a:prstGeom prst="rect">
            <a:avLst/>
          </a:prstGeom>
          <a:noFill/>
          <a:ln/>
        </p:spPr>
        <p:txBody>
          <a:bodyPr wrap="square" lIns="0" tIns="0" rIns="0" bIns="0" rtlCol="0" anchor="ctr"/>
          <a:lstStyle/>
          <a:p>
            <a:pPr marL="0" indent="0">
              <a:buNone/>
            </a:pPr>
            <a:r>
              <a:rPr lang="en-US" sz="1400" dirty="0">
                <a:solidFill>
                  <a:srgbClr val="1A202C"/>
                </a:solidFill>
                <a:latin typeface="Times New Roman" pitchFamily="34" charset="0"/>
                <a:ea typeface="Times New Roman" pitchFamily="34" charset="-122"/>
                <a:cs typeface="Times New Roman" pitchFamily="34" charset="-120"/>
              </a:rPr>
              <a:t>Organized related classes into packages</a:t>
            </a:r>
            <a:endParaRPr lang="en-US" sz="1400" dirty="0"/>
          </a:p>
        </p:txBody>
      </p:sp>
      <p:sp>
        <p:nvSpPr>
          <p:cNvPr id="25" name="Shape 23"/>
          <p:cNvSpPr/>
          <p:nvPr/>
        </p:nvSpPr>
        <p:spPr>
          <a:xfrm>
            <a:off x="594360" y="5586984"/>
            <a:ext cx="10607040" cy="448056"/>
          </a:xfrm>
          <a:prstGeom prst="roundRect">
            <a:avLst>
              <a:gd name="adj" fmla="val 12245"/>
            </a:avLst>
          </a:prstGeom>
          <a:solidFill>
            <a:srgbClr val="F5F6FA"/>
          </a:solidFill>
          <a:ln w="9525">
            <a:solidFill>
              <a:srgbClr val="E4E7EE"/>
            </a:solidFill>
            <a:prstDash val="solid"/>
          </a:ln>
        </p:spPr>
      </p:sp>
      <p:sp>
        <p:nvSpPr>
          <p:cNvPr id="26" name="Text 24"/>
          <p:cNvSpPr/>
          <p:nvPr/>
        </p:nvSpPr>
        <p:spPr>
          <a:xfrm>
            <a:off x="777240" y="5586984"/>
            <a:ext cx="457200" cy="448056"/>
          </a:xfrm>
          <a:prstGeom prst="rect">
            <a:avLst/>
          </a:prstGeom>
          <a:noFill/>
          <a:ln/>
        </p:spPr>
        <p:txBody>
          <a:bodyPr wrap="square" lIns="0" tIns="0" rIns="0" bIns="0" rtlCol="0" anchor="ctr"/>
          <a:lstStyle/>
          <a:p>
            <a:pPr marL="0" indent="0">
              <a:buNone/>
            </a:pPr>
            <a:r>
              <a:rPr lang="en-US" sz="1500" b="1" dirty="0">
                <a:solidFill>
                  <a:srgbClr val="E8590C"/>
                </a:solidFill>
                <a:latin typeface="Times New Roman" pitchFamily="34" charset="0"/>
                <a:ea typeface="Times New Roman" pitchFamily="34" charset="-122"/>
                <a:cs typeface="Times New Roman" pitchFamily="34" charset="-120"/>
              </a:rPr>
              <a:t>8.</a:t>
            </a:r>
            <a:endParaRPr lang="en-US" sz="1500" dirty="0"/>
          </a:p>
        </p:txBody>
      </p:sp>
      <p:sp>
        <p:nvSpPr>
          <p:cNvPr id="27" name="Text 25"/>
          <p:cNvSpPr/>
          <p:nvPr/>
        </p:nvSpPr>
        <p:spPr>
          <a:xfrm>
            <a:off x="1234440" y="5586984"/>
            <a:ext cx="9784080" cy="448056"/>
          </a:xfrm>
          <a:prstGeom prst="rect">
            <a:avLst/>
          </a:prstGeom>
          <a:noFill/>
          <a:ln/>
        </p:spPr>
        <p:txBody>
          <a:bodyPr wrap="square" lIns="0" tIns="0" rIns="0" bIns="0" rtlCol="0" anchor="ctr"/>
          <a:lstStyle/>
          <a:p>
            <a:pPr marL="0" indent="0">
              <a:buNone/>
            </a:pPr>
            <a:r>
              <a:rPr lang="en-US" sz="1400" dirty="0">
                <a:solidFill>
                  <a:srgbClr val="1A202C"/>
                </a:solidFill>
                <a:latin typeface="Times New Roman" pitchFamily="34" charset="0"/>
                <a:ea typeface="Times New Roman" pitchFamily="34" charset="-122"/>
                <a:cs typeface="Times New Roman" pitchFamily="34" charset="-120"/>
              </a:rPr>
              <a:t>Handled exceptions robustly, including designing custom exception types</a:t>
            </a:r>
            <a:endParaRPr lang="en-US" sz="1400" dirty="0"/>
          </a:p>
        </p:txBody>
      </p:sp>
      <p:sp>
        <p:nvSpPr>
          <p:cNvPr id="28" name="Shape 26"/>
          <p:cNvSpPr/>
          <p:nvPr/>
        </p:nvSpPr>
        <p:spPr>
          <a:xfrm>
            <a:off x="0" y="0"/>
            <a:ext cx="12191695" cy="384048"/>
          </a:xfrm>
          <a:prstGeom prst="rect">
            <a:avLst/>
          </a:prstGeom>
          <a:solidFill>
            <a:srgbClr val="1B2A4A"/>
          </a:solidFill>
          <a:ln w="12700">
            <a:solidFill>
              <a:srgbClr val="1B2A4A"/>
            </a:solidFill>
            <a:prstDash val="solid"/>
          </a:ln>
        </p:spPr>
      </p:sp>
      <p:sp>
        <p:nvSpPr>
          <p:cNvPr id="29" name="Text 27"/>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30" name="Shape 28"/>
          <p:cNvSpPr/>
          <p:nvPr/>
        </p:nvSpPr>
        <p:spPr>
          <a:xfrm>
            <a:off x="219456" y="301752"/>
            <a:ext cx="960120" cy="0"/>
          </a:xfrm>
          <a:prstGeom prst="line">
            <a:avLst/>
          </a:prstGeom>
          <a:noFill/>
          <a:ln w="9525">
            <a:solidFill>
              <a:srgbClr val="4A5570"/>
            </a:solidFill>
            <a:prstDash val="solid"/>
          </a:ln>
        </p:spPr>
      </p:sp>
      <p:sp>
        <p:nvSpPr>
          <p:cNvPr id="31" name="Text 29"/>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32" name="Text 30"/>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33" name="Text 31"/>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34" name="Shape 32"/>
          <p:cNvSpPr/>
          <p:nvPr/>
        </p:nvSpPr>
        <p:spPr>
          <a:xfrm>
            <a:off x="0" y="6291072"/>
            <a:ext cx="12191695" cy="566928"/>
          </a:xfrm>
          <a:prstGeom prst="rect">
            <a:avLst/>
          </a:prstGeom>
          <a:solidFill>
            <a:srgbClr val="1B2A4A"/>
          </a:solidFill>
          <a:ln w="12700">
            <a:solidFill>
              <a:srgbClr val="1B2A4A"/>
            </a:solidFill>
            <a:prstDash val="solid"/>
          </a:ln>
        </p:spPr>
      </p:sp>
      <p:sp>
        <p:nvSpPr>
          <p:cNvPr id="35" name="Text 33"/>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36" name="Text 34"/>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name="Slide 118">
    <p:bg>
      <p:bgPr>
        <a:solidFill>
          <a:srgbClr val="181C24"/>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81C24"/>
          </a:solidFill>
          <a:ln w="12700">
            <a:solidFill>
              <a:srgbClr val="181C24"/>
            </a:solidFill>
            <a:prstDash val="solid"/>
          </a:ln>
        </p:spPr>
      </p:sp>
      <p:sp>
        <p:nvSpPr>
          <p:cNvPr id="3" name="Shape 1"/>
          <p:cNvSpPr/>
          <p:nvPr/>
        </p:nvSpPr>
        <p:spPr>
          <a:xfrm>
            <a:off x="8961120" y="-2011680"/>
            <a:ext cx="5943600" cy="5943600"/>
          </a:xfrm>
          <a:prstGeom prst="ellipse">
            <a:avLst/>
          </a:prstGeom>
          <a:solidFill>
            <a:srgbClr val="20242F"/>
          </a:solidFill>
          <a:ln w="12700">
            <a:solidFill>
              <a:srgbClr val="000000"/>
            </a:solidFill>
            <a:prstDash val="solid"/>
          </a:ln>
        </p:spPr>
      </p:sp>
      <p:sp>
        <p:nvSpPr>
          <p:cNvPr id="4" name="Text 2"/>
          <p:cNvSpPr/>
          <p:nvPr/>
        </p:nvSpPr>
        <p:spPr>
          <a:xfrm>
            <a:off x="640080" y="2834640"/>
            <a:ext cx="7315200" cy="822960"/>
          </a:xfrm>
          <a:prstGeom prst="rect">
            <a:avLst/>
          </a:prstGeom>
          <a:noFill/>
          <a:ln/>
        </p:spPr>
        <p:txBody>
          <a:bodyPr wrap="square" lIns="0" tIns="0" rIns="0" bIns="0" rtlCol="0" anchor="ctr"/>
          <a:lstStyle/>
          <a:p>
            <a:pPr marL="0" indent="0">
              <a:buNone/>
            </a:pPr>
            <a:r>
              <a:rPr lang="en-US" sz="4000" b="1" dirty="0">
                <a:solidFill>
                  <a:srgbClr val="FFFFFF"/>
                </a:solidFill>
                <a:latin typeface="Times New Roman" pitchFamily="34" charset="0"/>
                <a:ea typeface="Times New Roman" pitchFamily="34" charset="-122"/>
                <a:cs typeface="Times New Roman" pitchFamily="34" charset="-120"/>
              </a:rPr>
              <a:t>Thank You</a:t>
            </a:r>
            <a:endParaRPr lang="en-US" sz="4000" dirty="0"/>
          </a:p>
        </p:txBody>
      </p:sp>
      <p:sp>
        <p:nvSpPr>
          <p:cNvPr id="5" name="Text 3"/>
          <p:cNvSpPr/>
          <p:nvPr/>
        </p:nvSpPr>
        <p:spPr>
          <a:xfrm>
            <a:off x="640080" y="3611880"/>
            <a:ext cx="9144000" cy="365760"/>
          </a:xfrm>
          <a:prstGeom prst="rect">
            <a:avLst/>
          </a:prstGeom>
          <a:noFill/>
          <a:ln/>
        </p:spPr>
        <p:txBody>
          <a:bodyPr wrap="square" lIns="0" tIns="0" rIns="0" bIns="0" rtlCol="0" anchor="ctr"/>
          <a:lstStyle/>
          <a:p>
            <a:pPr marL="0" indent="0">
              <a:buNone/>
            </a:pPr>
            <a:r>
              <a:rPr lang="en-US" sz="1500" dirty="0">
                <a:solidFill>
                  <a:srgbClr val="8C93A0"/>
                </a:solidFill>
                <a:latin typeface="Times New Roman" pitchFamily="34" charset="0"/>
                <a:ea typeface="Times New Roman" pitchFamily="34" charset="-122"/>
                <a:cs typeface="Times New Roman" pitchFamily="34" charset="-120"/>
              </a:rPr>
              <a:t>Questions &amp; Discussion  |  Advanced Java and OOP</a:t>
            </a:r>
            <a:endParaRPr lang="en-US" sz="1500" dirty="0"/>
          </a:p>
        </p:txBody>
      </p:sp>
      <p:sp>
        <p:nvSpPr>
          <p:cNvPr id="6" name="Shape 4"/>
          <p:cNvSpPr/>
          <p:nvPr/>
        </p:nvSpPr>
        <p:spPr>
          <a:xfrm>
            <a:off x="0" y="0"/>
            <a:ext cx="12191695" cy="384048"/>
          </a:xfrm>
          <a:prstGeom prst="rect">
            <a:avLst/>
          </a:prstGeom>
          <a:solidFill>
            <a:srgbClr val="1B2A4A"/>
          </a:solidFill>
          <a:ln w="12700">
            <a:solidFill>
              <a:srgbClr val="1B2A4A"/>
            </a:solidFill>
            <a:prstDash val="solid"/>
          </a:ln>
        </p:spPr>
      </p:sp>
      <p:sp>
        <p:nvSpPr>
          <p:cNvPr id="7" name="Text 5"/>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8" name="Shape 6"/>
          <p:cNvSpPr/>
          <p:nvPr/>
        </p:nvSpPr>
        <p:spPr>
          <a:xfrm>
            <a:off x="219456" y="301752"/>
            <a:ext cx="960120" cy="0"/>
          </a:xfrm>
          <a:prstGeom prst="line">
            <a:avLst/>
          </a:prstGeom>
          <a:noFill/>
          <a:ln w="9525">
            <a:solidFill>
              <a:srgbClr val="4A5570"/>
            </a:solidFill>
            <a:prstDash val="solid"/>
          </a:ln>
        </p:spPr>
      </p:sp>
      <p:sp>
        <p:nvSpPr>
          <p:cNvPr id="9" name="Text 7"/>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10" name="Text 8"/>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11" name="Text 9"/>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12" name="Shape 10"/>
          <p:cNvSpPr/>
          <p:nvPr/>
        </p:nvSpPr>
        <p:spPr>
          <a:xfrm>
            <a:off x="0" y="6291072"/>
            <a:ext cx="12191695" cy="566928"/>
          </a:xfrm>
          <a:prstGeom prst="rect">
            <a:avLst/>
          </a:prstGeom>
          <a:solidFill>
            <a:srgbClr val="1B2A4A"/>
          </a:solidFill>
          <a:ln w="12700">
            <a:solidFill>
              <a:srgbClr val="1B2A4A"/>
            </a:solidFill>
            <a:prstDash val="solid"/>
          </a:ln>
        </p:spPr>
      </p:sp>
      <p:sp>
        <p:nvSpPr>
          <p:cNvPr id="13" name="Text 11"/>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14" name="Text 12"/>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name="Slide 1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KNOWLEDGE CHECK · QUESTION 1 OF 2</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Quick Quiz</a:t>
            </a:r>
            <a:endParaRPr lang="en-US" sz="2700" dirty="0"/>
          </a:p>
        </p:txBody>
      </p:sp>
      <p:sp>
        <p:nvSpPr>
          <p:cNvPr id="4" name="Shape 2"/>
          <p:cNvSpPr/>
          <p:nvPr/>
        </p:nvSpPr>
        <p:spPr>
          <a:xfrm>
            <a:off x="594360" y="1600200"/>
            <a:ext cx="10607040" cy="2377440"/>
          </a:xfrm>
          <a:prstGeom prst="roundRect">
            <a:avLst>
              <a:gd name="adj" fmla="val 2692"/>
            </a:avLst>
          </a:prstGeom>
          <a:solidFill>
            <a:srgbClr val="F5F6FA"/>
          </a:solidFill>
          <a:ln w="9525">
            <a:solidFill>
              <a:srgbClr val="E4E7EE"/>
            </a:solidFill>
            <a:prstDash val="solid"/>
          </a:ln>
        </p:spPr>
      </p:sp>
      <p:sp>
        <p:nvSpPr>
          <p:cNvPr id="5" name="Text 3"/>
          <p:cNvSpPr/>
          <p:nvPr/>
        </p:nvSpPr>
        <p:spPr>
          <a:xfrm>
            <a:off x="822960" y="1709928"/>
            <a:ext cx="10149840" cy="292608"/>
          </a:xfrm>
          <a:prstGeom prst="rect">
            <a:avLst/>
          </a:prstGeom>
          <a:noFill/>
          <a:ln/>
        </p:spPr>
        <p:txBody>
          <a:bodyPr wrap="square" lIns="0" tIns="0" rIns="0" bIns="0" rtlCol="0" anchor="ctr"/>
          <a:lstStyle/>
          <a:p>
            <a:pPr marL="0" indent="0">
              <a:buNone/>
            </a:pPr>
            <a:r>
              <a:rPr lang="en-US" sz="1500" b="1" dirty="0">
                <a:solidFill>
                  <a:srgbClr val="1A202C"/>
                </a:solidFill>
                <a:latin typeface="Times New Roman" pitchFamily="34" charset="0"/>
                <a:ea typeface="Times New Roman" pitchFamily="34" charset="-122"/>
                <a:cs typeface="Times New Roman" pitchFamily="34" charset="-120"/>
              </a:rPr>
              <a:t>What does the following code print?</a:t>
            </a:r>
            <a:endParaRPr lang="en-US" sz="1500" dirty="0"/>
          </a:p>
        </p:txBody>
      </p:sp>
      <p:sp>
        <p:nvSpPr>
          <p:cNvPr id="6" name="Text 4"/>
          <p:cNvSpPr/>
          <p:nvPr/>
        </p:nvSpPr>
        <p:spPr>
          <a:xfrm>
            <a:off x="822960" y="2039112"/>
            <a:ext cx="10149840" cy="1847088"/>
          </a:xfrm>
          <a:prstGeom prst="rect">
            <a:avLst/>
          </a:prstGeom>
          <a:noFill/>
          <a:ln/>
        </p:spPr>
        <p:txBody>
          <a:bodyPr wrap="square" lIns="0" tIns="0" rIns="0" bIns="0" rtlCol="0" anchor="t"/>
          <a:lstStyle/>
          <a:p>
            <a:pPr marL="0" indent="0">
              <a:lnSpc>
                <a:spcPct val="125000"/>
              </a:lnSpc>
              <a:buNone/>
            </a:pPr>
            <a:r>
              <a:rPr lang="en-US" sz="1200" dirty="0">
                <a:solidFill>
                  <a:srgbClr val="1A202C"/>
                </a:solidFill>
                <a:latin typeface="Courier New" pitchFamily="34" charset="0"/>
                <a:ea typeface="Courier New" pitchFamily="34" charset="-122"/>
                <a:cs typeface="Courier New" pitchFamily="34" charset="-120"/>
              </a:rPr>
              <a:t>class Animal {</a:t>
            </a:r>
            <a:endParaRPr lang="en-US" sz="1200" dirty="0"/>
          </a:p>
          <a:p>
            <a:pPr marL="0" indent="0">
              <a:lnSpc>
                <a:spcPct val="125000"/>
              </a:lnSpc>
              <a:buNone/>
            </a:pPr>
            <a:r>
              <a:rPr lang="en-US" sz="1200" dirty="0">
                <a:solidFill>
                  <a:srgbClr val="1A202C"/>
                </a:solidFill>
                <a:latin typeface="Courier New" pitchFamily="34" charset="0"/>
                <a:ea typeface="Courier New" pitchFamily="34" charset="-122"/>
                <a:cs typeface="Courier New" pitchFamily="34" charset="-120"/>
              </a:rPr>
              <a:t>    String sound() { return "..."; }</a:t>
            </a:r>
            <a:endParaRPr lang="en-US" sz="1200" dirty="0"/>
          </a:p>
          <a:p>
            <a:pPr marL="0" indent="0">
              <a:lnSpc>
                <a:spcPct val="125000"/>
              </a:lnSpc>
              <a:buNone/>
            </a:pPr>
            <a:r>
              <a:rPr lang="en-US" sz="1200" dirty="0">
                <a:solidFill>
                  <a:srgbClr val="1A202C"/>
                </a:solidFill>
                <a:latin typeface="Courier New" pitchFamily="34" charset="0"/>
                <a:ea typeface="Courier New" pitchFamily="34" charset="-122"/>
                <a:cs typeface="Courier New" pitchFamily="34" charset="-120"/>
              </a:rPr>
              <a:t>}</a:t>
            </a:r>
            <a:endParaRPr lang="en-US" sz="1200" dirty="0"/>
          </a:p>
          <a:p>
            <a:pPr marL="0" indent="0">
              <a:lnSpc>
                <a:spcPct val="125000"/>
              </a:lnSpc>
              <a:buNone/>
            </a:pPr>
            <a:r>
              <a:rPr lang="en-US" sz="1200" dirty="0">
                <a:solidFill>
                  <a:srgbClr val="1A202C"/>
                </a:solidFill>
                <a:latin typeface="Courier New" pitchFamily="34" charset="0"/>
                <a:ea typeface="Courier New" pitchFamily="34" charset="-122"/>
                <a:cs typeface="Courier New" pitchFamily="34" charset="-120"/>
              </a:rPr>
              <a:t>class Dog extends Animal {</a:t>
            </a:r>
            <a:endParaRPr lang="en-US" sz="1200" dirty="0"/>
          </a:p>
          <a:p>
            <a:pPr marL="0" indent="0">
              <a:lnSpc>
                <a:spcPct val="125000"/>
              </a:lnSpc>
              <a:buNone/>
            </a:pPr>
            <a:r>
              <a:rPr lang="en-US" sz="1200" dirty="0">
                <a:solidFill>
                  <a:srgbClr val="1A202C"/>
                </a:solidFill>
                <a:latin typeface="Courier New" pitchFamily="34" charset="0"/>
                <a:ea typeface="Courier New" pitchFamily="34" charset="-122"/>
                <a:cs typeface="Courier New" pitchFamily="34" charset="-120"/>
              </a:rPr>
              <a:t>    String sound() { return "Bark"; }</a:t>
            </a:r>
            <a:endParaRPr lang="en-US" sz="1200" dirty="0"/>
          </a:p>
          <a:p>
            <a:pPr marL="0" indent="0">
              <a:lnSpc>
                <a:spcPct val="125000"/>
              </a:lnSpc>
              <a:buNone/>
            </a:pPr>
            <a:r>
              <a:rPr lang="en-US" sz="1200" dirty="0">
                <a:solidFill>
                  <a:srgbClr val="1A202C"/>
                </a:solidFill>
                <a:latin typeface="Courier New" pitchFamily="34" charset="0"/>
                <a:ea typeface="Courier New" pitchFamily="34" charset="-122"/>
                <a:cs typeface="Courier New" pitchFamily="34" charset="-120"/>
              </a:rPr>
              <a:t>}</a:t>
            </a:r>
            <a:endParaRPr lang="en-US" sz="1200" dirty="0"/>
          </a:p>
          <a:p>
            <a:pPr marL="0" indent="0">
              <a:lnSpc>
                <a:spcPct val="125000"/>
              </a:lnSpc>
              <a:buNone/>
            </a:pPr>
            <a:r>
              <a:rPr lang="en-US" sz="1200" dirty="0">
                <a:solidFill>
                  <a:srgbClr val="1A202C"/>
                </a:solidFill>
                <a:latin typeface="Courier New" pitchFamily="34" charset="0"/>
                <a:ea typeface="Courier New" pitchFamily="34" charset="-122"/>
                <a:cs typeface="Courier New" pitchFamily="34" charset="-120"/>
              </a:rPr>
              <a:t>Animal a = new Dog();</a:t>
            </a:r>
            <a:endParaRPr lang="en-US" sz="1200" dirty="0"/>
          </a:p>
          <a:p>
            <a:pPr marL="0" indent="0">
              <a:lnSpc>
                <a:spcPct val="125000"/>
              </a:lnSpc>
              <a:buNone/>
            </a:pPr>
            <a:r>
              <a:rPr lang="en-US" sz="1200" dirty="0">
                <a:solidFill>
                  <a:srgbClr val="1A202C"/>
                </a:solidFill>
                <a:latin typeface="Courier New" pitchFamily="34" charset="0"/>
                <a:ea typeface="Courier New" pitchFamily="34" charset="-122"/>
                <a:cs typeface="Courier New" pitchFamily="34" charset="-120"/>
              </a:rPr>
              <a:t>System.out.println(a.sound());</a:t>
            </a:r>
            <a:endParaRPr lang="en-US" sz="1200" dirty="0"/>
          </a:p>
        </p:txBody>
      </p:sp>
      <p:sp>
        <p:nvSpPr>
          <p:cNvPr id="7" name="Shape 5"/>
          <p:cNvSpPr/>
          <p:nvPr/>
        </p:nvSpPr>
        <p:spPr>
          <a:xfrm>
            <a:off x="594360" y="4251960"/>
            <a:ext cx="5166360" cy="754380"/>
          </a:xfrm>
          <a:prstGeom prst="roundRect">
            <a:avLst>
              <a:gd name="adj" fmla="val 9697"/>
            </a:avLst>
          </a:prstGeom>
          <a:solidFill>
            <a:srgbClr val="FFFFFF"/>
          </a:solidFill>
          <a:ln w="15875">
            <a:solidFill>
              <a:srgbClr val="E4E7EE"/>
            </a:solidFill>
            <a:prstDash val="solid"/>
          </a:ln>
        </p:spPr>
      </p:sp>
      <p:sp>
        <p:nvSpPr>
          <p:cNvPr id="8" name="Shape 6"/>
          <p:cNvSpPr/>
          <p:nvPr/>
        </p:nvSpPr>
        <p:spPr>
          <a:xfrm>
            <a:off x="777240" y="4427982"/>
            <a:ext cx="402336" cy="402336"/>
          </a:xfrm>
          <a:prstGeom prst="ellipse">
            <a:avLst/>
          </a:prstGeom>
          <a:solidFill>
            <a:srgbClr val="F5F6FA"/>
          </a:solidFill>
          <a:ln w="12700">
            <a:solidFill>
              <a:srgbClr val="000000"/>
            </a:solidFill>
            <a:prstDash val="solid"/>
          </a:ln>
        </p:spPr>
      </p:sp>
      <p:sp>
        <p:nvSpPr>
          <p:cNvPr id="9" name="Text 7"/>
          <p:cNvSpPr/>
          <p:nvPr/>
        </p:nvSpPr>
        <p:spPr>
          <a:xfrm>
            <a:off x="777240" y="4427982"/>
            <a:ext cx="402336" cy="402336"/>
          </a:xfrm>
          <a:prstGeom prst="rect">
            <a:avLst/>
          </a:prstGeom>
          <a:noFill/>
          <a:ln/>
        </p:spPr>
        <p:txBody>
          <a:bodyPr wrap="square" lIns="0" tIns="0" rIns="0" bIns="0" rtlCol="0" anchor="ctr"/>
          <a:lstStyle/>
          <a:p>
            <a:pPr marL="0" indent="0" algn="ctr">
              <a:buNone/>
            </a:pPr>
            <a:r>
              <a:rPr lang="en-US" sz="1600" b="1" dirty="0">
                <a:solidFill>
                  <a:srgbClr val="1A202C"/>
                </a:solidFill>
                <a:latin typeface="Times New Roman" pitchFamily="34" charset="0"/>
                <a:ea typeface="Times New Roman" pitchFamily="34" charset="-122"/>
                <a:cs typeface="Times New Roman" pitchFamily="34" charset="-120"/>
              </a:rPr>
              <a:t>A</a:t>
            </a:r>
            <a:endParaRPr lang="en-US" sz="1600" dirty="0"/>
          </a:p>
        </p:txBody>
      </p:sp>
      <p:sp>
        <p:nvSpPr>
          <p:cNvPr id="10" name="Text 8"/>
          <p:cNvSpPr/>
          <p:nvPr/>
        </p:nvSpPr>
        <p:spPr>
          <a:xfrm>
            <a:off x="1307592" y="4251960"/>
            <a:ext cx="4251960" cy="754380"/>
          </a:xfrm>
          <a:prstGeom prst="rect">
            <a:avLst/>
          </a:prstGeom>
          <a:noFill/>
          <a:ln/>
        </p:spPr>
        <p:txBody>
          <a:bodyPr wrap="square" lIns="0" tIns="0" rIns="0" bIns="0" rtlCol="0" anchor="ctr"/>
          <a:lstStyle/>
          <a:p>
            <a:pPr marL="0" indent="0">
              <a:buNone/>
            </a:pPr>
            <a:r>
              <a:rPr lang="en-US" sz="1400" dirty="0">
                <a:solidFill>
                  <a:srgbClr val="1A202C"/>
                </a:solidFill>
                <a:latin typeface="Times New Roman" pitchFamily="34" charset="0"/>
                <a:ea typeface="Times New Roman" pitchFamily="34" charset="-122"/>
                <a:cs typeface="Times New Roman" pitchFamily="34" charset="-120"/>
              </a:rPr>
              <a:t>...</a:t>
            </a:r>
            <a:endParaRPr lang="en-US" sz="1400" dirty="0"/>
          </a:p>
        </p:txBody>
      </p:sp>
      <p:sp>
        <p:nvSpPr>
          <p:cNvPr id="11" name="Shape 9"/>
          <p:cNvSpPr/>
          <p:nvPr/>
        </p:nvSpPr>
        <p:spPr>
          <a:xfrm>
            <a:off x="6035040" y="4251960"/>
            <a:ext cx="5166360" cy="754380"/>
          </a:xfrm>
          <a:prstGeom prst="roundRect">
            <a:avLst>
              <a:gd name="adj" fmla="val 9697"/>
            </a:avLst>
          </a:prstGeom>
          <a:solidFill>
            <a:srgbClr val="1B2A4A"/>
          </a:solidFill>
          <a:ln w="15875">
            <a:solidFill>
              <a:srgbClr val="1B2A4A"/>
            </a:solidFill>
            <a:prstDash val="solid"/>
          </a:ln>
        </p:spPr>
      </p:sp>
      <p:sp>
        <p:nvSpPr>
          <p:cNvPr id="12" name="Shape 10"/>
          <p:cNvSpPr/>
          <p:nvPr/>
        </p:nvSpPr>
        <p:spPr>
          <a:xfrm>
            <a:off x="6217920" y="4427982"/>
            <a:ext cx="402336" cy="402336"/>
          </a:xfrm>
          <a:prstGeom prst="ellipse">
            <a:avLst/>
          </a:prstGeom>
          <a:solidFill>
            <a:srgbClr val="E8590C"/>
          </a:solidFill>
          <a:ln w="12700">
            <a:solidFill>
              <a:srgbClr val="000000"/>
            </a:solidFill>
            <a:prstDash val="solid"/>
          </a:ln>
        </p:spPr>
      </p:sp>
      <p:sp>
        <p:nvSpPr>
          <p:cNvPr id="13" name="Text 11"/>
          <p:cNvSpPr/>
          <p:nvPr/>
        </p:nvSpPr>
        <p:spPr>
          <a:xfrm>
            <a:off x="6217920" y="4427982"/>
            <a:ext cx="402336" cy="402336"/>
          </a:xfrm>
          <a:prstGeom prst="rect">
            <a:avLst/>
          </a:prstGeom>
          <a:noFill/>
          <a:ln/>
        </p:spPr>
        <p:txBody>
          <a:bodyPr wrap="square" lIns="0" tIns="0" rIns="0" bIns="0" rtlCol="0" anchor="ctr"/>
          <a:lstStyle/>
          <a:p>
            <a:pPr marL="0" indent="0" algn="ctr">
              <a:buNone/>
            </a:pPr>
            <a:r>
              <a:rPr lang="en-US" sz="1600" b="1" dirty="0">
                <a:solidFill>
                  <a:srgbClr val="FFFFFF"/>
                </a:solidFill>
                <a:latin typeface="Times New Roman" pitchFamily="34" charset="0"/>
                <a:ea typeface="Times New Roman" pitchFamily="34" charset="-122"/>
                <a:cs typeface="Times New Roman" pitchFamily="34" charset="-120"/>
              </a:rPr>
              <a:t>B</a:t>
            </a:r>
            <a:endParaRPr lang="en-US" sz="1600" dirty="0"/>
          </a:p>
        </p:txBody>
      </p:sp>
      <p:sp>
        <p:nvSpPr>
          <p:cNvPr id="14" name="Text 12"/>
          <p:cNvSpPr/>
          <p:nvPr/>
        </p:nvSpPr>
        <p:spPr>
          <a:xfrm>
            <a:off x="6748272" y="4251960"/>
            <a:ext cx="4251960" cy="754380"/>
          </a:xfrm>
          <a:prstGeom prst="rect">
            <a:avLst/>
          </a:prstGeom>
          <a:noFill/>
          <a:ln/>
        </p:spPr>
        <p:txBody>
          <a:bodyPr wrap="square" lIns="0" tIns="0" rIns="0" bIns="0" rtlCol="0" anchor="ctr"/>
          <a:lstStyle/>
          <a:p>
            <a:pPr marL="0" indent="0">
              <a:buNone/>
            </a:pPr>
            <a:r>
              <a:rPr lang="en-US" sz="1400" b="1" dirty="0">
                <a:solidFill>
                  <a:srgbClr val="FFFFFF"/>
                </a:solidFill>
                <a:latin typeface="Times New Roman" pitchFamily="34" charset="0"/>
                <a:ea typeface="Times New Roman" pitchFamily="34" charset="-122"/>
                <a:cs typeface="Times New Roman" pitchFamily="34" charset="-120"/>
              </a:rPr>
              <a:t>Bark</a:t>
            </a:r>
            <a:endParaRPr lang="en-US" sz="1400" dirty="0"/>
          </a:p>
        </p:txBody>
      </p:sp>
      <p:sp>
        <p:nvSpPr>
          <p:cNvPr id="15" name="Text 13"/>
          <p:cNvSpPr/>
          <p:nvPr/>
        </p:nvSpPr>
        <p:spPr>
          <a:xfrm>
            <a:off x="6748272" y="4713732"/>
            <a:ext cx="4251960" cy="237744"/>
          </a:xfrm>
          <a:prstGeom prst="rect">
            <a:avLst/>
          </a:prstGeom>
          <a:noFill/>
          <a:ln/>
        </p:spPr>
        <p:txBody>
          <a:bodyPr wrap="square" lIns="0" tIns="0" rIns="0" bIns="0" rtlCol="0" anchor="ctr"/>
          <a:lstStyle/>
          <a:p>
            <a:pPr marL="0" indent="0">
              <a:buNone/>
            </a:pPr>
            <a:r>
              <a:rPr lang="en-US" sz="900" b="1" kern="0" spc="100" dirty="0">
                <a:solidFill>
                  <a:srgbClr val="F3B67D"/>
                </a:solidFill>
                <a:latin typeface="Times New Roman" pitchFamily="34" charset="0"/>
                <a:ea typeface="Times New Roman" pitchFamily="34" charset="-122"/>
                <a:cs typeface="Times New Roman" pitchFamily="34" charset="-120"/>
              </a:rPr>
              <a:t>CORRECT ANSWER</a:t>
            </a:r>
            <a:endParaRPr lang="en-US" sz="900" dirty="0"/>
          </a:p>
        </p:txBody>
      </p:sp>
      <p:sp>
        <p:nvSpPr>
          <p:cNvPr id="16" name="Shape 14"/>
          <p:cNvSpPr/>
          <p:nvPr/>
        </p:nvSpPr>
        <p:spPr>
          <a:xfrm>
            <a:off x="594360" y="5280660"/>
            <a:ext cx="5166360" cy="754380"/>
          </a:xfrm>
          <a:prstGeom prst="roundRect">
            <a:avLst>
              <a:gd name="adj" fmla="val 9697"/>
            </a:avLst>
          </a:prstGeom>
          <a:solidFill>
            <a:srgbClr val="FFFFFF"/>
          </a:solidFill>
          <a:ln w="15875">
            <a:solidFill>
              <a:srgbClr val="E4E7EE"/>
            </a:solidFill>
            <a:prstDash val="solid"/>
          </a:ln>
        </p:spPr>
      </p:sp>
      <p:sp>
        <p:nvSpPr>
          <p:cNvPr id="17" name="Shape 15"/>
          <p:cNvSpPr/>
          <p:nvPr/>
        </p:nvSpPr>
        <p:spPr>
          <a:xfrm>
            <a:off x="777240" y="5456682"/>
            <a:ext cx="402336" cy="402336"/>
          </a:xfrm>
          <a:prstGeom prst="ellipse">
            <a:avLst/>
          </a:prstGeom>
          <a:solidFill>
            <a:srgbClr val="F5F6FA"/>
          </a:solidFill>
          <a:ln w="12700">
            <a:solidFill>
              <a:srgbClr val="000000"/>
            </a:solidFill>
            <a:prstDash val="solid"/>
          </a:ln>
        </p:spPr>
      </p:sp>
      <p:sp>
        <p:nvSpPr>
          <p:cNvPr id="18" name="Text 16"/>
          <p:cNvSpPr/>
          <p:nvPr/>
        </p:nvSpPr>
        <p:spPr>
          <a:xfrm>
            <a:off x="777240" y="5456682"/>
            <a:ext cx="402336" cy="402336"/>
          </a:xfrm>
          <a:prstGeom prst="rect">
            <a:avLst/>
          </a:prstGeom>
          <a:noFill/>
          <a:ln/>
        </p:spPr>
        <p:txBody>
          <a:bodyPr wrap="square" lIns="0" tIns="0" rIns="0" bIns="0" rtlCol="0" anchor="ctr"/>
          <a:lstStyle/>
          <a:p>
            <a:pPr marL="0" indent="0" algn="ctr">
              <a:buNone/>
            </a:pPr>
            <a:r>
              <a:rPr lang="en-US" sz="1600" b="1" dirty="0">
                <a:solidFill>
                  <a:srgbClr val="1A202C"/>
                </a:solidFill>
                <a:latin typeface="Times New Roman" pitchFamily="34" charset="0"/>
                <a:ea typeface="Times New Roman" pitchFamily="34" charset="-122"/>
                <a:cs typeface="Times New Roman" pitchFamily="34" charset="-120"/>
              </a:rPr>
              <a:t>C</a:t>
            </a:r>
            <a:endParaRPr lang="en-US" sz="1600" dirty="0"/>
          </a:p>
        </p:txBody>
      </p:sp>
      <p:sp>
        <p:nvSpPr>
          <p:cNvPr id="19" name="Text 17"/>
          <p:cNvSpPr/>
          <p:nvPr/>
        </p:nvSpPr>
        <p:spPr>
          <a:xfrm>
            <a:off x="1307592" y="5280660"/>
            <a:ext cx="4251960" cy="754380"/>
          </a:xfrm>
          <a:prstGeom prst="rect">
            <a:avLst/>
          </a:prstGeom>
          <a:noFill/>
          <a:ln/>
        </p:spPr>
        <p:txBody>
          <a:bodyPr wrap="square" lIns="0" tIns="0" rIns="0" bIns="0" rtlCol="0" anchor="ctr"/>
          <a:lstStyle/>
          <a:p>
            <a:pPr marL="0" indent="0">
              <a:buNone/>
            </a:pPr>
            <a:r>
              <a:rPr lang="en-US" sz="1400" dirty="0">
                <a:solidFill>
                  <a:srgbClr val="1A202C"/>
                </a:solidFill>
                <a:latin typeface="Times New Roman" pitchFamily="34" charset="0"/>
                <a:ea typeface="Times New Roman" pitchFamily="34" charset="-122"/>
                <a:cs typeface="Times New Roman" pitchFamily="34" charset="-120"/>
              </a:rPr>
              <a:t>Compile error</a:t>
            </a:r>
            <a:endParaRPr lang="en-US" sz="1400" dirty="0"/>
          </a:p>
        </p:txBody>
      </p:sp>
      <p:sp>
        <p:nvSpPr>
          <p:cNvPr id="20" name="Shape 18"/>
          <p:cNvSpPr/>
          <p:nvPr/>
        </p:nvSpPr>
        <p:spPr>
          <a:xfrm>
            <a:off x="6035040" y="5280660"/>
            <a:ext cx="5166360" cy="754380"/>
          </a:xfrm>
          <a:prstGeom prst="roundRect">
            <a:avLst>
              <a:gd name="adj" fmla="val 9697"/>
            </a:avLst>
          </a:prstGeom>
          <a:solidFill>
            <a:srgbClr val="FFFFFF"/>
          </a:solidFill>
          <a:ln w="15875">
            <a:solidFill>
              <a:srgbClr val="E4E7EE"/>
            </a:solidFill>
            <a:prstDash val="solid"/>
          </a:ln>
        </p:spPr>
      </p:sp>
      <p:sp>
        <p:nvSpPr>
          <p:cNvPr id="21" name="Shape 19"/>
          <p:cNvSpPr/>
          <p:nvPr/>
        </p:nvSpPr>
        <p:spPr>
          <a:xfrm>
            <a:off x="6217920" y="5456682"/>
            <a:ext cx="402336" cy="402336"/>
          </a:xfrm>
          <a:prstGeom prst="ellipse">
            <a:avLst/>
          </a:prstGeom>
          <a:solidFill>
            <a:srgbClr val="F5F6FA"/>
          </a:solidFill>
          <a:ln w="12700">
            <a:solidFill>
              <a:srgbClr val="000000"/>
            </a:solidFill>
            <a:prstDash val="solid"/>
          </a:ln>
        </p:spPr>
      </p:sp>
      <p:sp>
        <p:nvSpPr>
          <p:cNvPr id="22" name="Text 20"/>
          <p:cNvSpPr/>
          <p:nvPr/>
        </p:nvSpPr>
        <p:spPr>
          <a:xfrm>
            <a:off x="6217920" y="5456682"/>
            <a:ext cx="402336" cy="402336"/>
          </a:xfrm>
          <a:prstGeom prst="rect">
            <a:avLst/>
          </a:prstGeom>
          <a:noFill/>
          <a:ln/>
        </p:spPr>
        <p:txBody>
          <a:bodyPr wrap="square" lIns="0" tIns="0" rIns="0" bIns="0" rtlCol="0" anchor="ctr"/>
          <a:lstStyle/>
          <a:p>
            <a:pPr marL="0" indent="0" algn="ctr">
              <a:buNone/>
            </a:pPr>
            <a:r>
              <a:rPr lang="en-US" sz="1600" b="1" dirty="0">
                <a:solidFill>
                  <a:srgbClr val="1A202C"/>
                </a:solidFill>
                <a:latin typeface="Times New Roman" pitchFamily="34" charset="0"/>
                <a:ea typeface="Times New Roman" pitchFamily="34" charset="-122"/>
                <a:cs typeface="Times New Roman" pitchFamily="34" charset="-120"/>
              </a:rPr>
              <a:t>D</a:t>
            </a:r>
            <a:endParaRPr lang="en-US" sz="1600" dirty="0"/>
          </a:p>
        </p:txBody>
      </p:sp>
      <p:sp>
        <p:nvSpPr>
          <p:cNvPr id="23" name="Text 21"/>
          <p:cNvSpPr/>
          <p:nvPr/>
        </p:nvSpPr>
        <p:spPr>
          <a:xfrm>
            <a:off x="6748272" y="5280660"/>
            <a:ext cx="4251960" cy="754380"/>
          </a:xfrm>
          <a:prstGeom prst="rect">
            <a:avLst/>
          </a:prstGeom>
          <a:noFill/>
          <a:ln/>
        </p:spPr>
        <p:txBody>
          <a:bodyPr wrap="square" lIns="0" tIns="0" rIns="0" bIns="0" rtlCol="0" anchor="ctr"/>
          <a:lstStyle/>
          <a:p>
            <a:pPr marL="0" indent="0">
              <a:buNone/>
            </a:pPr>
            <a:r>
              <a:rPr lang="en-US" sz="1400" dirty="0">
                <a:solidFill>
                  <a:srgbClr val="1A202C"/>
                </a:solidFill>
                <a:latin typeface="Times New Roman" pitchFamily="34" charset="0"/>
                <a:ea typeface="Times New Roman" pitchFamily="34" charset="-122"/>
                <a:cs typeface="Times New Roman" pitchFamily="34" charset="-120"/>
              </a:rPr>
              <a:t>null</a:t>
            </a:r>
            <a:endParaRPr lang="en-US" sz="1400" dirty="0"/>
          </a:p>
        </p:txBody>
      </p:sp>
      <p:sp>
        <p:nvSpPr>
          <p:cNvPr id="24" name="Shape 22"/>
          <p:cNvSpPr/>
          <p:nvPr/>
        </p:nvSpPr>
        <p:spPr>
          <a:xfrm>
            <a:off x="0" y="0"/>
            <a:ext cx="12191695" cy="384048"/>
          </a:xfrm>
          <a:prstGeom prst="rect">
            <a:avLst/>
          </a:prstGeom>
          <a:solidFill>
            <a:srgbClr val="1B2A4A"/>
          </a:solidFill>
          <a:ln w="12700">
            <a:solidFill>
              <a:srgbClr val="1B2A4A"/>
            </a:solidFill>
            <a:prstDash val="solid"/>
          </a:ln>
        </p:spPr>
      </p:sp>
      <p:sp>
        <p:nvSpPr>
          <p:cNvPr id="25" name="Text 23"/>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26" name="Shape 24"/>
          <p:cNvSpPr/>
          <p:nvPr/>
        </p:nvSpPr>
        <p:spPr>
          <a:xfrm>
            <a:off x="219456" y="301752"/>
            <a:ext cx="960120" cy="0"/>
          </a:xfrm>
          <a:prstGeom prst="line">
            <a:avLst/>
          </a:prstGeom>
          <a:noFill/>
          <a:ln w="9525">
            <a:solidFill>
              <a:srgbClr val="4A5570"/>
            </a:solidFill>
            <a:prstDash val="solid"/>
          </a:ln>
        </p:spPr>
      </p:sp>
      <p:sp>
        <p:nvSpPr>
          <p:cNvPr id="27" name="Text 25"/>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8" name="Text 26"/>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9" name="Text 27"/>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30" name="Shape 28"/>
          <p:cNvSpPr/>
          <p:nvPr/>
        </p:nvSpPr>
        <p:spPr>
          <a:xfrm>
            <a:off x="0" y="6291072"/>
            <a:ext cx="12191695" cy="566928"/>
          </a:xfrm>
          <a:prstGeom prst="rect">
            <a:avLst/>
          </a:prstGeom>
          <a:solidFill>
            <a:srgbClr val="1B2A4A"/>
          </a:solidFill>
          <a:ln w="12700">
            <a:solidFill>
              <a:srgbClr val="1B2A4A"/>
            </a:solidFill>
            <a:prstDash val="solid"/>
          </a:ln>
        </p:spPr>
      </p:sp>
      <p:sp>
        <p:nvSpPr>
          <p:cNvPr id="31" name="Text 29"/>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32" name="Text 30"/>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name="Slide 1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93776"/>
            <a:ext cx="9144000" cy="292608"/>
          </a:xfrm>
          <a:prstGeom prst="rect">
            <a:avLst/>
          </a:prstGeom>
          <a:noFill/>
          <a:ln/>
        </p:spPr>
        <p:txBody>
          <a:bodyPr wrap="square" lIns="0" tIns="0" rIns="0" bIns="0" rtlCol="0" anchor="ctr"/>
          <a:lstStyle/>
          <a:p>
            <a:pPr marL="0" indent="0">
              <a:buNone/>
            </a:pPr>
            <a:r>
              <a:rPr lang="en-US" sz="1300" b="1" kern="0" spc="200" dirty="0">
                <a:solidFill>
                  <a:srgbClr val="E8590C"/>
                </a:solidFill>
                <a:latin typeface="Times New Roman" pitchFamily="34" charset="0"/>
                <a:ea typeface="Times New Roman" pitchFamily="34" charset="-122"/>
                <a:cs typeface="Times New Roman" pitchFamily="34" charset="-120"/>
              </a:rPr>
              <a:t>KNOWLEDGE CHECK · QUESTION 2 OF 2</a:t>
            </a:r>
            <a:endParaRPr lang="en-US" sz="1300" dirty="0"/>
          </a:p>
        </p:txBody>
      </p:sp>
      <p:sp>
        <p:nvSpPr>
          <p:cNvPr id="3" name="Text 1"/>
          <p:cNvSpPr/>
          <p:nvPr/>
        </p:nvSpPr>
        <p:spPr>
          <a:xfrm>
            <a:off x="548640" y="786384"/>
            <a:ext cx="10789920" cy="658368"/>
          </a:xfrm>
          <a:prstGeom prst="rect">
            <a:avLst/>
          </a:prstGeom>
          <a:noFill/>
          <a:ln/>
        </p:spPr>
        <p:txBody>
          <a:bodyPr wrap="square" lIns="0" tIns="0" rIns="0" bIns="0" rtlCol="0" anchor="ctr"/>
          <a:lstStyle/>
          <a:p>
            <a:pPr marL="0" indent="0">
              <a:buNone/>
            </a:pPr>
            <a:r>
              <a:rPr lang="en-US" sz="2700" b="1" dirty="0">
                <a:solidFill>
                  <a:srgbClr val="1A202C"/>
                </a:solidFill>
                <a:latin typeface="Times New Roman" pitchFamily="34" charset="0"/>
                <a:ea typeface="Times New Roman" pitchFamily="34" charset="-122"/>
                <a:cs typeface="Times New Roman" pitchFamily="34" charset="-120"/>
              </a:rPr>
              <a:t>Quick Quiz</a:t>
            </a:r>
            <a:endParaRPr lang="en-US" sz="2700" dirty="0"/>
          </a:p>
        </p:txBody>
      </p:sp>
      <p:sp>
        <p:nvSpPr>
          <p:cNvPr id="4" name="Shape 2"/>
          <p:cNvSpPr/>
          <p:nvPr/>
        </p:nvSpPr>
        <p:spPr>
          <a:xfrm>
            <a:off x="594360" y="1600200"/>
            <a:ext cx="10607040" cy="822960"/>
          </a:xfrm>
          <a:prstGeom prst="roundRect">
            <a:avLst>
              <a:gd name="adj" fmla="val 7778"/>
            </a:avLst>
          </a:prstGeom>
          <a:solidFill>
            <a:srgbClr val="F5F6FA"/>
          </a:solidFill>
          <a:ln w="9525">
            <a:solidFill>
              <a:srgbClr val="E4E7EE"/>
            </a:solidFill>
            <a:prstDash val="solid"/>
          </a:ln>
        </p:spPr>
      </p:sp>
      <p:sp>
        <p:nvSpPr>
          <p:cNvPr id="5" name="Text 3"/>
          <p:cNvSpPr/>
          <p:nvPr/>
        </p:nvSpPr>
        <p:spPr>
          <a:xfrm>
            <a:off x="822960" y="1600200"/>
            <a:ext cx="10149840" cy="822960"/>
          </a:xfrm>
          <a:prstGeom prst="rect">
            <a:avLst/>
          </a:prstGeom>
          <a:noFill/>
          <a:ln/>
        </p:spPr>
        <p:txBody>
          <a:bodyPr wrap="square" lIns="0" tIns="0" rIns="0" bIns="0" rtlCol="0" anchor="ctr"/>
          <a:lstStyle/>
          <a:p>
            <a:pPr marL="0" indent="0">
              <a:buNone/>
            </a:pPr>
            <a:r>
              <a:rPr lang="en-US" sz="1900" b="1" dirty="0">
                <a:solidFill>
                  <a:srgbClr val="1A202C"/>
                </a:solidFill>
                <a:latin typeface="Times New Roman" pitchFamily="34" charset="0"/>
                <a:ea typeface="Times New Roman" pitchFamily="34" charset="-122"/>
                <a:cs typeface="Times New Roman" pitchFamily="34" charset="-120"/>
              </a:rPr>
              <a:t>Which keyword allows a class to inherit fields and methods from another class?</a:t>
            </a:r>
            <a:endParaRPr lang="en-US" sz="1900" dirty="0"/>
          </a:p>
        </p:txBody>
      </p:sp>
      <p:sp>
        <p:nvSpPr>
          <p:cNvPr id="6" name="Shape 4"/>
          <p:cNvSpPr/>
          <p:nvPr/>
        </p:nvSpPr>
        <p:spPr>
          <a:xfrm>
            <a:off x="594360" y="2697480"/>
            <a:ext cx="5166360" cy="1280160"/>
          </a:xfrm>
          <a:prstGeom prst="roundRect">
            <a:avLst>
              <a:gd name="adj" fmla="val 5714"/>
            </a:avLst>
          </a:prstGeom>
          <a:solidFill>
            <a:srgbClr val="FFFFFF"/>
          </a:solidFill>
          <a:ln w="15875">
            <a:solidFill>
              <a:srgbClr val="E4E7EE"/>
            </a:solidFill>
            <a:prstDash val="solid"/>
          </a:ln>
        </p:spPr>
      </p:sp>
      <p:sp>
        <p:nvSpPr>
          <p:cNvPr id="7" name="Shape 5"/>
          <p:cNvSpPr/>
          <p:nvPr/>
        </p:nvSpPr>
        <p:spPr>
          <a:xfrm>
            <a:off x="777240" y="3136392"/>
            <a:ext cx="402336" cy="402336"/>
          </a:xfrm>
          <a:prstGeom prst="ellipse">
            <a:avLst/>
          </a:prstGeom>
          <a:solidFill>
            <a:srgbClr val="F5F6FA"/>
          </a:solidFill>
          <a:ln w="12700">
            <a:solidFill>
              <a:srgbClr val="000000"/>
            </a:solidFill>
            <a:prstDash val="solid"/>
          </a:ln>
        </p:spPr>
      </p:sp>
      <p:sp>
        <p:nvSpPr>
          <p:cNvPr id="8" name="Text 6"/>
          <p:cNvSpPr/>
          <p:nvPr/>
        </p:nvSpPr>
        <p:spPr>
          <a:xfrm>
            <a:off x="777240" y="3136392"/>
            <a:ext cx="402336" cy="402336"/>
          </a:xfrm>
          <a:prstGeom prst="rect">
            <a:avLst/>
          </a:prstGeom>
          <a:noFill/>
          <a:ln/>
        </p:spPr>
        <p:txBody>
          <a:bodyPr wrap="square" lIns="0" tIns="0" rIns="0" bIns="0" rtlCol="0" anchor="ctr"/>
          <a:lstStyle/>
          <a:p>
            <a:pPr marL="0" indent="0" algn="ctr">
              <a:buNone/>
            </a:pPr>
            <a:r>
              <a:rPr lang="en-US" sz="1600" b="1" dirty="0">
                <a:solidFill>
                  <a:srgbClr val="1A202C"/>
                </a:solidFill>
                <a:latin typeface="Times New Roman" pitchFamily="34" charset="0"/>
                <a:ea typeface="Times New Roman" pitchFamily="34" charset="-122"/>
                <a:cs typeface="Times New Roman" pitchFamily="34" charset="-120"/>
              </a:rPr>
              <a:t>A</a:t>
            </a:r>
            <a:endParaRPr lang="en-US" sz="1600" dirty="0"/>
          </a:p>
        </p:txBody>
      </p:sp>
      <p:sp>
        <p:nvSpPr>
          <p:cNvPr id="9" name="Text 7"/>
          <p:cNvSpPr/>
          <p:nvPr/>
        </p:nvSpPr>
        <p:spPr>
          <a:xfrm>
            <a:off x="1307592" y="2697480"/>
            <a:ext cx="4251960" cy="1280160"/>
          </a:xfrm>
          <a:prstGeom prst="rect">
            <a:avLst/>
          </a:prstGeom>
          <a:noFill/>
          <a:ln/>
        </p:spPr>
        <p:txBody>
          <a:bodyPr wrap="square" lIns="0" tIns="0" rIns="0" bIns="0" rtlCol="0" anchor="ctr"/>
          <a:lstStyle/>
          <a:p>
            <a:pPr marL="0" indent="0">
              <a:buNone/>
            </a:pPr>
            <a:r>
              <a:rPr lang="en-US" sz="1400" dirty="0">
                <a:solidFill>
                  <a:srgbClr val="1A202C"/>
                </a:solidFill>
                <a:latin typeface="Times New Roman" pitchFamily="34" charset="0"/>
                <a:ea typeface="Times New Roman" pitchFamily="34" charset="-122"/>
                <a:cs typeface="Times New Roman" pitchFamily="34" charset="-120"/>
              </a:rPr>
              <a:t>implements</a:t>
            </a:r>
            <a:endParaRPr lang="en-US" sz="1400" dirty="0"/>
          </a:p>
        </p:txBody>
      </p:sp>
      <p:sp>
        <p:nvSpPr>
          <p:cNvPr id="10" name="Shape 8"/>
          <p:cNvSpPr/>
          <p:nvPr/>
        </p:nvSpPr>
        <p:spPr>
          <a:xfrm>
            <a:off x="6035040" y="2697480"/>
            <a:ext cx="5166360" cy="1280160"/>
          </a:xfrm>
          <a:prstGeom prst="roundRect">
            <a:avLst>
              <a:gd name="adj" fmla="val 5714"/>
            </a:avLst>
          </a:prstGeom>
          <a:solidFill>
            <a:srgbClr val="1B2A4A"/>
          </a:solidFill>
          <a:ln w="15875">
            <a:solidFill>
              <a:srgbClr val="1B2A4A"/>
            </a:solidFill>
            <a:prstDash val="solid"/>
          </a:ln>
        </p:spPr>
      </p:sp>
      <p:sp>
        <p:nvSpPr>
          <p:cNvPr id="11" name="Shape 9"/>
          <p:cNvSpPr/>
          <p:nvPr/>
        </p:nvSpPr>
        <p:spPr>
          <a:xfrm>
            <a:off x="6217920" y="3136392"/>
            <a:ext cx="402336" cy="402336"/>
          </a:xfrm>
          <a:prstGeom prst="ellipse">
            <a:avLst/>
          </a:prstGeom>
          <a:solidFill>
            <a:srgbClr val="E8590C"/>
          </a:solidFill>
          <a:ln w="12700">
            <a:solidFill>
              <a:srgbClr val="000000"/>
            </a:solidFill>
            <a:prstDash val="solid"/>
          </a:ln>
        </p:spPr>
      </p:sp>
      <p:sp>
        <p:nvSpPr>
          <p:cNvPr id="12" name="Text 10"/>
          <p:cNvSpPr/>
          <p:nvPr/>
        </p:nvSpPr>
        <p:spPr>
          <a:xfrm>
            <a:off x="6217920" y="3136392"/>
            <a:ext cx="402336" cy="402336"/>
          </a:xfrm>
          <a:prstGeom prst="rect">
            <a:avLst/>
          </a:prstGeom>
          <a:noFill/>
          <a:ln/>
        </p:spPr>
        <p:txBody>
          <a:bodyPr wrap="square" lIns="0" tIns="0" rIns="0" bIns="0" rtlCol="0" anchor="ctr"/>
          <a:lstStyle/>
          <a:p>
            <a:pPr marL="0" indent="0" algn="ctr">
              <a:buNone/>
            </a:pPr>
            <a:r>
              <a:rPr lang="en-US" sz="1600" b="1" dirty="0">
                <a:solidFill>
                  <a:srgbClr val="FFFFFF"/>
                </a:solidFill>
                <a:latin typeface="Times New Roman" pitchFamily="34" charset="0"/>
                <a:ea typeface="Times New Roman" pitchFamily="34" charset="-122"/>
                <a:cs typeface="Times New Roman" pitchFamily="34" charset="-120"/>
              </a:rPr>
              <a:t>B</a:t>
            </a:r>
            <a:endParaRPr lang="en-US" sz="1600" dirty="0"/>
          </a:p>
        </p:txBody>
      </p:sp>
      <p:sp>
        <p:nvSpPr>
          <p:cNvPr id="13" name="Text 11"/>
          <p:cNvSpPr/>
          <p:nvPr/>
        </p:nvSpPr>
        <p:spPr>
          <a:xfrm>
            <a:off x="6748272" y="2697480"/>
            <a:ext cx="4251960" cy="1280160"/>
          </a:xfrm>
          <a:prstGeom prst="rect">
            <a:avLst/>
          </a:prstGeom>
          <a:noFill/>
          <a:ln/>
        </p:spPr>
        <p:txBody>
          <a:bodyPr wrap="square" lIns="0" tIns="0" rIns="0" bIns="0" rtlCol="0" anchor="ctr"/>
          <a:lstStyle/>
          <a:p>
            <a:pPr marL="0" indent="0">
              <a:buNone/>
            </a:pPr>
            <a:r>
              <a:rPr lang="en-US" sz="1400" b="1" dirty="0">
                <a:solidFill>
                  <a:srgbClr val="FFFFFF"/>
                </a:solidFill>
                <a:latin typeface="Times New Roman" pitchFamily="34" charset="0"/>
                <a:ea typeface="Times New Roman" pitchFamily="34" charset="-122"/>
                <a:cs typeface="Times New Roman" pitchFamily="34" charset="-120"/>
              </a:rPr>
              <a:t>extends</a:t>
            </a:r>
            <a:endParaRPr lang="en-US" sz="1400" dirty="0"/>
          </a:p>
        </p:txBody>
      </p:sp>
      <p:sp>
        <p:nvSpPr>
          <p:cNvPr id="14" name="Text 12"/>
          <p:cNvSpPr/>
          <p:nvPr/>
        </p:nvSpPr>
        <p:spPr>
          <a:xfrm>
            <a:off x="6748272" y="3685032"/>
            <a:ext cx="4251960" cy="237744"/>
          </a:xfrm>
          <a:prstGeom prst="rect">
            <a:avLst/>
          </a:prstGeom>
          <a:noFill/>
          <a:ln/>
        </p:spPr>
        <p:txBody>
          <a:bodyPr wrap="square" lIns="0" tIns="0" rIns="0" bIns="0" rtlCol="0" anchor="ctr"/>
          <a:lstStyle/>
          <a:p>
            <a:pPr marL="0" indent="0">
              <a:buNone/>
            </a:pPr>
            <a:r>
              <a:rPr lang="en-US" sz="900" b="1" kern="0" spc="100" dirty="0">
                <a:solidFill>
                  <a:srgbClr val="F3B67D"/>
                </a:solidFill>
                <a:latin typeface="Times New Roman" pitchFamily="34" charset="0"/>
                <a:ea typeface="Times New Roman" pitchFamily="34" charset="-122"/>
                <a:cs typeface="Times New Roman" pitchFamily="34" charset="-120"/>
              </a:rPr>
              <a:t>CORRECT ANSWER</a:t>
            </a:r>
            <a:endParaRPr lang="en-US" sz="900" dirty="0"/>
          </a:p>
        </p:txBody>
      </p:sp>
      <p:sp>
        <p:nvSpPr>
          <p:cNvPr id="15" name="Shape 13"/>
          <p:cNvSpPr/>
          <p:nvPr/>
        </p:nvSpPr>
        <p:spPr>
          <a:xfrm>
            <a:off x="594360" y="4251960"/>
            <a:ext cx="5166360" cy="1280160"/>
          </a:xfrm>
          <a:prstGeom prst="roundRect">
            <a:avLst>
              <a:gd name="adj" fmla="val 5714"/>
            </a:avLst>
          </a:prstGeom>
          <a:solidFill>
            <a:srgbClr val="FFFFFF"/>
          </a:solidFill>
          <a:ln w="15875">
            <a:solidFill>
              <a:srgbClr val="E4E7EE"/>
            </a:solidFill>
            <a:prstDash val="solid"/>
          </a:ln>
        </p:spPr>
      </p:sp>
      <p:sp>
        <p:nvSpPr>
          <p:cNvPr id="16" name="Shape 14"/>
          <p:cNvSpPr/>
          <p:nvPr/>
        </p:nvSpPr>
        <p:spPr>
          <a:xfrm>
            <a:off x="777240" y="4690872"/>
            <a:ext cx="402336" cy="402336"/>
          </a:xfrm>
          <a:prstGeom prst="ellipse">
            <a:avLst/>
          </a:prstGeom>
          <a:solidFill>
            <a:srgbClr val="F5F6FA"/>
          </a:solidFill>
          <a:ln w="12700">
            <a:solidFill>
              <a:srgbClr val="000000"/>
            </a:solidFill>
            <a:prstDash val="solid"/>
          </a:ln>
        </p:spPr>
      </p:sp>
      <p:sp>
        <p:nvSpPr>
          <p:cNvPr id="17" name="Text 15"/>
          <p:cNvSpPr/>
          <p:nvPr/>
        </p:nvSpPr>
        <p:spPr>
          <a:xfrm>
            <a:off x="777240" y="4690872"/>
            <a:ext cx="402336" cy="402336"/>
          </a:xfrm>
          <a:prstGeom prst="rect">
            <a:avLst/>
          </a:prstGeom>
          <a:noFill/>
          <a:ln/>
        </p:spPr>
        <p:txBody>
          <a:bodyPr wrap="square" lIns="0" tIns="0" rIns="0" bIns="0" rtlCol="0" anchor="ctr"/>
          <a:lstStyle/>
          <a:p>
            <a:pPr marL="0" indent="0" algn="ctr">
              <a:buNone/>
            </a:pPr>
            <a:r>
              <a:rPr lang="en-US" sz="1600" b="1" dirty="0">
                <a:solidFill>
                  <a:srgbClr val="1A202C"/>
                </a:solidFill>
                <a:latin typeface="Times New Roman" pitchFamily="34" charset="0"/>
                <a:ea typeface="Times New Roman" pitchFamily="34" charset="-122"/>
                <a:cs typeface="Times New Roman" pitchFamily="34" charset="-120"/>
              </a:rPr>
              <a:t>C</a:t>
            </a:r>
            <a:endParaRPr lang="en-US" sz="1600" dirty="0"/>
          </a:p>
        </p:txBody>
      </p:sp>
      <p:sp>
        <p:nvSpPr>
          <p:cNvPr id="18" name="Text 16"/>
          <p:cNvSpPr/>
          <p:nvPr/>
        </p:nvSpPr>
        <p:spPr>
          <a:xfrm>
            <a:off x="1307592" y="4251960"/>
            <a:ext cx="4251960" cy="1280160"/>
          </a:xfrm>
          <a:prstGeom prst="rect">
            <a:avLst/>
          </a:prstGeom>
          <a:noFill/>
          <a:ln/>
        </p:spPr>
        <p:txBody>
          <a:bodyPr wrap="square" lIns="0" tIns="0" rIns="0" bIns="0" rtlCol="0" anchor="ctr"/>
          <a:lstStyle/>
          <a:p>
            <a:pPr marL="0" indent="0">
              <a:buNone/>
            </a:pPr>
            <a:r>
              <a:rPr lang="en-US" sz="1400" dirty="0">
                <a:solidFill>
                  <a:srgbClr val="1A202C"/>
                </a:solidFill>
                <a:latin typeface="Times New Roman" pitchFamily="34" charset="0"/>
                <a:ea typeface="Times New Roman" pitchFamily="34" charset="-122"/>
                <a:cs typeface="Times New Roman" pitchFamily="34" charset="-120"/>
              </a:rPr>
              <a:t>super</a:t>
            </a:r>
            <a:endParaRPr lang="en-US" sz="1400" dirty="0"/>
          </a:p>
        </p:txBody>
      </p:sp>
      <p:sp>
        <p:nvSpPr>
          <p:cNvPr id="19" name="Shape 17"/>
          <p:cNvSpPr/>
          <p:nvPr/>
        </p:nvSpPr>
        <p:spPr>
          <a:xfrm>
            <a:off x="6035040" y="4251960"/>
            <a:ext cx="5166360" cy="1280160"/>
          </a:xfrm>
          <a:prstGeom prst="roundRect">
            <a:avLst>
              <a:gd name="adj" fmla="val 5714"/>
            </a:avLst>
          </a:prstGeom>
          <a:solidFill>
            <a:srgbClr val="FFFFFF"/>
          </a:solidFill>
          <a:ln w="15875">
            <a:solidFill>
              <a:srgbClr val="E4E7EE"/>
            </a:solidFill>
            <a:prstDash val="solid"/>
          </a:ln>
        </p:spPr>
      </p:sp>
      <p:sp>
        <p:nvSpPr>
          <p:cNvPr id="20" name="Shape 18"/>
          <p:cNvSpPr/>
          <p:nvPr/>
        </p:nvSpPr>
        <p:spPr>
          <a:xfrm>
            <a:off x="6217920" y="4690872"/>
            <a:ext cx="402336" cy="402336"/>
          </a:xfrm>
          <a:prstGeom prst="ellipse">
            <a:avLst/>
          </a:prstGeom>
          <a:solidFill>
            <a:srgbClr val="F5F6FA"/>
          </a:solidFill>
          <a:ln w="12700">
            <a:solidFill>
              <a:srgbClr val="000000"/>
            </a:solidFill>
            <a:prstDash val="solid"/>
          </a:ln>
        </p:spPr>
      </p:sp>
      <p:sp>
        <p:nvSpPr>
          <p:cNvPr id="21" name="Text 19"/>
          <p:cNvSpPr/>
          <p:nvPr/>
        </p:nvSpPr>
        <p:spPr>
          <a:xfrm>
            <a:off x="6217920" y="4690872"/>
            <a:ext cx="402336" cy="402336"/>
          </a:xfrm>
          <a:prstGeom prst="rect">
            <a:avLst/>
          </a:prstGeom>
          <a:noFill/>
          <a:ln/>
        </p:spPr>
        <p:txBody>
          <a:bodyPr wrap="square" lIns="0" tIns="0" rIns="0" bIns="0" rtlCol="0" anchor="ctr"/>
          <a:lstStyle/>
          <a:p>
            <a:pPr marL="0" indent="0" algn="ctr">
              <a:buNone/>
            </a:pPr>
            <a:r>
              <a:rPr lang="en-US" sz="1600" b="1" dirty="0">
                <a:solidFill>
                  <a:srgbClr val="1A202C"/>
                </a:solidFill>
                <a:latin typeface="Times New Roman" pitchFamily="34" charset="0"/>
                <a:ea typeface="Times New Roman" pitchFamily="34" charset="-122"/>
                <a:cs typeface="Times New Roman" pitchFamily="34" charset="-120"/>
              </a:rPr>
              <a:t>D</a:t>
            </a:r>
            <a:endParaRPr lang="en-US" sz="1600" dirty="0"/>
          </a:p>
        </p:txBody>
      </p:sp>
      <p:sp>
        <p:nvSpPr>
          <p:cNvPr id="22" name="Text 20"/>
          <p:cNvSpPr/>
          <p:nvPr/>
        </p:nvSpPr>
        <p:spPr>
          <a:xfrm>
            <a:off x="6748272" y="4251960"/>
            <a:ext cx="4251960" cy="1280160"/>
          </a:xfrm>
          <a:prstGeom prst="rect">
            <a:avLst/>
          </a:prstGeom>
          <a:noFill/>
          <a:ln/>
        </p:spPr>
        <p:txBody>
          <a:bodyPr wrap="square" lIns="0" tIns="0" rIns="0" bIns="0" rtlCol="0" anchor="ctr"/>
          <a:lstStyle/>
          <a:p>
            <a:pPr marL="0" indent="0">
              <a:buNone/>
            </a:pPr>
            <a:r>
              <a:rPr lang="en-US" sz="1400" dirty="0">
                <a:solidFill>
                  <a:srgbClr val="1A202C"/>
                </a:solidFill>
                <a:latin typeface="Times New Roman" pitchFamily="34" charset="0"/>
                <a:ea typeface="Times New Roman" pitchFamily="34" charset="-122"/>
                <a:cs typeface="Times New Roman" pitchFamily="34" charset="-120"/>
              </a:rPr>
              <a:t>this</a:t>
            </a:r>
            <a:endParaRPr lang="en-US" sz="1400" dirty="0"/>
          </a:p>
        </p:txBody>
      </p:sp>
      <p:sp>
        <p:nvSpPr>
          <p:cNvPr id="23" name="Shape 21"/>
          <p:cNvSpPr/>
          <p:nvPr/>
        </p:nvSpPr>
        <p:spPr>
          <a:xfrm>
            <a:off x="0" y="0"/>
            <a:ext cx="12191695" cy="384048"/>
          </a:xfrm>
          <a:prstGeom prst="rect">
            <a:avLst/>
          </a:prstGeom>
          <a:solidFill>
            <a:srgbClr val="1B2A4A"/>
          </a:solidFill>
          <a:ln w="12700">
            <a:solidFill>
              <a:srgbClr val="1B2A4A"/>
            </a:solidFill>
            <a:prstDash val="solid"/>
          </a:ln>
        </p:spPr>
      </p:sp>
      <p:sp>
        <p:nvSpPr>
          <p:cNvPr id="24" name="Text 22"/>
          <p:cNvSpPr/>
          <p:nvPr/>
        </p:nvSpPr>
        <p:spPr>
          <a:xfrm>
            <a:off x="201168" y="82296"/>
            <a:ext cx="1371600" cy="219456"/>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Edu</a:t>
            </a:r>
            <a:r>
              <a:rPr lang="en-US" sz="1300" b="1" dirty="0">
                <a:solidFill>
                  <a:srgbClr val="FFFFFF"/>
                </a:solidFill>
                <a:latin typeface="Times New Roman" pitchFamily="34" charset="0"/>
                <a:ea typeface="Times New Roman" pitchFamily="34" charset="-122"/>
                <a:cs typeface="Times New Roman" pitchFamily="34" charset="-120"/>
              </a:rPr>
              <a:t>Bridge</a:t>
            </a:r>
            <a:endParaRPr lang="en-US" sz="1300" dirty="0"/>
          </a:p>
        </p:txBody>
      </p:sp>
      <p:sp>
        <p:nvSpPr>
          <p:cNvPr id="25" name="Shape 23"/>
          <p:cNvSpPr/>
          <p:nvPr/>
        </p:nvSpPr>
        <p:spPr>
          <a:xfrm>
            <a:off x="219456" y="301752"/>
            <a:ext cx="960120" cy="0"/>
          </a:xfrm>
          <a:prstGeom prst="line">
            <a:avLst/>
          </a:prstGeom>
          <a:noFill/>
          <a:ln w="9525">
            <a:solidFill>
              <a:srgbClr val="4A5570"/>
            </a:solidFill>
            <a:prstDash val="solid"/>
          </a:ln>
        </p:spPr>
      </p:sp>
      <p:sp>
        <p:nvSpPr>
          <p:cNvPr id="26" name="Text 24"/>
          <p:cNvSpPr/>
          <p:nvPr/>
        </p:nvSpPr>
        <p:spPr>
          <a:xfrm>
            <a:off x="2011680" y="27432"/>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India's leading </a:t>
            </a:r>
            <a:r>
              <a:rPr lang="en-US" sz="900" b="1" dirty="0">
                <a:solidFill>
                  <a:srgbClr val="F2C230"/>
                </a:solidFill>
                <a:latin typeface="Times New Roman" pitchFamily="34" charset="0"/>
                <a:ea typeface="Times New Roman" pitchFamily="34" charset="-122"/>
                <a:cs typeface="Times New Roman" pitchFamily="34" charset="-120"/>
              </a:rPr>
              <a:t>Workforce Development Platform</a:t>
            </a:r>
            <a:r>
              <a:rPr lang="en-US" sz="900" b="1" dirty="0">
                <a:solidFill>
                  <a:srgbClr val="FFFFFF"/>
                </a:solidFill>
                <a:latin typeface="Times New Roman" pitchFamily="34" charset="0"/>
                <a:ea typeface="Times New Roman" pitchFamily="34" charset="-122"/>
                <a:cs typeface="Times New Roman" pitchFamily="34" charset="-120"/>
              </a:rPr>
              <a:t> that helps learners in building careers</a:t>
            </a:r>
            <a:endParaRPr lang="en-US" sz="900" dirty="0"/>
          </a:p>
        </p:txBody>
      </p:sp>
      <p:sp>
        <p:nvSpPr>
          <p:cNvPr id="27" name="Text 25"/>
          <p:cNvSpPr/>
          <p:nvPr/>
        </p:nvSpPr>
        <p:spPr>
          <a:xfrm>
            <a:off x="2011680" y="192024"/>
            <a:ext cx="8165592" cy="173736"/>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with leading corporates through training &amp; other career building services.</a:t>
            </a:r>
            <a:endParaRPr lang="en-US" sz="900" dirty="0"/>
          </a:p>
        </p:txBody>
      </p:sp>
      <p:sp>
        <p:nvSpPr>
          <p:cNvPr id="28" name="Text 26"/>
          <p:cNvSpPr/>
          <p:nvPr/>
        </p:nvSpPr>
        <p:spPr>
          <a:xfrm>
            <a:off x="10332720" y="0"/>
            <a:ext cx="1737360" cy="384048"/>
          </a:xfrm>
          <a:prstGeom prst="rect">
            <a:avLst/>
          </a:prstGeom>
          <a:noFill/>
          <a:ln/>
        </p:spPr>
        <p:txBody>
          <a:bodyPr wrap="square" lIns="0" tIns="0" rIns="0" bIns="0" rtlCol="0" anchor="ctr"/>
          <a:lstStyle/>
          <a:p>
            <a:pPr marL="0" indent="0" algn="r">
              <a:buNone/>
            </a:pPr>
            <a:r>
              <a:rPr lang="en-US" sz="950" b="1" dirty="0">
                <a:solidFill>
                  <a:srgbClr val="FFFFFF"/>
                </a:solidFill>
                <a:latin typeface="Times New Roman" pitchFamily="34" charset="0"/>
                <a:ea typeface="Times New Roman" pitchFamily="34" charset="-122"/>
                <a:cs typeface="Times New Roman" pitchFamily="34" charset="-120"/>
              </a:rPr>
              <a:t>#letslearntoearn</a:t>
            </a:r>
            <a:endParaRPr lang="en-US" sz="950" dirty="0"/>
          </a:p>
        </p:txBody>
      </p:sp>
      <p:sp>
        <p:nvSpPr>
          <p:cNvPr id="29" name="Shape 27"/>
          <p:cNvSpPr/>
          <p:nvPr/>
        </p:nvSpPr>
        <p:spPr>
          <a:xfrm>
            <a:off x="0" y="6291072"/>
            <a:ext cx="12191695" cy="566928"/>
          </a:xfrm>
          <a:prstGeom prst="rect">
            <a:avLst/>
          </a:prstGeom>
          <a:solidFill>
            <a:srgbClr val="1B2A4A"/>
          </a:solidFill>
          <a:ln w="12700">
            <a:solidFill>
              <a:srgbClr val="1B2A4A"/>
            </a:solidFill>
            <a:prstDash val="solid"/>
          </a:ln>
        </p:spPr>
      </p:sp>
      <p:sp>
        <p:nvSpPr>
          <p:cNvPr id="30" name="Text 28"/>
          <p:cNvSpPr/>
          <p:nvPr/>
        </p:nvSpPr>
        <p:spPr>
          <a:xfrm>
            <a:off x="274320" y="6309360"/>
            <a:ext cx="11640312"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All rights reserved.</a:t>
            </a:r>
            <a:endParaRPr lang="en-US" sz="900" dirty="0"/>
          </a:p>
        </p:txBody>
      </p:sp>
      <p:sp>
        <p:nvSpPr>
          <p:cNvPr id="31" name="Text 29"/>
          <p:cNvSpPr/>
          <p:nvPr/>
        </p:nvSpPr>
        <p:spPr>
          <a:xfrm>
            <a:off x="457200" y="6473952"/>
            <a:ext cx="11274552" cy="365760"/>
          </a:xfrm>
          <a:prstGeom prst="rect">
            <a:avLst/>
          </a:prstGeom>
          <a:noFill/>
          <a:ln/>
        </p:spPr>
        <p:txBody>
          <a:bodyPr wrap="square" lIns="0" tIns="0" rIns="0" bIns="0" rtlCol="0" anchor="ctr"/>
          <a:lstStyle/>
          <a:p>
            <a:pPr marL="0" indent="0" algn="ctr">
              <a:lnSpc>
                <a:spcPct val="105000"/>
              </a:lnSpc>
              <a:buNone/>
            </a:pPr>
            <a:r>
              <a:rPr lang="en-US" sz="750" dirty="0">
                <a:solidFill>
                  <a:srgbClr val="FFFFFF"/>
                </a:solidFill>
                <a:latin typeface="Times New Roman" pitchFamily="34" charset="0"/>
                <a:ea typeface="Times New Roman" pitchFamily="34" charset="-122"/>
                <a:cs typeface="Times New Roman" pitchFamily="34" charset="-120"/>
              </a:rPr>
              <a:t>No part of this document may be reproduced in any material form (including printing and photocopying or storing it in any medium by electronic or other means or not transiently or incidentally to some other use of this document) without the prior written permission of EduBridge Learning Pvt. Ltd. Application for written permission to reproduce any part of this document should be addressed to the CEO of EduBridge Learning Pvt Ltd.</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408</TotalTime>
  <Words>21321</Words>
  <Application>Microsoft Office PowerPoint</Application>
  <PresentationFormat>Widescreen</PresentationFormat>
  <Paragraphs>2327</Paragraphs>
  <Slides>120</Slides>
  <Notes>120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120</vt:i4>
      </vt:variant>
    </vt:vector>
  </HeadingPairs>
  <TitlesOfParts>
    <vt:vector size="124" baseType="lpstr">
      <vt:lpstr>Arial</vt:lpstr>
      <vt:lpstr>Courier New</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Advanced Java and OOP</dc:title>
  <dc:subject>PptxGenJS Presentation</dc:subject>
  <dc:creator>EduBridge</dc:creator>
  <cp:lastModifiedBy>Rakesh Kr</cp:lastModifiedBy>
  <cp:revision>4</cp:revision>
  <dcterms:created xsi:type="dcterms:W3CDTF">2026-08-19T03:11:15Z</dcterms:created>
  <dcterms:modified xsi:type="dcterms:W3CDTF">2026-08-31T06:33:44Z</dcterms:modified>
</cp:coreProperties>
</file>